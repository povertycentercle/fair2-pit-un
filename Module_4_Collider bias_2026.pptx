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30"/>
  </p:notesMasterIdLst>
  <p:sldIdLst>
    <p:sldId id="256" r:id="rId3"/>
    <p:sldId id="279" r:id="rId4"/>
    <p:sldId id="257" r:id="rId5"/>
    <p:sldId id="258" r:id="rId6"/>
    <p:sldId id="259" r:id="rId7"/>
    <p:sldId id="260" r:id="rId8"/>
    <p:sldId id="261" r:id="rId9"/>
    <p:sldId id="262" r:id="rId10"/>
    <p:sldId id="284" r:id="rId11"/>
    <p:sldId id="285" r:id="rId12"/>
    <p:sldId id="286" r:id="rId13"/>
    <p:sldId id="287" r:id="rId14"/>
    <p:sldId id="288" r:id="rId15"/>
    <p:sldId id="277" r:id="rId16"/>
    <p:sldId id="264" r:id="rId17"/>
    <p:sldId id="265" r:id="rId18"/>
    <p:sldId id="278" r:id="rId19"/>
    <p:sldId id="267" r:id="rId20"/>
    <p:sldId id="268" r:id="rId21"/>
    <p:sldId id="269" r:id="rId22"/>
    <p:sldId id="270" r:id="rId23"/>
    <p:sldId id="271" r:id="rId24"/>
    <p:sldId id="272" r:id="rId25"/>
    <p:sldId id="273" r:id="rId26"/>
    <p:sldId id="274" r:id="rId27"/>
    <p:sldId id="275" r:id="rId28"/>
    <p:sldId id="276" r:id="rId29"/>
  </p:sldIdLst>
  <p:sldSz cx="12192000" cy="6858000"/>
  <p:notesSz cx="7315200" cy="9601200"/>
  <p:embeddedFontLst>
    <p:embeddedFont>
      <p:font typeface="Open Sans" panose="020B0606030504020204" pitchFamily="34" charset="0"/>
      <p:regular r:id="rId31"/>
      <p:bold r:id="rId32"/>
      <p:italic r:id="rId33"/>
      <p:boldItalic r:id="rId34"/>
    </p:embeddedFont>
    <p:embeddedFont>
      <p:font typeface="Play"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ie5ZJXF9k4Gc9xdeRjrRNhYwFus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D1986A-BD52-1434-27F5-A888E62DFE82}" name="Francisca Richter" initials="FR" userId="Francisca Richter"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99593"/>
    <a:srgbClr val="C65E4E"/>
    <a:srgbClr val="001C84"/>
    <a:srgbClr val="FFDC5D"/>
    <a:srgbClr val="C00000"/>
    <a:srgbClr val="C0504D"/>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57" autoAdjust="0"/>
  </p:normalViewPr>
  <p:slideViewPr>
    <p:cSldViewPr snapToGrid="0">
      <p:cViewPr varScale="1">
        <p:scale>
          <a:sx n="103" d="100"/>
          <a:sy n="103" d="100"/>
        </p:scale>
        <p:origin x="87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font" Target="fonts/font4.fntdata"/><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microsoft.com/office/2018/10/relationships/authors" Targe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a Richter" userId="748852301_tp_box_2" providerId="OAuth2" clId="{D7DBE78D-EE8F-4140-B1BE-F9108D0C41A8}"/>
    <pc:docChg chg="undo custSel addSld delSld modSld sldOrd modNotesMaster">
      <pc:chgData name="Francisca Richter" userId="748852301_tp_box_2" providerId="OAuth2" clId="{D7DBE78D-EE8F-4140-B1BE-F9108D0C41A8}" dt="2026-02-10T18:28:17.575" v="2824" actId="20577"/>
      <pc:docMkLst>
        <pc:docMk/>
      </pc:docMkLst>
      <pc:sldChg chg="modNotes">
        <pc:chgData name="Francisca Richter" userId="748852301_tp_box_2" providerId="OAuth2" clId="{D7DBE78D-EE8F-4140-B1BE-F9108D0C41A8}" dt="2026-01-21T17:19:18.006" v="1822"/>
        <pc:sldMkLst>
          <pc:docMk/>
          <pc:sldMk cId="0" sldId="256"/>
        </pc:sldMkLst>
      </pc:sldChg>
      <pc:sldChg chg="modSp mod modNotes">
        <pc:chgData name="Francisca Richter" userId="748852301_tp_box_2" providerId="OAuth2" clId="{D7DBE78D-EE8F-4140-B1BE-F9108D0C41A8}" dt="2026-01-21T17:19:18.006" v="1822"/>
        <pc:sldMkLst>
          <pc:docMk/>
          <pc:sldMk cId="0" sldId="257"/>
        </pc:sldMkLst>
        <pc:spChg chg="mod">
          <ac:chgData name="Francisca Richter" userId="748852301_tp_box_2" providerId="OAuth2" clId="{D7DBE78D-EE8F-4140-B1BE-F9108D0C41A8}" dt="2026-01-20T14:25:44.321" v="8" actId="20577"/>
          <ac:spMkLst>
            <pc:docMk/>
            <pc:sldMk cId="0" sldId="257"/>
            <ac:spMk id="112" creationId="{00000000-0000-0000-0000-000000000000}"/>
          </ac:spMkLst>
        </pc:spChg>
      </pc:sldChg>
      <pc:sldChg chg="modSp mod modNotes">
        <pc:chgData name="Francisca Richter" userId="748852301_tp_box_2" providerId="OAuth2" clId="{D7DBE78D-EE8F-4140-B1BE-F9108D0C41A8}" dt="2026-01-21T17:19:18.006" v="1822"/>
        <pc:sldMkLst>
          <pc:docMk/>
          <pc:sldMk cId="0" sldId="258"/>
        </pc:sldMkLst>
        <pc:spChg chg="mod">
          <ac:chgData name="Francisca Richter" userId="748852301_tp_box_2" providerId="OAuth2" clId="{D7DBE78D-EE8F-4140-B1BE-F9108D0C41A8}" dt="2026-01-20T14:39:48.504" v="221" actId="20577"/>
          <ac:spMkLst>
            <pc:docMk/>
            <pc:sldMk cId="0" sldId="258"/>
            <ac:spMk id="137" creationId="{00000000-0000-0000-0000-000000000000}"/>
          </ac:spMkLst>
        </pc:spChg>
      </pc:sldChg>
      <pc:sldChg chg="modNotes">
        <pc:chgData name="Francisca Richter" userId="748852301_tp_box_2" providerId="OAuth2" clId="{D7DBE78D-EE8F-4140-B1BE-F9108D0C41A8}" dt="2026-01-21T17:19:18.006" v="1822"/>
        <pc:sldMkLst>
          <pc:docMk/>
          <pc:sldMk cId="0" sldId="259"/>
        </pc:sldMkLst>
      </pc:sldChg>
      <pc:sldChg chg="modNotes">
        <pc:chgData name="Francisca Richter" userId="748852301_tp_box_2" providerId="OAuth2" clId="{D7DBE78D-EE8F-4140-B1BE-F9108D0C41A8}" dt="2026-01-21T17:19:18.006" v="1822"/>
        <pc:sldMkLst>
          <pc:docMk/>
          <pc:sldMk cId="0" sldId="260"/>
        </pc:sldMkLst>
      </pc:sldChg>
      <pc:sldChg chg="modSp mod modNotes">
        <pc:chgData name="Francisca Richter" userId="748852301_tp_box_2" providerId="OAuth2" clId="{D7DBE78D-EE8F-4140-B1BE-F9108D0C41A8}" dt="2026-01-21T17:19:18.006" v="1822"/>
        <pc:sldMkLst>
          <pc:docMk/>
          <pc:sldMk cId="0" sldId="261"/>
        </pc:sldMkLst>
        <pc:spChg chg="mod">
          <ac:chgData name="Francisca Richter" userId="748852301_tp_box_2" providerId="OAuth2" clId="{D7DBE78D-EE8F-4140-B1BE-F9108D0C41A8}" dt="2026-01-20T15:02:51.316" v="909" actId="20577"/>
          <ac:spMkLst>
            <pc:docMk/>
            <pc:sldMk cId="0" sldId="261"/>
            <ac:spMk id="171" creationId="{00000000-0000-0000-0000-000000000000}"/>
          </ac:spMkLst>
        </pc:spChg>
      </pc:sldChg>
      <pc:sldChg chg="modSp mod modNotes">
        <pc:chgData name="Francisca Richter" userId="748852301_tp_box_2" providerId="OAuth2" clId="{D7DBE78D-EE8F-4140-B1BE-F9108D0C41A8}" dt="2026-01-21T17:19:18.006" v="1822"/>
        <pc:sldMkLst>
          <pc:docMk/>
          <pc:sldMk cId="0" sldId="262"/>
        </pc:sldMkLst>
        <pc:spChg chg="mod">
          <ac:chgData name="Francisca Richter" userId="748852301_tp_box_2" providerId="OAuth2" clId="{D7DBE78D-EE8F-4140-B1BE-F9108D0C41A8}" dt="2026-01-20T14:40:56.240" v="249" actId="5793"/>
          <ac:spMkLst>
            <pc:docMk/>
            <pc:sldMk cId="0" sldId="262"/>
            <ac:spMk id="191" creationId="{00000000-0000-0000-0000-000000000000}"/>
          </ac:spMkLst>
        </pc:spChg>
      </pc:sldChg>
      <pc:sldChg chg="modSp mod modNotes">
        <pc:chgData name="Francisca Richter" userId="748852301_tp_box_2" providerId="OAuth2" clId="{D7DBE78D-EE8F-4140-B1BE-F9108D0C41A8}" dt="2026-01-21T17:19:18.006" v="1822"/>
        <pc:sldMkLst>
          <pc:docMk/>
          <pc:sldMk cId="0" sldId="263"/>
        </pc:sldMkLst>
        <pc:spChg chg="mod">
          <ac:chgData name="Francisca Richter" userId="748852301_tp_box_2" providerId="OAuth2" clId="{D7DBE78D-EE8F-4140-B1BE-F9108D0C41A8}" dt="2026-01-20T14:42:22.060" v="262" actId="20577"/>
          <ac:spMkLst>
            <pc:docMk/>
            <pc:sldMk cId="0" sldId="263"/>
            <ac:spMk id="200" creationId="{00000000-0000-0000-0000-000000000000}"/>
          </ac:spMkLst>
        </pc:spChg>
      </pc:sldChg>
      <pc:sldChg chg="modSp mod modNotes">
        <pc:chgData name="Francisca Richter" userId="748852301_tp_box_2" providerId="OAuth2" clId="{D7DBE78D-EE8F-4140-B1BE-F9108D0C41A8}" dt="2026-01-21T17:19:18.006" v="1822"/>
        <pc:sldMkLst>
          <pc:docMk/>
          <pc:sldMk cId="0" sldId="264"/>
        </pc:sldMkLst>
        <pc:spChg chg="mod">
          <ac:chgData name="Francisca Richter" userId="748852301_tp_box_2" providerId="OAuth2" clId="{D7DBE78D-EE8F-4140-B1BE-F9108D0C41A8}" dt="2026-01-20T14:50:57.735" v="516" actId="113"/>
          <ac:spMkLst>
            <pc:docMk/>
            <pc:sldMk cId="0" sldId="264"/>
            <ac:spMk id="213" creationId="{00000000-0000-0000-0000-000000000000}"/>
          </ac:spMkLst>
        </pc:spChg>
      </pc:sldChg>
      <pc:sldChg chg="modSp mod modNotes">
        <pc:chgData name="Francisca Richter" userId="748852301_tp_box_2" providerId="OAuth2" clId="{D7DBE78D-EE8F-4140-B1BE-F9108D0C41A8}" dt="2026-01-21T18:08:03.422" v="2284" actId="113"/>
        <pc:sldMkLst>
          <pc:docMk/>
          <pc:sldMk cId="0" sldId="265"/>
        </pc:sldMkLst>
        <pc:spChg chg="mod">
          <ac:chgData name="Francisca Richter" userId="748852301_tp_box_2" providerId="OAuth2" clId="{D7DBE78D-EE8F-4140-B1BE-F9108D0C41A8}" dt="2026-01-21T18:08:03.422" v="2284" actId="113"/>
          <ac:spMkLst>
            <pc:docMk/>
            <pc:sldMk cId="0" sldId="265"/>
            <ac:spMk id="220" creationId="{00000000-0000-0000-0000-000000000000}"/>
          </ac:spMkLst>
        </pc:spChg>
      </pc:sldChg>
      <pc:sldChg chg="modNotes">
        <pc:chgData name="Francisca Richter" userId="748852301_tp_box_2" providerId="OAuth2" clId="{D7DBE78D-EE8F-4140-B1BE-F9108D0C41A8}" dt="2026-01-21T17:19:18.006" v="1822"/>
        <pc:sldMkLst>
          <pc:docMk/>
          <pc:sldMk cId="0" sldId="267"/>
        </pc:sldMkLst>
      </pc:sldChg>
      <pc:sldChg chg="delSp mod modNotes">
        <pc:chgData name="Francisca Richter" userId="748852301_tp_box_2" providerId="OAuth2" clId="{D7DBE78D-EE8F-4140-B1BE-F9108D0C41A8}" dt="2026-01-21T17:19:18.006" v="1822"/>
        <pc:sldMkLst>
          <pc:docMk/>
          <pc:sldMk cId="0" sldId="268"/>
        </pc:sldMkLst>
      </pc:sldChg>
      <pc:sldChg chg="modSp mod modNotes">
        <pc:chgData name="Francisca Richter" userId="748852301_tp_box_2" providerId="OAuth2" clId="{D7DBE78D-EE8F-4140-B1BE-F9108D0C41A8}" dt="2026-01-21T17:19:18.006" v="1822"/>
        <pc:sldMkLst>
          <pc:docMk/>
          <pc:sldMk cId="0" sldId="269"/>
        </pc:sldMkLst>
        <pc:spChg chg="mod">
          <ac:chgData name="Francisca Richter" userId="748852301_tp_box_2" providerId="OAuth2" clId="{D7DBE78D-EE8F-4140-B1BE-F9108D0C41A8}" dt="2026-01-20T15:04:56.908" v="985" actId="20577"/>
          <ac:spMkLst>
            <pc:docMk/>
            <pc:sldMk cId="0" sldId="269"/>
            <ac:spMk id="248" creationId="{00000000-0000-0000-0000-000000000000}"/>
          </ac:spMkLst>
        </pc:spChg>
      </pc:sldChg>
      <pc:sldChg chg="modSp mod modNotes">
        <pc:chgData name="Francisca Richter" userId="748852301_tp_box_2" providerId="OAuth2" clId="{D7DBE78D-EE8F-4140-B1BE-F9108D0C41A8}" dt="2026-01-21T17:19:18.006" v="1822"/>
        <pc:sldMkLst>
          <pc:docMk/>
          <pc:sldMk cId="0" sldId="270"/>
        </pc:sldMkLst>
        <pc:spChg chg="mod">
          <ac:chgData name="Francisca Richter" userId="748852301_tp_box_2" providerId="OAuth2" clId="{D7DBE78D-EE8F-4140-B1BE-F9108D0C41A8}" dt="2026-01-20T15:05:20.803" v="987" actId="207"/>
          <ac:spMkLst>
            <pc:docMk/>
            <pc:sldMk cId="0" sldId="270"/>
            <ac:spMk id="261" creationId="{00000000-0000-0000-0000-000000000000}"/>
          </ac:spMkLst>
        </pc:spChg>
      </pc:sldChg>
      <pc:sldChg chg="addSp modSp mod modNotes">
        <pc:chgData name="Francisca Richter" userId="748852301_tp_box_2" providerId="OAuth2" clId="{D7DBE78D-EE8F-4140-B1BE-F9108D0C41A8}" dt="2026-01-22T16:32:50.799" v="2694" actId="164"/>
        <pc:sldMkLst>
          <pc:docMk/>
          <pc:sldMk cId="0" sldId="271"/>
        </pc:sldMkLst>
        <pc:spChg chg="mod">
          <ac:chgData name="Francisca Richter" userId="748852301_tp_box_2" providerId="OAuth2" clId="{D7DBE78D-EE8F-4140-B1BE-F9108D0C41A8}" dt="2026-01-22T16:32:27.321" v="2693" actId="1076"/>
          <ac:spMkLst>
            <pc:docMk/>
            <pc:sldMk cId="0" sldId="271"/>
            <ac:spMk id="2" creationId="{E3A6E640-BC7C-28C6-31DF-9AAC92AB054D}"/>
          </ac:spMkLst>
        </pc:spChg>
        <pc:spChg chg="mod">
          <ac:chgData name="Francisca Richter" userId="748852301_tp_box_2" providerId="OAuth2" clId="{D7DBE78D-EE8F-4140-B1BE-F9108D0C41A8}" dt="2026-01-20T15:07:26.974" v="1060" actId="404"/>
          <ac:spMkLst>
            <pc:docMk/>
            <pc:sldMk cId="0" sldId="271"/>
            <ac:spMk id="278" creationId="{00000000-0000-0000-0000-000000000000}"/>
          </ac:spMkLst>
        </pc:spChg>
      </pc:sldChg>
      <pc:sldChg chg="addSp delSp modSp mod modNotes">
        <pc:chgData name="Francisca Richter" userId="748852301_tp_box_2" providerId="OAuth2" clId="{D7DBE78D-EE8F-4140-B1BE-F9108D0C41A8}" dt="2026-01-22T16:33:31.134" v="2712" actId="14100"/>
        <pc:sldMkLst>
          <pc:docMk/>
          <pc:sldMk cId="0" sldId="272"/>
        </pc:sldMkLst>
      </pc:sldChg>
      <pc:sldChg chg="modNotes">
        <pc:chgData name="Francisca Richter" userId="748852301_tp_box_2" providerId="OAuth2" clId="{D7DBE78D-EE8F-4140-B1BE-F9108D0C41A8}" dt="2026-01-21T17:19:18.006" v="1822"/>
        <pc:sldMkLst>
          <pc:docMk/>
          <pc:sldMk cId="0" sldId="273"/>
        </pc:sldMkLst>
      </pc:sldChg>
      <pc:sldChg chg="modNotes">
        <pc:chgData name="Francisca Richter" userId="748852301_tp_box_2" providerId="OAuth2" clId="{D7DBE78D-EE8F-4140-B1BE-F9108D0C41A8}" dt="2026-01-21T17:19:18.006" v="1822"/>
        <pc:sldMkLst>
          <pc:docMk/>
          <pc:sldMk cId="0" sldId="274"/>
        </pc:sldMkLst>
      </pc:sldChg>
      <pc:sldChg chg="modSp mod modNotes">
        <pc:chgData name="Francisca Richter" userId="748852301_tp_box_2" providerId="OAuth2" clId="{D7DBE78D-EE8F-4140-B1BE-F9108D0C41A8}" dt="2026-02-10T18:28:17.575" v="2824" actId="20577"/>
        <pc:sldMkLst>
          <pc:docMk/>
          <pc:sldMk cId="0" sldId="275"/>
        </pc:sldMkLst>
        <pc:spChg chg="mod">
          <ac:chgData name="Francisca Richter" userId="748852301_tp_box_2" providerId="OAuth2" clId="{D7DBE78D-EE8F-4140-B1BE-F9108D0C41A8}" dt="2026-02-10T18:28:17.575" v="2824" actId="20577"/>
          <ac:spMkLst>
            <pc:docMk/>
            <pc:sldMk cId="0" sldId="275"/>
            <ac:spMk id="347" creationId="{00000000-0000-0000-0000-000000000000}"/>
          </ac:spMkLst>
        </pc:spChg>
      </pc:sldChg>
      <pc:sldChg chg="addSp modSp mod modNotes">
        <pc:chgData name="Francisca Richter" userId="748852301_tp_box_2" providerId="OAuth2" clId="{D7DBE78D-EE8F-4140-B1BE-F9108D0C41A8}" dt="2026-01-21T18:31:07.613" v="2692" actId="403"/>
        <pc:sldMkLst>
          <pc:docMk/>
          <pc:sldMk cId="0" sldId="276"/>
        </pc:sldMkLst>
        <pc:spChg chg="add mod">
          <ac:chgData name="Francisca Richter" userId="748852301_tp_box_2" providerId="OAuth2" clId="{D7DBE78D-EE8F-4140-B1BE-F9108D0C41A8}" dt="2026-01-21T18:31:07.613" v="2692" actId="403"/>
          <ac:spMkLst>
            <pc:docMk/>
            <pc:sldMk cId="0" sldId="276"/>
            <ac:spMk id="4" creationId="{C719B93D-6613-3362-3FB4-31E170CAC465}"/>
          </ac:spMkLst>
        </pc:spChg>
        <pc:spChg chg="add mod">
          <ac:chgData name="Francisca Richter" userId="748852301_tp_box_2" providerId="OAuth2" clId="{D7DBE78D-EE8F-4140-B1BE-F9108D0C41A8}" dt="2026-01-21T18:25:26.722" v="2493" actId="2711"/>
          <ac:spMkLst>
            <pc:docMk/>
            <pc:sldMk cId="0" sldId="276"/>
            <ac:spMk id="6" creationId="{3A168688-30C7-F144-EF01-A9C01D4CB9A4}"/>
          </ac:spMkLst>
        </pc:spChg>
        <pc:spChg chg="mod">
          <ac:chgData name="Francisca Richter" userId="748852301_tp_box_2" providerId="OAuth2" clId="{D7DBE78D-EE8F-4140-B1BE-F9108D0C41A8}" dt="2026-01-21T18:28:25.051" v="2586" actId="20577"/>
          <ac:spMkLst>
            <pc:docMk/>
            <pc:sldMk cId="0" sldId="276"/>
            <ac:spMk id="365" creationId="{00000000-0000-0000-0000-000000000000}"/>
          </ac:spMkLst>
        </pc:spChg>
        <pc:picChg chg="add mod">
          <ac:chgData name="Francisca Richter" userId="748852301_tp_box_2" providerId="OAuth2" clId="{D7DBE78D-EE8F-4140-B1BE-F9108D0C41A8}" dt="2026-01-21T18:24:52.743" v="2489" actId="1076"/>
          <ac:picMkLst>
            <pc:docMk/>
            <pc:sldMk cId="0" sldId="276"/>
            <ac:picMk id="228" creationId="{00000000-0000-0000-0000-000000000000}"/>
          </ac:picMkLst>
        </pc:picChg>
      </pc:sldChg>
      <pc:sldChg chg="addSp modSp add mod ord modNotes">
        <pc:chgData name="Francisca Richter" userId="748852301_tp_box_2" providerId="OAuth2" clId="{D7DBE78D-EE8F-4140-B1BE-F9108D0C41A8}" dt="2026-01-21T17:19:18.006" v="1822"/>
        <pc:sldMkLst>
          <pc:docMk/>
          <pc:sldMk cId="2794718692" sldId="277"/>
        </pc:sldMkLst>
        <pc:spChg chg="mod">
          <ac:chgData name="Francisca Richter" userId="748852301_tp_box_2" providerId="OAuth2" clId="{D7DBE78D-EE8F-4140-B1BE-F9108D0C41A8}" dt="2026-01-21T16:58:02.930" v="1359" actId="207"/>
          <ac:spMkLst>
            <pc:docMk/>
            <pc:sldMk cId="2794718692" sldId="277"/>
            <ac:spMk id="213" creationId="{A31A68FF-CF95-66C1-C430-A36665A8948A}"/>
          </ac:spMkLst>
        </pc:spChg>
      </pc:sldChg>
      <pc:sldChg chg="addSp delSp modSp add mod setBg">
        <pc:chgData name="Francisca Richter" userId="748852301_tp_box_2" providerId="OAuth2" clId="{D7DBE78D-EE8F-4140-B1BE-F9108D0C41A8}" dt="2026-01-21T18:17:31.133" v="2385" actId="27636"/>
        <pc:sldMkLst>
          <pc:docMk/>
          <pc:sldMk cId="2356455975" sldId="278"/>
        </pc:sldMkLst>
        <pc:spChg chg="mod ord">
          <ac:chgData name="Francisca Richter" userId="748852301_tp_box_2" providerId="OAuth2" clId="{D7DBE78D-EE8F-4140-B1BE-F9108D0C41A8}" dt="2026-01-21T17:48:17.144" v="1830" actId="26606"/>
          <ac:spMkLst>
            <pc:docMk/>
            <pc:sldMk cId="2356455975" sldId="278"/>
            <ac:spMk id="2" creationId="{60FBD3FB-EE72-CE21-18DE-4CE7FA227BEC}"/>
          </ac:spMkLst>
        </pc:spChg>
        <pc:spChg chg="mod">
          <ac:chgData name="Francisca Richter" userId="748852301_tp_box_2" providerId="OAuth2" clId="{D7DBE78D-EE8F-4140-B1BE-F9108D0C41A8}" dt="2026-01-21T17:48:17.144" v="1830" actId="26606"/>
          <ac:spMkLst>
            <pc:docMk/>
            <pc:sldMk cId="2356455975" sldId="278"/>
            <ac:spMk id="226" creationId="{3A915604-CC69-F5E4-76A0-1A9474CA7600}"/>
          </ac:spMkLst>
        </pc:spChg>
        <pc:spChg chg="mod">
          <ac:chgData name="Francisca Richter" userId="748852301_tp_box_2" providerId="OAuth2" clId="{D7DBE78D-EE8F-4140-B1BE-F9108D0C41A8}" dt="2026-01-21T18:17:31.133" v="2385" actId="27636"/>
          <ac:spMkLst>
            <pc:docMk/>
            <pc:sldMk cId="2356455975" sldId="278"/>
            <ac:spMk id="227" creationId="{CE2F98AD-76F0-A022-D8E6-C2356B9D0F9A}"/>
          </ac:spMkLst>
        </pc:spChg>
      </pc:sldChg>
      <pc:sldChg chg="modSp mod">
        <pc:chgData name="Francisca Richter" userId="748852301_tp_box_2" providerId="OAuth2" clId="{D7DBE78D-EE8F-4140-B1BE-F9108D0C41A8}" dt="2026-02-10T17:42:22.496" v="2758" actId="20577"/>
        <pc:sldMkLst>
          <pc:docMk/>
          <pc:sldMk cId="1874058905" sldId="282"/>
        </pc:sldMkLst>
        <pc:spChg chg="mod">
          <ac:chgData name="Francisca Richter" userId="748852301_tp_box_2" providerId="OAuth2" clId="{D7DBE78D-EE8F-4140-B1BE-F9108D0C41A8}" dt="2026-02-10T17:42:22.496" v="2758" actId="20577"/>
          <ac:spMkLst>
            <pc:docMk/>
            <pc:sldMk cId="1874058905" sldId="282"/>
            <ac:spMk id="191" creationId="{B9200B63-E88D-7A09-BBE7-9FB9F541DD67}"/>
          </ac:spMkLst>
        </pc:spChg>
      </pc:sldChg>
      <pc:sldChg chg="modSp mod">
        <pc:chgData name="Francisca Richter" userId="748852301_tp_box_2" providerId="OAuth2" clId="{D7DBE78D-EE8F-4140-B1BE-F9108D0C41A8}" dt="2026-02-10T17:43:20.616" v="2806" actId="20577"/>
        <pc:sldMkLst>
          <pc:docMk/>
          <pc:sldMk cId="4162571463" sldId="283"/>
        </pc:sldMkLst>
        <pc:spChg chg="mod">
          <ac:chgData name="Francisca Richter" userId="748852301_tp_box_2" providerId="OAuth2" clId="{D7DBE78D-EE8F-4140-B1BE-F9108D0C41A8}" dt="2026-02-10T17:43:20.616" v="2806" actId="20577"/>
          <ac:spMkLst>
            <pc:docMk/>
            <pc:sldMk cId="4162571463" sldId="283"/>
            <ac:spMk id="191" creationId="{20CF3119-BC41-2621-3AC9-25ED321B0D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45" tIns="48309" rIns="96645" bIns="48309"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45" tIns="48309" rIns="96645" bIns="48309"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45" tIns="48309" rIns="96645" bIns="48309"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200"/>
            </a:pPr>
            <a:fld id="{00000000-1234-1234-1234-123412341234}" type="slidenum">
              <a:rPr lang="en-US" sz="1300" smtClean="0">
                <a:solidFill>
                  <a:schemeClr val="dk1"/>
                </a:solidFill>
                <a:latin typeface="Calibri"/>
                <a:ea typeface="Calibri"/>
                <a:cs typeface="Calibri"/>
                <a:sym typeface="Calibri"/>
              </a:rPr>
              <a:pPr algn="r">
                <a:buSzPts val="1200"/>
              </a:pPr>
              <a:t>‹#›</a:t>
            </a:fld>
            <a:endParaRPr lang="en-US"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8cbe2c9d5a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8cbe2c9d5a_0_0: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483306" indent="-241653"/>
            <a:endParaRPr/>
          </a:p>
        </p:txBody>
      </p:sp>
      <p:sp>
        <p:nvSpPr>
          <p:cNvPr id="87" name="Google Shape;87;g38cbe2c9d5a_0_0: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E8BA5CCE-006B-3212-0F4A-85D9BB2A1030}"/>
            </a:ext>
          </a:extLst>
        </p:cNvPr>
        <p:cNvGrpSpPr/>
        <p:nvPr/>
      </p:nvGrpSpPr>
      <p:grpSpPr>
        <a:xfrm>
          <a:off x="0" y="0"/>
          <a:ext cx="0" cy="0"/>
          <a:chOff x="0" y="0"/>
          <a:chExt cx="0" cy="0"/>
        </a:xfrm>
      </p:grpSpPr>
      <p:sp>
        <p:nvSpPr>
          <p:cNvPr id="113" name="Google Shape;113;p2:notes">
            <a:extLst>
              <a:ext uri="{FF2B5EF4-FFF2-40B4-BE49-F238E27FC236}">
                <a16:creationId xmlns:a16="http://schemas.microsoft.com/office/drawing/2014/main" id="{0535C4F6-3468-33A1-261A-C3BD059966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114" name="Google Shape;114;p2:notes">
            <a:extLst>
              <a:ext uri="{FF2B5EF4-FFF2-40B4-BE49-F238E27FC236}">
                <a16:creationId xmlns:a16="http://schemas.microsoft.com/office/drawing/2014/main" id="{36E6CCA7-1EC5-1032-BFB3-474CEF3534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886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896c370de1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g3896c370de1_0_0: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endParaRPr/>
          </a:p>
        </p:txBody>
      </p:sp>
      <p:sp>
        <p:nvSpPr>
          <p:cNvPr id="94" name="Google Shape;94;g3896c370de1_0_0: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aeab3a152_0_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g3baeab3a152_0_0: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endParaRPr/>
          </a:p>
        </p:txBody>
      </p:sp>
      <p:sp>
        <p:nvSpPr>
          <p:cNvPr id="116" name="Google Shape;116;g3baeab3a152_0_0: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1: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endParaRPr/>
          </a:p>
        </p:txBody>
      </p:sp>
      <p:sp>
        <p:nvSpPr>
          <p:cNvPr id="141" name="Google Shape;141;p1: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8240a52d44_0_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g38240a52d44_0_1: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48" name="Google Shape;148;g38240a52d44_0_1: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9dd63b4ae5_0_1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g39dd63b4ae5_0_15: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62" name="Google Shape;162;g39dd63b4ae5_0_15: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9dd63b4ae5_0_2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9dd63b4ae5_0_28: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78" name="Google Shape;178;g39dd63b4ae5_0_28: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4A602722-9664-3B70-94D7-1FCD4DBC788C}"/>
            </a:ext>
          </a:extLst>
        </p:cNvPr>
        <p:cNvGrpSpPr/>
        <p:nvPr/>
      </p:nvGrpSpPr>
      <p:grpSpPr>
        <a:xfrm>
          <a:off x="0" y="0"/>
          <a:ext cx="0" cy="0"/>
          <a:chOff x="0" y="0"/>
          <a:chExt cx="0" cy="0"/>
        </a:xfrm>
      </p:grpSpPr>
      <p:sp>
        <p:nvSpPr>
          <p:cNvPr id="176" name="Google Shape;176;g39dd63b4ae5_0_28:notes">
            <a:extLst>
              <a:ext uri="{FF2B5EF4-FFF2-40B4-BE49-F238E27FC236}">
                <a16:creationId xmlns:a16="http://schemas.microsoft.com/office/drawing/2014/main" id="{51D1BB6E-8F83-AA88-1407-67960188660A}"/>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9dd63b4ae5_0_28:notes">
            <a:extLst>
              <a:ext uri="{FF2B5EF4-FFF2-40B4-BE49-F238E27FC236}">
                <a16:creationId xmlns:a16="http://schemas.microsoft.com/office/drawing/2014/main" id="{0736B83A-B73B-E7EF-C28D-20F83B1A72C3}"/>
              </a:ext>
            </a:extLst>
          </p:cNvPr>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78" name="Google Shape;178;g39dd63b4ae5_0_28:notes">
            <a:extLst>
              <a:ext uri="{FF2B5EF4-FFF2-40B4-BE49-F238E27FC236}">
                <a16:creationId xmlns:a16="http://schemas.microsoft.com/office/drawing/2014/main" id="{306A1FED-61C8-87FE-F404-3AA815170340}"/>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9</a:t>
            </a:fld>
            <a:endParaRPr/>
          </a:p>
        </p:txBody>
      </p:sp>
    </p:spTree>
    <p:extLst>
      <p:ext uri="{BB962C8B-B14F-4D97-AF65-F5344CB8AC3E}">
        <p14:creationId xmlns:p14="http://schemas.microsoft.com/office/powerpoint/2010/main" val="1693404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9BC95005-3140-50CD-96F3-6866F5695DBB}"/>
            </a:ext>
          </a:extLst>
        </p:cNvPr>
        <p:cNvGrpSpPr/>
        <p:nvPr/>
      </p:nvGrpSpPr>
      <p:grpSpPr>
        <a:xfrm>
          <a:off x="0" y="0"/>
          <a:ext cx="0" cy="0"/>
          <a:chOff x="0" y="0"/>
          <a:chExt cx="0" cy="0"/>
        </a:xfrm>
      </p:grpSpPr>
      <p:sp>
        <p:nvSpPr>
          <p:cNvPr id="176" name="Google Shape;176;g39dd63b4ae5_0_28:notes">
            <a:extLst>
              <a:ext uri="{FF2B5EF4-FFF2-40B4-BE49-F238E27FC236}">
                <a16:creationId xmlns:a16="http://schemas.microsoft.com/office/drawing/2014/main" id="{6C74E994-3F9C-D93F-2F3A-B37DEEADFBA6}"/>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9dd63b4ae5_0_28:notes">
            <a:extLst>
              <a:ext uri="{FF2B5EF4-FFF2-40B4-BE49-F238E27FC236}">
                <a16:creationId xmlns:a16="http://schemas.microsoft.com/office/drawing/2014/main" id="{8B1E0794-F31D-73D1-A611-41DC816868A8}"/>
              </a:ext>
            </a:extLst>
          </p:cNvPr>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78" name="Google Shape;178;g39dd63b4ae5_0_28:notes">
            <a:extLst>
              <a:ext uri="{FF2B5EF4-FFF2-40B4-BE49-F238E27FC236}">
                <a16:creationId xmlns:a16="http://schemas.microsoft.com/office/drawing/2014/main" id="{E38D1484-CBDF-AAAD-9D4C-1C2972211FB7}"/>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10</a:t>
            </a:fld>
            <a:endParaRPr/>
          </a:p>
        </p:txBody>
      </p:sp>
    </p:spTree>
    <p:extLst>
      <p:ext uri="{BB962C8B-B14F-4D97-AF65-F5344CB8AC3E}">
        <p14:creationId xmlns:p14="http://schemas.microsoft.com/office/powerpoint/2010/main" val="744061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D6C16606-BC5D-5DF2-34D9-82BA32013440}"/>
            </a:ext>
          </a:extLst>
        </p:cNvPr>
        <p:cNvGrpSpPr/>
        <p:nvPr/>
      </p:nvGrpSpPr>
      <p:grpSpPr>
        <a:xfrm>
          <a:off x="0" y="0"/>
          <a:ext cx="0" cy="0"/>
          <a:chOff x="0" y="0"/>
          <a:chExt cx="0" cy="0"/>
        </a:xfrm>
      </p:grpSpPr>
      <p:sp>
        <p:nvSpPr>
          <p:cNvPr id="176" name="Google Shape;176;g39dd63b4ae5_0_28:notes">
            <a:extLst>
              <a:ext uri="{FF2B5EF4-FFF2-40B4-BE49-F238E27FC236}">
                <a16:creationId xmlns:a16="http://schemas.microsoft.com/office/drawing/2014/main" id="{3FFEA4D6-8327-B1B2-36E8-A743C641CB0B}"/>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9dd63b4ae5_0_28:notes">
            <a:extLst>
              <a:ext uri="{FF2B5EF4-FFF2-40B4-BE49-F238E27FC236}">
                <a16:creationId xmlns:a16="http://schemas.microsoft.com/office/drawing/2014/main" id="{B755732C-F15B-A113-2B64-3B0D71C31B86}"/>
              </a:ext>
            </a:extLst>
          </p:cNvPr>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78" name="Google Shape;178;g39dd63b4ae5_0_28:notes">
            <a:extLst>
              <a:ext uri="{FF2B5EF4-FFF2-40B4-BE49-F238E27FC236}">
                <a16:creationId xmlns:a16="http://schemas.microsoft.com/office/drawing/2014/main" id="{BC14D257-0575-0DA8-044F-E294C5F75100}"/>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11</a:t>
            </a:fld>
            <a:endParaRPr/>
          </a:p>
        </p:txBody>
      </p:sp>
    </p:spTree>
    <p:extLst>
      <p:ext uri="{BB962C8B-B14F-4D97-AF65-F5344CB8AC3E}">
        <p14:creationId xmlns:p14="http://schemas.microsoft.com/office/powerpoint/2010/main" val="2272705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EFBAB120-8DE2-8E22-30F2-0C4C2B0C354C}"/>
            </a:ext>
          </a:extLst>
        </p:cNvPr>
        <p:cNvGrpSpPr/>
        <p:nvPr/>
      </p:nvGrpSpPr>
      <p:grpSpPr>
        <a:xfrm>
          <a:off x="0" y="0"/>
          <a:ext cx="0" cy="0"/>
          <a:chOff x="0" y="0"/>
          <a:chExt cx="0" cy="0"/>
        </a:xfrm>
      </p:grpSpPr>
      <p:sp>
        <p:nvSpPr>
          <p:cNvPr id="176" name="Google Shape;176;g39dd63b4ae5_0_28:notes">
            <a:extLst>
              <a:ext uri="{FF2B5EF4-FFF2-40B4-BE49-F238E27FC236}">
                <a16:creationId xmlns:a16="http://schemas.microsoft.com/office/drawing/2014/main" id="{088491D6-2FE5-EBAC-FB46-B736E72812F6}"/>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9dd63b4ae5_0_28:notes">
            <a:extLst>
              <a:ext uri="{FF2B5EF4-FFF2-40B4-BE49-F238E27FC236}">
                <a16:creationId xmlns:a16="http://schemas.microsoft.com/office/drawing/2014/main" id="{E38E452E-5219-63E7-924D-A5F7B3689F53}"/>
              </a:ext>
            </a:extLst>
          </p:cNvPr>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78" name="Google Shape;178;g39dd63b4ae5_0_28:notes">
            <a:extLst>
              <a:ext uri="{FF2B5EF4-FFF2-40B4-BE49-F238E27FC236}">
                <a16:creationId xmlns:a16="http://schemas.microsoft.com/office/drawing/2014/main" id="{70A2F355-2C93-4D0D-78BF-D1EE82E8E2F1}"/>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12</a:t>
            </a:fld>
            <a:endParaRPr/>
          </a:p>
        </p:txBody>
      </p:sp>
    </p:spTree>
    <p:extLst>
      <p:ext uri="{BB962C8B-B14F-4D97-AF65-F5344CB8AC3E}">
        <p14:creationId xmlns:p14="http://schemas.microsoft.com/office/powerpoint/2010/main" val="2664464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38DDE9CB-B39D-0644-3520-0517CEC9D4AE}"/>
            </a:ext>
          </a:extLst>
        </p:cNvPr>
        <p:cNvGrpSpPr/>
        <p:nvPr/>
      </p:nvGrpSpPr>
      <p:grpSpPr>
        <a:xfrm>
          <a:off x="0" y="0"/>
          <a:ext cx="0" cy="0"/>
          <a:chOff x="0" y="0"/>
          <a:chExt cx="0" cy="0"/>
        </a:xfrm>
      </p:grpSpPr>
      <p:sp>
        <p:nvSpPr>
          <p:cNvPr id="194" name="Google Shape;194;g39dff930041_0_1:notes">
            <a:extLst>
              <a:ext uri="{FF2B5EF4-FFF2-40B4-BE49-F238E27FC236}">
                <a16:creationId xmlns:a16="http://schemas.microsoft.com/office/drawing/2014/main" id="{2E6768E0-D308-FE14-601B-670B0BF52B0D}"/>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9dff930041_0_1:notes">
            <a:extLst>
              <a:ext uri="{FF2B5EF4-FFF2-40B4-BE49-F238E27FC236}">
                <a16:creationId xmlns:a16="http://schemas.microsoft.com/office/drawing/2014/main" id="{AAFAA53A-671A-11A2-6329-C67635451952}"/>
              </a:ext>
            </a:extLst>
          </p:cNvPr>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196" name="Google Shape;196;g39dff930041_0_1:notes">
            <a:extLst>
              <a:ext uri="{FF2B5EF4-FFF2-40B4-BE49-F238E27FC236}">
                <a16:creationId xmlns:a16="http://schemas.microsoft.com/office/drawing/2014/main" id="{D02425D7-A94A-E0B3-C3B2-11EBA4430664}"/>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13</a:t>
            </a:fld>
            <a:endParaRPr/>
          </a:p>
        </p:txBody>
      </p:sp>
    </p:spTree>
    <p:extLst>
      <p:ext uri="{BB962C8B-B14F-4D97-AF65-F5344CB8AC3E}">
        <p14:creationId xmlns:p14="http://schemas.microsoft.com/office/powerpoint/2010/main" val="665848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a:extLst>
            <a:ext uri="{FF2B5EF4-FFF2-40B4-BE49-F238E27FC236}">
              <a16:creationId xmlns:a16="http://schemas.microsoft.com/office/drawing/2014/main" id="{895BBB53-D419-C380-D7A8-F02C2E12D563}"/>
            </a:ext>
          </a:extLst>
        </p:cNvPr>
        <p:cNvGrpSpPr/>
        <p:nvPr/>
      </p:nvGrpSpPr>
      <p:grpSpPr>
        <a:xfrm>
          <a:off x="0" y="0"/>
          <a:ext cx="0" cy="0"/>
          <a:chOff x="0" y="0"/>
          <a:chExt cx="0" cy="0"/>
        </a:xfrm>
      </p:grpSpPr>
      <p:sp>
        <p:nvSpPr>
          <p:cNvPr id="208" name="Google Shape;208;g38240a52d44_0_24:notes">
            <a:extLst>
              <a:ext uri="{FF2B5EF4-FFF2-40B4-BE49-F238E27FC236}">
                <a16:creationId xmlns:a16="http://schemas.microsoft.com/office/drawing/2014/main" id="{4871DB8B-9234-6F8D-0AA7-AB2A99F3E66A}"/>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g38240a52d44_0_24:notes">
            <a:extLst>
              <a:ext uri="{FF2B5EF4-FFF2-40B4-BE49-F238E27FC236}">
                <a16:creationId xmlns:a16="http://schemas.microsoft.com/office/drawing/2014/main" id="{EEACAC07-E129-B3A6-C443-5EBE077D442E}"/>
              </a:ext>
            </a:extLst>
          </p:cNvPr>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r>
              <a:rPr lang="en-US"/>
              <a:t>Collider variable = an endogenous variable caused by two other variables</a:t>
            </a:r>
            <a:endParaRPr/>
          </a:p>
          <a:p>
            <a:pPr marL="0" indent="0"/>
            <a:r>
              <a:rPr lang="en-US"/>
              <a:t>Collider variables have at least two arrows pointing towards them</a:t>
            </a:r>
            <a:endParaRPr/>
          </a:p>
          <a:p>
            <a:pPr marL="0" indent="0"/>
            <a:r>
              <a:rPr lang="en-US"/>
              <a:t>The two variables that point towards the collider have an association</a:t>
            </a:r>
            <a:endParaRPr/>
          </a:p>
          <a:p>
            <a:pPr marL="0" indent="0"/>
            <a:endParaRPr/>
          </a:p>
        </p:txBody>
      </p:sp>
      <p:sp>
        <p:nvSpPr>
          <p:cNvPr id="210" name="Google Shape;210;g38240a52d44_0_24:notes">
            <a:extLst>
              <a:ext uri="{FF2B5EF4-FFF2-40B4-BE49-F238E27FC236}">
                <a16:creationId xmlns:a16="http://schemas.microsoft.com/office/drawing/2014/main" id="{86C86329-D37F-5CA0-A637-421BBA3EF315}"/>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14</a:t>
            </a:fld>
            <a:endParaRPr/>
          </a:p>
        </p:txBody>
      </p:sp>
    </p:spTree>
    <p:extLst>
      <p:ext uri="{BB962C8B-B14F-4D97-AF65-F5344CB8AC3E}">
        <p14:creationId xmlns:p14="http://schemas.microsoft.com/office/powerpoint/2010/main" val="27257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8240a52d44_0_2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g38240a52d44_0_24: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r>
              <a:rPr lang="en-US"/>
              <a:t>Collider variable = an endogenous variable caused by two other variables</a:t>
            </a:r>
            <a:endParaRPr/>
          </a:p>
          <a:p>
            <a:pPr marL="0" indent="0"/>
            <a:r>
              <a:rPr lang="en-US"/>
              <a:t>Collider variables have at least two arrows pointing towards them</a:t>
            </a:r>
            <a:endParaRPr/>
          </a:p>
          <a:p>
            <a:pPr marL="0" indent="0"/>
            <a:r>
              <a:rPr lang="en-US"/>
              <a:t>The two variables that point towards the collider have an association</a:t>
            </a:r>
            <a:endParaRPr/>
          </a:p>
          <a:p>
            <a:pPr marL="0" indent="0"/>
            <a:endParaRPr/>
          </a:p>
        </p:txBody>
      </p:sp>
      <p:sp>
        <p:nvSpPr>
          <p:cNvPr id="210" name="Google Shape;210;g38240a52d44_0_24: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8e34af980f_0_15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g38e34af980f_0_155: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217" name="Google Shape;217;g38e34af980f_0_155: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A4F33868-4693-FD5B-DEC3-16B6E3739945}"/>
            </a:ext>
          </a:extLst>
        </p:cNvPr>
        <p:cNvGrpSpPr/>
        <p:nvPr/>
      </p:nvGrpSpPr>
      <p:grpSpPr>
        <a:xfrm>
          <a:off x="0" y="0"/>
          <a:ext cx="0" cy="0"/>
          <a:chOff x="0" y="0"/>
          <a:chExt cx="0" cy="0"/>
        </a:xfrm>
      </p:grpSpPr>
      <p:sp>
        <p:nvSpPr>
          <p:cNvPr id="222" name="Google Shape;222;g3896c370de1_0_126:notes">
            <a:extLst>
              <a:ext uri="{FF2B5EF4-FFF2-40B4-BE49-F238E27FC236}">
                <a16:creationId xmlns:a16="http://schemas.microsoft.com/office/drawing/2014/main" id="{11C43CE8-6BAF-916E-635D-55FE86D5B382}"/>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896c370de1_0_126:notes">
            <a:extLst>
              <a:ext uri="{FF2B5EF4-FFF2-40B4-BE49-F238E27FC236}">
                <a16:creationId xmlns:a16="http://schemas.microsoft.com/office/drawing/2014/main" id="{C807B26B-959F-4C45-684C-D3AADC2F7C48}"/>
              </a:ext>
            </a:extLst>
          </p:cNvPr>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p:txBody>
      </p:sp>
      <p:sp>
        <p:nvSpPr>
          <p:cNvPr id="224" name="Google Shape;224;g3896c370de1_0_126:notes">
            <a:extLst>
              <a:ext uri="{FF2B5EF4-FFF2-40B4-BE49-F238E27FC236}">
                <a16:creationId xmlns:a16="http://schemas.microsoft.com/office/drawing/2014/main" id="{0D782F50-EEB2-A312-9D3B-B8A78E3E1C8A}"/>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17</a:t>
            </a:fld>
            <a:endParaRPr/>
          </a:p>
        </p:txBody>
      </p:sp>
    </p:spTree>
    <p:extLst>
      <p:ext uri="{BB962C8B-B14F-4D97-AF65-F5344CB8AC3E}">
        <p14:creationId xmlns:p14="http://schemas.microsoft.com/office/powerpoint/2010/main" val="405113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8240a52d44_0_3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8240a52d44_0_32: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r>
              <a:rPr lang="en-US"/>
              <a:t>Collider variable = an endogenous variable caused by two other variables</a:t>
            </a:r>
            <a:endParaRPr/>
          </a:p>
          <a:p>
            <a:pPr marL="0" indent="0"/>
            <a:r>
              <a:rPr lang="en-US"/>
              <a:t>Collider variables have at least two arrows pointing towards them</a:t>
            </a:r>
            <a:endParaRPr/>
          </a:p>
          <a:p>
            <a:pPr marL="0" indent="0"/>
            <a:r>
              <a:rPr lang="en-US"/>
              <a:t>The two variables that point towards the collider have an association</a:t>
            </a:r>
            <a:endParaRPr/>
          </a:p>
          <a:p>
            <a:pPr marL="0" indent="0"/>
            <a:endParaRPr/>
          </a:p>
        </p:txBody>
      </p:sp>
      <p:sp>
        <p:nvSpPr>
          <p:cNvPr id="232" name="Google Shape;232;g38240a52d44_0_32: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4: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marL="0" indent="0"/>
            <a:endParaRPr/>
          </a:p>
        </p:txBody>
      </p:sp>
      <p:sp>
        <p:nvSpPr>
          <p:cNvPr id="238" name="Google Shape;238;p1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e34af980f_0_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g38e34af980f_0_8: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r>
              <a:rPr lang="en-US"/>
              <a:t>https://academic.oup.com/aje/article/164/11/1115/61454?login=true</a:t>
            </a:r>
            <a:endParaRPr/>
          </a:p>
        </p:txBody>
      </p:sp>
      <p:sp>
        <p:nvSpPr>
          <p:cNvPr id="245" name="Google Shape;245;g38e34af980f_0_8: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8e34af980f_0_2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8e34af980f_0_26: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r>
              <a:rPr lang="en-US"/>
              <a:t>https://academic.oup.com/aje/article/164/11/1115/61454?login=true</a:t>
            </a:r>
            <a:endParaRPr/>
          </a:p>
        </p:txBody>
      </p:sp>
      <p:sp>
        <p:nvSpPr>
          <p:cNvPr id="258" name="Google Shape;258;g38e34af980f_0_26: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8e34af980f_0_4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8e34af980f_0_44: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r>
              <a:rPr lang="en-US"/>
              <a:t>https://academic.oup.com/aje/article/164/11/1115/61454?login=true</a:t>
            </a:r>
            <a:endParaRPr/>
          </a:p>
        </p:txBody>
      </p:sp>
      <p:sp>
        <p:nvSpPr>
          <p:cNvPr id="275" name="Google Shape;275;g38e34af980f_0_44: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896c370de1_0_8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g3896c370de1_0_83: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r>
              <a:rPr lang="en-US"/>
              <a:t>https://academic.oup.com/aje/article/164/11/1115/61454?login=true</a:t>
            </a:r>
            <a:endParaRPr/>
          </a:p>
        </p:txBody>
      </p:sp>
      <p:sp>
        <p:nvSpPr>
          <p:cNvPr id="291" name="Google Shape;291;g3896c370de1_0_83: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8e34af980f_0_1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g38e34af980f_0_14: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buClr>
                <a:schemeClr val="dk1"/>
              </a:buClr>
              <a:buSzPts val="1100"/>
            </a:pPr>
            <a:r>
              <a:rPr lang="en-US"/>
              <a:t>https://www.tandfonline.com/doi/full/10.1080/10511482.2021.1879201#abstract</a:t>
            </a:r>
            <a:endParaRPr/>
          </a:p>
          <a:p>
            <a:pPr marL="0" indent="0">
              <a:buClr>
                <a:schemeClr val="dk1"/>
              </a:buClr>
              <a:buSzPts val="1100"/>
            </a:pPr>
            <a:endParaRPr/>
          </a:p>
          <a:p>
            <a:pPr marL="0" indent="0"/>
            <a:endParaRPr/>
          </a:p>
        </p:txBody>
      </p:sp>
      <p:sp>
        <p:nvSpPr>
          <p:cNvPr id="312" name="Google Shape;312;g38e34af980f_0_14: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8e34af980f_0_9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g38e34af980f_0_93: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buSzPts val="1100"/>
            </a:pPr>
            <a:r>
              <a:rPr lang="en-US"/>
              <a:t>https://www.tandfonline.com/doi/full/10.1080/10511482.2021.1879201#abstract</a:t>
            </a:r>
            <a:endParaRPr/>
          </a:p>
          <a:p>
            <a:pPr marL="0" indent="0">
              <a:buSzPts val="1100"/>
            </a:pPr>
            <a:endParaRPr/>
          </a:p>
          <a:p>
            <a:pPr marL="0" indent="0"/>
            <a:endParaRPr/>
          </a:p>
        </p:txBody>
      </p:sp>
      <p:sp>
        <p:nvSpPr>
          <p:cNvPr id="327" name="Google Shape;327;g38e34af980f_0_93: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8e34af980f_0_13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g38e34af980f_0_134: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buSzPts val="1100"/>
            </a:pPr>
            <a:r>
              <a:rPr lang="en-US"/>
              <a:t>https://www.tandfonline.com/doi/full/10.1080/10511482.2021.1879201#abstract</a:t>
            </a:r>
            <a:endParaRPr/>
          </a:p>
          <a:p>
            <a:pPr marL="0" indent="0">
              <a:buSzPts val="1100"/>
            </a:pPr>
            <a:endParaRPr/>
          </a:p>
          <a:p>
            <a:pPr marL="0" indent="0"/>
            <a:endParaRPr/>
          </a:p>
        </p:txBody>
      </p:sp>
      <p:sp>
        <p:nvSpPr>
          <p:cNvPr id="344" name="Google Shape;344;g38e34af980f_0_134: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896c370de1_0_10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g3896c370de1_0_103:notes"/>
          <p:cNvSpPr txBox="1">
            <a:spLocks noGrp="1"/>
          </p:cNvSpPr>
          <p:nvPr>
            <p:ph type="body" idx="1"/>
          </p:nvPr>
        </p:nvSpPr>
        <p:spPr>
          <a:xfrm>
            <a:off x="731520" y="4560570"/>
            <a:ext cx="5852160" cy="4320540"/>
          </a:xfrm>
          <a:prstGeom prst="rect">
            <a:avLst/>
          </a:prstGeom>
          <a:noFill/>
          <a:ln>
            <a:noFill/>
          </a:ln>
        </p:spPr>
        <p:txBody>
          <a:bodyPr spcFirstLastPara="1" wrap="square" lIns="96645" tIns="48309" rIns="96645" bIns="48309" anchor="t" anchorCtr="0">
            <a:noAutofit/>
          </a:bodyPr>
          <a:lstStyle/>
          <a:p>
            <a:pPr marL="0" indent="0"/>
            <a:endParaRPr/>
          </a:p>
          <a:p>
            <a:pPr marL="0" indent="0">
              <a:buSzPts val="1100"/>
            </a:pPr>
            <a:r>
              <a:rPr lang="en-US"/>
              <a:t>https://www.tandfonline.com/doi/full/10.1080/10511482.2021.1879201#abstract</a:t>
            </a:r>
            <a:endParaRPr/>
          </a:p>
          <a:p>
            <a:pPr marL="0" indent="0">
              <a:buSzPts val="1100"/>
            </a:pPr>
            <a:endParaRPr/>
          </a:p>
          <a:p>
            <a:pPr marL="0" indent="0"/>
            <a:endParaRPr/>
          </a:p>
        </p:txBody>
      </p:sp>
      <p:sp>
        <p:nvSpPr>
          <p:cNvPr id="362" name="Google Shape;362;g3896c370de1_0_103:notes"/>
          <p:cNvSpPr txBox="1">
            <a:spLocks noGrp="1"/>
          </p:cNvSpPr>
          <p:nvPr>
            <p:ph type="sldNum" idx="12"/>
          </p:nvPr>
        </p:nvSpPr>
        <p:spPr>
          <a:xfrm>
            <a:off x="4143587" y="9119474"/>
            <a:ext cx="3169920" cy="480060"/>
          </a:xfrm>
          <a:prstGeom prst="rect">
            <a:avLst/>
          </a:prstGeom>
          <a:noFill/>
          <a:ln>
            <a:noFill/>
          </a:ln>
        </p:spPr>
        <p:txBody>
          <a:bodyPr spcFirstLastPara="1" wrap="square" lIns="96645" tIns="48309" rIns="96645" bIns="48309" anchor="b" anchorCtr="0">
            <a:noAutofit/>
          </a:bodyPr>
          <a:lstStyle/>
          <a:p>
            <a:pPr algn="r">
              <a:buSzPts val="1400"/>
            </a:pPr>
            <a:fld id="{00000000-1234-1234-1234-123412341234}" type="slidenum">
              <a:rPr lang="en-US"/>
              <a:pPr algn="r">
                <a:buSzPts val="1400"/>
              </a:pPr>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10"/>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2389717" y="612775"/>
            <a:ext cx="7315200" cy="4114800"/>
          </a:xfrm>
          <a:prstGeom prst="rect">
            <a:avLst/>
          </a:prstGeom>
          <a:noFill/>
          <a:ln>
            <a:noFill/>
          </a:ln>
        </p:spPr>
      </p:sp>
      <p:sp>
        <p:nvSpPr>
          <p:cNvPr id="68" name="Google Shape;68;p11"/>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3833020"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7285039" y="1828801"/>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1697039" y="-812800"/>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92603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20241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36575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87196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5105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4462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1234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393634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5183188" y="987425"/>
            <a:ext cx="6172200" cy="4873625"/>
          </a:xfrm>
          <a:prstGeom prst="rect">
            <a:avLst/>
          </a:prstGeom>
          <a:noFill/>
          <a:ln>
            <a:noFill/>
          </a:ln>
        </p:spPr>
      </p:sp>
      <p:sp>
        <p:nvSpPr>
          <p:cNvPr id="64" name="Google Shape;64;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513762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311384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14059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947170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overtycentercle.github.io/FAIR2-PIT-UN/Collider-bias.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46/annurev-soc-071913-043455"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nytimes.com/2016/07/12/upshot/surprising-new-evidence-shows-bias-in-police-use-of-force-but-not-in-shootings.html" TargetMode="External"/><Relationship Id="rId5" Type="http://schemas.openxmlformats.org/officeDocument/2006/relationships/hyperlink" Target="https://doi.org/10.1080/10511482.2021.1879201" TargetMode="External"/><Relationship Id="rId4" Type="http://schemas.openxmlformats.org/officeDocument/2006/relationships/hyperlink" Target="https://doi.org/10.1093/aje/kwj275"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doi.org/10.1080/10511482.2021.187920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38cbe2c9d5a_0_0"/>
          <p:cNvSpPr txBox="1">
            <a:spLocks noGrp="1"/>
          </p:cNvSpPr>
          <p:nvPr>
            <p:ph type="ctrTitle"/>
          </p:nvPr>
        </p:nvSpPr>
        <p:spPr>
          <a:xfrm>
            <a:off x="1572768" y="1501800"/>
            <a:ext cx="9116568" cy="1470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111111"/>
              <a:buNone/>
            </a:pPr>
            <a:r>
              <a:rPr lang="en-US" b="1">
                <a:solidFill>
                  <a:srgbClr val="001C84"/>
                </a:solidFill>
                <a:latin typeface="Open Sans"/>
                <a:ea typeface="Open Sans"/>
                <a:cs typeface="Open Sans"/>
                <a:sym typeface="Open Sans"/>
              </a:rPr>
              <a:t>An illustration of </a:t>
            </a:r>
            <a:br>
              <a:rPr lang="en-US" b="1">
                <a:solidFill>
                  <a:srgbClr val="001C84"/>
                </a:solidFill>
                <a:latin typeface="Open Sans"/>
                <a:ea typeface="Open Sans"/>
                <a:cs typeface="Open Sans"/>
                <a:sym typeface="Open Sans"/>
              </a:rPr>
            </a:br>
            <a:r>
              <a:rPr lang="en-US" sz="5300" b="1">
                <a:solidFill>
                  <a:srgbClr val="001C84"/>
                </a:solidFill>
                <a:latin typeface="Open Sans"/>
                <a:ea typeface="Open Sans"/>
                <a:cs typeface="Open Sans"/>
                <a:sym typeface="Open Sans"/>
              </a:rPr>
              <a:t>Collider Bias </a:t>
            </a:r>
            <a:br>
              <a:rPr lang="en-US" b="1">
                <a:solidFill>
                  <a:srgbClr val="001C84"/>
                </a:solidFill>
                <a:latin typeface="Open Sans"/>
                <a:ea typeface="Open Sans"/>
                <a:cs typeface="Open Sans"/>
                <a:sym typeface="Open Sans"/>
              </a:rPr>
            </a:br>
            <a:r>
              <a:rPr lang="en-US" b="1">
                <a:solidFill>
                  <a:srgbClr val="001C84"/>
                </a:solidFill>
                <a:latin typeface="Open Sans"/>
                <a:ea typeface="Open Sans"/>
                <a:cs typeface="Open Sans"/>
                <a:sym typeface="Open Sans"/>
              </a:rPr>
              <a:t>in housing research</a:t>
            </a:r>
            <a:endParaRPr b="1">
              <a:solidFill>
                <a:srgbClr val="001C84"/>
              </a:solidFill>
              <a:latin typeface="Open Sans"/>
              <a:ea typeface="Open Sans"/>
              <a:cs typeface="Open Sans"/>
              <a:sym typeface="Open Sans"/>
            </a:endParaRPr>
          </a:p>
        </p:txBody>
      </p:sp>
      <p:sp>
        <p:nvSpPr>
          <p:cNvPr id="90" name="Google Shape;90;g38cbe2c9d5a_0_0"/>
          <p:cNvSpPr txBox="1"/>
          <p:nvPr/>
        </p:nvSpPr>
        <p:spPr>
          <a:xfrm>
            <a:off x="716437" y="3525623"/>
            <a:ext cx="10595727" cy="2862322"/>
          </a:xfrm>
          <a:prstGeom prst="rect">
            <a:avLst/>
          </a:prstGeom>
          <a:noFill/>
          <a:ln>
            <a:noFill/>
          </a:ln>
        </p:spPr>
        <p:txBody>
          <a:bodyPr spcFirstLastPara="1" wrap="square" lIns="91425" tIns="45700" rIns="91425" bIns="45700" anchor="t" anchorCtr="0">
            <a:spAutoFit/>
          </a:bodyPr>
          <a:lstStyle/>
          <a:p>
            <a:pPr marL="457200" marR="0" lvl="0" indent="-342900" algn="ctr" rtl="0">
              <a:lnSpc>
                <a:spcPct val="100000"/>
              </a:lnSpc>
              <a:spcBef>
                <a:spcPts val="0"/>
              </a:spcBef>
              <a:spcAft>
                <a:spcPts val="0"/>
              </a:spcAft>
              <a:buClr>
                <a:srgbClr val="595959"/>
              </a:buClr>
              <a:buSzPts val="2800"/>
              <a:buFont typeface="Arial"/>
              <a:buNone/>
            </a:pPr>
            <a:r>
              <a:rPr lang="en-US" sz="3200" b="1" i="0" u="none" strike="noStrike" cap="none" dirty="0">
                <a:solidFill>
                  <a:srgbClr val="C00000"/>
                </a:solidFill>
                <a:latin typeface="Open Sans"/>
                <a:ea typeface="Open Sans"/>
                <a:cs typeface="Open Sans"/>
                <a:sym typeface="Open Sans"/>
              </a:rPr>
              <a:t>Centering the Public Interest in Integrated Administrative Data Analytics</a:t>
            </a:r>
            <a:endParaRPr dirty="0"/>
          </a:p>
          <a:p>
            <a:pPr marL="457200" marR="0" lvl="0" indent="-342900" algn="ctr" rtl="0">
              <a:lnSpc>
                <a:spcPct val="100000"/>
              </a:lnSpc>
              <a:spcBef>
                <a:spcPts val="0"/>
              </a:spcBef>
              <a:spcAft>
                <a:spcPts val="0"/>
              </a:spcAft>
              <a:buClr>
                <a:srgbClr val="595959"/>
              </a:buClr>
              <a:buSzPts val="2800"/>
              <a:buFont typeface="Arial"/>
              <a:buNone/>
            </a:pPr>
            <a:endParaRPr sz="2000" b="1" i="0" u="none" strike="noStrike" cap="none" dirty="0">
              <a:solidFill>
                <a:srgbClr val="595959"/>
              </a:solidFill>
              <a:latin typeface="Open Sans"/>
              <a:ea typeface="Open Sans"/>
              <a:cs typeface="Open Sans"/>
              <a:sym typeface="Open Sans"/>
            </a:endParaRPr>
          </a:p>
          <a:p>
            <a:pPr marL="457200" marR="0" lvl="0" indent="-342900" algn="ctr" rtl="0">
              <a:lnSpc>
                <a:spcPct val="100000"/>
              </a:lnSpc>
              <a:spcBef>
                <a:spcPts val="0"/>
              </a:spcBef>
              <a:spcAft>
                <a:spcPts val="0"/>
              </a:spcAft>
              <a:buClr>
                <a:srgbClr val="595959"/>
              </a:buClr>
              <a:buSzPts val="2800"/>
              <a:buFont typeface="Arial"/>
              <a:buNone/>
            </a:pPr>
            <a:r>
              <a:rPr lang="en-US" sz="2000" b="1" i="0" u="none" strike="noStrike" cap="none" dirty="0">
                <a:solidFill>
                  <a:srgbClr val="C00000"/>
                </a:solidFill>
                <a:latin typeface="Open Sans"/>
                <a:ea typeface="Open Sans"/>
                <a:cs typeface="Open Sans"/>
                <a:sym typeface="Open Sans"/>
              </a:rPr>
              <a:t>Module </a:t>
            </a:r>
            <a:r>
              <a:rPr lang="en-US" sz="3600" b="1" i="0" u="none" strike="noStrike" cap="none" dirty="0">
                <a:solidFill>
                  <a:srgbClr val="C00000"/>
                </a:solidFill>
                <a:latin typeface="Open Sans"/>
                <a:ea typeface="Open Sans"/>
                <a:cs typeface="Open Sans"/>
                <a:sym typeface="Open Sans"/>
              </a:rPr>
              <a:t>4</a:t>
            </a:r>
            <a:r>
              <a:rPr lang="en-US" sz="2000" b="1" i="0" u="none" strike="noStrike" cap="none" dirty="0">
                <a:solidFill>
                  <a:srgbClr val="C00000"/>
                </a:solidFill>
                <a:latin typeface="Open Sans"/>
                <a:ea typeface="Open Sans"/>
                <a:cs typeface="Open Sans"/>
                <a:sym typeface="Open Sans"/>
              </a:rPr>
              <a:t> of 5</a:t>
            </a:r>
            <a:endParaRPr dirty="0">
              <a:solidFill>
                <a:srgbClr val="C00000"/>
              </a:solidFill>
            </a:endParaRPr>
          </a:p>
          <a:p>
            <a:pPr marL="457200" marR="0" lvl="0" indent="-342900" algn="ctr" rtl="0">
              <a:lnSpc>
                <a:spcPct val="100000"/>
              </a:lnSpc>
              <a:spcBef>
                <a:spcPts val="0"/>
              </a:spcBef>
              <a:spcAft>
                <a:spcPts val="0"/>
              </a:spcAft>
              <a:buClr>
                <a:srgbClr val="595959"/>
              </a:buClr>
              <a:buSzPts val="2800"/>
              <a:buFont typeface="Arial"/>
              <a:buNone/>
            </a:pPr>
            <a:endParaRPr sz="2000" b="1" i="0" u="none" strike="noStrike" cap="none" dirty="0">
              <a:solidFill>
                <a:srgbClr val="595959"/>
              </a:solidFill>
              <a:latin typeface="Open Sans"/>
              <a:ea typeface="Open Sans"/>
              <a:cs typeface="Open Sans"/>
              <a:sym typeface="Open Sans"/>
            </a:endParaRPr>
          </a:p>
          <a:p>
            <a:pPr marL="457200" marR="0" lvl="0" indent="-342900" algn="ctr" rtl="0">
              <a:lnSpc>
                <a:spcPct val="100000"/>
              </a:lnSpc>
              <a:spcBef>
                <a:spcPts val="0"/>
              </a:spcBef>
              <a:spcAft>
                <a:spcPts val="0"/>
              </a:spcAft>
              <a:buClr>
                <a:srgbClr val="595959"/>
              </a:buClr>
              <a:buSzPts val="2800"/>
              <a:buFont typeface="Arial"/>
              <a:buNone/>
            </a:pPr>
            <a:r>
              <a:rPr lang="en-US" sz="2000" b="1" i="0" u="none" strike="noStrike" cap="none" dirty="0">
                <a:solidFill>
                  <a:srgbClr val="001C84"/>
                </a:solidFill>
                <a:latin typeface="Open Sans"/>
                <a:ea typeface="Open Sans"/>
                <a:cs typeface="Open Sans"/>
                <a:sym typeface="Open Sans"/>
              </a:rPr>
              <a:t>Public Interest Technology University Network Year 6 Challenge</a:t>
            </a:r>
            <a:endParaRPr dirty="0">
              <a:solidFill>
                <a:srgbClr val="001C84"/>
              </a:solidFill>
            </a:endParaRPr>
          </a:p>
          <a:p>
            <a:pPr marL="457200" marR="0" lvl="0" indent="-342900" algn="ctr" rtl="0">
              <a:lnSpc>
                <a:spcPct val="100000"/>
              </a:lnSpc>
              <a:spcBef>
                <a:spcPts val="0"/>
              </a:spcBef>
              <a:spcAft>
                <a:spcPts val="0"/>
              </a:spcAft>
              <a:buClr>
                <a:srgbClr val="595959"/>
              </a:buClr>
              <a:buSzPts val="2800"/>
              <a:buFont typeface="Arial"/>
              <a:buNone/>
            </a:pPr>
            <a:r>
              <a:rPr lang="en-US" sz="1600" b="1" u="none" strike="noStrike" cap="none" dirty="0">
                <a:solidFill>
                  <a:srgbClr val="001C84"/>
                </a:solidFill>
                <a:latin typeface="Open Sans"/>
                <a:ea typeface="Open Sans"/>
                <a:cs typeface="Open Sans"/>
                <a:sym typeface="Open Sans"/>
              </a:rPr>
              <a:t>January 2026</a:t>
            </a:r>
            <a:r>
              <a:rPr lang="en-US" sz="2000" b="1" u="none" strike="noStrike" cap="none" dirty="0">
                <a:solidFill>
                  <a:srgbClr val="001C84"/>
                </a:solidFill>
                <a:latin typeface="Open Sans"/>
                <a:ea typeface="Open Sans"/>
                <a:cs typeface="Open Sans"/>
                <a:sym typeface="Open Sans"/>
              </a:rPr>
              <a:t>  </a:t>
            </a:r>
            <a:endParaRPr sz="1400" b="1" u="none" strike="noStrike" cap="none"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922C6294-488E-0EA7-905F-E16D5E7E1A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DE5A0678-4861-EB3B-3079-B81C5449AC29}"/>
            </a:ext>
          </a:extLst>
        </p:cNvPr>
        <p:cNvGrpSpPr/>
        <p:nvPr/>
      </p:nvGrpSpPr>
      <p:grpSpPr>
        <a:xfrm>
          <a:off x="0" y="0"/>
          <a:ext cx="0" cy="0"/>
          <a:chOff x="0" y="0"/>
          <a:chExt cx="0" cy="0"/>
        </a:xfrm>
      </p:grpSpPr>
      <p:sp>
        <p:nvSpPr>
          <p:cNvPr id="116" name="Google Shape;116;p2">
            <a:extLst>
              <a:ext uri="{FF2B5EF4-FFF2-40B4-BE49-F238E27FC236}">
                <a16:creationId xmlns:a16="http://schemas.microsoft.com/office/drawing/2014/main" id="{26B3F188-2195-6B15-58A4-4C84CD20DDE9}"/>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2700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17" name="Google Shape;117;p2">
            <a:extLst>
              <a:ext uri="{FF2B5EF4-FFF2-40B4-BE49-F238E27FC236}">
                <a16:creationId xmlns:a16="http://schemas.microsoft.com/office/drawing/2014/main" id="{1AB4F463-6D37-28B2-9C64-463AFE3B72BD}"/>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01600" cap="flat" cmpd="sng">
            <a:solidFill>
              <a:schemeClr val="lt1"/>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3" name="Group 2">
            <a:extLst>
              <a:ext uri="{FF2B5EF4-FFF2-40B4-BE49-F238E27FC236}">
                <a16:creationId xmlns:a16="http://schemas.microsoft.com/office/drawing/2014/main" id="{400DFAFB-9CD5-0246-69CF-5EAAF4312412}"/>
              </a:ext>
            </a:extLst>
          </p:cNvPr>
          <p:cNvGrpSpPr/>
          <p:nvPr/>
        </p:nvGrpSpPr>
        <p:grpSpPr>
          <a:xfrm>
            <a:off x="662660" y="2509930"/>
            <a:ext cx="3129378" cy="1235276"/>
            <a:chOff x="860675" y="2439143"/>
            <a:chExt cx="3129378" cy="1235276"/>
          </a:xfrm>
        </p:grpSpPr>
        <p:sp>
          <p:nvSpPr>
            <p:cNvPr id="16" name="Parallelogram 15">
              <a:extLst>
                <a:ext uri="{FF2B5EF4-FFF2-40B4-BE49-F238E27FC236}">
                  <a16:creationId xmlns:a16="http://schemas.microsoft.com/office/drawing/2014/main" id="{7E20CE97-DFAC-FAC9-2EA6-C4694D62E3BB}"/>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 name="TextBox 1">
              <a:extLst>
                <a:ext uri="{FF2B5EF4-FFF2-40B4-BE49-F238E27FC236}">
                  <a16:creationId xmlns:a16="http://schemas.microsoft.com/office/drawing/2014/main" id="{A0E1F2C7-0603-BABB-9011-7EBF303B6850}"/>
                </a:ext>
              </a:extLst>
            </p:cNvPr>
            <p:cNvSpPr txBox="1"/>
            <p:nvPr/>
          </p:nvSpPr>
          <p:spPr>
            <a:xfrm>
              <a:off x="2002894" y="2439144"/>
              <a:ext cx="1747582" cy="1235275"/>
            </a:xfrm>
            <a:prstGeom prst="rect">
              <a:avLst/>
            </a:prstGeom>
            <a:noFill/>
          </p:spPr>
          <p:txBody>
            <a:bodyPr wrap="square" rtlCol="0"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1</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FAIR2: A framework for integrating community knowledge in data analytics and addressing discrimination bias</a:t>
              </a:r>
            </a:p>
          </p:txBody>
        </p:sp>
      </p:grpSp>
      <p:grpSp>
        <p:nvGrpSpPr>
          <p:cNvPr id="4" name="Group 3">
            <a:extLst>
              <a:ext uri="{FF2B5EF4-FFF2-40B4-BE49-F238E27FC236}">
                <a16:creationId xmlns:a16="http://schemas.microsoft.com/office/drawing/2014/main" id="{D93825AA-771B-1DA6-B3EC-A5FD6928E4A7}"/>
              </a:ext>
            </a:extLst>
          </p:cNvPr>
          <p:cNvGrpSpPr/>
          <p:nvPr/>
        </p:nvGrpSpPr>
        <p:grpSpPr>
          <a:xfrm>
            <a:off x="155728" y="2213169"/>
            <a:ext cx="1828801" cy="1828800"/>
            <a:chOff x="201777" y="2142382"/>
            <a:chExt cx="1828801" cy="1828800"/>
          </a:xfrm>
        </p:grpSpPr>
        <p:sp>
          <p:nvSpPr>
            <p:cNvPr id="120" name="Google Shape;120;p2">
              <a:extLst>
                <a:ext uri="{FF2B5EF4-FFF2-40B4-BE49-F238E27FC236}">
                  <a16:creationId xmlns:a16="http://schemas.microsoft.com/office/drawing/2014/main" id="{D4880AC9-4D01-F10C-C151-90D8C174637F}"/>
                </a:ext>
              </a:extLst>
            </p:cNvPr>
            <p:cNvSpPr/>
            <p:nvPr/>
          </p:nvSpPr>
          <p:spPr>
            <a:xfrm rot="2700000" flipH="1">
              <a:off x="201778" y="2142381"/>
              <a:ext cx="1828800" cy="1828801"/>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FFFFFF"/>
                  </a:solidFill>
                  <a:effectLst/>
                  <a:uLnTx/>
                  <a:uFillTx/>
                  <a:latin typeface="Arial"/>
                  <a:cs typeface="Arial"/>
                  <a:sym typeface="Arial"/>
                </a:rPr>
                <a:t>2 2</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cs typeface="Arial"/>
                <a:sym typeface="Arial"/>
              </a:endParaRPr>
            </a:p>
          </p:txBody>
        </p:sp>
        <p:pic>
          <p:nvPicPr>
            <p:cNvPr id="121" name="Google Shape;121;p2" title="fair2.png">
              <a:extLst>
                <a:ext uri="{FF2B5EF4-FFF2-40B4-BE49-F238E27FC236}">
                  <a16:creationId xmlns:a16="http://schemas.microsoft.com/office/drawing/2014/main" id="{4B760349-8805-7CEF-0460-651B8C2C7677}"/>
                </a:ext>
              </a:extLst>
            </p:cNvPr>
            <p:cNvPicPr preferRelativeResize="0"/>
            <p:nvPr/>
          </p:nvPicPr>
          <p:blipFill rotWithShape="1">
            <a:blip r:embed="rId3">
              <a:alphaModFix/>
            </a:blip>
            <a:srcRect/>
            <a:stretch/>
          </p:blipFill>
          <p:spPr>
            <a:xfrm>
              <a:off x="430646" y="2393607"/>
              <a:ext cx="1368680" cy="1376137"/>
            </a:xfrm>
            <a:prstGeom prst="rect">
              <a:avLst/>
            </a:prstGeom>
            <a:noFill/>
            <a:ln>
              <a:noFill/>
            </a:ln>
          </p:spPr>
        </p:pic>
      </p:grpSp>
      <p:grpSp>
        <p:nvGrpSpPr>
          <p:cNvPr id="18" name="Group 17">
            <a:extLst>
              <a:ext uri="{FF2B5EF4-FFF2-40B4-BE49-F238E27FC236}">
                <a16:creationId xmlns:a16="http://schemas.microsoft.com/office/drawing/2014/main" id="{32A28934-A601-152D-B713-8047A8248072}"/>
              </a:ext>
            </a:extLst>
          </p:cNvPr>
          <p:cNvGrpSpPr/>
          <p:nvPr/>
        </p:nvGrpSpPr>
        <p:grpSpPr>
          <a:xfrm>
            <a:off x="818818" y="4925408"/>
            <a:ext cx="3129378" cy="1235277"/>
            <a:chOff x="860675" y="2439143"/>
            <a:chExt cx="3129378" cy="1235277"/>
          </a:xfrm>
        </p:grpSpPr>
        <p:sp>
          <p:nvSpPr>
            <p:cNvPr id="19" name="Parallelogram 18">
              <a:extLst>
                <a:ext uri="{FF2B5EF4-FFF2-40B4-BE49-F238E27FC236}">
                  <a16:creationId xmlns:a16="http://schemas.microsoft.com/office/drawing/2014/main" id="{7C5D824A-30A6-9C3D-F185-DCE0B0A3B226}"/>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0" name="TextBox 19">
              <a:extLst>
                <a:ext uri="{FF2B5EF4-FFF2-40B4-BE49-F238E27FC236}">
                  <a16:creationId xmlns:a16="http://schemas.microsoft.com/office/drawing/2014/main" id="{1682A797-7D6F-D179-186C-F8D58E8B1C60}"/>
                </a:ext>
              </a:extLst>
            </p:cNvPr>
            <p:cNvSpPr txBox="1"/>
            <p:nvPr/>
          </p:nvSpPr>
          <p:spPr>
            <a:xfrm>
              <a:off x="1236834" y="2439143"/>
              <a:ext cx="1747582" cy="1235277"/>
            </a:xfrm>
            <a:prstGeom prst="rect">
              <a:avLst/>
            </a:prstGeom>
            <a:noFill/>
          </p:spPr>
          <p:txBody>
            <a:bodyPr wrap="square" rtlCol="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2</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Demographic Data in Integrated Data Systems: Seeking Experiential Knowledge to Inform Race and Gender Data</a:t>
              </a:r>
            </a:p>
          </p:txBody>
        </p:sp>
      </p:grpSp>
      <p:grpSp>
        <p:nvGrpSpPr>
          <p:cNvPr id="28" name="Group 27">
            <a:extLst>
              <a:ext uri="{FF2B5EF4-FFF2-40B4-BE49-F238E27FC236}">
                <a16:creationId xmlns:a16="http://schemas.microsoft.com/office/drawing/2014/main" id="{3A691494-4339-5014-2152-9080C9852421}"/>
              </a:ext>
            </a:extLst>
          </p:cNvPr>
          <p:cNvGrpSpPr/>
          <p:nvPr/>
        </p:nvGrpSpPr>
        <p:grpSpPr>
          <a:xfrm>
            <a:off x="2919955" y="4613685"/>
            <a:ext cx="1828800" cy="1849086"/>
            <a:chOff x="3057427" y="4589179"/>
            <a:chExt cx="1828800" cy="1849086"/>
          </a:xfrm>
        </p:grpSpPr>
        <p:sp>
          <p:nvSpPr>
            <p:cNvPr id="15" name="Google Shape;120;p2">
              <a:extLst>
                <a:ext uri="{FF2B5EF4-FFF2-40B4-BE49-F238E27FC236}">
                  <a16:creationId xmlns:a16="http://schemas.microsoft.com/office/drawing/2014/main" id="{43A0E5D6-66D0-E18A-BC02-805BB27ADD35}"/>
                </a:ext>
              </a:extLst>
            </p:cNvPr>
            <p:cNvSpPr/>
            <p:nvPr/>
          </p:nvSpPr>
          <p:spPr>
            <a:xfrm rot="2700000" flipH="1">
              <a:off x="3057427" y="4609465"/>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dirty="0">
                <a:ln>
                  <a:noFill/>
                </a:ln>
                <a:solidFill>
                  <a:srgbClr val="FFFFFF"/>
                </a:solidFill>
                <a:effectLst/>
                <a:uLnTx/>
                <a:uFillTx/>
                <a:latin typeface="Arial"/>
                <a:ea typeface="Arial"/>
                <a:cs typeface="Arial"/>
                <a:sym typeface="Arial"/>
              </a:endParaRPr>
            </a:p>
          </p:txBody>
        </p:sp>
        <p:pic>
          <p:nvPicPr>
            <p:cNvPr id="8" name="Picture 7" descr="A person wearing a white shirt and blue jeans&#10;&#10;AI-generated content may be incorrect.">
              <a:extLst>
                <a:ext uri="{FF2B5EF4-FFF2-40B4-BE49-F238E27FC236}">
                  <a16:creationId xmlns:a16="http://schemas.microsoft.com/office/drawing/2014/main" id="{2B770D5E-4BA9-B05D-94F2-AC6B20C9CFDC}"/>
                </a:ext>
              </a:extLst>
            </p:cNvPr>
            <p:cNvPicPr>
              <a:picLocks noChangeAspect="1"/>
            </p:cNvPicPr>
            <p:nvPr/>
          </p:nvPicPr>
          <p:blipFill>
            <a:blip r:embed="rId4"/>
            <a:srcRect l="4657" t="2322" r="-4831" b="57726"/>
            <a:stretch>
              <a:fillRect/>
            </a:stretch>
          </p:blipFill>
          <p:spPr>
            <a:xfrm>
              <a:off x="3103056" y="4589179"/>
              <a:ext cx="1737542" cy="1736762"/>
            </a:xfrm>
            <a:prstGeom prst="ellipse">
              <a:avLst/>
            </a:prstGeom>
          </p:spPr>
        </p:pic>
      </p:grpSp>
      <p:grpSp>
        <p:nvGrpSpPr>
          <p:cNvPr id="10" name="Group 9">
            <a:extLst>
              <a:ext uri="{FF2B5EF4-FFF2-40B4-BE49-F238E27FC236}">
                <a16:creationId xmlns:a16="http://schemas.microsoft.com/office/drawing/2014/main" id="{F610F8DE-EA3B-13A4-5CEF-A989900F7E90}"/>
              </a:ext>
            </a:extLst>
          </p:cNvPr>
          <p:cNvGrpSpPr/>
          <p:nvPr/>
        </p:nvGrpSpPr>
        <p:grpSpPr>
          <a:xfrm>
            <a:off x="4619703" y="850769"/>
            <a:ext cx="3129378" cy="1235276"/>
            <a:chOff x="860675" y="2439143"/>
            <a:chExt cx="3129378" cy="1235276"/>
          </a:xfrm>
        </p:grpSpPr>
        <p:sp>
          <p:nvSpPr>
            <p:cNvPr id="21" name="Parallelogram 20">
              <a:extLst>
                <a:ext uri="{FF2B5EF4-FFF2-40B4-BE49-F238E27FC236}">
                  <a16:creationId xmlns:a16="http://schemas.microsoft.com/office/drawing/2014/main" id="{490F0BC8-6BCA-6341-AB05-91BE372F22DA}"/>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2" name="TextBox 21">
              <a:extLst>
                <a:ext uri="{FF2B5EF4-FFF2-40B4-BE49-F238E27FC236}">
                  <a16:creationId xmlns:a16="http://schemas.microsoft.com/office/drawing/2014/main" id="{1AD88F88-9FAD-30A0-E9CD-66262E515478}"/>
                </a:ext>
              </a:extLst>
            </p:cNvPr>
            <p:cNvSpPr txBox="1"/>
            <p:nvPr/>
          </p:nvSpPr>
          <p:spPr>
            <a:xfrm>
              <a:off x="2260542" y="2439144"/>
              <a:ext cx="1489933" cy="1235275"/>
            </a:xfrm>
            <a:prstGeom prst="rect">
              <a:avLst/>
            </a:prstGeom>
            <a:noFill/>
          </p:spPr>
          <p:txBody>
            <a:bodyPr wrap="square" rtlCol="0"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3</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An illustration of Label Bias in Homelessness </a:t>
              </a: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Data Analytics</a:t>
              </a:r>
            </a:p>
          </p:txBody>
        </p:sp>
      </p:grpSp>
      <p:grpSp>
        <p:nvGrpSpPr>
          <p:cNvPr id="23" name="Group 22">
            <a:extLst>
              <a:ext uri="{FF2B5EF4-FFF2-40B4-BE49-F238E27FC236}">
                <a16:creationId xmlns:a16="http://schemas.microsoft.com/office/drawing/2014/main" id="{A61D2623-B577-AE69-8F6F-0F2315958AC6}"/>
              </a:ext>
            </a:extLst>
          </p:cNvPr>
          <p:cNvGrpSpPr/>
          <p:nvPr/>
        </p:nvGrpSpPr>
        <p:grpSpPr>
          <a:xfrm>
            <a:off x="4360937" y="541485"/>
            <a:ext cx="1828799" cy="1872794"/>
            <a:chOff x="4360937" y="541485"/>
            <a:chExt cx="1828799" cy="1872794"/>
          </a:xfrm>
        </p:grpSpPr>
        <p:sp>
          <p:nvSpPr>
            <p:cNvPr id="32" name="Google Shape;120;p2">
              <a:extLst>
                <a:ext uri="{FF2B5EF4-FFF2-40B4-BE49-F238E27FC236}">
                  <a16:creationId xmlns:a16="http://schemas.microsoft.com/office/drawing/2014/main" id="{557F86FF-D274-97F4-6366-BC1000CF70C1}"/>
                </a:ext>
              </a:extLst>
            </p:cNvPr>
            <p:cNvSpPr/>
            <p:nvPr/>
          </p:nvSpPr>
          <p:spPr>
            <a:xfrm rot="13500000" flipH="1">
              <a:off x="4360937" y="541485"/>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37" name="Picture 36" descr="A group of people in different colors&#10;&#10;AI-generated content may be incorrect.">
              <a:extLst>
                <a:ext uri="{FF2B5EF4-FFF2-40B4-BE49-F238E27FC236}">
                  <a16:creationId xmlns:a16="http://schemas.microsoft.com/office/drawing/2014/main" id="{1338FCE8-FC7A-27F0-BDF6-5F8069713D69}"/>
                </a:ext>
              </a:extLst>
            </p:cNvPr>
            <p:cNvPicPr>
              <a:picLocks noChangeAspect="1"/>
            </p:cNvPicPr>
            <p:nvPr/>
          </p:nvPicPr>
          <p:blipFill>
            <a:blip r:embed="rId5"/>
            <a:srcRect l="62973" t="17640" r="8598" b="27183"/>
            <a:stretch>
              <a:fillRect/>
            </a:stretch>
          </p:blipFill>
          <p:spPr>
            <a:xfrm>
              <a:off x="4465200" y="634509"/>
              <a:ext cx="1630800" cy="1779770"/>
            </a:xfrm>
            <a:prstGeom prst="ellipse">
              <a:avLst/>
            </a:prstGeom>
          </p:spPr>
        </p:pic>
      </p:grpSp>
      <p:grpSp>
        <p:nvGrpSpPr>
          <p:cNvPr id="5" name="Group 4">
            <a:extLst>
              <a:ext uri="{FF2B5EF4-FFF2-40B4-BE49-F238E27FC236}">
                <a16:creationId xmlns:a16="http://schemas.microsoft.com/office/drawing/2014/main" id="{05ED7928-9FAB-320A-A399-4F99288EA509}"/>
              </a:ext>
            </a:extLst>
          </p:cNvPr>
          <p:cNvGrpSpPr/>
          <p:nvPr/>
        </p:nvGrpSpPr>
        <p:grpSpPr>
          <a:xfrm>
            <a:off x="5416048" y="4503771"/>
            <a:ext cx="3129378" cy="1235522"/>
            <a:chOff x="860675" y="2438897"/>
            <a:chExt cx="3129378" cy="1235522"/>
          </a:xfrm>
          <a:solidFill>
            <a:srgbClr val="EDAA00"/>
          </a:solidFill>
        </p:grpSpPr>
        <p:sp>
          <p:nvSpPr>
            <p:cNvPr id="9" name="Parallelogram 8">
              <a:extLst>
                <a:ext uri="{FF2B5EF4-FFF2-40B4-BE49-F238E27FC236}">
                  <a16:creationId xmlns:a16="http://schemas.microsoft.com/office/drawing/2014/main" id="{AAF9422B-9E72-0945-87FF-A83B6D665196}"/>
                </a:ext>
              </a:extLst>
            </p:cNvPr>
            <p:cNvSpPr/>
            <p:nvPr/>
          </p:nvSpPr>
          <p:spPr>
            <a:xfrm>
              <a:off x="860675" y="2439143"/>
              <a:ext cx="3129378" cy="1235276"/>
            </a:xfrm>
            <a:prstGeom prst="parallelogram">
              <a:avLst/>
            </a:prstGeom>
            <a:grp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11" name="TextBox 10">
              <a:extLst>
                <a:ext uri="{FF2B5EF4-FFF2-40B4-BE49-F238E27FC236}">
                  <a16:creationId xmlns:a16="http://schemas.microsoft.com/office/drawing/2014/main" id="{1D73B7BE-153F-ED16-CE26-73A4837AF63E}"/>
                </a:ext>
              </a:extLst>
            </p:cNvPr>
            <p:cNvSpPr txBox="1"/>
            <p:nvPr/>
          </p:nvSpPr>
          <p:spPr>
            <a:xfrm>
              <a:off x="1230969" y="2438897"/>
              <a:ext cx="1747582" cy="1235277"/>
            </a:xfrm>
            <a:prstGeom prst="rect">
              <a:avLst/>
            </a:prstGeom>
            <a:grpFill/>
          </p:spPr>
          <p:txBody>
            <a:bodyPr wrap="square" rtlCol="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4</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An illustration of </a:t>
              </a: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Collider Bias in </a:t>
              </a:r>
            </a:p>
            <a:p>
              <a:pPr marL="0" marR="0" lvl="0" indent="0" algn="l"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housing research</a:t>
              </a:r>
            </a:p>
          </p:txBody>
        </p:sp>
      </p:grpSp>
      <p:grpSp>
        <p:nvGrpSpPr>
          <p:cNvPr id="14" name="Group 13">
            <a:extLst>
              <a:ext uri="{FF2B5EF4-FFF2-40B4-BE49-F238E27FC236}">
                <a16:creationId xmlns:a16="http://schemas.microsoft.com/office/drawing/2014/main" id="{C13BB6A1-AFEF-772A-79CA-7D7976674C72}"/>
              </a:ext>
            </a:extLst>
          </p:cNvPr>
          <p:cNvGrpSpPr/>
          <p:nvPr/>
        </p:nvGrpSpPr>
        <p:grpSpPr>
          <a:xfrm>
            <a:off x="7091011" y="4221659"/>
            <a:ext cx="1828799" cy="1828800"/>
            <a:chOff x="7091011" y="4221659"/>
            <a:chExt cx="1828799" cy="1828800"/>
          </a:xfrm>
        </p:grpSpPr>
        <p:sp>
          <p:nvSpPr>
            <p:cNvPr id="17" name="Google Shape;120;p2">
              <a:extLst>
                <a:ext uri="{FF2B5EF4-FFF2-40B4-BE49-F238E27FC236}">
                  <a16:creationId xmlns:a16="http://schemas.microsoft.com/office/drawing/2014/main" id="{E13C6F7A-B4B4-7E97-A047-C8A0F7C7B9C9}"/>
                </a:ext>
              </a:extLst>
            </p:cNvPr>
            <p:cNvSpPr/>
            <p:nvPr/>
          </p:nvSpPr>
          <p:spPr>
            <a:xfrm rot="2700000" flipH="1">
              <a:off x="7091011" y="4221659"/>
              <a:ext cx="1828800" cy="1828799"/>
            </a:xfrm>
            <a:prstGeom prst="teardrop">
              <a:avLst>
                <a:gd name="adj" fmla="val 131496"/>
              </a:avLst>
            </a:prstGeom>
            <a:solidFill>
              <a:srgbClr val="FFDC5D"/>
            </a:solidFill>
            <a:ln w="57150" cap="flat" cmpd="sng">
              <a:solidFill>
                <a:srgbClr val="EDAA00"/>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nvGrpSpPr>
            <p:cNvPr id="35" name="Group 34">
              <a:extLst>
                <a:ext uri="{FF2B5EF4-FFF2-40B4-BE49-F238E27FC236}">
                  <a16:creationId xmlns:a16="http://schemas.microsoft.com/office/drawing/2014/main" id="{A026881C-5847-BEA9-3FBB-5F351347CAAF}"/>
                </a:ext>
              </a:extLst>
            </p:cNvPr>
            <p:cNvGrpSpPr/>
            <p:nvPr/>
          </p:nvGrpSpPr>
          <p:grpSpPr>
            <a:xfrm>
              <a:off x="7229347" y="4409020"/>
              <a:ext cx="1564364" cy="1465506"/>
              <a:chOff x="3501616" y="1534157"/>
              <a:chExt cx="2328314" cy="2181179"/>
            </a:xfrm>
          </p:grpSpPr>
          <p:pic>
            <p:nvPicPr>
              <p:cNvPr id="38" name="Picture 37" descr="A group of people in different colors&#10;&#10;AI-generated content may be incorrect.">
                <a:extLst>
                  <a:ext uri="{FF2B5EF4-FFF2-40B4-BE49-F238E27FC236}">
                    <a16:creationId xmlns:a16="http://schemas.microsoft.com/office/drawing/2014/main" id="{07B3C7D2-0BD8-8F11-D6C1-782C08DE30A1}"/>
                  </a:ext>
                </a:extLst>
              </p:cNvPr>
              <p:cNvPicPr>
                <a:picLocks noChangeAspect="1"/>
              </p:cNvPicPr>
              <p:nvPr/>
            </p:nvPicPr>
            <p:blipFill>
              <a:blip r:embed="rId5"/>
              <a:srcRect l="14593" t="14370" r="55902" b="26199"/>
              <a:stretch>
                <a:fillRect/>
              </a:stretch>
            </p:blipFill>
            <p:spPr>
              <a:xfrm>
                <a:off x="3501616" y="1652038"/>
                <a:ext cx="1821602" cy="2063298"/>
              </a:xfrm>
              <a:prstGeom prst="ellipse">
                <a:avLst/>
              </a:prstGeom>
            </p:spPr>
          </p:pic>
          <p:pic>
            <p:nvPicPr>
              <p:cNvPr id="39" name="Picture 38" descr="A group of people in different colors&#10;&#10;AI-generated content may be incorrect.">
                <a:extLst>
                  <a:ext uri="{FF2B5EF4-FFF2-40B4-BE49-F238E27FC236}">
                    <a16:creationId xmlns:a16="http://schemas.microsoft.com/office/drawing/2014/main" id="{A1788E87-EDF6-8E2C-D7D8-254806CD903E}"/>
                  </a:ext>
                </a:extLst>
              </p:cNvPr>
              <p:cNvPicPr>
                <a:picLocks noChangeAspect="1"/>
              </p:cNvPicPr>
              <p:nvPr/>
            </p:nvPicPr>
            <p:blipFill>
              <a:blip r:embed="rId5"/>
              <a:srcRect l="33568" t="12909" r="39362" b="27097"/>
              <a:stretch>
                <a:fillRect/>
              </a:stretch>
            </p:blipFill>
            <p:spPr>
              <a:xfrm>
                <a:off x="4079780" y="1534157"/>
                <a:ext cx="1750150" cy="2181179"/>
              </a:xfrm>
              <a:prstGeom prst="ellipse">
                <a:avLst/>
              </a:prstGeom>
            </p:spPr>
          </p:pic>
        </p:grpSp>
      </p:grpSp>
      <p:grpSp>
        <p:nvGrpSpPr>
          <p:cNvPr id="7" name="Group 6">
            <a:extLst>
              <a:ext uri="{FF2B5EF4-FFF2-40B4-BE49-F238E27FC236}">
                <a16:creationId xmlns:a16="http://schemas.microsoft.com/office/drawing/2014/main" id="{1B6B60A8-8005-61D7-F55C-738CEF20CFA2}"/>
              </a:ext>
            </a:extLst>
          </p:cNvPr>
          <p:cNvGrpSpPr/>
          <p:nvPr/>
        </p:nvGrpSpPr>
        <p:grpSpPr>
          <a:xfrm>
            <a:off x="8966445" y="850769"/>
            <a:ext cx="3129378" cy="1235276"/>
            <a:chOff x="860675" y="2439143"/>
            <a:chExt cx="3129378" cy="1235276"/>
          </a:xfrm>
        </p:grpSpPr>
        <p:sp>
          <p:nvSpPr>
            <p:cNvPr id="12" name="Parallelogram 11">
              <a:extLst>
                <a:ext uri="{FF2B5EF4-FFF2-40B4-BE49-F238E27FC236}">
                  <a16:creationId xmlns:a16="http://schemas.microsoft.com/office/drawing/2014/main" id="{A2CE6883-0313-971F-A95A-05B52B65AB07}"/>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rgbClr val="FFFFFF"/>
                </a:solidFill>
                <a:effectLst/>
                <a:uLnTx/>
                <a:uFillTx/>
                <a:latin typeface="Arial"/>
                <a:ea typeface="+mn-ea"/>
                <a:cs typeface="Arial"/>
                <a:sym typeface="Arial"/>
              </a:endParaRPr>
            </a:p>
          </p:txBody>
        </p:sp>
        <p:sp>
          <p:nvSpPr>
            <p:cNvPr id="29" name="TextBox 28">
              <a:extLst>
                <a:ext uri="{FF2B5EF4-FFF2-40B4-BE49-F238E27FC236}">
                  <a16:creationId xmlns:a16="http://schemas.microsoft.com/office/drawing/2014/main" id="{FA4C966D-0DD0-484F-64EC-A3384544B8FB}"/>
                </a:ext>
              </a:extLst>
            </p:cNvPr>
            <p:cNvSpPr txBox="1"/>
            <p:nvPr/>
          </p:nvSpPr>
          <p:spPr>
            <a:xfrm>
              <a:off x="2260542" y="2439144"/>
              <a:ext cx="1489933" cy="1235275"/>
            </a:xfrm>
            <a:prstGeom prst="rect">
              <a:avLst/>
            </a:prstGeom>
            <a:noFill/>
          </p:spPr>
          <p:txBody>
            <a:bodyPr wrap="square" rtlCol="0"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Pct val="297213"/>
                <a:buFont typeface="Arial"/>
                <a:buNone/>
                <a:tabLst/>
                <a:defRPr/>
              </a:pPr>
              <a:r>
                <a:rPr kumimoji="0" lang="en-US" sz="160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Module 5</a:t>
              </a:r>
              <a:endParaRPr kumimoji="0" lang="en-US" sz="1050" b="1"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r"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n-US" sz="1000" b="0" i="0" u="none" strike="noStrike" kern="0" cap="none" spc="0" normalizeH="0" baseline="0" noProof="0" dirty="0">
                  <a:ln>
                    <a:noFill/>
                  </a:ln>
                  <a:solidFill>
                    <a:srgbClr val="0F9ED5">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Recommendations to address constraints and bias in Integrated Data Analytics</a:t>
              </a:r>
            </a:p>
          </p:txBody>
        </p:sp>
      </p:grpSp>
      <p:grpSp>
        <p:nvGrpSpPr>
          <p:cNvPr id="30" name="Group 29">
            <a:extLst>
              <a:ext uri="{FF2B5EF4-FFF2-40B4-BE49-F238E27FC236}">
                <a16:creationId xmlns:a16="http://schemas.microsoft.com/office/drawing/2014/main" id="{ED186570-26D2-EA6C-A507-A09F593BB203}"/>
              </a:ext>
            </a:extLst>
          </p:cNvPr>
          <p:cNvGrpSpPr/>
          <p:nvPr/>
        </p:nvGrpSpPr>
        <p:grpSpPr>
          <a:xfrm>
            <a:off x="8517537" y="460356"/>
            <a:ext cx="1828800" cy="1828800"/>
            <a:chOff x="8969838" y="563282"/>
            <a:chExt cx="1828800" cy="1828800"/>
          </a:xfrm>
        </p:grpSpPr>
        <p:sp>
          <p:nvSpPr>
            <p:cNvPr id="31" name="Google Shape;120;p2">
              <a:extLst>
                <a:ext uri="{FF2B5EF4-FFF2-40B4-BE49-F238E27FC236}">
                  <a16:creationId xmlns:a16="http://schemas.microsoft.com/office/drawing/2014/main" id="{777F3544-AFA3-1921-E5C2-AA0E4843FC20}"/>
                </a:ext>
              </a:extLst>
            </p:cNvPr>
            <p:cNvSpPr/>
            <p:nvPr/>
          </p:nvSpPr>
          <p:spPr>
            <a:xfrm rot="13500000" flipH="1">
              <a:off x="8969838" y="563282"/>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6" b="0" i="0" u="none" strike="noStrike" kern="0" cap="none" spc="0" normalizeH="0" baseline="0" noProof="0" dirty="0">
                <a:ln>
                  <a:noFill/>
                </a:ln>
                <a:solidFill>
                  <a:srgbClr val="FFFFFF"/>
                </a:solidFill>
                <a:effectLst/>
                <a:uLnTx/>
                <a:uFillTx/>
                <a:latin typeface="Arial"/>
                <a:ea typeface="Arial"/>
                <a:cs typeface="Arial"/>
                <a:sym typeface="Arial"/>
              </a:endParaRPr>
            </a:p>
          </p:txBody>
        </p:sp>
        <p:pic>
          <p:nvPicPr>
            <p:cNvPr id="33" name="Picture 32" descr="A diagram of data analysis&#10;&#10;AI-generated content may be incorrect.">
              <a:extLst>
                <a:ext uri="{FF2B5EF4-FFF2-40B4-BE49-F238E27FC236}">
                  <a16:creationId xmlns:a16="http://schemas.microsoft.com/office/drawing/2014/main" id="{FA6A7268-93A3-F45B-F3A1-D3310A56CD1E}"/>
                </a:ext>
              </a:extLst>
            </p:cNvPr>
            <p:cNvPicPr>
              <a:picLocks noChangeAspect="1"/>
            </p:cNvPicPr>
            <p:nvPr/>
          </p:nvPicPr>
          <p:blipFill>
            <a:blip r:embed="rId6"/>
            <a:stretch>
              <a:fillRect/>
            </a:stretch>
          </p:blipFill>
          <p:spPr>
            <a:xfrm>
              <a:off x="9138924" y="1048721"/>
              <a:ext cx="1490628" cy="875916"/>
            </a:xfrm>
            <a:prstGeom prst="rect">
              <a:avLst/>
            </a:prstGeom>
          </p:spPr>
        </p:pic>
      </p:grpSp>
    </p:spTree>
    <p:extLst>
      <p:ext uri="{BB962C8B-B14F-4D97-AF65-F5344CB8AC3E}">
        <p14:creationId xmlns:p14="http://schemas.microsoft.com/office/powerpoint/2010/main" val="671682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96" name="Google Shape;96;g3896c370de1_0_0"/>
          <p:cNvGrpSpPr/>
          <p:nvPr/>
        </p:nvGrpSpPr>
        <p:grpSpPr>
          <a:xfrm>
            <a:off x="736091" y="3308552"/>
            <a:ext cx="10755631" cy="3581367"/>
            <a:chOff x="736091" y="3308552"/>
            <a:chExt cx="10755631" cy="3581367"/>
          </a:xfrm>
        </p:grpSpPr>
        <p:pic>
          <p:nvPicPr>
            <p:cNvPr id="97" name="Google Shape;97;g3896c370de1_0_0" descr="A group of cartoon images of people&#10;&#10;AI-generated content may be incorrect."/>
            <p:cNvPicPr preferRelativeResize="0"/>
            <p:nvPr/>
          </p:nvPicPr>
          <p:blipFill rotWithShape="1">
            <a:blip r:embed="rId3">
              <a:alphaModFix/>
            </a:blip>
            <a:srcRect l="6040" t="15732" r="5739" b="48698"/>
            <a:stretch/>
          </p:blipFill>
          <p:spPr>
            <a:xfrm>
              <a:off x="736091" y="3308552"/>
              <a:ext cx="10755631" cy="2439232"/>
            </a:xfrm>
            <a:prstGeom prst="rect">
              <a:avLst/>
            </a:prstGeom>
            <a:noFill/>
            <a:ln>
              <a:noFill/>
            </a:ln>
          </p:spPr>
        </p:pic>
        <p:grpSp>
          <p:nvGrpSpPr>
            <p:cNvPr id="98" name="Google Shape;98;g3896c370de1_0_0"/>
            <p:cNvGrpSpPr/>
            <p:nvPr/>
          </p:nvGrpSpPr>
          <p:grpSpPr>
            <a:xfrm>
              <a:off x="805244" y="5566480"/>
              <a:ext cx="10523029" cy="1323439"/>
              <a:chOff x="742379" y="5297178"/>
              <a:chExt cx="10523029" cy="1323439"/>
            </a:xfrm>
          </p:grpSpPr>
          <p:sp>
            <p:nvSpPr>
              <p:cNvPr id="99" name="Google Shape;99;g3896c370de1_0_0"/>
              <p:cNvSpPr txBox="1"/>
              <p:nvPr/>
            </p:nvSpPr>
            <p:spPr>
              <a:xfrm>
                <a:off x="742379" y="5297178"/>
                <a:ext cx="2310570"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a:solidFill>
                      <a:srgbClr val="000000"/>
                    </a:solidFill>
                    <a:latin typeface="Open Sans"/>
                    <a:ea typeface="Open Sans"/>
                    <a:cs typeface="Open Sans"/>
                    <a:sym typeface="Open Sans"/>
                  </a:rPr>
                  <a:t>Harper is a community practice social worker who works with families in Amari and Liam’s neighborhood. She’s heard about the experiences of discrimination these families encounter and wonders how it affects academic performance for the kids.</a:t>
                </a:r>
                <a:endParaRPr/>
              </a:p>
            </p:txBody>
          </p:sp>
          <p:sp>
            <p:nvSpPr>
              <p:cNvPr id="100" name="Google Shape;100;g3896c370de1_0_0"/>
              <p:cNvSpPr txBox="1"/>
              <p:nvPr/>
            </p:nvSpPr>
            <p:spPr>
              <a:xfrm>
                <a:off x="2827212" y="5315466"/>
                <a:ext cx="2131314"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a:solidFill>
                      <a:srgbClr val="000000"/>
                    </a:solidFill>
                    <a:latin typeface="Open Sans"/>
                    <a:ea typeface="Open Sans"/>
                    <a:cs typeface="Open Sans"/>
                    <a:sym typeface="Open Sans"/>
                  </a:rPr>
                  <a:t>Harper decides to use marginalization based on race as an indicator of discrimination. She pulls high school graduation rates from school data and race from family data from the city’s income assistance program.</a:t>
                </a:r>
                <a:endParaRPr/>
              </a:p>
            </p:txBody>
          </p:sp>
          <p:sp>
            <p:nvSpPr>
              <p:cNvPr id="101" name="Google Shape;101;g3896c370de1_0_0"/>
              <p:cNvSpPr txBox="1"/>
              <p:nvPr/>
            </p:nvSpPr>
            <p:spPr>
              <a:xfrm>
                <a:off x="4908041" y="5297178"/>
                <a:ext cx="2310571"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a:solidFill>
                      <a:srgbClr val="000000"/>
                    </a:solidFill>
                    <a:latin typeface="Open Sans"/>
                    <a:ea typeface="Open Sans"/>
                    <a:cs typeface="Open Sans"/>
                    <a:sym typeface="Open Sans"/>
                  </a:rPr>
                  <a:t>She’s hoping to see how discrimination impacts high school graduation rates so she can apply for funding for a peer mentor program. This program matches students in the neighborhood with students in college who have shared identities.</a:t>
                </a:r>
                <a:endParaRPr/>
              </a:p>
            </p:txBody>
          </p:sp>
          <p:sp>
            <p:nvSpPr>
              <p:cNvPr id="102" name="Google Shape;102;g3896c370de1_0_0"/>
              <p:cNvSpPr txBox="1"/>
              <p:nvPr/>
            </p:nvSpPr>
            <p:spPr>
              <a:xfrm>
                <a:off x="7103745" y="5303520"/>
                <a:ext cx="2195702"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a:solidFill>
                      <a:srgbClr val="000000"/>
                    </a:solidFill>
                    <a:latin typeface="Open Sans"/>
                    <a:ea typeface="Open Sans"/>
                    <a:cs typeface="Open Sans"/>
                    <a:sym typeface="Open Sans"/>
                  </a:rPr>
                  <a:t>However, when Harper looks at the data, she sees that among kids in Amari and Liam’s neighborhood, marginalization based on race </a:t>
                </a:r>
                <a:r>
                  <a:rPr lang="en-US" sz="1000" b="0" i="1" u="none" strike="noStrike" cap="none">
                    <a:solidFill>
                      <a:srgbClr val="000000"/>
                    </a:solidFill>
                    <a:latin typeface="Open Sans"/>
                    <a:ea typeface="Open Sans"/>
                    <a:cs typeface="Open Sans"/>
                    <a:sym typeface="Open Sans"/>
                  </a:rPr>
                  <a:t>barely</a:t>
                </a:r>
                <a:r>
                  <a:rPr lang="en-US" sz="1000" b="0" i="0" u="none" strike="noStrike" cap="none">
                    <a:solidFill>
                      <a:srgbClr val="000000"/>
                    </a:solidFill>
                    <a:latin typeface="Open Sans"/>
                    <a:ea typeface="Open Sans"/>
                    <a:cs typeface="Open Sans"/>
                    <a:sym typeface="Open Sans"/>
                  </a:rPr>
                  <a:t> impacts graduation rates and is not statistically significant! </a:t>
                </a:r>
                <a:endParaRPr/>
              </a:p>
            </p:txBody>
          </p:sp>
          <p:sp>
            <p:nvSpPr>
              <p:cNvPr id="103" name="Google Shape;103;g3896c370de1_0_0"/>
              <p:cNvSpPr txBox="1"/>
              <p:nvPr/>
            </p:nvSpPr>
            <p:spPr>
              <a:xfrm>
                <a:off x="9184573" y="5303520"/>
                <a:ext cx="2080835"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a:solidFill>
                      <a:srgbClr val="000000"/>
                    </a:solidFill>
                    <a:latin typeface="Open Sans"/>
                    <a:ea typeface="Open Sans"/>
                    <a:cs typeface="Open Sans"/>
                    <a:sym typeface="Open Sans"/>
                  </a:rPr>
                  <a:t>Harper concluded, “Well, this data won’t be helpful in applying for that grant…”</a:t>
                </a:r>
                <a:endParaRPr/>
              </a:p>
            </p:txBody>
          </p:sp>
        </p:grpSp>
      </p:grpSp>
      <p:grpSp>
        <p:nvGrpSpPr>
          <p:cNvPr id="104" name="Google Shape;104;g3896c370de1_0_0"/>
          <p:cNvGrpSpPr/>
          <p:nvPr/>
        </p:nvGrpSpPr>
        <p:grpSpPr>
          <a:xfrm>
            <a:off x="772287" y="-19523"/>
            <a:ext cx="10683241" cy="3420804"/>
            <a:chOff x="772287" y="-19523"/>
            <a:chExt cx="10683241" cy="3420804"/>
          </a:xfrm>
        </p:grpSpPr>
        <p:pic>
          <p:nvPicPr>
            <p:cNvPr id="105" name="Google Shape;105;g3896c370de1_0_0" descr="A group of people in different colors&#10;&#10;AI-generated content may be incorrect."/>
            <p:cNvPicPr preferRelativeResize="0"/>
            <p:nvPr/>
          </p:nvPicPr>
          <p:blipFill rotWithShape="1">
            <a:blip r:embed="rId4">
              <a:alphaModFix/>
            </a:blip>
            <a:srcRect l="6560" t="16283" r="5816" b="50000"/>
            <a:stretch/>
          </p:blipFill>
          <p:spPr>
            <a:xfrm>
              <a:off x="772287" y="-19523"/>
              <a:ext cx="10683241" cy="2312308"/>
            </a:xfrm>
            <a:prstGeom prst="rect">
              <a:avLst/>
            </a:prstGeom>
            <a:noFill/>
            <a:ln>
              <a:noFill/>
            </a:ln>
          </p:spPr>
        </p:pic>
        <p:grpSp>
          <p:nvGrpSpPr>
            <p:cNvPr id="106" name="Google Shape;106;g3896c370de1_0_0"/>
            <p:cNvGrpSpPr/>
            <p:nvPr/>
          </p:nvGrpSpPr>
          <p:grpSpPr>
            <a:xfrm>
              <a:off x="799718" y="2173253"/>
              <a:ext cx="10570465" cy="1228028"/>
              <a:chOff x="913637" y="2302502"/>
              <a:chExt cx="10570465" cy="1228028"/>
            </a:xfrm>
          </p:grpSpPr>
          <p:sp>
            <p:nvSpPr>
              <p:cNvPr id="107" name="Google Shape;107;g3896c370de1_0_0"/>
              <p:cNvSpPr txBox="1"/>
              <p:nvPr/>
            </p:nvSpPr>
            <p:spPr>
              <a:xfrm>
                <a:off x="913637" y="2302502"/>
                <a:ext cx="2310569" cy="12280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20" b="0" i="0" u="none" strike="noStrike" cap="none" dirty="0">
                    <a:solidFill>
                      <a:srgbClr val="000000"/>
                    </a:solidFill>
                    <a:latin typeface="Open Sans"/>
                    <a:ea typeface="Open Sans"/>
                    <a:cs typeface="Open Sans"/>
                    <a:sym typeface="Open Sans"/>
                  </a:rPr>
                  <a:t>Amari and Liam have grown up together. Over the years, they’ve seen a lot of families move to more affluent areas. For Amari, his mom has had to work very hard for all they have and doesn’t have extra cash. For Liam, his parents have had to spend a lot of money on healthcare bills for his dad’s chronic health conditions. Neither Amari’s nor Liam’s families can afford to move.</a:t>
                </a:r>
                <a:endParaRPr dirty="0"/>
              </a:p>
            </p:txBody>
          </p:sp>
          <p:sp>
            <p:nvSpPr>
              <p:cNvPr id="108" name="Google Shape;108;g3896c370de1_0_0"/>
              <p:cNvSpPr txBox="1"/>
              <p:nvPr/>
            </p:nvSpPr>
            <p:spPr>
              <a:xfrm>
                <a:off x="3083052" y="2302502"/>
                <a:ext cx="2131314" cy="12157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000000"/>
                    </a:solidFill>
                    <a:latin typeface="Open Sans"/>
                    <a:ea typeface="Open Sans"/>
                    <a:cs typeface="Open Sans"/>
                    <a:sym typeface="Open Sans"/>
                  </a:rPr>
                  <a:t>As many of the White families have moved out, the neighborhood is now primarily Black except for families like Liam’s. Amari’s mom has given him many talks about growing up as a Black boy, and she’s always careful about where she allows Amari to go</a:t>
                </a:r>
                <a:r>
                  <a:rPr lang="en-US" sz="1000" b="0" i="0" u="none" strike="noStrike" cap="none">
                    <a:solidFill>
                      <a:srgbClr val="000000"/>
                    </a:solidFill>
                    <a:latin typeface="Open Sans"/>
                    <a:ea typeface="Open Sans"/>
                    <a:cs typeface="Open Sans"/>
                    <a:sym typeface="Open Sans"/>
                  </a:rPr>
                  <a:t>.</a:t>
                </a:r>
                <a:endParaRPr/>
              </a:p>
            </p:txBody>
          </p:sp>
          <p:sp>
            <p:nvSpPr>
              <p:cNvPr id="109" name="Google Shape;109;g3896c370de1_0_0"/>
              <p:cNvSpPr txBox="1"/>
              <p:nvPr/>
            </p:nvSpPr>
            <p:spPr>
              <a:xfrm>
                <a:off x="5142738" y="2331166"/>
                <a:ext cx="2114550"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00" b="0" i="0" u="none" strike="noStrike" cap="none">
                    <a:solidFill>
                      <a:srgbClr val="000000"/>
                    </a:solidFill>
                    <a:latin typeface="Open Sans"/>
                    <a:ea typeface="Open Sans"/>
                    <a:cs typeface="Open Sans"/>
                    <a:sym typeface="Open Sans"/>
                  </a:rPr>
                  <a:t>This type of awareness is normal for Amari. In fact, many of his friends at school have also been given talks about growing up Black in this world. Liam has struggled with his own family problems.</a:t>
                </a:r>
                <a:endParaRPr/>
              </a:p>
            </p:txBody>
          </p:sp>
          <p:sp>
            <p:nvSpPr>
              <p:cNvPr id="110" name="Google Shape;110;g3896c370de1_0_0"/>
              <p:cNvSpPr txBox="1"/>
              <p:nvPr/>
            </p:nvSpPr>
            <p:spPr>
              <a:xfrm>
                <a:off x="7257288" y="2348882"/>
                <a:ext cx="2114550" cy="10618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dirty="0">
                    <a:solidFill>
                      <a:srgbClr val="000000"/>
                    </a:solidFill>
                    <a:latin typeface="Open Sans"/>
                    <a:ea typeface="Open Sans"/>
                    <a:cs typeface="Open Sans"/>
                    <a:sym typeface="Open Sans"/>
                  </a:rPr>
                  <a:t>Although for different reasons, Amari and Liam have had bad experiences in school. Resources are scarce, teachers are overworked, and students are now more aware of how they are misperceived by society. </a:t>
                </a:r>
                <a:endParaRPr dirty="0"/>
              </a:p>
            </p:txBody>
          </p:sp>
          <p:sp>
            <p:nvSpPr>
              <p:cNvPr id="111" name="Google Shape;111;g3896c370de1_0_0"/>
              <p:cNvSpPr txBox="1"/>
              <p:nvPr/>
            </p:nvSpPr>
            <p:spPr>
              <a:xfrm>
                <a:off x="9300210" y="2331166"/>
                <a:ext cx="2183892"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000" b="0" i="0" u="none" strike="noStrike" cap="none">
                  <a:solidFill>
                    <a:srgbClr val="000000"/>
                  </a:solidFill>
                  <a:latin typeface="Open Sans"/>
                  <a:ea typeface="Open Sans"/>
                  <a:cs typeface="Open Sans"/>
                  <a:sym typeface="Open Sans"/>
                </a:endParaRPr>
              </a:p>
            </p:txBody>
          </p:sp>
        </p:grpSp>
      </p:grpSp>
      <p:sp>
        <p:nvSpPr>
          <p:cNvPr id="112" name="Google Shape;112;g3896c370de1_0_0"/>
          <p:cNvSpPr txBox="1"/>
          <p:nvPr/>
        </p:nvSpPr>
        <p:spPr>
          <a:xfrm>
            <a:off x="9257919" y="2242493"/>
            <a:ext cx="2042922" cy="7848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dirty="0">
                <a:solidFill>
                  <a:srgbClr val="000000"/>
                </a:solidFill>
                <a:latin typeface="Open Sans"/>
                <a:ea typeface="Open Sans"/>
                <a:cs typeface="Open Sans"/>
                <a:sym typeface="Open Sans"/>
              </a:rPr>
              <a:t>Amari and Liam are struggling with their grades. Although they are friends, neither feels that the other will understand the weight they carry inside.</a:t>
            </a:r>
            <a:endParaRPr sz="900" b="0" i="0" u="none" strike="noStrike" cap="none" dirty="0">
              <a:solidFill>
                <a:srgbClr val="000000"/>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A7D66E28-E8CC-F504-F89A-6EB0696568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37" name="Google Shape;137;g3baeab3a152_0_0"/>
          <p:cNvSpPr txBox="1"/>
          <p:nvPr/>
        </p:nvSpPr>
        <p:spPr>
          <a:xfrm>
            <a:off x="348799" y="552400"/>
            <a:ext cx="8785869" cy="5900700"/>
          </a:xfrm>
          <a:prstGeom prst="rect">
            <a:avLst/>
          </a:prstGeom>
          <a:noFill/>
          <a:ln>
            <a:noFill/>
          </a:ln>
        </p:spPr>
        <p:txBody>
          <a:bodyPr spcFirstLastPara="1" wrap="square" lIns="91425" tIns="45700" rIns="91425" bIns="45700" anchor="t" anchorCtr="0">
            <a:normAutofit/>
          </a:bodyPr>
          <a:lstStyle/>
          <a:p>
            <a:pPr marL="0" lvl="0" indent="0" algn="ctr" rtl="0">
              <a:lnSpc>
                <a:spcPct val="115000"/>
              </a:lnSpc>
              <a:spcBef>
                <a:spcPts val="2000"/>
              </a:spcBef>
              <a:spcAft>
                <a:spcPts val="0"/>
              </a:spcAft>
              <a:buNone/>
            </a:pPr>
            <a:r>
              <a:rPr lang="en-US" sz="1900" i="1" dirty="0">
                <a:latin typeface="Open Sans"/>
                <a:ea typeface="Open Sans"/>
                <a:cs typeface="Open Sans"/>
                <a:sym typeface="Open Sans"/>
              </a:rPr>
              <a:t>Amari and Liam’s story shows us that there are multiple reasons why people may end up in a particular population, like a neighborhood. Structural discrimination has limited opportunities for families like Amari’s across generations. Liam’s family experienced chronic health issues that took time, money, and resources. As such, neither Amari’s nor Liam’s families can afford to move to a neighborhood with more opportunities.</a:t>
            </a:r>
            <a:endParaRPr sz="1900" i="1" dirty="0">
              <a:solidFill>
                <a:srgbClr val="000000"/>
              </a:solidFill>
              <a:latin typeface="Open Sans"/>
              <a:ea typeface="Open Sans"/>
              <a:cs typeface="Open Sans"/>
              <a:sym typeface="Open Sans"/>
            </a:endParaRPr>
          </a:p>
          <a:p>
            <a:pPr marL="0" lvl="0" indent="0" algn="ctr" rtl="0">
              <a:lnSpc>
                <a:spcPct val="115000"/>
              </a:lnSpc>
              <a:spcBef>
                <a:spcPts val="2000"/>
              </a:spcBef>
              <a:spcAft>
                <a:spcPts val="0"/>
              </a:spcAft>
              <a:buNone/>
            </a:pPr>
            <a:r>
              <a:rPr lang="en-US" sz="1900" i="1" dirty="0">
                <a:latin typeface="Open Sans"/>
                <a:ea typeface="Open Sans"/>
                <a:cs typeface="Open Sans"/>
                <a:sym typeface="Open Sans"/>
              </a:rPr>
              <a:t>When looking </a:t>
            </a:r>
            <a:r>
              <a:rPr lang="en-US" sz="1900" b="1" i="1" dirty="0">
                <a:solidFill>
                  <a:srgbClr val="001C84"/>
                </a:solidFill>
                <a:latin typeface="Open Sans"/>
                <a:ea typeface="Open Sans"/>
                <a:cs typeface="Open Sans"/>
                <a:sym typeface="Open Sans"/>
              </a:rPr>
              <a:t>within a particular population</a:t>
            </a:r>
            <a:r>
              <a:rPr lang="en-US" sz="1900" i="1" dirty="0">
                <a:latin typeface="Open Sans"/>
                <a:ea typeface="Open Sans"/>
                <a:cs typeface="Open Sans"/>
                <a:sym typeface="Open Sans"/>
              </a:rPr>
              <a:t>, it’s important to understand what factors contribute to people being in that population.</a:t>
            </a:r>
            <a:endParaRPr sz="1900" i="1" dirty="0">
              <a:solidFill>
                <a:srgbClr val="000000"/>
              </a:solidFill>
              <a:latin typeface="Open Sans"/>
              <a:ea typeface="Open Sans"/>
              <a:cs typeface="Open Sans"/>
              <a:sym typeface="Open Sans"/>
            </a:endParaRPr>
          </a:p>
          <a:p>
            <a:pPr marL="0" lvl="0" indent="0" algn="ctr" rtl="0">
              <a:lnSpc>
                <a:spcPct val="115000"/>
              </a:lnSpc>
              <a:spcBef>
                <a:spcPts val="2000"/>
              </a:spcBef>
              <a:spcAft>
                <a:spcPts val="0"/>
              </a:spcAft>
              <a:buNone/>
            </a:pPr>
            <a:r>
              <a:rPr lang="en-US" sz="1900" i="1" dirty="0">
                <a:solidFill>
                  <a:srgbClr val="000000"/>
                </a:solidFill>
                <a:latin typeface="Open Sans"/>
                <a:ea typeface="Open Sans"/>
                <a:cs typeface="Open Sans"/>
                <a:sym typeface="Open Sans"/>
              </a:rPr>
              <a:t>Remember what </a:t>
            </a:r>
            <a:r>
              <a:rPr lang="en-US" sz="1900" i="1" dirty="0">
                <a:latin typeface="Open Sans"/>
                <a:ea typeface="Open Sans"/>
                <a:cs typeface="Open Sans"/>
                <a:sym typeface="Open Sans"/>
              </a:rPr>
              <a:t>Harper saw</a:t>
            </a:r>
            <a:r>
              <a:rPr lang="en-US" sz="1900" i="1" dirty="0">
                <a:solidFill>
                  <a:srgbClr val="000000"/>
                </a:solidFill>
                <a:latin typeface="Open Sans"/>
                <a:ea typeface="Open Sans"/>
                <a:cs typeface="Open Sans"/>
                <a:sym typeface="Open Sans"/>
              </a:rPr>
              <a:t> when looking </a:t>
            </a:r>
            <a:r>
              <a:rPr lang="en-US" sz="1900" i="1" u="sng" dirty="0">
                <a:solidFill>
                  <a:srgbClr val="000000"/>
                </a:solidFill>
                <a:latin typeface="Open Sans"/>
                <a:ea typeface="Open Sans"/>
                <a:cs typeface="Open Sans"/>
                <a:sym typeface="Open Sans"/>
              </a:rPr>
              <a:t>only at </a:t>
            </a:r>
            <a:r>
              <a:rPr lang="en-US" sz="1900" i="1" u="sng" dirty="0">
                <a:latin typeface="Open Sans"/>
                <a:ea typeface="Open Sans"/>
                <a:cs typeface="Open Sans"/>
                <a:sym typeface="Open Sans"/>
              </a:rPr>
              <a:t>Amari and Liam’s neighborhood</a:t>
            </a:r>
            <a:r>
              <a:rPr lang="en-US" sz="1900" i="1" dirty="0">
                <a:solidFill>
                  <a:srgbClr val="000000"/>
                </a:solidFill>
                <a:latin typeface="Open Sans"/>
                <a:ea typeface="Open Sans"/>
                <a:cs typeface="Open Sans"/>
                <a:sym typeface="Open Sans"/>
              </a:rPr>
              <a:t>: </a:t>
            </a:r>
            <a:r>
              <a:rPr lang="en-US" sz="1900" i="1" dirty="0">
                <a:latin typeface="Open Sans"/>
                <a:ea typeface="Open Sans"/>
                <a:cs typeface="Open Sans"/>
                <a:sym typeface="Open Sans"/>
              </a:rPr>
              <a:t>No effect of discrimination on the likelihood of high school graduation.</a:t>
            </a:r>
            <a:endParaRPr sz="1900" i="1" dirty="0">
              <a:solidFill>
                <a:srgbClr val="000000"/>
              </a:solidFill>
              <a:latin typeface="Open Sans"/>
              <a:ea typeface="Open Sans"/>
              <a:cs typeface="Open Sans"/>
              <a:sym typeface="Open Sans"/>
            </a:endParaRPr>
          </a:p>
          <a:p>
            <a:pPr marL="0" lvl="0" indent="0" algn="ctr" rtl="0">
              <a:lnSpc>
                <a:spcPct val="115000"/>
              </a:lnSpc>
              <a:spcBef>
                <a:spcPts val="2000"/>
              </a:spcBef>
              <a:spcAft>
                <a:spcPts val="1000"/>
              </a:spcAft>
              <a:buNone/>
            </a:pPr>
            <a:r>
              <a:rPr lang="en-US" sz="1900" b="1" i="1" dirty="0">
                <a:solidFill>
                  <a:srgbClr val="001C84"/>
                </a:solidFill>
                <a:latin typeface="Open Sans"/>
                <a:ea typeface="Open Sans"/>
                <a:cs typeface="Open Sans"/>
                <a:sym typeface="Open Sans"/>
              </a:rPr>
              <a:t>What factors may contribute to Harper seeing little difference in high school graduation rates by race (-based marginalization) in Amari and Liam’s neighborhood?</a:t>
            </a:r>
            <a:endParaRPr sz="1900" b="1" i="1"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DB8BA4ED-9650-0C79-6A80-303364D79A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4" name="Picture 3" descr="A group of cartoon people&#10;&#10;AI-generated content may be incorrect.">
            <a:extLst>
              <a:ext uri="{FF2B5EF4-FFF2-40B4-BE49-F238E27FC236}">
                <a16:creationId xmlns:a16="http://schemas.microsoft.com/office/drawing/2014/main" id="{45D039CC-1EB0-C9FE-DF76-35DBF16A774D}"/>
              </a:ext>
            </a:extLst>
          </p:cNvPr>
          <p:cNvPicPr>
            <a:picLocks noChangeAspect="1"/>
          </p:cNvPicPr>
          <p:nvPr/>
        </p:nvPicPr>
        <p:blipFill>
          <a:blip r:embed="rId3"/>
          <a:srcRect l="15506" t="12650" r="65444" b="6944"/>
          <a:stretch>
            <a:fillRect/>
          </a:stretch>
        </p:blipFill>
        <p:spPr>
          <a:xfrm>
            <a:off x="9006348" y="2172928"/>
            <a:ext cx="1298349" cy="3082413"/>
          </a:xfrm>
          <a:prstGeom prst="rect">
            <a:avLst/>
          </a:prstGeom>
        </p:spPr>
      </p:pic>
      <p:pic>
        <p:nvPicPr>
          <p:cNvPr id="5" name="Picture 4" descr="A group of cartoon people&#10;&#10;AI-generated content may be incorrect.">
            <a:extLst>
              <a:ext uri="{FF2B5EF4-FFF2-40B4-BE49-F238E27FC236}">
                <a16:creationId xmlns:a16="http://schemas.microsoft.com/office/drawing/2014/main" id="{D97AEA84-CDE2-DCEB-ED0E-96677D5D5FAB}"/>
              </a:ext>
            </a:extLst>
          </p:cNvPr>
          <p:cNvPicPr>
            <a:picLocks noChangeAspect="1"/>
          </p:cNvPicPr>
          <p:nvPr/>
        </p:nvPicPr>
        <p:blipFill>
          <a:blip r:embed="rId3"/>
          <a:srcRect l="43321" t="17157" r="39747" b="9502"/>
          <a:stretch>
            <a:fillRect/>
          </a:stretch>
        </p:blipFill>
        <p:spPr>
          <a:xfrm>
            <a:off x="10373031" y="2295833"/>
            <a:ext cx="1214728" cy="29595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Introduction</a:t>
            </a:r>
            <a:endParaRPr b="1">
              <a:solidFill>
                <a:srgbClr val="001C84"/>
              </a:solidFill>
              <a:latin typeface="Open Sans"/>
              <a:ea typeface="Open Sans"/>
              <a:cs typeface="Open Sans"/>
              <a:sym typeface="Open Sans"/>
            </a:endParaRPr>
          </a:p>
        </p:txBody>
      </p:sp>
      <p:sp>
        <p:nvSpPr>
          <p:cNvPr id="144" name="Google Shape;144;p1"/>
          <p:cNvSpPr txBox="1">
            <a:spLocks noGrp="1"/>
          </p:cNvSpPr>
          <p:nvPr>
            <p:ph type="body" idx="1"/>
          </p:nvPr>
        </p:nvSpPr>
        <p:spPr>
          <a:xfrm>
            <a:off x="612648" y="1600200"/>
            <a:ext cx="10561320" cy="4526100"/>
          </a:xfrm>
          <a:prstGeom prst="rect">
            <a:avLst/>
          </a:prstGeom>
          <a:noFill/>
          <a:ln>
            <a:noFill/>
          </a:ln>
        </p:spPr>
        <p:txBody>
          <a:bodyPr spcFirstLastPara="1" wrap="square" lIns="91425" tIns="45700" rIns="91425" bIns="45700" anchor="t" anchorCtr="0">
            <a:normAutofit fontScale="85000" lnSpcReduction="10000"/>
          </a:bodyPr>
          <a:lstStyle/>
          <a:p>
            <a:pPr marL="0" lvl="0" indent="0" algn="ctr" rtl="0">
              <a:lnSpc>
                <a:spcPct val="115000"/>
              </a:lnSpc>
              <a:spcBef>
                <a:spcPts val="1000"/>
              </a:spcBef>
              <a:spcAft>
                <a:spcPts val="0"/>
              </a:spcAft>
              <a:buSzPct val="39664"/>
              <a:buNone/>
            </a:pPr>
            <a:r>
              <a:rPr lang="en-US" sz="2564" i="1" dirty="0">
                <a:latin typeface="Open Sans"/>
                <a:ea typeface="Open Sans"/>
                <a:cs typeface="Open Sans"/>
                <a:sym typeface="Open Sans"/>
              </a:rPr>
              <a:t>You’re a social worker in community practice, who primarily works with families in low-income neighborhoods. You notice that marginalization is one of the challenges these families and their neighborhoods face. You wonder how marginalization affects children as they are growing up and preparing to go out on their own. You ask yourself:</a:t>
            </a:r>
            <a:endParaRPr dirty="0"/>
          </a:p>
          <a:p>
            <a:pPr marL="0" lvl="0" indent="0" algn="ctr" rtl="0">
              <a:lnSpc>
                <a:spcPct val="115000"/>
              </a:lnSpc>
              <a:spcBef>
                <a:spcPts val="1000"/>
              </a:spcBef>
              <a:spcAft>
                <a:spcPts val="0"/>
              </a:spcAft>
              <a:buSzPct val="39664"/>
              <a:buNone/>
            </a:pPr>
            <a:r>
              <a:rPr lang="en-US" sz="2564" b="1" i="1" dirty="0">
                <a:solidFill>
                  <a:srgbClr val="001C84"/>
                </a:solidFill>
                <a:latin typeface="Open Sans"/>
                <a:ea typeface="Open Sans"/>
                <a:cs typeface="Open Sans"/>
                <a:sym typeface="Open Sans"/>
              </a:rPr>
              <a:t>What are the effects of marginalization on the likelihood of high school graduation?</a:t>
            </a:r>
            <a:endParaRPr sz="2564" i="1" dirty="0">
              <a:solidFill>
                <a:srgbClr val="001C84"/>
              </a:solidFill>
              <a:latin typeface="Open Sans"/>
              <a:ea typeface="Open Sans"/>
              <a:cs typeface="Open Sans"/>
              <a:sym typeface="Open Sans"/>
            </a:endParaRPr>
          </a:p>
          <a:p>
            <a:pPr marL="0" lvl="0" indent="0" algn="ctr" rtl="0">
              <a:lnSpc>
                <a:spcPct val="115000"/>
              </a:lnSpc>
              <a:spcBef>
                <a:spcPts val="1000"/>
              </a:spcBef>
              <a:spcAft>
                <a:spcPts val="0"/>
              </a:spcAft>
              <a:buSzPct val="39664"/>
              <a:buNone/>
            </a:pPr>
            <a:r>
              <a:rPr lang="en-US" sz="2564" i="1" dirty="0">
                <a:latin typeface="Open Sans"/>
                <a:ea typeface="Open Sans"/>
                <a:cs typeface="Open Sans"/>
                <a:sym typeface="Open Sans"/>
              </a:rPr>
              <a:t>You received school data for these low-income neighborhoods including whether students graduate high school. </a:t>
            </a:r>
            <a:endParaRPr dirty="0"/>
          </a:p>
          <a:p>
            <a:pPr marL="0" lvl="0" indent="0" algn="ctr" rtl="0">
              <a:lnSpc>
                <a:spcPct val="115000"/>
              </a:lnSpc>
              <a:spcBef>
                <a:spcPts val="2000"/>
              </a:spcBef>
              <a:spcAft>
                <a:spcPts val="1000"/>
              </a:spcAft>
              <a:buSzPct val="39664"/>
              <a:buNone/>
            </a:pPr>
            <a:r>
              <a:rPr lang="en-US" sz="2564" i="1" dirty="0">
                <a:latin typeface="Open Sans"/>
                <a:ea typeface="Open Sans"/>
                <a:cs typeface="Open Sans"/>
                <a:sym typeface="Open Sans"/>
              </a:rPr>
              <a:t>Let’s think about how you’re going to use that data to answer your questions…</a:t>
            </a:r>
            <a:endParaRPr sz="2564" i="1" dirty="0">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7A8BDAE0-C7BF-3FF3-9D09-4C9F2723C6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8240a52d44_0_1"/>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Collider Bias in Research</a:t>
            </a:r>
            <a:endParaRPr b="1">
              <a:solidFill>
                <a:srgbClr val="001C84"/>
              </a:solidFill>
              <a:latin typeface="Open Sans"/>
              <a:ea typeface="Open Sans"/>
              <a:cs typeface="Open Sans"/>
              <a:sym typeface="Open Sans"/>
            </a:endParaRPr>
          </a:p>
        </p:txBody>
      </p:sp>
      <p:sp>
        <p:nvSpPr>
          <p:cNvPr id="151" name="Google Shape;151;g38240a52d44_0_1"/>
          <p:cNvSpPr/>
          <p:nvPr/>
        </p:nvSpPr>
        <p:spPr>
          <a:xfrm>
            <a:off x="4482440" y="3558984"/>
            <a:ext cx="2238000" cy="1016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Marginalization</a:t>
            </a:r>
            <a:endParaRPr sz="1600" b="1" i="0" u="none" strike="noStrike" cap="none">
              <a:solidFill>
                <a:schemeClr val="dk2"/>
              </a:solidFill>
              <a:latin typeface="Open Sans"/>
              <a:ea typeface="Open Sans"/>
              <a:cs typeface="Open Sans"/>
              <a:sym typeface="Open Sans"/>
            </a:endParaRPr>
          </a:p>
        </p:txBody>
      </p:sp>
      <p:sp>
        <p:nvSpPr>
          <p:cNvPr id="152" name="Google Shape;152;g38240a52d44_0_1"/>
          <p:cNvSpPr/>
          <p:nvPr/>
        </p:nvSpPr>
        <p:spPr>
          <a:xfrm>
            <a:off x="6763475" y="5344179"/>
            <a:ext cx="2238000" cy="1016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High School Graduation</a:t>
            </a:r>
            <a:endParaRPr sz="1600" b="1" i="0" u="none" strike="noStrike" cap="none">
              <a:solidFill>
                <a:schemeClr val="dk2"/>
              </a:solidFill>
              <a:latin typeface="Open Sans"/>
              <a:ea typeface="Open Sans"/>
              <a:cs typeface="Open Sans"/>
              <a:sym typeface="Open Sans"/>
            </a:endParaRPr>
          </a:p>
        </p:txBody>
      </p:sp>
      <p:cxnSp>
        <p:nvCxnSpPr>
          <p:cNvPr id="153" name="Google Shape;153;g38240a52d44_0_1"/>
          <p:cNvCxnSpPr>
            <a:cxnSpLocks/>
            <a:stCxn id="151" idx="2"/>
            <a:endCxn id="152" idx="0"/>
          </p:cNvCxnSpPr>
          <p:nvPr/>
        </p:nvCxnSpPr>
        <p:spPr>
          <a:xfrm>
            <a:off x="5601440" y="4575084"/>
            <a:ext cx="2281035" cy="769095"/>
          </a:xfrm>
          <a:prstGeom prst="straightConnector1">
            <a:avLst/>
          </a:prstGeom>
          <a:noFill/>
          <a:ln w="28575" cap="flat" cmpd="sng">
            <a:solidFill>
              <a:schemeClr val="bg2"/>
            </a:solidFill>
            <a:prstDash val="solid"/>
            <a:round/>
            <a:headEnd type="none" w="sm" len="sm"/>
            <a:tailEnd type="triangle" w="med" len="med"/>
          </a:ln>
        </p:spPr>
      </p:cxnSp>
      <p:sp>
        <p:nvSpPr>
          <p:cNvPr id="154" name="Google Shape;154;g38240a52d44_0_1"/>
          <p:cNvSpPr txBox="1">
            <a:spLocks noGrp="1"/>
          </p:cNvSpPr>
          <p:nvPr>
            <p:ph type="body" idx="1"/>
          </p:nvPr>
        </p:nvSpPr>
        <p:spPr>
          <a:xfrm>
            <a:off x="612648" y="1426794"/>
            <a:ext cx="10963656" cy="22683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1000"/>
              </a:spcBef>
              <a:spcAft>
                <a:spcPts val="0"/>
              </a:spcAft>
              <a:buSzPct val="100000"/>
              <a:buFont typeface="Open Sans"/>
              <a:buChar char="•"/>
            </a:pPr>
            <a:r>
              <a:rPr lang="en-US" sz="2000" dirty="0">
                <a:latin typeface="Open Sans"/>
                <a:ea typeface="Open Sans"/>
                <a:cs typeface="Open Sans"/>
                <a:sym typeface="Open Sans"/>
              </a:rPr>
              <a:t>What are the effects </a:t>
            </a:r>
            <a:r>
              <a:rPr lang="en-US" sz="2000" dirty="0">
                <a:solidFill>
                  <a:srgbClr val="001C84"/>
                </a:solidFill>
                <a:latin typeface="Open Sans"/>
                <a:ea typeface="Open Sans"/>
                <a:cs typeface="Open Sans"/>
                <a:sym typeface="Open Sans"/>
              </a:rPr>
              <a:t>of </a:t>
            </a:r>
            <a:r>
              <a:rPr lang="en-US" sz="2000" b="1" dirty="0">
                <a:solidFill>
                  <a:srgbClr val="001C84"/>
                </a:solidFill>
                <a:latin typeface="Open Sans"/>
                <a:ea typeface="Open Sans"/>
                <a:cs typeface="Open Sans"/>
                <a:sym typeface="Open Sans"/>
              </a:rPr>
              <a:t>marginalization on the likelihood of high school graduation</a:t>
            </a:r>
            <a:r>
              <a:rPr lang="en-US" sz="2000" dirty="0">
                <a:solidFill>
                  <a:schemeClr val="tx1"/>
                </a:solidFill>
                <a:latin typeface="Open Sans"/>
                <a:ea typeface="Open Sans"/>
                <a:cs typeface="Open Sans"/>
                <a:sym typeface="Open Sans"/>
              </a:rPr>
              <a:t>? </a:t>
            </a:r>
            <a:endParaRPr sz="2000" dirty="0">
              <a:solidFill>
                <a:schemeClr val="tx1"/>
              </a:solidFill>
              <a:latin typeface="Open Sans"/>
              <a:ea typeface="Open Sans"/>
              <a:cs typeface="Open Sans"/>
              <a:sym typeface="Open Sans"/>
            </a:endParaRPr>
          </a:p>
          <a:p>
            <a:pPr marL="342900" lvl="0" indent="-342900" algn="l" rtl="0">
              <a:lnSpc>
                <a:spcPct val="100000"/>
              </a:lnSpc>
              <a:spcBef>
                <a:spcPts val="1000"/>
              </a:spcBef>
              <a:spcAft>
                <a:spcPts val="0"/>
              </a:spcAft>
              <a:buSzPct val="100000"/>
              <a:buFont typeface="Open Sans"/>
              <a:buChar char="•"/>
            </a:pPr>
            <a:r>
              <a:rPr lang="en-US" sz="2000" dirty="0">
                <a:latin typeface="Open Sans"/>
                <a:ea typeface="Open Sans"/>
                <a:cs typeface="Open Sans"/>
                <a:sym typeface="Open Sans"/>
              </a:rPr>
              <a:t>You only have data on the individuals in the neighborhoods where you work</a:t>
            </a:r>
            <a:endParaRPr sz="2800" dirty="0"/>
          </a:p>
          <a:p>
            <a:pPr marL="342900" lvl="0" indent="-342900" algn="l" rtl="0">
              <a:lnSpc>
                <a:spcPct val="100000"/>
              </a:lnSpc>
              <a:spcBef>
                <a:spcPts val="1000"/>
              </a:spcBef>
              <a:spcAft>
                <a:spcPts val="0"/>
              </a:spcAft>
              <a:buSzPct val="100000"/>
              <a:buFont typeface="Open Sans"/>
              <a:buChar char="•"/>
            </a:pPr>
            <a:r>
              <a:rPr lang="en-US" sz="2000" dirty="0">
                <a:latin typeface="Open Sans"/>
                <a:ea typeface="Open Sans"/>
                <a:cs typeface="Open Sans"/>
                <a:sym typeface="Open Sans"/>
              </a:rPr>
              <a:t>Given the history of discrimination in housing policy, you know that </a:t>
            </a:r>
            <a:r>
              <a:rPr lang="en-US" sz="2000" dirty="0">
                <a:solidFill>
                  <a:schemeClr val="tx1"/>
                </a:solidFill>
                <a:latin typeface="Open Sans"/>
                <a:ea typeface="Open Sans"/>
                <a:cs typeface="Open Sans"/>
                <a:sym typeface="Open Sans"/>
              </a:rPr>
              <a:t>marginalization also influences </a:t>
            </a:r>
            <a:r>
              <a:rPr lang="en-US" sz="2000" b="1" dirty="0">
                <a:solidFill>
                  <a:srgbClr val="C0504D"/>
                </a:solidFill>
                <a:latin typeface="Open Sans"/>
                <a:ea typeface="Open Sans"/>
                <a:cs typeface="Open Sans"/>
                <a:sym typeface="Open Sans"/>
              </a:rPr>
              <a:t>neighborhood access</a:t>
            </a:r>
            <a:endParaRPr sz="2000" dirty="0">
              <a:solidFill>
                <a:schemeClr val="tx1"/>
              </a:solidFill>
              <a:latin typeface="Open Sans"/>
              <a:ea typeface="Open Sans"/>
              <a:cs typeface="Open Sans"/>
              <a:sym typeface="Open Sans"/>
            </a:endParaRPr>
          </a:p>
          <a:p>
            <a:pPr marL="342900" lvl="0" indent="-342900" algn="l" rtl="0">
              <a:lnSpc>
                <a:spcPct val="100000"/>
              </a:lnSpc>
              <a:spcBef>
                <a:spcPts val="1000"/>
              </a:spcBef>
              <a:spcAft>
                <a:spcPts val="0"/>
              </a:spcAft>
              <a:buSzPct val="100000"/>
              <a:buFont typeface="Open Sans"/>
              <a:buChar char="•"/>
            </a:pPr>
            <a:r>
              <a:rPr lang="en-US" sz="2000" dirty="0">
                <a:latin typeface="Open Sans"/>
                <a:ea typeface="Open Sans"/>
                <a:cs typeface="Open Sans"/>
                <a:sym typeface="Open Sans"/>
              </a:rPr>
              <a:t>Let’s start by building a very simple graphical model:</a:t>
            </a:r>
            <a:endParaRPr sz="2000" dirty="0">
              <a:latin typeface="Open Sans"/>
              <a:ea typeface="Open Sans"/>
              <a:cs typeface="Open Sans"/>
              <a:sym typeface="Open Sans"/>
            </a:endParaRPr>
          </a:p>
        </p:txBody>
      </p:sp>
      <p:sp>
        <p:nvSpPr>
          <p:cNvPr id="155" name="Google Shape;155;g38240a52d44_0_1"/>
          <p:cNvSpPr/>
          <p:nvPr/>
        </p:nvSpPr>
        <p:spPr>
          <a:xfrm>
            <a:off x="3175203" y="5344179"/>
            <a:ext cx="1656300" cy="10161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Low-income Neighborhood</a:t>
            </a:r>
            <a:endParaRPr b="1" i="0" u="none" strike="noStrike" cap="none" dirty="0">
              <a:solidFill>
                <a:schemeClr val="dk2"/>
              </a:solidFill>
              <a:latin typeface="Open Sans"/>
              <a:ea typeface="Open Sans"/>
              <a:cs typeface="Open Sans"/>
              <a:sym typeface="Open Sans"/>
            </a:endParaRPr>
          </a:p>
        </p:txBody>
      </p:sp>
      <p:cxnSp>
        <p:nvCxnSpPr>
          <p:cNvPr id="156" name="Google Shape;156;g38240a52d44_0_1"/>
          <p:cNvCxnSpPr>
            <a:cxnSpLocks/>
            <a:stCxn id="151" idx="2"/>
            <a:endCxn id="155" idx="0"/>
          </p:cNvCxnSpPr>
          <p:nvPr/>
        </p:nvCxnSpPr>
        <p:spPr>
          <a:xfrm flipH="1">
            <a:off x="4003353" y="4575084"/>
            <a:ext cx="1598087" cy="769095"/>
          </a:xfrm>
          <a:prstGeom prst="straightConnector1">
            <a:avLst/>
          </a:prstGeom>
          <a:noFill/>
          <a:ln w="28575" cap="flat" cmpd="sng">
            <a:solidFill>
              <a:srgbClr val="C0504D"/>
            </a:solidFill>
            <a:prstDash val="solid"/>
            <a:round/>
            <a:headEnd type="none" w="sm" len="sm"/>
            <a:tailEnd type="triangle" w="med" len="med"/>
          </a:ln>
        </p:spPr>
      </p:cxnSp>
      <p:cxnSp>
        <p:nvCxnSpPr>
          <p:cNvPr id="157" name="Google Shape;157;g38240a52d44_0_1"/>
          <p:cNvCxnSpPr>
            <a:cxnSpLocks/>
            <a:stCxn id="155" idx="3"/>
            <a:endCxn id="152" idx="1"/>
          </p:cNvCxnSpPr>
          <p:nvPr/>
        </p:nvCxnSpPr>
        <p:spPr>
          <a:xfrm>
            <a:off x="4831503" y="5852229"/>
            <a:ext cx="1931972" cy="0"/>
          </a:xfrm>
          <a:prstGeom prst="straightConnector1">
            <a:avLst/>
          </a:prstGeom>
          <a:noFill/>
          <a:ln w="28575" cap="flat" cmpd="sng">
            <a:solidFill>
              <a:schemeClr val="bg2"/>
            </a:solidFill>
            <a:prstDash val="solid"/>
            <a:round/>
            <a:headEnd type="none" w="sm" len="sm"/>
            <a:tailEnd type="stealth" w="med" len="med"/>
          </a:ln>
        </p:spPr>
      </p:cxnSp>
      <p:sp>
        <p:nvSpPr>
          <p:cNvPr id="158" name="Google Shape;158;g38240a52d44_0_1"/>
          <p:cNvSpPr txBox="1"/>
          <p:nvPr/>
        </p:nvSpPr>
        <p:spPr>
          <a:xfrm>
            <a:off x="7029974" y="4134936"/>
            <a:ext cx="4737258"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This is a </a:t>
            </a:r>
            <a:r>
              <a:rPr lang="en-US" sz="1600" b="0" i="0" u="none" strike="noStrike" cap="none" dirty="0">
                <a:solidFill>
                  <a:srgbClr val="C0504D"/>
                </a:solidFill>
                <a:latin typeface="Open Sans" panose="020B0606030504020204" pitchFamily="34" charset="0"/>
                <a:ea typeface="Open Sans" panose="020B0606030504020204" pitchFamily="34" charset="0"/>
                <a:cs typeface="Open Sans" panose="020B0606030504020204" pitchFamily="34" charset="0"/>
                <a:sym typeface="Arial"/>
              </a:rPr>
              <a:t>Directed Acyclic Graph or </a:t>
            </a:r>
            <a:r>
              <a:rPr lang="en-US" sz="1600" b="1" i="0" u="none" strike="noStrike" cap="none" dirty="0">
                <a:solidFill>
                  <a:srgbClr val="C0504D"/>
                </a:solidFill>
                <a:latin typeface="Open Sans" panose="020B0606030504020204" pitchFamily="34" charset="0"/>
                <a:ea typeface="Open Sans" panose="020B0606030504020204" pitchFamily="34" charset="0"/>
                <a:cs typeface="Open Sans" panose="020B0606030504020204" pitchFamily="34" charset="0"/>
                <a:sym typeface="Arial"/>
              </a:rPr>
              <a:t>DAG</a:t>
            </a:r>
            <a:r>
              <a:rPr lang="en-US" sz="1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 a powerful visual representation of model assumptions that can help us identify biases (Pearl &amp; Mackenzie, 2018). </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Slide Number Placeholder 1">
            <a:extLst>
              <a:ext uri="{FF2B5EF4-FFF2-40B4-BE49-F238E27FC236}">
                <a16:creationId xmlns:a16="http://schemas.microsoft.com/office/drawing/2014/main" id="{AB0AD108-C4E2-EBDC-5D16-F718090AAE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9dd63b4ae5_0_15"/>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Collider Bias in Research</a:t>
            </a:r>
            <a:endParaRPr b="1">
              <a:solidFill>
                <a:srgbClr val="001C84"/>
              </a:solidFill>
              <a:latin typeface="Open Sans"/>
              <a:ea typeface="Open Sans"/>
              <a:cs typeface="Open Sans"/>
              <a:sym typeface="Open Sans"/>
            </a:endParaRPr>
          </a:p>
        </p:txBody>
      </p:sp>
      <p:sp>
        <p:nvSpPr>
          <p:cNvPr id="171" name="Google Shape;171;g39dd63b4ae5_0_15"/>
          <p:cNvSpPr txBox="1">
            <a:spLocks noGrp="1"/>
          </p:cNvSpPr>
          <p:nvPr>
            <p:ph type="body" idx="1"/>
          </p:nvPr>
        </p:nvSpPr>
        <p:spPr>
          <a:xfrm>
            <a:off x="594360" y="1708302"/>
            <a:ext cx="5111496" cy="4171290"/>
          </a:xfrm>
          <a:prstGeom prst="rect">
            <a:avLst/>
          </a:prstGeom>
          <a:noFill/>
          <a:ln>
            <a:noFill/>
          </a:ln>
        </p:spPr>
        <p:txBody>
          <a:bodyPr spcFirstLastPara="1" wrap="square" lIns="91425" tIns="45700" rIns="91425" bIns="45700" anchor="t" anchorCtr="0">
            <a:normAutofit fontScale="77500" lnSpcReduction="20000"/>
          </a:bodyPr>
          <a:lstStyle/>
          <a:p>
            <a:pPr marL="342900" lvl="0" algn="l" rtl="0">
              <a:lnSpc>
                <a:spcPct val="120000"/>
              </a:lnSpc>
              <a:spcBef>
                <a:spcPts val="1000"/>
              </a:spcBef>
              <a:spcAft>
                <a:spcPts val="0"/>
              </a:spcAft>
              <a:buSzPct val="100000"/>
              <a:buFont typeface="Arial" panose="020B0604020202020204" pitchFamily="34" charset="0"/>
              <a:buChar char="•"/>
            </a:pPr>
            <a:r>
              <a:rPr lang="en-US" sz="2200" dirty="0">
                <a:latin typeface="Open Sans"/>
                <a:ea typeface="Open Sans"/>
                <a:cs typeface="Open Sans"/>
                <a:sym typeface="Open Sans"/>
              </a:rPr>
              <a:t>A more realistic graph recognizes that factors other than discrimination may lead to living in </a:t>
            </a:r>
            <a:r>
              <a:rPr lang="en-US" sz="2200" b="1" dirty="0">
                <a:solidFill>
                  <a:srgbClr val="C0504D"/>
                </a:solidFill>
                <a:latin typeface="Open Sans"/>
                <a:ea typeface="Open Sans"/>
                <a:cs typeface="Open Sans"/>
                <a:sym typeface="Open Sans"/>
              </a:rPr>
              <a:t>low-income and low-resourced neighborhoods</a:t>
            </a:r>
            <a:r>
              <a:rPr lang="en-US" sz="2200" dirty="0">
                <a:latin typeface="Open Sans"/>
                <a:ea typeface="Open Sans"/>
                <a:cs typeface="Open Sans"/>
                <a:sym typeface="Open Sans"/>
              </a:rPr>
              <a:t> </a:t>
            </a:r>
            <a:endParaRPr dirty="0"/>
          </a:p>
          <a:p>
            <a:pPr marL="342900" lvl="0" algn="l" rtl="0">
              <a:lnSpc>
                <a:spcPct val="120000"/>
              </a:lnSpc>
              <a:spcBef>
                <a:spcPts val="1000"/>
              </a:spcBef>
              <a:spcAft>
                <a:spcPts val="0"/>
              </a:spcAft>
              <a:buSzPct val="100000"/>
              <a:buFont typeface="Arial" panose="020B0604020202020204" pitchFamily="34" charset="0"/>
              <a:buChar char="•"/>
            </a:pPr>
            <a:r>
              <a:rPr lang="en-US" sz="2200" dirty="0">
                <a:latin typeface="Open Sans"/>
                <a:ea typeface="Open Sans"/>
                <a:cs typeface="Open Sans"/>
                <a:sym typeface="Open Sans"/>
              </a:rPr>
              <a:t>We’ll refer to these factors as vulnerabilities</a:t>
            </a:r>
            <a:endParaRPr dirty="0"/>
          </a:p>
          <a:p>
            <a:pPr marL="342900" lvl="0" algn="l" rtl="0">
              <a:lnSpc>
                <a:spcPct val="120000"/>
              </a:lnSpc>
              <a:spcBef>
                <a:spcPts val="1000"/>
              </a:spcBef>
              <a:spcAft>
                <a:spcPts val="0"/>
              </a:spcAft>
              <a:buSzPct val="100000"/>
              <a:buFont typeface="Arial" panose="020B0604020202020204" pitchFamily="34" charset="0"/>
              <a:buChar char="•"/>
            </a:pPr>
            <a:r>
              <a:rPr lang="en-US" sz="2200" dirty="0">
                <a:latin typeface="Open Sans"/>
                <a:ea typeface="Open Sans"/>
                <a:cs typeface="Open Sans"/>
                <a:sym typeface="Open Sans"/>
              </a:rPr>
              <a:t>Vulnerabilities </a:t>
            </a:r>
            <a:r>
              <a:rPr lang="en-US" sz="2200" i="1" dirty="0">
                <a:latin typeface="Open Sans"/>
                <a:ea typeface="Open Sans"/>
                <a:cs typeface="Open Sans"/>
                <a:sym typeface="Open Sans"/>
              </a:rPr>
              <a:t>may include health issues not recorded in the data </a:t>
            </a:r>
            <a:r>
              <a:rPr lang="en-US" sz="2200" dirty="0">
                <a:latin typeface="Open Sans"/>
                <a:ea typeface="Open Sans"/>
                <a:cs typeface="Open Sans"/>
                <a:sym typeface="Open Sans"/>
              </a:rPr>
              <a:t>but still impacting the outcomes of interest</a:t>
            </a:r>
            <a:endParaRPr dirty="0"/>
          </a:p>
          <a:p>
            <a:pPr marL="342900" lvl="0" algn="l" rtl="0">
              <a:lnSpc>
                <a:spcPct val="120000"/>
              </a:lnSpc>
              <a:spcBef>
                <a:spcPts val="1000"/>
              </a:spcBef>
              <a:spcAft>
                <a:spcPts val="0"/>
              </a:spcAft>
              <a:buSzPct val="100000"/>
              <a:buFont typeface="Arial" panose="020B0604020202020204" pitchFamily="34" charset="0"/>
              <a:buChar char="•"/>
            </a:pPr>
            <a:endParaRPr sz="2200" dirty="0">
              <a:latin typeface="Open Sans"/>
              <a:ea typeface="Open Sans"/>
              <a:cs typeface="Open Sans"/>
              <a:sym typeface="Open Sans"/>
            </a:endParaRPr>
          </a:p>
          <a:p>
            <a:pPr marL="342900" lvl="0" algn="l" rtl="0">
              <a:lnSpc>
                <a:spcPct val="120000"/>
              </a:lnSpc>
              <a:spcBef>
                <a:spcPts val="1000"/>
              </a:spcBef>
              <a:spcAft>
                <a:spcPts val="0"/>
              </a:spcAft>
              <a:buSzPct val="100000"/>
              <a:buFont typeface="Arial" panose="020B0604020202020204" pitchFamily="34" charset="0"/>
              <a:buChar char="•"/>
            </a:pPr>
            <a:r>
              <a:rPr lang="en-US" sz="2200" b="1" dirty="0">
                <a:solidFill>
                  <a:srgbClr val="001C84"/>
                </a:solidFill>
                <a:latin typeface="Open Sans"/>
                <a:ea typeface="Open Sans"/>
                <a:cs typeface="Open Sans"/>
                <a:sym typeface="Open Sans"/>
              </a:rPr>
              <a:t>Consider Amari and Liam’s story. What are some possible examples of vulnerabilities? </a:t>
            </a:r>
            <a:endParaRPr dirty="0">
              <a:solidFill>
                <a:srgbClr val="001C84"/>
              </a:solidFill>
            </a:endParaRPr>
          </a:p>
        </p:txBody>
      </p:sp>
      <p:grpSp>
        <p:nvGrpSpPr>
          <p:cNvPr id="7" name="Group 6">
            <a:extLst>
              <a:ext uri="{FF2B5EF4-FFF2-40B4-BE49-F238E27FC236}">
                <a16:creationId xmlns:a16="http://schemas.microsoft.com/office/drawing/2014/main" id="{5CF7FC90-32B4-9FE7-B36B-4BA21F446853}"/>
              </a:ext>
            </a:extLst>
          </p:cNvPr>
          <p:cNvGrpSpPr/>
          <p:nvPr/>
        </p:nvGrpSpPr>
        <p:grpSpPr>
          <a:xfrm>
            <a:off x="6096000" y="1610372"/>
            <a:ext cx="4670670" cy="4553244"/>
            <a:chOff x="5434469" y="1836940"/>
            <a:chExt cx="4670670" cy="4553244"/>
          </a:xfrm>
        </p:grpSpPr>
        <p:sp>
          <p:nvSpPr>
            <p:cNvPr id="165" name="Google Shape;165;g39dd63b4ae5_0_15"/>
            <p:cNvSpPr/>
            <p:nvPr/>
          </p:nvSpPr>
          <p:spPr>
            <a:xfrm>
              <a:off x="6449165" y="1836940"/>
              <a:ext cx="2238000" cy="1016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Marginalization</a:t>
              </a:r>
              <a:endParaRPr sz="1600" b="1" i="0" u="none" strike="noStrike" cap="none">
                <a:solidFill>
                  <a:schemeClr val="dk2"/>
                </a:solidFill>
                <a:latin typeface="Open Sans"/>
                <a:ea typeface="Open Sans"/>
                <a:cs typeface="Open Sans"/>
                <a:sym typeface="Open Sans"/>
              </a:endParaRPr>
            </a:p>
          </p:txBody>
        </p:sp>
        <p:sp>
          <p:nvSpPr>
            <p:cNvPr id="166" name="Google Shape;166;g39dd63b4ae5_0_15"/>
            <p:cNvSpPr/>
            <p:nvPr/>
          </p:nvSpPr>
          <p:spPr>
            <a:xfrm>
              <a:off x="5434469" y="3937171"/>
              <a:ext cx="1656300" cy="10161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Low-income Neighborhood</a:t>
              </a:r>
              <a:endParaRPr b="1" i="0" u="none" strike="noStrike" cap="none" dirty="0">
                <a:solidFill>
                  <a:schemeClr val="dk2"/>
                </a:solidFill>
                <a:latin typeface="Open Sans"/>
                <a:ea typeface="Open Sans"/>
                <a:cs typeface="Open Sans"/>
                <a:sym typeface="Open Sans"/>
              </a:endParaRPr>
            </a:p>
          </p:txBody>
        </p:sp>
        <p:sp>
          <p:nvSpPr>
            <p:cNvPr id="167" name="Google Shape;167;g39dd63b4ae5_0_15"/>
            <p:cNvSpPr/>
            <p:nvPr/>
          </p:nvSpPr>
          <p:spPr>
            <a:xfrm>
              <a:off x="8378639" y="3937171"/>
              <a:ext cx="1726500" cy="1016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High School Graduation</a:t>
              </a:r>
              <a:endParaRPr sz="1600" b="1" i="0" u="none" strike="noStrike" cap="none">
                <a:solidFill>
                  <a:schemeClr val="dk2"/>
                </a:solidFill>
                <a:latin typeface="Open Sans"/>
                <a:ea typeface="Open Sans"/>
                <a:cs typeface="Open Sans"/>
                <a:sym typeface="Open Sans"/>
              </a:endParaRPr>
            </a:p>
          </p:txBody>
        </p:sp>
        <p:cxnSp>
          <p:nvCxnSpPr>
            <p:cNvPr id="168" name="Google Shape;168;g39dd63b4ae5_0_15"/>
            <p:cNvCxnSpPr>
              <a:stCxn id="165" idx="2"/>
              <a:endCxn id="166" idx="0"/>
            </p:cNvCxnSpPr>
            <p:nvPr/>
          </p:nvCxnSpPr>
          <p:spPr>
            <a:xfrm flipH="1">
              <a:off x="6262619" y="2853040"/>
              <a:ext cx="1305546" cy="1084131"/>
            </a:xfrm>
            <a:prstGeom prst="straightConnector1">
              <a:avLst/>
            </a:prstGeom>
            <a:noFill/>
            <a:ln w="28575" cap="flat" cmpd="sng">
              <a:solidFill>
                <a:srgbClr val="C0504D"/>
              </a:solidFill>
              <a:prstDash val="solid"/>
              <a:round/>
              <a:headEnd type="none" w="sm" len="sm"/>
              <a:tailEnd type="triangle" w="med" len="med"/>
            </a:ln>
          </p:spPr>
        </p:cxnSp>
        <p:cxnSp>
          <p:nvCxnSpPr>
            <p:cNvPr id="169" name="Google Shape;169;g39dd63b4ae5_0_15"/>
            <p:cNvCxnSpPr>
              <a:stCxn id="165" idx="2"/>
              <a:endCxn id="167" idx="0"/>
            </p:cNvCxnSpPr>
            <p:nvPr/>
          </p:nvCxnSpPr>
          <p:spPr>
            <a:xfrm>
              <a:off x="7568165" y="2853040"/>
              <a:ext cx="1673724" cy="1084131"/>
            </a:xfrm>
            <a:prstGeom prst="straightConnector1">
              <a:avLst/>
            </a:prstGeom>
            <a:noFill/>
            <a:ln w="28575" cap="flat" cmpd="sng">
              <a:solidFill>
                <a:schemeClr val="dk2"/>
              </a:solidFill>
              <a:prstDash val="solid"/>
              <a:round/>
              <a:headEnd type="none" w="sm" len="sm"/>
              <a:tailEnd type="triangle" w="med" len="med"/>
            </a:ln>
          </p:spPr>
        </p:cxnSp>
        <p:cxnSp>
          <p:nvCxnSpPr>
            <p:cNvPr id="170" name="Google Shape;170;g39dd63b4ae5_0_15"/>
            <p:cNvCxnSpPr>
              <a:stCxn id="166" idx="3"/>
              <a:endCxn id="167" idx="1"/>
            </p:cNvCxnSpPr>
            <p:nvPr/>
          </p:nvCxnSpPr>
          <p:spPr>
            <a:xfrm>
              <a:off x="7090769" y="4445221"/>
              <a:ext cx="1287900" cy="0"/>
            </a:xfrm>
            <a:prstGeom prst="straightConnector1">
              <a:avLst/>
            </a:prstGeom>
            <a:noFill/>
            <a:ln w="28575" cap="flat" cmpd="sng">
              <a:solidFill>
                <a:schemeClr val="dk2"/>
              </a:solidFill>
              <a:prstDash val="solid"/>
              <a:round/>
              <a:headEnd type="none" w="sm" len="sm"/>
              <a:tailEnd type="triangle" w="med" len="med"/>
            </a:ln>
          </p:spPr>
        </p:cxnSp>
        <p:sp>
          <p:nvSpPr>
            <p:cNvPr id="172" name="Google Shape;172;g39dd63b4ae5_0_15"/>
            <p:cNvSpPr/>
            <p:nvPr/>
          </p:nvSpPr>
          <p:spPr>
            <a:xfrm>
              <a:off x="6449165" y="5739484"/>
              <a:ext cx="2238000" cy="650700"/>
            </a:xfrm>
            <a:prstGeom prst="roundRect">
              <a:avLst>
                <a:gd name="adj" fmla="val 16667"/>
              </a:avLst>
            </a:prstGeom>
            <a:solidFill>
              <a:srgbClr val="FFDC5D"/>
            </a:solidFill>
            <a:ln w="28575" cap="flat" cmpd="sng">
              <a:solidFill>
                <a:srgbClr val="001C84"/>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Vulnerabilities</a:t>
              </a:r>
              <a:endParaRPr sz="1600" b="1" i="0" u="none" strike="noStrike" cap="none">
                <a:solidFill>
                  <a:schemeClr val="dk2"/>
                </a:solidFill>
                <a:latin typeface="Open Sans"/>
                <a:ea typeface="Open Sans"/>
                <a:cs typeface="Open Sans"/>
                <a:sym typeface="Open Sans"/>
              </a:endParaRPr>
            </a:p>
          </p:txBody>
        </p:sp>
        <p:cxnSp>
          <p:nvCxnSpPr>
            <p:cNvPr id="173" name="Google Shape;173;g39dd63b4ae5_0_15"/>
            <p:cNvCxnSpPr>
              <a:cxnSpLocks/>
              <a:stCxn id="172" idx="0"/>
              <a:endCxn id="166" idx="2"/>
            </p:cNvCxnSpPr>
            <p:nvPr/>
          </p:nvCxnSpPr>
          <p:spPr>
            <a:xfrm flipH="1" flipV="1">
              <a:off x="6262619" y="4953271"/>
              <a:ext cx="1305546" cy="786213"/>
            </a:xfrm>
            <a:prstGeom prst="straightConnector1">
              <a:avLst/>
            </a:prstGeom>
            <a:noFill/>
            <a:ln w="28575" cap="flat" cmpd="sng">
              <a:solidFill>
                <a:schemeClr val="accent2"/>
              </a:solidFill>
              <a:prstDash val="dash"/>
              <a:round/>
              <a:headEnd type="none" w="sm" len="sm"/>
              <a:tailEnd type="triangle" w="med" len="med"/>
            </a:ln>
          </p:spPr>
        </p:cxnSp>
        <p:cxnSp>
          <p:nvCxnSpPr>
            <p:cNvPr id="174" name="Google Shape;174;g39dd63b4ae5_0_15"/>
            <p:cNvCxnSpPr>
              <a:cxnSpLocks/>
              <a:stCxn id="172" idx="0"/>
              <a:endCxn id="167" idx="2"/>
            </p:cNvCxnSpPr>
            <p:nvPr/>
          </p:nvCxnSpPr>
          <p:spPr>
            <a:xfrm flipV="1">
              <a:off x="7568165" y="4953271"/>
              <a:ext cx="1673724" cy="786213"/>
            </a:xfrm>
            <a:prstGeom prst="straightConnector1">
              <a:avLst/>
            </a:prstGeom>
            <a:noFill/>
            <a:ln w="28575" cap="flat" cmpd="sng">
              <a:solidFill>
                <a:schemeClr val="dk2"/>
              </a:solidFill>
              <a:prstDash val="dash"/>
              <a:round/>
              <a:headEnd type="none" w="sm" len="sm"/>
              <a:tailEnd type="triangle" w="med" len="med"/>
            </a:ln>
          </p:spPr>
        </p:cxnSp>
      </p:grpSp>
      <p:sp>
        <p:nvSpPr>
          <p:cNvPr id="2" name="Slide Number Placeholder 1">
            <a:extLst>
              <a:ext uri="{FF2B5EF4-FFF2-40B4-BE49-F238E27FC236}">
                <a16:creationId xmlns:a16="http://schemas.microsoft.com/office/drawing/2014/main" id="{A1110C6A-1326-2B93-5CE3-5F8DA70138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9dd63b4ae5_0_28"/>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Collider Bias in Research</a:t>
            </a:r>
            <a:endParaRPr b="1">
              <a:solidFill>
                <a:srgbClr val="001C84"/>
              </a:solidFill>
              <a:latin typeface="Open Sans"/>
              <a:ea typeface="Open Sans"/>
              <a:cs typeface="Open Sans"/>
              <a:sym typeface="Open Sans"/>
            </a:endParaRPr>
          </a:p>
        </p:txBody>
      </p:sp>
      <p:grpSp>
        <p:nvGrpSpPr>
          <p:cNvPr id="181" name="Google Shape;181;g39dd63b4ae5_0_28"/>
          <p:cNvGrpSpPr/>
          <p:nvPr/>
        </p:nvGrpSpPr>
        <p:grpSpPr>
          <a:xfrm>
            <a:off x="8334774" y="2212243"/>
            <a:ext cx="3752052" cy="2455823"/>
            <a:chOff x="3524975" y="3107024"/>
            <a:chExt cx="5142051" cy="3365616"/>
          </a:xfrm>
        </p:grpSpPr>
        <p:sp>
          <p:nvSpPr>
            <p:cNvPr id="182" name="Google Shape;182;g39dd63b4ae5_0_28"/>
            <p:cNvSpPr/>
            <p:nvPr/>
          </p:nvSpPr>
          <p:spPr>
            <a:xfrm>
              <a:off x="4763081" y="3107024"/>
              <a:ext cx="2238000" cy="6507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100" b="1" i="0" u="none" strike="noStrike" cap="none" dirty="0">
                  <a:solidFill>
                    <a:schemeClr val="dk2"/>
                  </a:solidFill>
                  <a:latin typeface="Open Sans"/>
                  <a:ea typeface="Open Sans"/>
                  <a:cs typeface="Open Sans"/>
                  <a:sym typeface="Open Sans"/>
                </a:rPr>
                <a:t>Marginalization</a:t>
              </a:r>
              <a:endParaRPr sz="1100" b="1" i="0" u="none" strike="noStrike" cap="none" dirty="0">
                <a:solidFill>
                  <a:schemeClr val="dk2"/>
                </a:solidFill>
                <a:latin typeface="Open Sans"/>
                <a:ea typeface="Open Sans"/>
                <a:cs typeface="Open Sans"/>
                <a:sym typeface="Open Sans"/>
              </a:endParaRPr>
            </a:p>
          </p:txBody>
        </p:sp>
        <p:sp>
          <p:nvSpPr>
            <p:cNvPr id="183" name="Google Shape;183;g39dd63b4ae5_0_28"/>
            <p:cNvSpPr/>
            <p:nvPr/>
          </p:nvSpPr>
          <p:spPr>
            <a:xfrm>
              <a:off x="3524975" y="4701003"/>
              <a:ext cx="1735800" cy="4875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100" b="1" i="0" u="none" strike="noStrike" cap="none" dirty="0">
                  <a:solidFill>
                    <a:schemeClr val="dk2"/>
                  </a:solidFill>
                  <a:latin typeface="Open Sans"/>
                  <a:ea typeface="Open Sans"/>
                  <a:cs typeface="Open Sans"/>
                  <a:sym typeface="Open Sans"/>
                </a:rPr>
                <a:t>Low-income Neighborhood</a:t>
              </a:r>
              <a:endParaRPr sz="1100" b="1" i="0" u="none" strike="noStrike" cap="none" dirty="0">
                <a:solidFill>
                  <a:schemeClr val="dk2"/>
                </a:solidFill>
                <a:latin typeface="Open Sans"/>
                <a:ea typeface="Open Sans"/>
                <a:cs typeface="Open Sans"/>
                <a:sym typeface="Open Sans"/>
              </a:endParaRPr>
            </a:p>
          </p:txBody>
        </p:sp>
        <p:sp>
          <p:nvSpPr>
            <p:cNvPr id="184" name="Google Shape;184;g39dd63b4ae5_0_28"/>
            <p:cNvSpPr/>
            <p:nvPr/>
          </p:nvSpPr>
          <p:spPr>
            <a:xfrm>
              <a:off x="6931226" y="4701003"/>
              <a:ext cx="1735800" cy="4875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100" b="1" i="0" u="none" strike="noStrike" cap="none">
                  <a:solidFill>
                    <a:schemeClr val="dk2"/>
                  </a:solidFill>
                  <a:latin typeface="Open Sans"/>
                  <a:ea typeface="Open Sans"/>
                  <a:cs typeface="Open Sans"/>
                  <a:sym typeface="Open Sans"/>
                </a:rPr>
                <a:t>High School Graduation</a:t>
              </a:r>
              <a:endParaRPr sz="1100" b="1" i="0" u="none" strike="noStrike" cap="none">
                <a:solidFill>
                  <a:schemeClr val="dk2"/>
                </a:solidFill>
                <a:latin typeface="Open Sans"/>
                <a:ea typeface="Open Sans"/>
                <a:cs typeface="Open Sans"/>
                <a:sym typeface="Open Sans"/>
              </a:endParaRPr>
            </a:p>
          </p:txBody>
        </p:sp>
        <p:cxnSp>
          <p:nvCxnSpPr>
            <p:cNvPr id="185" name="Google Shape;185;g39dd63b4ae5_0_28"/>
            <p:cNvCxnSpPr>
              <a:stCxn id="182" idx="2"/>
              <a:endCxn id="183" idx="0"/>
            </p:cNvCxnSpPr>
            <p:nvPr/>
          </p:nvCxnSpPr>
          <p:spPr>
            <a:xfrm flipH="1">
              <a:off x="4392881" y="3757724"/>
              <a:ext cx="1489200" cy="943200"/>
            </a:xfrm>
            <a:prstGeom prst="straightConnector1">
              <a:avLst/>
            </a:prstGeom>
            <a:noFill/>
            <a:ln w="28575" cap="flat" cmpd="sng">
              <a:solidFill>
                <a:schemeClr val="accent2"/>
              </a:solidFill>
              <a:prstDash val="solid"/>
              <a:round/>
              <a:headEnd type="none" w="sm" len="sm"/>
              <a:tailEnd type="triangle" w="med" len="med"/>
            </a:ln>
          </p:spPr>
        </p:cxnSp>
        <p:cxnSp>
          <p:nvCxnSpPr>
            <p:cNvPr id="186" name="Google Shape;186;g39dd63b4ae5_0_28"/>
            <p:cNvCxnSpPr>
              <a:stCxn id="182" idx="2"/>
              <a:endCxn id="184" idx="0"/>
            </p:cNvCxnSpPr>
            <p:nvPr/>
          </p:nvCxnSpPr>
          <p:spPr>
            <a:xfrm>
              <a:off x="5882081" y="3757724"/>
              <a:ext cx="1917000" cy="943200"/>
            </a:xfrm>
            <a:prstGeom prst="straightConnector1">
              <a:avLst/>
            </a:prstGeom>
            <a:noFill/>
            <a:ln w="28575" cap="flat" cmpd="sng">
              <a:solidFill>
                <a:schemeClr val="dk2"/>
              </a:solidFill>
              <a:prstDash val="solid"/>
              <a:round/>
              <a:headEnd type="none" w="sm" len="sm"/>
              <a:tailEnd type="triangle" w="med" len="med"/>
            </a:ln>
          </p:spPr>
        </p:cxnSp>
        <p:cxnSp>
          <p:nvCxnSpPr>
            <p:cNvPr id="187" name="Google Shape;187;g39dd63b4ae5_0_28"/>
            <p:cNvCxnSpPr>
              <a:stCxn id="183" idx="3"/>
              <a:endCxn id="184" idx="1"/>
            </p:cNvCxnSpPr>
            <p:nvPr/>
          </p:nvCxnSpPr>
          <p:spPr>
            <a:xfrm>
              <a:off x="5260775" y="4944753"/>
              <a:ext cx="1670400" cy="0"/>
            </a:xfrm>
            <a:prstGeom prst="straightConnector1">
              <a:avLst/>
            </a:prstGeom>
            <a:noFill/>
            <a:ln w="28575" cap="flat" cmpd="sng">
              <a:solidFill>
                <a:schemeClr val="dk2"/>
              </a:solidFill>
              <a:prstDash val="solid"/>
              <a:round/>
              <a:headEnd type="none" w="sm" len="sm"/>
              <a:tailEnd type="triangle" w="med" len="med"/>
            </a:ln>
          </p:spPr>
        </p:cxnSp>
        <p:sp>
          <p:nvSpPr>
            <p:cNvPr id="188" name="Google Shape;188;g39dd63b4ae5_0_28"/>
            <p:cNvSpPr/>
            <p:nvPr/>
          </p:nvSpPr>
          <p:spPr>
            <a:xfrm>
              <a:off x="4976981" y="5821940"/>
              <a:ext cx="2238000" cy="650700"/>
            </a:xfrm>
            <a:prstGeom prst="roundRect">
              <a:avLst>
                <a:gd name="adj" fmla="val 16667"/>
              </a:avLst>
            </a:prstGeom>
            <a:solidFill>
              <a:srgbClr val="FFDC5D"/>
            </a:solidFill>
            <a:ln w="28575" cap="flat" cmpd="sng">
              <a:solidFill>
                <a:srgbClr val="001C84"/>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100" b="1" i="0" u="none" strike="noStrike" cap="none">
                  <a:solidFill>
                    <a:schemeClr val="dk2"/>
                  </a:solidFill>
                  <a:latin typeface="Open Sans"/>
                  <a:ea typeface="Open Sans"/>
                  <a:cs typeface="Open Sans"/>
                  <a:sym typeface="Open Sans"/>
                </a:rPr>
                <a:t>Vulnerabilities</a:t>
              </a:r>
              <a:endParaRPr sz="1100" b="1" i="0" u="none" strike="noStrike" cap="none">
                <a:solidFill>
                  <a:schemeClr val="dk2"/>
                </a:solidFill>
                <a:latin typeface="Open Sans"/>
                <a:ea typeface="Open Sans"/>
                <a:cs typeface="Open Sans"/>
                <a:sym typeface="Open Sans"/>
              </a:endParaRPr>
            </a:p>
          </p:txBody>
        </p:sp>
        <p:cxnSp>
          <p:nvCxnSpPr>
            <p:cNvPr id="189" name="Google Shape;189;g39dd63b4ae5_0_28"/>
            <p:cNvCxnSpPr>
              <a:stCxn id="188" idx="0"/>
              <a:endCxn id="184" idx="2"/>
            </p:cNvCxnSpPr>
            <p:nvPr/>
          </p:nvCxnSpPr>
          <p:spPr>
            <a:xfrm rot="10800000" flipH="1">
              <a:off x="6095981" y="5188640"/>
              <a:ext cx="1703100" cy="633300"/>
            </a:xfrm>
            <a:prstGeom prst="straightConnector1">
              <a:avLst/>
            </a:prstGeom>
            <a:noFill/>
            <a:ln w="28575" cap="flat" cmpd="sng">
              <a:solidFill>
                <a:schemeClr val="dk2"/>
              </a:solidFill>
              <a:prstDash val="dash"/>
              <a:round/>
              <a:headEnd type="none" w="sm" len="sm"/>
              <a:tailEnd type="triangle" w="med" len="med"/>
            </a:ln>
          </p:spPr>
        </p:cxnSp>
        <p:cxnSp>
          <p:nvCxnSpPr>
            <p:cNvPr id="190" name="Google Shape;190;g39dd63b4ae5_0_28"/>
            <p:cNvCxnSpPr>
              <a:stCxn id="188" idx="0"/>
              <a:endCxn id="183" idx="2"/>
            </p:cNvCxnSpPr>
            <p:nvPr/>
          </p:nvCxnSpPr>
          <p:spPr>
            <a:xfrm rot="10800000">
              <a:off x="4392881" y="5188640"/>
              <a:ext cx="1703100" cy="633300"/>
            </a:xfrm>
            <a:prstGeom prst="straightConnector1">
              <a:avLst/>
            </a:prstGeom>
            <a:noFill/>
            <a:ln w="28575" cap="flat" cmpd="sng">
              <a:solidFill>
                <a:schemeClr val="accent2"/>
              </a:solidFill>
              <a:prstDash val="dash"/>
              <a:round/>
              <a:headEnd type="none" w="sm" len="sm"/>
              <a:tailEnd type="triangle" w="med" len="med"/>
            </a:ln>
          </p:spPr>
        </p:cxnSp>
      </p:grpSp>
      <p:sp>
        <p:nvSpPr>
          <p:cNvPr id="191" name="Google Shape;191;g39dd63b4ae5_0_28"/>
          <p:cNvSpPr txBox="1">
            <a:spLocks noGrp="1"/>
          </p:cNvSpPr>
          <p:nvPr>
            <p:ph type="body" idx="1"/>
          </p:nvPr>
        </p:nvSpPr>
        <p:spPr>
          <a:xfrm>
            <a:off x="306289" y="1590779"/>
            <a:ext cx="8079494" cy="4700016"/>
          </a:xfrm>
          <a:prstGeom prst="rect">
            <a:avLst/>
          </a:prstGeom>
          <a:noFill/>
          <a:ln>
            <a:noFill/>
          </a:ln>
        </p:spPr>
        <p:txBody>
          <a:bodyPr spcFirstLastPara="1" wrap="square" lIns="91425" tIns="45700" rIns="91425" bIns="45700" anchor="t" anchorCtr="0">
            <a:noAutofit/>
          </a:bodyPr>
          <a:lstStyle/>
          <a:p>
            <a:pPr marL="342900" lvl="0" algn="l" rtl="0">
              <a:lnSpc>
                <a:spcPct val="100000"/>
              </a:lnSpc>
              <a:spcBef>
                <a:spcPts val="1000"/>
              </a:spcBef>
              <a:spcAft>
                <a:spcPts val="0"/>
              </a:spcAft>
              <a:buSzPct val="100000"/>
              <a:buFont typeface="Arial" panose="020B0604020202020204" pitchFamily="34" charset="0"/>
              <a:buChar char="•"/>
            </a:pPr>
            <a:r>
              <a:rPr lang="en-US" sz="1800" dirty="0">
                <a:latin typeface="Open Sans"/>
                <a:ea typeface="Open Sans"/>
                <a:cs typeface="Open Sans"/>
                <a:sym typeface="Open Sans"/>
              </a:rPr>
              <a:t>Collider bias occurs when </a:t>
            </a:r>
            <a:r>
              <a:rPr lang="en-US" sz="1800" dirty="0">
                <a:solidFill>
                  <a:schemeClr val="tx1"/>
                </a:solidFill>
                <a:latin typeface="Open Sans"/>
                <a:ea typeface="Open Sans"/>
                <a:cs typeface="Open Sans"/>
                <a:sym typeface="Open Sans"/>
              </a:rPr>
              <a:t>selecting on a </a:t>
            </a:r>
            <a:r>
              <a:rPr lang="en-US" sz="1800" b="1" dirty="0">
                <a:solidFill>
                  <a:srgbClr val="C0504D"/>
                </a:solidFill>
                <a:latin typeface="Open Sans"/>
                <a:ea typeface="Open Sans"/>
                <a:cs typeface="Open Sans"/>
                <a:sym typeface="Open Sans"/>
              </a:rPr>
              <a:t>collider variable</a:t>
            </a:r>
            <a:r>
              <a:rPr lang="en-US" sz="1800" b="1" dirty="0">
                <a:solidFill>
                  <a:srgbClr val="C00000"/>
                </a:solidFill>
                <a:latin typeface="Open Sans"/>
                <a:ea typeface="Open Sans"/>
                <a:cs typeface="Open Sans"/>
                <a:sym typeface="Open Sans"/>
              </a:rPr>
              <a:t> </a:t>
            </a:r>
            <a:r>
              <a:rPr lang="en-US" sz="1800" dirty="0">
                <a:solidFill>
                  <a:schemeClr val="dk1"/>
                </a:solidFill>
                <a:latin typeface="Open Sans"/>
                <a:ea typeface="Open Sans"/>
                <a:cs typeface="Open Sans"/>
                <a:sym typeface="Open Sans"/>
              </a:rPr>
              <a:t>(</a:t>
            </a:r>
            <a:r>
              <a:rPr lang="en-US" sz="1800" dirty="0" err="1">
                <a:solidFill>
                  <a:schemeClr val="dk1"/>
                </a:solidFill>
                <a:latin typeface="Open Sans"/>
                <a:ea typeface="Open Sans"/>
                <a:cs typeface="Open Sans"/>
                <a:sym typeface="Open Sans"/>
              </a:rPr>
              <a:t>Elwert</a:t>
            </a:r>
            <a:r>
              <a:rPr lang="en-US" sz="1800" dirty="0">
                <a:solidFill>
                  <a:schemeClr val="dk1"/>
                </a:solidFill>
                <a:latin typeface="Open Sans"/>
                <a:ea typeface="Open Sans"/>
                <a:cs typeface="Open Sans"/>
                <a:sym typeface="Open Sans"/>
              </a:rPr>
              <a:t> &amp; Winship, 2014)</a:t>
            </a:r>
            <a:endParaRPr sz="1800" dirty="0">
              <a:solidFill>
                <a:schemeClr val="dk1"/>
              </a:solidFill>
              <a:latin typeface="Open Sans"/>
              <a:ea typeface="Open Sans"/>
              <a:cs typeface="Open Sans"/>
              <a:sym typeface="Open Sans"/>
            </a:endParaRPr>
          </a:p>
          <a:p>
            <a:pPr marL="342900" lvl="0" algn="l" rtl="0">
              <a:lnSpc>
                <a:spcPct val="100000"/>
              </a:lnSpc>
              <a:spcBef>
                <a:spcPts val="1000"/>
              </a:spcBef>
              <a:spcAft>
                <a:spcPts val="0"/>
              </a:spcAft>
              <a:buSzPct val="100000"/>
              <a:buFont typeface="Arial" panose="020B0604020202020204" pitchFamily="34" charset="0"/>
              <a:buChar char="•"/>
            </a:pPr>
            <a:r>
              <a:rPr lang="en-US" sz="1800" dirty="0">
                <a:latin typeface="Open Sans"/>
                <a:ea typeface="Open Sans"/>
                <a:cs typeface="Open Sans"/>
                <a:sym typeface="Open Sans"/>
              </a:rPr>
              <a:t>See how two causal arrows point to low-income neighborhood?</a:t>
            </a:r>
          </a:p>
          <a:p>
            <a:pPr marL="800100" lvl="1">
              <a:spcBef>
                <a:spcPts val="1000"/>
              </a:spcBef>
              <a:buSzPct val="100000"/>
              <a:buFont typeface="Arial" panose="020B0604020202020204" pitchFamily="34" charset="0"/>
              <a:buChar char="•"/>
            </a:pPr>
            <a:r>
              <a:rPr lang="en-US" sz="1800" dirty="0">
                <a:latin typeface="Open Sans"/>
                <a:ea typeface="Open Sans"/>
                <a:cs typeface="Open Sans"/>
                <a:sym typeface="Open Sans"/>
              </a:rPr>
              <a:t>A </a:t>
            </a:r>
            <a:r>
              <a:rPr lang="en-US" sz="1800" b="1" dirty="0">
                <a:solidFill>
                  <a:srgbClr val="C0504D"/>
                </a:solidFill>
                <a:latin typeface="Open Sans"/>
                <a:ea typeface="Open Sans"/>
                <a:cs typeface="Open Sans"/>
                <a:sym typeface="Open Sans"/>
              </a:rPr>
              <a:t>collider variable </a:t>
            </a:r>
            <a:r>
              <a:rPr lang="en-US" sz="1800" dirty="0">
                <a:latin typeface="Open Sans"/>
                <a:ea typeface="Open Sans"/>
                <a:cs typeface="Open Sans"/>
                <a:sym typeface="Open Sans"/>
              </a:rPr>
              <a:t>is a variable that is caused by two other correlated variables (i.e., marginalization and vulnerabilities)</a:t>
            </a:r>
          </a:p>
          <a:p>
            <a:pPr marL="800100" lvl="1">
              <a:spcBef>
                <a:spcPts val="1000"/>
              </a:spcBef>
              <a:buSzPct val="100000"/>
              <a:buFont typeface="Arial" panose="020B0604020202020204" pitchFamily="34" charset="0"/>
              <a:buChar char="•"/>
            </a:pPr>
            <a:r>
              <a:rPr lang="en-US" sz="1800" dirty="0">
                <a:latin typeface="Open Sans"/>
                <a:ea typeface="Open Sans"/>
                <a:cs typeface="Open Sans"/>
                <a:sym typeface="Open Sans"/>
              </a:rPr>
              <a:t>If we only have data for schools in low-income neighborhoods, we are selecting on a </a:t>
            </a:r>
            <a:r>
              <a:rPr lang="en-US" sz="1800" dirty="0">
                <a:solidFill>
                  <a:schemeClr val="tx1"/>
                </a:solidFill>
                <a:latin typeface="Open Sans"/>
                <a:ea typeface="Open Sans"/>
                <a:cs typeface="Open Sans"/>
                <a:sym typeface="Open Sans"/>
              </a:rPr>
              <a:t>collider variable:</a:t>
            </a:r>
            <a:endParaRPr sz="1800" dirty="0">
              <a:solidFill>
                <a:schemeClr val="tx1"/>
              </a:solidFill>
            </a:endParaRPr>
          </a:p>
          <a:p>
            <a:pPr marL="0" lvl="0" indent="0" algn="l" rtl="0">
              <a:lnSpc>
                <a:spcPct val="100000"/>
              </a:lnSpc>
              <a:spcBef>
                <a:spcPts val="1000"/>
              </a:spcBef>
              <a:spcAft>
                <a:spcPts val="0"/>
              </a:spcAft>
              <a:buSzPts val="2200"/>
              <a:buNone/>
            </a:pPr>
            <a:r>
              <a:rPr lang="en-US" sz="1200" b="1" dirty="0">
                <a:solidFill>
                  <a:srgbClr val="001C84"/>
                </a:solidFill>
                <a:latin typeface="Open Sans"/>
                <a:ea typeface="Open Sans"/>
                <a:cs typeface="Open Sans"/>
                <a:sym typeface="Open Sans"/>
              </a:rPr>
              <a:t>	Marginalization</a:t>
            </a:r>
            <a:r>
              <a:rPr lang="en-US" sz="1200" b="1" dirty="0">
                <a:solidFill>
                  <a:schemeClr val="accent2"/>
                </a:solidFill>
                <a:latin typeface="Open Sans"/>
                <a:ea typeface="Open Sans"/>
                <a:cs typeface="Open Sans"/>
                <a:sym typeface="Open Sans"/>
              </a:rPr>
              <a:t> </a:t>
            </a:r>
            <a:r>
              <a:rPr lang="en-US" sz="1200" b="1" dirty="0">
                <a:solidFill>
                  <a:srgbClr val="C0504D"/>
                </a:solidFill>
                <a:latin typeface="Open Sans"/>
                <a:ea typeface="Open Sans"/>
                <a:cs typeface="Open Sans"/>
                <a:sym typeface="Wingdings" panose="05000000000000000000" pitchFamily="2" charset="2"/>
              </a:rPr>
              <a:t></a:t>
            </a:r>
            <a:r>
              <a:rPr lang="en-US" sz="1200" b="1" dirty="0">
                <a:solidFill>
                  <a:srgbClr val="C0504D"/>
                </a:solidFill>
                <a:latin typeface="Open Sans"/>
                <a:ea typeface="Open Sans"/>
                <a:cs typeface="Open Sans"/>
                <a:sym typeface="Open Sans"/>
              </a:rPr>
              <a:t> Low-income Neighborhood </a:t>
            </a:r>
            <a:r>
              <a:rPr lang="en-US" sz="1200" b="1" dirty="0">
                <a:solidFill>
                  <a:srgbClr val="C0504D"/>
                </a:solidFill>
                <a:latin typeface="Open Sans"/>
                <a:ea typeface="Open Sans"/>
                <a:cs typeface="Open Sans"/>
                <a:sym typeface="Wingdings" panose="05000000000000000000" pitchFamily="2" charset="2"/>
              </a:rPr>
              <a:t> </a:t>
            </a:r>
            <a:r>
              <a:rPr lang="en-US" sz="1200" b="1" dirty="0">
                <a:solidFill>
                  <a:srgbClr val="001C84"/>
                </a:solidFill>
                <a:latin typeface="Open Sans"/>
                <a:ea typeface="Open Sans"/>
                <a:cs typeface="Open Sans"/>
                <a:sym typeface="Open Sans"/>
              </a:rPr>
              <a:t>Vulnerabilities</a:t>
            </a:r>
            <a:endParaRPr sz="1200" dirty="0">
              <a:solidFill>
                <a:srgbClr val="001C84"/>
              </a:solidFill>
            </a:endParaRPr>
          </a:p>
          <a:p>
            <a:pPr marL="342900" lvl="0" algn="l" rtl="0">
              <a:lnSpc>
                <a:spcPct val="100000"/>
              </a:lnSpc>
              <a:spcBef>
                <a:spcPts val="1000"/>
              </a:spcBef>
              <a:spcAft>
                <a:spcPts val="0"/>
              </a:spcAft>
              <a:buSzPct val="100000"/>
              <a:buFont typeface="Arial" panose="020B0604020202020204" pitchFamily="34" charset="0"/>
              <a:buChar char="•"/>
            </a:pPr>
            <a:r>
              <a:rPr lang="en-US" sz="1800" dirty="0">
                <a:solidFill>
                  <a:schemeClr val="dk1"/>
                </a:solidFill>
                <a:latin typeface="Open Sans"/>
                <a:ea typeface="Open Sans"/>
                <a:cs typeface="Open Sans"/>
                <a:sym typeface="Open Sans"/>
              </a:rPr>
              <a:t>This opens </a:t>
            </a:r>
            <a:r>
              <a:rPr lang="en-US" sz="1800" dirty="0">
                <a:latin typeface="Open Sans"/>
                <a:ea typeface="Open Sans"/>
                <a:cs typeface="Open Sans"/>
                <a:sym typeface="Open Sans"/>
              </a:rPr>
              <a:t>a non-causal pathway from marginalization to high school graduation… </a:t>
            </a:r>
            <a:endParaRPr sz="1800" dirty="0"/>
          </a:p>
          <a:p>
            <a:pPr marL="0" lvl="0" indent="0">
              <a:spcBef>
                <a:spcPts val="1000"/>
              </a:spcBef>
              <a:buSzPts val="2200"/>
              <a:buNone/>
            </a:pPr>
            <a:r>
              <a:rPr lang="en-US" sz="1600" b="1" dirty="0">
                <a:solidFill>
                  <a:schemeClr val="dk2"/>
                </a:solidFill>
                <a:latin typeface="Open Sans"/>
                <a:ea typeface="Open Sans"/>
                <a:cs typeface="Open Sans"/>
                <a:sym typeface="Open Sans"/>
              </a:rPr>
              <a:t>	</a:t>
            </a:r>
            <a:r>
              <a:rPr lang="en-US" sz="1200" b="1" dirty="0">
                <a:solidFill>
                  <a:srgbClr val="001C84"/>
                </a:solidFill>
                <a:latin typeface="Open Sans"/>
                <a:ea typeface="Open Sans"/>
                <a:cs typeface="Open Sans"/>
                <a:sym typeface="Open Sans"/>
              </a:rPr>
              <a:t> Marginalization</a:t>
            </a:r>
            <a:r>
              <a:rPr lang="en-US" sz="1200" b="1" dirty="0">
                <a:solidFill>
                  <a:schemeClr val="accent2"/>
                </a:solidFill>
                <a:latin typeface="Open Sans"/>
                <a:ea typeface="Open Sans"/>
                <a:cs typeface="Open Sans"/>
                <a:sym typeface="Open Sans"/>
              </a:rPr>
              <a:t> </a:t>
            </a:r>
            <a:r>
              <a:rPr lang="en-US" sz="1200" b="1" dirty="0">
                <a:solidFill>
                  <a:srgbClr val="C0504D"/>
                </a:solidFill>
                <a:latin typeface="Open Sans"/>
                <a:ea typeface="Open Sans"/>
                <a:cs typeface="Open Sans"/>
                <a:sym typeface="Wingdings" panose="05000000000000000000" pitchFamily="2" charset="2"/>
              </a:rPr>
              <a:t></a:t>
            </a:r>
            <a:r>
              <a:rPr lang="en-US" sz="1200" b="1" dirty="0">
                <a:solidFill>
                  <a:srgbClr val="C0504D"/>
                </a:solidFill>
                <a:latin typeface="Open Sans"/>
                <a:ea typeface="Open Sans"/>
                <a:cs typeface="Open Sans"/>
                <a:sym typeface="Open Sans"/>
              </a:rPr>
              <a:t> Low-income Neighborhood </a:t>
            </a:r>
            <a:r>
              <a:rPr lang="en-US" sz="1200" b="1" dirty="0">
                <a:solidFill>
                  <a:srgbClr val="C0504D"/>
                </a:solidFill>
                <a:latin typeface="Open Sans"/>
                <a:ea typeface="Open Sans"/>
                <a:cs typeface="Open Sans"/>
                <a:sym typeface="Wingdings" panose="05000000000000000000" pitchFamily="2" charset="2"/>
              </a:rPr>
              <a:t> </a:t>
            </a:r>
            <a:r>
              <a:rPr lang="en-US" sz="1200" b="1" dirty="0">
                <a:solidFill>
                  <a:srgbClr val="001C84"/>
                </a:solidFill>
                <a:latin typeface="Open Sans"/>
                <a:ea typeface="Open Sans"/>
                <a:cs typeface="Open Sans"/>
                <a:sym typeface="Open Sans"/>
              </a:rPr>
              <a:t>Vulnerabilities </a:t>
            </a:r>
            <a:r>
              <a:rPr lang="en-US" sz="1200" b="1" dirty="0">
                <a:solidFill>
                  <a:srgbClr val="001C84"/>
                </a:solidFill>
                <a:latin typeface="Open Sans"/>
                <a:ea typeface="Open Sans"/>
                <a:cs typeface="Open Sans"/>
                <a:sym typeface="Wingdings" panose="05000000000000000000" pitchFamily="2" charset="2"/>
              </a:rPr>
              <a:t></a:t>
            </a:r>
            <a:r>
              <a:rPr lang="en-US" sz="1200" b="1" dirty="0">
                <a:solidFill>
                  <a:srgbClr val="001C84"/>
                </a:solidFill>
                <a:latin typeface="Open Sans"/>
                <a:ea typeface="Open Sans"/>
                <a:cs typeface="Open Sans"/>
                <a:sym typeface="Open Sans"/>
              </a:rPr>
              <a:t> High School Graduation</a:t>
            </a:r>
            <a:endParaRPr sz="1200" b="1" dirty="0">
              <a:solidFill>
                <a:srgbClr val="001C84"/>
              </a:solidFill>
              <a:latin typeface="Open Sans"/>
              <a:ea typeface="Open Sans"/>
              <a:cs typeface="Open Sans"/>
              <a:sym typeface="Open Sans"/>
            </a:endParaRPr>
          </a:p>
          <a:p>
            <a:pPr marL="285750" indent="-285750">
              <a:spcBef>
                <a:spcPts val="1000"/>
              </a:spcBef>
              <a:buSzPct val="100000"/>
            </a:pPr>
            <a:r>
              <a:rPr lang="en-US" sz="1800" dirty="0">
                <a:latin typeface="Open Sans"/>
                <a:ea typeface="Open Sans"/>
                <a:cs typeface="Open Sans"/>
                <a:sym typeface="Open Sans"/>
              </a:rPr>
              <a:t>….and biases our causal estimate of  </a:t>
            </a:r>
            <a:r>
              <a:rPr lang="en-US" sz="1800" dirty="0">
                <a:solidFill>
                  <a:schemeClr val="tx1"/>
                </a:solidFill>
                <a:latin typeface="Open Sans"/>
                <a:ea typeface="Open Sans"/>
                <a:cs typeface="Open Sans"/>
                <a:sym typeface="Open Sans"/>
              </a:rPr>
              <a:t>marginalization on likelihood of high school graduation</a:t>
            </a:r>
            <a:endParaRPr sz="1800" dirty="0">
              <a:solidFill>
                <a:schemeClr val="tx1"/>
              </a:solidFill>
            </a:endParaRPr>
          </a:p>
        </p:txBody>
      </p:sp>
      <p:sp>
        <p:nvSpPr>
          <p:cNvPr id="192" name="Google Shape;192;g39dd63b4ae5_0_28"/>
          <p:cNvSpPr txBox="1"/>
          <p:nvPr/>
        </p:nvSpPr>
        <p:spPr>
          <a:xfrm>
            <a:off x="5191488" y="6094741"/>
            <a:ext cx="661824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C0504D"/>
                </a:solidFill>
                <a:latin typeface="Arial"/>
                <a:ea typeface="Arial"/>
                <a:cs typeface="Arial"/>
                <a:sym typeface="Arial"/>
                <a:hlinkClick r:id="rId3"/>
              </a:rPr>
              <a:t>Check out the R module </a:t>
            </a:r>
            <a:r>
              <a:rPr lang="en-US" sz="1400" b="1" i="0" u="none" strike="noStrike" cap="none" dirty="0">
                <a:solidFill>
                  <a:schemeClr val="tx1"/>
                </a:solidFill>
                <a:latin typeface="Arial"/>
                <a:ea typeface="Arial"/>
                <a:cs typeface="Arial"/>
                <a:sym typeface="Arial"/>
              </a:rPr>
              <a:t>for a simulated data example of how collider bias impacts our estimates of marginalization on high school graduation!</a:t>
            </a:r>
            <a:endParaRPr dirty="0">
              <a:solidFill>
                <a:schemeClr val="tx1"/>
              </a:solidFill>
            </a:endParaRPr>
          </a:p>
        </p:txBody>
      </p:sp>
      <p:sp>
        <p:nvSpPr>
          <p:cNvPr id="2" name="Slide Number Placeholder 1">
            <a:extLst>
              <a:ext uri="{FF2B5EF4-FFF2-40B4-BE49-F238E27FC236}">
                <a16:creationId xmlns:a16="http://schemas.microsoft.com/office/drawing/2014/main" id="{08D3BA3C-881E-D3DF-60B2-264B0769E8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8AAD2ACD-D368-D134-E3C4-035C595F2F3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4C6C09-7B84-9CE3-373D-123214BC486D}"/>
              </a:ext>
            </a:extLst>
          </p:cNvPr>
          <p:cNvPicPr>
            <a:picLocks noChangeAspect="1"/>
          </p:cNvPicPr>
          <p:nvPr/>
        </p:nvPicPr>
        <p:blipFill>
          <a:blip r:embed="rId3"/>
          <a:stretch>
            <a:fillRect/>
          </a:stretch>
        </p:blipFill>
        <p:spPr>
          <a:xfrm>
            <a:off x="5203806" y="1590779"/>
            <a:ext cx="6681905" cy="4454604"/>
          </a:xfrm>
          <a:prstGeom prst="rect">
            <a:avLst/>
          </a:prstGeom>
        </p:spPr>
      </p:pic>
      <p:sp>
        <p:nvSpPr>
          <p:cNvPr id="180" name="Google Shape;180;g39dd63b4ae5_0_28">
            <a:extLst>
              <a:ext uri="{FF2B5EF4-FFF2-40B4-BE49-F238E27FC236}">
                <a16:creationId xmlns:a16="http://schemas.microsoft.com/office/drawing/2014/main" id="{379B6662-338B-EF66-DF20-24CF1C7733C4}"/>
              </a:ext>
            </a:extLst>
          </p:cNvPr>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a:ea typeface="Open Sans"/>
                <a:cs typeface="Open Sans"/>
                <a:sym typeface="Open Sans"/>
              </a:rPr>
              <a:t>Simulated Data Example</a:t>
            </a:r>
            <a:endParaRPr b="1" dirty="0">
              <a:solidFill>
                <a:srgbClr val="001C84"/>
              </a:solidFill>
              <a:latin typeface="Open Sans"/>
              <a:ea typeface="Open Sans"/>
              <a:cs typeface="Open Sans"/>
              <a:sym typeface="Open Sans"/>
            </a:endParaRPr>
          </a:p>
        </p:txBody>
      </p:sp>
      <p:sp>
        <p:nvSpPr>
          <p:cNvPr id="191" name="Google Shape;191;g39dd63b4ae5_0_28">
            <a:extLst>
              <a:ext uri="{FF2B5EF4-FFF2-40B4-BE49-F238E27FC236}">
                <a16:creationId xmlns:a16="http://schemas.microsoft.com/office/drawing/2014/main" id="{6D2044C4-1EF7-EE8C-DE3C-7C33F91D45BA}"/>
              </a:ext>
            </a:extLst>
          </p:cNvPr>
          <p:cNvSpPr txBox="1">
            <a:spLocks noGrp="1"/>
          </p:cNvSpPr>
          <p:nvPr>
            <p:ph type="body" idx="1"/>
          </p:nvPr>
        </p:nvSpPr>
        <p:spPr>
          <a:xfrm>
            <a:off x="306289" y="1590779"/>
            <a:ext cx="4731457" cy="4700016"/>
          </a:xfrm>
          <a:prstGeom prst="rect">
            <a:avLst/>
          </a:prstGeom>
          <a:noFill/>
          <a:ln>
            <a:noFill/>
          </a:ln>
        </p:spPr>
        <p:txBody>
          <a:bodyPr spcFirstLastPara="1" wrap="square" lIns="91425" tIns="45700" rIns="91425" bIns="45700" anchor="t" anchorCtr="0">
            <a:noAutofit/>
          </a:bodyPr>
          <a:lstStyle/>
          <a:p>
            <a:pPr marL="342900" lvl="0" algn="l" rtl="0">
              <a:lnSpc>
                <a:spcPct val="100000"/>
              </a:lnSpc>
              <a:spcBef>
                <a:spcPts val="1000"/>
              </a:spcBef>
              <a:spcAft>
                <a:spcPts val="0"/>
              </a:spcAft>
              <a:buSzPct val="100000"/>
              <a:buFont typeface="Arial" panose="020B0604020202020204" pitchFamily="34" charset="0"/>
              <a:buChar char="•"/>
            </a:pPr>
            <a:r>
              <a:rPr lang="en-US" sz="1800" dirty="0">
                <a:latin typeface="Open Sans"/>
                <a:ea typeface="Open Sans"/>
                <a:cs typeface="Open Sans"/>
                <a:sym typeface="Open Sans"/>
              </a:rPr>
              <a:t>To explore the effect of marginalization on likelihood of graduation, we use four variables:</a:t>
            </a:r>
          </a:p>
          <a:p>
            <a:pPr marL="800100" lvl="1">
              <a:spcBef>
                <a:spcPts val="1000"/>
              </a:spcBef>
              <a:buSzPct val="100000"/>
              <a:buFont typeface="Arial" panose="020B0604020202020204" pitchFamily="34" charset="0"/>
              <a:buChar char="•"/>
            </a:pPr>
            <a:r>
              <a:rPr lang="en-US" sz="1800" dirty="0">
                <a:latin typeface="Open Sans"/>
                <a:ea typeface="Open Sans"/>
                <a:cs typeface="Open Sans"/>
                <a:sym typeface="Open Sans"/>
              </a:rPr>
              <a:t>Marginalization</a:t>
            </a:r>
          </a:p>
          <a:p>
            <a:pPr marL="800100" lvl="1">
              <a:spcBef>
                <a:spcPts val="1000"/>
              </a:spcBef>
              <a:buSzPct val="100000"/>
              <a:buFont typeface="Arial" panose="020B0604020202020204" pitchFamily="34" charset="0"/>
              <a:buChar char="•"/>
            </a:pPr>
            <a:r>
              <a:rPr lang="en-US" sz="1800" dirty="0">
                <a:latin typeface="Open Sans"/>
                <a:ea typeface="Open Sans"/>
                <a:cs typeface="Open Sans"/>
                <a:sym typeface="Open Sans"/>
              </a:rPr>
              <a:t>Vulnerabilities</a:t>
            </a:r>
          </a:p>
          <a:p>
            <a:pPr marL="800100" lvl="1">
              <a:spcBef>
                <a:spcPts val="1000"/>
              </a:spcBef>
              <a:buSzPct val="100000"/>
              <a:buFont typeface="Arial" panose="020B0604020202020204" pitchFamily="34" charset="0"/>
              <a:buChar char="•"/>
            </a:pPr>
            <a:r>
              <a:rPr lang="en-US" sz="1800" dirty="0">
                <a:latin typeface="Open Sans"/>
                <a:ea typeface="Open Sans"/>
                <a:cs typeface="Open Sans"/>
                <a:sym typeface="Open Sans"/>
              </a:rPr>
              <a:t>Low-income Neighborhood</a:t>
            </a:r>
          </a:p>
          <a:p>
            <a:pPr marL="800100" lvl="1">
              <a:spcBef>
                <a:spcPts val="1000"/>
              </a:spcBef>
              <a:buSzPct val="100000"/>
              <a:buFont typeface="Arial" panose="020B0604020202020204" pitchFamily="34" charset="0"/>
              <a:buChar char="•"/>
            </a:pPr>
            <a:r>
              <a:rPr lang="en-US" sz="1800" dirty="0">
                <a:latin typeface="Open Sans"/>
                <a:ea typeface="Open Sans"/>
                <a:cs typeface="Open Sans"/>
                <a:sym typeface="Open Sans"/>
              </a:rPr>
              <a:t>High school graduation rate</a:t>
            </a:r>
          </a:p>
          <a:p>
            <a:pPr marL="342900">
              <a:spcBef>
                <a:spcPts val="1000"/>
              </a:spcBef>
              <a:buSzPct val="100000"/>
              <a:buFont typeface="Arial" panose="020B0604020202020204" pitchFamily="34" charset="0"/>
              <a:buChar char="•"/>
            </a:pPr>
            <a:r>
              <a:rPr lang="en-US" sz="1800" dirty="0">
                <a:latin typeface="Open Sans"/>
                <a:ea typeface="Open Sans"/>
                <a:cs typeface="Open Sans"/>
                <a:sym typeface="Open Sans"/>
              </a:rPr>
              <a:t>Data is simulated in </a:t>
            </a:r>
            <a:r>
              <a:rPr lang="en-US" sz="1800" b="1" dirty="0">
                <a:solidFill>
                  <a:srgbClr val="001C84"/>
                </a:solidFill>
                <a:latin typeface="Open Sans"/>
                <a:ea typeface="Open Sans"/>
                <a:cs typeface="Open Sans"/>
                <a:sym typeface="Open Sans"/>
              </a:rPr>
              <a:t>three models</a:t>
            </a:r>
            <a:endParaRPr lang="en-US" sz="1800" dirty="0">
              <a:latin typeface="Open Sans"/>
              <a:ea typeface="Open Sans"/>
              <a:cs typeface="Open Sans"/>
              <a:sym typeface="Open Sans"/>
            </a:endParaRPr>
          </a:p>
          <a:p>
            <a:pPr marL="342900">
              <a:spcBef>
                <a:spcPts val="1000"/>
              </a:spcBef>
              <a:buSzPct val="100000"/>
              <a:buFont typeface="Arial" panose="020B0604020202020204" pitchFamily="34" charset="0"/>
              <a:buChar char="•"/>
            </a:pPr>
            <a:r>
              <a:rPr lang="en-US" sz="1800" dirty="0">
                <a:latin typeface="Open Sans"/>
                <a:ea typeface="Open Sans"/>
                <a:cs typeface="Open Sans"/>
                <a:sym typeface="Open Sans"/>
              </a:rPr>
              <a:t>All y-axis numbers are negative, reflecting a negative impact in likelihood of graduation</a:t>
            </a:r>
          </a:p>
        </p:txBody>
      </p:sp>
      <p:sp>
        <p:nvSpPr>
          <p:cNvPr id="2" name="Slide Number Placeholder 1">
            <a:extLst>
              <a:ext uri="{FF2B5EF4-FFF2-40B4-BE49-F238E27FC236}">
                <a16:creationId xmlns:a16="http://schemas.microsoft.com/office/drawing/2014/main" id="{CCC316C4-6F05-0316-B330-F326B5B181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Rectangle: Rounded Corners 4">
            <a:extLst>
              <a:ext uri="{FF2B5EF4-FFF2-40B4-BE49-F238E27FC236}">
                <a16:creationId xmlns:a16="http://schemas.microsoft.com/office/drawing/2014/main" id="{96A6DBE9-30C4-C966-4D25-3A49AFEDE99F}"/>
              </a:ext>
            </a:extLst>
          </p:cNvPr>
          <p:cNvSpPr/>
          <p:nvPr/>
        </p:nvSpPr>
        <p:spPr>
          <a:xfrm>
            <a:off x="6485208" y="4689551"/>
            <a:ext cx="1159933" cy="1060027"/>
          </a:xfrm>
          <a:prstGeom prst="roundRect">
            <a:avLst/>
          </a:prstGeom>
          <a:noFill/>
          <a:ln w="57150">
            <a:solidFill>
              <a:srgbClr val="FFDC5D"/>
            </a:solidFill>
            <a:prstDash val="solid"/>
          </a:ln>
          <a:effectLst>
            <a:glow rad="127000">
              <a:srgbClr val="FFDC5D">
                <a:alpha val="13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692E2E15-8570-2A43-48EE-03A9120F2778}"/>
              </a:ext>
            </a:extLst>
          </p:cNvPr>
          <p:cNvSpPr/>
          <p:nvPr/>
        </p:nvSpPr>
        <p:spPr>
          <a:xfrm>
            <a:off x="10086881" y="1876888"/>
            <a:ext cx="1159933" cy="1009121"/>
          </a:xfrm>
          <a:prstGeom prst="roundRect">
            <a:avLst/>
          </a:prstGeom>
          <a:noFill/>
          <a:ln w="57150">
            <a:solidFill>
              <a:srgbClr val="D99593"/>
            </a:solidFill>
            <a:prstDash val="solid"/>
          </a:ln>
          <a:effectLst>
            <a:glow rad="127000">
              <a:srgbClr val="FFDC5D">
                <a:alpha val="13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oogle Shape;191;g39dd63b4ae5_0_28">
            <a:extLst>
              <a:ext uri="{FF2B5EF4-FFF2-40B4-BE49-F238E27FC236}">
                <a16:creationId xmlns:a16="http://schemas.microsoft.com/office/drawing/2014/main" id="{0B1EBCAE-298D-2DF9-FBC5-71D33A3D7A41}"/>
              </a:ext>
            </a:extLst>
          </p:cNvPr>
          <p:cNvSpPr txBox="1">
            <a:spLocks/>
          </p:cNvSpPr>
          <p:nvPr/>
        </p:nvSpPr>
        <p:spPr>
          <a:xfrm>
            <a:off x="6581288" y="4230301"/>
            <a:ext cx="967771" cy="4592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1000"/>
              </a:spcBef>
              <a:buSzPct val="100000"/>
              <a:buNone/>
            </a:pPr>
            <a:r>
              <a:rPr lang="en-US" sz="1400" b="1" dirty="0">
                <a:solidFill>
                  <a:srgbClr val="001C84"/>
                </a:solidFill>
                <a:latin typeface="Open Sans"/>
                <a:ea typeface="Open Sans"/>
                <a:cs typeface="Open Sans"/>
                <a:sym typeface="Open Sans"/>
              </a:rPr>
              <a:t>Model 1</a:t>
            </a:r>
          </a:p>
        </p:txBody>
      </p:sp>
      <p:sp>
        <p:nvSpPr>
          <p:cNvPr id="19" name="Google Shape;191;g39dd63b4ae5_0_28">
            <a:extLst>
              <a:ext uri="{FF2B5EF4-FFF2-40B4-BE49-F238E27FC236}">
                <a16:creationId xmlns:a16="http://schemas.microsoft.com/office/drawing/2014/main" id="{318D4578-5E47-D014-C30D-ABE0DF4CF99B}"/>
              </a:ext>
            </a:extLst>
          </p:cNvPr>
          <p:cNvSpPr txBox="1">
            <a:spLocks/>
          </p:cNvSpPr>
          <p:nvPr/>
        </p:nvSpPr>
        <p:spPr>
          <a:xfrm>
            <a:off x="8411558" y="4050317"/>
            <a:ext cx="967771" cy="4592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1000"/>
              </a:spcBef>
              <a:buSzPct val="100000"/>
              <a:buNone/>
            </a:pPr>
            <a:r>
              <a:rPr lang="en-US" sz="1400" b="1" dirty="0">
                <a:solidFill>
                  <a:srgbClr val="001C84"/>
                </a:solidFill>
                <a:latin typeface="Open Sans"/>
                <a:ea typeface="Open Sans"/>
                <a:cs typeface="Open Sans"/>
                <a:sym typeface="Open Sans"/>
              </a:rPr>
              <a:t>Model 2</a:t>
            </a:r>
          </a:p>
        </p:txBody>
      </p:sp>
      <p:sp>
        <p:nvSpPr>
          <p:cNvPr id="20" name="Google Shape;191;g39dd63b4ae5_0_28">
            <a:extLst>
              <a:ext uri="{FF2B5EF4-FFF2-40B4-BE49-F238E27FC236}">
                <a16:creationId xmlns:a16="http://schemas.microsoft.com/office/drawing/2014/main" id="{71F1B145-AE6D-414D-C0DE-3627D686089F}"/>
              </a:ext>
            </a:extLst>
          </p:cNvPr>
          <p:cNvSpPr txBox="1">
            <a:spLocks/>
          </p:cNvSpPr>
          <p:nvPr/>
        </p:nvSpPr>
        <p:spPr>
          <a:xfrm>
            <a:off x="10210800" y="1445015"/>
            <a:ext cx="967771" cy="4592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1000"/>
              </a:spcBef>
              <a:buSzPct val="100000"/>
              <a:buNone/>
            </a:pPr>
            <a:r>
              <a:rPr lang="en-US" sz="1400" b="1" dirty="0">
                <a:solidFill>
                  <a:srgbClr val="001C84"/>
                </a:solidFill>
                <a:latin typeface="Open Sans"/>
                <a:ea typeface="Open Sans"/>
                <a:cs typeface="Open Sans"/>
                <a:sym typeface="Open Sans"/>
              </a:rPr>
              <a:t>Model 3</a:t>
            </a:r>
          </a:p>
        </p:txBody>
      </p:sp>
      <p:sp>
        <p:nvSpPr>
          <p:cNvPr id="6" name="Rectangle: Rounded Corners 5">
            <a:extLst>
              <a:ext uri="{FF2B5EF4-FFF2-40B4-BE49-F238E27FC236}">
                <a16:creationId xmlns:a16="http://schemas.microsoft.com/office/drawing/2014/main" id="{71685CFE-2E01-7AB0-327F-17798AD69C36}"/>
              </a:ext>
            </a:extLst>
          </p:cNvPr>
          <p:cNvSpPr/>
          <p:nvPr/>
        </p:nvSpPr>
        <p:spPr>
          <a:xfrm>
            <a:off x="8315476" y="4509567"/>
            <a:ext cx="1159933" cy="1060027"/>
          </a:xfrm>
          <a:prstGeom prst="roundRect">
            <a:avLst/>
          </a:prstGeom>
          <a:noFill/>
          <a:ln w="57150">
            <a:solidFill>
              <a:srgbClr val="FFDC5D"/>
            </a:solidFill>
            <a:prstDash val="solid"/>
          </a:ln>
          <a:effectLst>
            <a:glow rad="127000">
              <a:srgbClr val="FFDC5D">
                <a:alpha val="13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530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9111AE7A-5441-4B36-46B9-681486AB1B3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5A1F0F4-4450-D617-E112-94D85E035F36}"/>
              </a:ext>
            </a:extLst>
          </p:cNvPr>
          <p:cNvPicPr>
            <a:picLocks noChangeAspect="1"/>
          </p:cNvPicPr>
          <p:nvPr/>
        </p:nvPicPr>
        <p:blipFill>
          <a:blip r:embed="rId3"/>
          <a:stretch>
            <a:fillRect/>
          </a:stretch>
        </p:blipFill>
        <p:spPr>
          <a:xfrm>
            <a:off x="5203806" y="1590779"/>
            <a:ext cx="6681905" cy="4454604"/>
          </a:xfrm>
          <a:prstGeom prst="rect">
            <a:avLst/>
          </a:prstGeom>
        </p:spPr>
      </p:pic>
      <p:sp>
        <p:nvSpPr>
          <p:cNvPr id="180" name="Google Shape;180;g39dd63b4ae5_0_28">
            <a:extLst>
              <a:ext uri="{FF2B5EF4-FFF2-40B4-BE49-F238E27FC236}">
                <a16:creationId xmlns:a16="http://schemas.microsoft.com/office/drawing/2014/main" id="{1A4C3173-47FB-87AA-0FA9-7AB735934CB1}"/>
              </a:ext>
            </a:extLst>
          </p:cNvPr>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a:ea typeface="Open Sans"/>
                <a:cs typeface="Open Sans"/>
                <a:sym typeface="Open Sans"/>
              </a:rPr>
              <a:t>Simulated Data Example</a:t>
            </a:r>
            <a:endParaRPr b="1" dirty="0">
              <a:solidFill>
                <a:srgbClr val="001C84"/>
              </a:solidFill>
              <a:latin typeface="Open Sans"/>
              <a:ea typeface="Open Sans"/>
              <a:cs typeface="Open Sans"/>
              <a:sym typeface="Open Sans"/>
            </a:endParaRPr>
          </a:p>
        </p:txBody>
      </p:sp>
      <p:sp>
        <p:nvSpPr>
          <p:cNvPr id="191" name="Google Shape;191;g39dd63b4ae5_0_28">
            <a:extLst>
              <a:ext uri="{FF2B5EF4-FFF2-40B4-BE49-F238E27FC236}">
                <a16:creationId xmlns:a16="http://schemas.microsoft.com/office/drawing/2014/main" id="{C0204EEA-0B39-286D-5CD2-FD101A47ED4D}"/>
              </a:ext>
            </a:extLst>
          </p:cNvPr>
          <p:cNvSpPr txBox="1">
            <a:spLocks noGrp="1"/>
          </p:cNvSpPr>
          <p:nvPr>
            <p:ph type="body" idx="1"/>
          </p:nvPr>
        </p:nvSpPr>
        <p:spPr>
          <a:xfrm>
            <a:off x="306289" y="1590779"/>
            <a:ext cx="5114797" cy="4700016"/>
          </a:xfrm>
          <a:prstGeom prst="rect">
            <a:avLst/>
          </a:prstGeom>
          <a:noFill/>
          <a:ln>
            <a:noFill/>
          </a:ln>
        </p:spPr>
        <p:txBody>
          <a:bodyPr spcFirstLastPara="1" wrap="square" lIns="91425" tIns="45700" rIns="91425" bIns="45700" anchor="t" anchorCtr="0">
            <a:noAutofit/>
          </a:bodyPr>
          <a:lstStyle/>
          <a:p>
            <a:pPr marL="342900" lvl="0" algn="l" rtl="0">
              <a:lnSpc>
                <a:spcPct val="100000"/>
              </a:lnSpc>
              <a:spcBef>
                <a:spcPts val="1000"/>
              </a:spcBef>
              <a:spcAft>
                <a:spcPts val="0"/>
              </a:spcAft>
              <a:buSzPct val="100000"/>
              <a:buFont typeface="Arial" panose="020B0604020202020204" pitchFamily="34" charset="0"/>
              <a:buChar char="•"/>
            </a:pPr>
            <a:r>
              <a:rPr lang="en-US" sz="1600" b="1" dirty="0">
                <a:solidFill>
                  <a:srgbClr val="001C84"/>
                </a:solidFill>
                <a:latin typeface="Open Sans"/>
                <a:ea typeface="Open Sans"/>
                <a:cs typeface="Open Sans"/>
                <a:sym typeface="Open Sans"/>
              </a:rPr>
              <a:t>Model 1</a:t>
            </a:r>
            <a:r>
              <a:rPr lang="en-US" sz="1600" dirty="0">
                <a:latin typeface="Open Sans"/>
                <a:ea typeface="Open Sans"/>
                <a:cs typeface="Open Sans"/>
                <a:sym typeface="Open Sans"/>
              </a:rPr>
              <a:t>: Full data (no vulnerabilities)</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Estimated impact of marginalization on likelihood of high school graduation</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Controlling for poverty and neighborhood but NOT controlling for other variables (vulnerabilities)</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Vulnerabilities not often captured in data</a:t>
            </a:r>
          </a:p>
          <a:p>
            <a:pPr marL="1714500" lvl="3">
              <a:spcBef>
                <a:spcPts val="1000"/>
              </a:spcBef>
              <a:buSzPct val="100000"/>
              <a:buFont typeface="Arial" panose="020B0604020202020204" pitchFamily="34" charset="0"/>
              <a:buChar char="•"/>
            </a:pPr>
            <a:r>
              <a:rPr lang="en-US" sz="1600" dirty="0">
                <a:latin typeface="Open Sans"/>
                <a:ea typeface="Open Sans"/>
                <a:cs typeface="Open Sans"/>
                <a:sym typeface="Open Sans"/>
              </a:rPr>
              <a:t>Most realistic, slightly less precise</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Avoids collider bias</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Effect on high school graduation: -10.1%</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Conclusion: </a:t>
            </a:r>
            <a:r>
              <a:rPr lang="en-US" sz="1600" b="1" dirty="0">
                <a:solidFill>
                  <a:srgbClr val="001C84"/>
                </a:solidFill>
                <a:latin typeface="Open Sans"/>
                <a:ea typeface="Open Sans"/>
                <a:cs typeface="Open Sans"/>
                <a:sym typeface="Open Sans"/>
              </a:rPr>
              <a:t>Marginalization decreases likelihood of high school graduation by 10.1%</a:t>
            </a:r>
          </a:p>
        </p:txBody>
      </p:sp>
      <p:sp>
        <p:nvSpPr>
          <p:cNvPr id="2" name="Slide Number Placeholder 1">
            <a:extLst>
              <a:ext uri="{FF2B5EF4-FFF2-40B4-BE49-F238E27FC236}">
                <a16:creationId xmlns:a16="http://schemas.microsoft.com/office/drawing/2014/main" id="{921F7E48-EAB8-3A52-CDD6-28C82A2120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Rectangle: Rounded Corners 4">
            <a:extLst>
              <a:ext uri="{FF2B5EF4-FFF2-40B4-BE49-F238E27FC236}">
                <a16:creationId xmlns:a16="http://schemas.microsoft.com/office/drawing/2014/main" id="{15FA98D4-0CE3-8B27-7EC0-6859173640AE}"/>
              </a:ext>
            </a:extLst>
          </p:cNvPr>
          <p:cNvSpPr/>
          <p:nvPr/>
        </p:nvSpPr>
        <p:spPr>
          <a:xfrm>
            <a:off x="6485208" y="4683967"/>
            <a:ext cx="1159933" cy="1077737"/>
          </a:xfrm>
          <a:prstGeom prst="roundRect">
            <a:avLst/>
          </a:prstGeom>
          <a:noFill/>
          <a:ln w="57150">
            <a:solidFill>
              <a:srgbClr val="FFDC5D"/>
            </a:solidFill>
            <a:prstDash val="solid"/>
          </a:ln>
          <a:effectLst>
            <a:glow rad="127000">
              <a:srgbClr val="FFDC5D">
                <a:alpha val="13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oogle Shape;191;g39dd63b4ae5_0_28">
            <a:extLst>
              <a:ext uri="{FF2B5EF4-FFF2-40B4-BE49-F238E27FC236}">
                <a16:creationId xmlns:a16="http://schemas.microsoft.com/office/drawing/2014/main" id="{2142EDEA-2172-9997-1FA2-D7CD7E20FE50}"/>
              </a:ext>
            </a:extLst>
          </p:cNvPr>
          <p:cNvSpPr txBox="1">
            <a:spLocks/>
          </p:cNvSpPr>
          <p:nvPr/>
        </p:nvSpPr>
        <p:spPr>
          <a:xfrm>
            <a:off x="6612488" y="4224717"/>
            <a:ext cx="967771" cy="4592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1000"/>
              </a:spcBef>
              <a:buSzPct val="100000"/>
              <a:buNone/>
            </a:pPr>
            <a:r>
              <a:rPr lang="en-US" sz="1400" b="1" dirty="0">
                <a:solidFill>
                  <a:srgbClr val="001C84"/>
                </a:solidFill>
                <a:latin typeface="Open Sans"/>
                <a:ea typeface="Open Sans"/>
                <a:cs typeface="Open Sans"/>
                <a:sym typeface="Open Sans"/>
              </a:rPr>
              <a:t>Model 1</a:t>
            </a:r>
          </a:p>
        </p:txBody>
      </p:sp>
      <p:sp>
        <p:nvSpPr>
          <p:cNvPr id="3" name="Google Shape;202;g39dff930041_0_1">
            <a:extLst>
              <a:ext uri="{FF2B5EF4-FFF2-40B4-BE49-F238E27FC236}">
                <a16:creationId xmlns:a16="http://schemas.microsoft.com/office/drawing/2014/main" id="{66F1B2F4-0DB2-E753-A267-390B2B044BF0}"/>
              </a:ext>
            </a:extLst>
          </p:cNvPr>
          <p:cNvSpPr/>
          <p:nvPr/>
        </p:nvSpPr>
        <p:spPr>
          <a:xfrm>
            <a:off x="7519092" y="2378515"/>
            <a:ext cx="1995809" cy="1976966"/>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lvl="0" algn="ctr"/>
            <a:r>
              <a:rPr lang="en-US" b="1" dirty="0">
                <a:solidFill>
                  <a:schemeClr val="dk2"/>
                </a:solidFill>
                <a:latin typeface="Open Sans"/>
                <a:ea typeface="Open Sans"/>
                <a:cs typeface="Open Sans"/>
                <a:sym typeface="Open Sans"/>
              </a:rPr>
              <a:t>Model 1: -10.1%</a:t>
            </a:r>
          </a:p>
          <a:p>
            <a:pPr lvl="0" algn="ctr"/>
            <a:endParaRPr lang="en-US" sz="1600" b="1" dirty="0">
              <a:solidFill>
                <a:schemeClr val="dk2"/>
              </a:solidFill>
              <a:latin typeface="Open Sans"/>
              <a:ea typeface="Open Sans"/>
              <a:cs typeface="Open Sans"/>
              <a:sym typeface="Open Sans"/>
            </a:endParaRPr>
          </a:p>
          <a:p>
            <a:pPr lvl="0" algn="ctr"/>
            <a:r>
              <a:rPr lang="en-US" sz="1200" b="1" dirty="0">
                <a:solidFill>
                  <a:schemeClr val="dk2"/>
                </a:solidFill>
                <a:latin typeface="Open Sans"/>
                <a:ea typeface="Open Sans"/>
                <a:cs typeface="Open Sans"/>
                <a:sym typeface="Open Sans"/>
              </a:rPr>
              <a:t>Controls for poverty and neighborhood.</a:t>
            </a:r>
          </a:p>
          <a:p>
            <a:pPr lvl="0" algn="ctr"/>
            <a:r>
              <a:rPr lang="en-US" sz="1200" b="1" dirty="0">
                <a:solidFill>
                  <a:schemeClr val="dk2"/>
                </a:solidFill>
                <a:latin typeface="Open Sans"/>
                <a:ea typeface="Open Sans"/>
                <a:cs typeface="Open Sans"/>
                <a:sym typeface="Open Sans"/>
              </a:rPr>
              <a:t>Does NOT control for vulnerabilities.</a:t>
            </a:r>
          </a:p>
          <a:p>
            <a:pPr lvl="0" algn="ctr"/>
            <a:r>
              <a:rPr lang="en-US" sz="1200" b="1" dirty="0">
                <a:solidFill>
                  <a:schemeClr val="dk2"/>
                </a:solidFill>
                <a:latin typeface="Open Sans"/>
                <a:ea typeface="Open Sans"/>
                <a:cs typeface="Open Sans"/>
                <a:sym typeface="Open Sans"/>
              </a:rPr>
              <a:t>Avoids collider bias.</a:t>
            </a:r>
          </a:p>
          <a:p>
            <a:pPr lvl="0" algn="ctr"/>
            <a:r>
              <a:rPr lang="en-US" sz="1200" b="1" dirty="0">
                <a:solidFill>
                  <a:schemeClr val="dk2"/>
                </a:solidFill>
                <a:latin typeface="Open Sans"/>
                <a:ea typeface="Open Sans"/>
                <a:cs typeface="Open Sans"/>
                <a:sym typeface="Open Sans"/>
              </a:rPr>
              <a:t>Most realistic, slightly less precise.</a:t>
            </a:r>
          </a:p>
        </p:txBody>
      </p:sp>
      <p:cxnSp>
        <p:nvCxnSpPr>
          <p:cNvPr id="6" name="Google Shape;203;g39dff930041_0_1">
            <a:extLst>
              <a:ext uri="{FF2B5EF4-FFF2-40B4-BE49-F238E27FC236}">
                <a16:creationId xmlns:a16="http://schemas.microsoft.com/office/drawing/2014/main" id="{95A287C6-815C-D9DD-000A-95CC9C14A6F8}"/>
              </a:ext>
            </a:extLst>
          </p:cNvPr>
          <p:cNvCxnSpPr>
            <a:cxnSpLocks/>
            <a:stCxn id="3" idx="2"/>
          </p:cNvCxnSpPr>
          <p:nvPr/>
        </p:nvCxnSpPr>
        <p:spPr>
          <a:xfrm rot="5400000">
            <a:off x="7656398" y="4406622"/>
            <a:ext cx="911740" cy="809458"/>
          </a:xfrm>
          <a:prstGeom prst="curvedConnector3">
            <a:avLst>
              <a:gd name="adj1" fmla="val 106286"/>
            </a:avLst>
          </a:prstGeom>
          <a:noFill/>
          <a:ln w="38100" cap="flat" cmpd="sng">
            <a:solidFill>
              <a:srgbClr val="FFDC5D"/>
            </a:solidFill>
            <a:prstDash val="solid"/>
            <a:round/>
            <a:headEnd type="none" w="sm" len="sm"/>
            <a:tailEnd type="triangle" w="med" len="med"/>
          </a:ln>
        </p:spPr>
      </p:cxnSp>
    </p:spTree>
    <p:extLst>
      <p:ext uri="{BB962C8B-B14F-4D97-AF65-F5344CB8AC3E}">
        <p14:creationId xmlns:p14="http://schemas.microsoft.com/office/powerpoint/2010/main" val="15002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0DCB09EA-2137-DF6E-337B-F472958D73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1B89EF2-793B-F544-DE26-14995D08B257}"/>
              </a:ext>
            </a:extLst>
          </p:cNvPr>
          <p:cNvPicPr>
            <a:picLocks noChangeAspect="1"/>
          </p:cNvPicPr>
          <p:nvPr/>
        </p:nvPicPr>
        <p:blipFill>
          <a:blip r:embed="rId3"/>
          <a:stretch>
            <a:fillRect/>
          </a:stretch>
        </p:blipFill>
        <p:spPr>
          <a:xfrm>
            <a:off x="5203806" y="1590779"/>
            <a:ext cx="6681905" cy="4454604"/>
          </a:xfrm>
          <a:prstGeom prst="rect">
            <a:avLst/>
          </a:prstGeom>
        </p:spPr>
      </p:pic>
      <p:sp>
        <p:nvSpPr>
          <p:cNvPr id="180" name="Google Shape;180;g39dd63b4ae5_0_28">
            <a:extLst>
              <a:ext uri="{FF2B5EF4-FFF2-40B4-BE49-F238E27FC236}">
                <a16:creationId xmlns:a16="http://schemas.microsoft.com/office/drawing/2014/main" id="{BA9C6EF5-DB23-D1CF-F1A3-A87C1157D539}"/>
              </a:ext>
            </a:extLst>
          </p:cNvPr>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a:ea typeface="Open Sans"/>
                <a:cs typeface="Open Sans"/>
                <a:sym typeface="Open Sans"/>
              </a:rPr>
              <a:t>Simulated Data Example</a:t>
            </a:r>
            <a:endParaRPr b="1" dirty="0">
              <a:solidFill>
                <a:srgbClr val="001C84"/>
              </a:solidFill>
              <a:latin typeface="Open Sans"/>
              <a:ea typeface="Open Sans"/>
              <a:cs typeface="Open Sans"/>
              <a:sym typeface="Open Sans"/>
            </a:endParaRPr>
          </a:p>
        </p:txBody>
      </p:sp>
      <p:sp>
        <p:nvSpPr>
          <p:cNvPr id="191" name="Google Shape;191;g39dd63b4ae5_0_28">
            <a:extLst>
              <a:ext uri="{FF2B5EF4-FFF2-40B4-BE49-F238E27FC236}">
                <a16:creationId xmlns:a16="http://schemas.microsoft.com/office/drawing/2014/main" id="{B9200B63-E88D-7A09-BBE7-9FB9F541DD67}"/>
              </a:ext>
            </a:extLst>
          </p:cNvPr>
          <p:cNvSpPr txBox="1">
            <a:spLocks noGrp="1"/>
          </p:cNvSpPr>
          <p:nvPr>
            <p:ph type="body" idx="1"/>
          </p:nvPr>
        </p:nvSpPr>
        <p:spPr>
          <a:xfrm>
            <a:off x="306289" y="1590779"/>
            <a:ext cx="4731457" cy="4700016"/>
          </a:xfrm>
          <a:prstGeom prst="rect">
            <a:avLst/>
          </a:prstGeom>
          <a:noFill/>
          <a:ln>
            <a:noFill/>
          </a:ln>
        </p:spPr>
        <p:txBody>
          <a:bodyPr spcFirstLastPara="1" wrap="square" lIns="91425" tIns="45700" rIns="91425" bIns="45700" anchor="t" anchorCtr="0">
            <a:noAutofit/>
          </a:bodyPr>
          <a:lstStyle/>
          <a:p>
            <a:pPr marL="342900" lvl="0" algn="l" rtl="0">
              <a:lnSpc>
                <a:spcPct val="100000"/>
              </a:lnSpc>
              <a:spcBef>
                <a:spcPts val="1000"/>
              </a:spcBef>
              <a:spcAft>
                <a:spcPts val="0"/>
              </a:spcAft>
              <a:buSzPct val="100000"/>
              <a:buFont typeface="Arial" panose="020B0604020202020204" pitchFamily="34" charset="0"/>
              <a:buChar char="•"/>
            </a:pPr>
            <a:r>
              <a:rPr lang="en-US" sz="1600" b="1" dirty="0">
                <a:solidFill>
                  <a:srgbClr val="001C84"/>
                </a:solidFill>
                <a:latin typeface="Open Sans"/>
                <a:ea typeface="Open Sans"/>
                <a:cs typeface="Open Sans"/>
                <a:sym typeface="Open Sans"/>
              </a:rPr>
              <a:t>Model 2</a:t>
            </a:r>
            <a:r>
              <a:rPr lang="en-US" sz="1600" dirty="0">
                <a:latin typeface="Open Sans"/>
                <a:ea typeface="Open Sans"/>
                <a:cs typeface="Open Sans"/>
                <a:sym typeface="Open Sans"/>
              </a:rPr>
              <a:t>: Full data</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Estimated impact of marginalization on likelihood of high school graduation</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Controlling for poverty AND controlling for other variables (vulnerabilities, neighborhood)</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Increased precision but less realistic</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Avoids collider bias</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Effect on high school graduation: -9.8%</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Conclusion: </a:t>
            </a:r>
            <a:r>
              <a:rPr lang="en-US" sz="1600" b="1" dirty="0">
                <a:solidFill>
                  <a:srgbClr val="001C84"/>
                </a:solidFill>
                <a:latin typeface="Open Sans"/>
                <a:ea typeface="Open Sans"/>
                <a:cs typeface="Open Sans"/>
                <a:sym typeface="Open Sans"/>
              </a:rPr>
              <a:t>Marginalization decreases likelihood of high school graduation by 9.8%</a:t>
            </a:r>
          </a:p>
        </p:txBody>
      </p:sp>
      <p:sp>
        <p:nvSpPr>
          <p:cNvPr id="2" name="Slide Number Placeholder 1">
            <a:extLst>
              <a:ext uri="{FF2B5EF4-FFF2-40B4-BE49-F238E27FC236}">
                <a16:creationId xmlns:a16="http://schemas.microsoft.com/office/drawing/2014/main" id="{BA4F46DF-A5C2-CA2F-2DB8-E67641C1E6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Rectangle: Rounded Corners 4">
            <a:extLst>
              <a:ext uri="{FF2B5EF4-FFF2-40B4-BE49-F238E27FC236}">
                <a16:creationId xmlns:a16="http://schemas.microsoft.com/office/drawing/2014/main" id="{9D19E42C-0414-D1F3-594C-914B83485F7E}"/>
              </a:ext>
            </a:extLst>
          </p:cNvPr>
          <p:cNvSpPr/>
          <p:nvPr/>
        </p:nvSpPr>
        <p:spPr>
          <a:xfrm>
            <a:off x="8265000" y="4490055"/>
            <a:ext cx="1159933" cy="1278467"/>
          </a:xfrm>
          <a:prstGeom prst="roundRect">
            <a:avLst/>
          </a:prstGeom>
          <a:noFill/>
          <a:ln w="57150">
            <a:solidFill>
              <a:srgbClr val="FFDC5D"/>
            </a:solidFill>
            <a:prstDash val="solid"/>
          </a:ln>
          <a:effectLst>
            <a:glow rad="127000">
              <a:srgbClr val="FFDC5D">
                <a:alpha val="13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oogle Shape;191;g39dd63b4ae5_0_28">
            <a:extLst>
              <a:ext uri="{FF2B5EF4-FFF2-40B4-BE49-F238E27FC236}">
                <a16:creationId xmlns:a16="http://schemas.microsoft.com/office/drawing/2014/main" id="{BD6E5C2B-EC9F-04B4-EBC5-6EF9F3387533}"/>
              </a:ext>
            </a:extLst>
          </p:cNvPr>
          <p:cNvSpPr txBox="1">
            <a:spLocks/>
          </p:cNvSpPr>
          <p:nvPr/>
        </p:nvSpPr>
        <p:spPr>
          <a:xfrm>
            <a:off x="8431060" y="4044199"/>
            <a:ext cx="967771" cy="4592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1000"/>
              </a:spcBef>
              <a:buSzPct val="100000"/>
              <a:buNone/>
            </a:pPr>
            <a:r>
              <a:rPr lang="en-US" sz="1400" b="1" dirty="0">
                <a:solidFill>
                  <a:srgbClr val="001C84"/>
                </a:solidFill>
                <a:latin typeface="Open Sans"/>
                <a:ea typeface="Open Sans"/>
                <a:cs typeface="Open Sans"/>
                <a:sym typeface="Open Sans"/>
              </a:rPr>
              <a:t>Model 2</a:t>
            </a:r>
          </a:p>
        </p:txBody>
      </p:sp>
      <p:sp>
        <p:nvSpPr>
          <p:cNvPr id="7" name="Google Shape;201;g39dff930041_0_1">
            <a:extLst>
              <a:ext uri="{FF2B5EF4-FFF2-40B4-BE49-F238E27FC236}">
                <a16:creationId xmlns:a16="http://schemas.microsoft.com/office/drawing/2014/main" id="{7CDC0566-9F05-9BA8-649E-79122D1278EE}"/>
              </a:ext>
            </a:extLst>
          </p:cNvPr>
          <p:cNvSpPr/>
          <p:nvPr/>
        </p:nvSpPr>
        <p:spPr>
          <a:xfrm>
            <a:off x="7634730" y="1972809"/>
            <a:ext cx="1999694" cy="1904802"/>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lvl="0" algn="ctr"/>
            <a:r>
              <a:rPr lang="en-US" b="1" dirty="0">
                <a:solidFill>
                  <a:schemeClr val="dk2"/>
                </a:solidFill>
                <a:latin typeface="Open Sans"/>
                <a:ea typeface="Open Sans"/>
                <a:cs typeface="Open Sans"/>
                <a:sym typeface="Open Sans"/>
              </a:rPr>
              <a:t>Model 2: -9.8%</a:t>
            </a:r>
          </a:p>
          <a:p>
            <a:pPr lvl="0" algn="ctr"/>
            <a:endParaRPr lang="en-US" b="1" dirty="0">
              <a:solidFill>
                <a:schemeClr val="dk2"/>
              </a:solidFill>
              <a:latin typeface="Open Sans"/>
              <a:ea typeface="Open Sans"/>
              <a:cs typeface="Open Sans"/>
              <a:sym typeface="Open Sans"/>
            </a:endParaRPr>
          </a:p>
          <a:p>
            <a:pPr lvl="0" algn="ctr"/>
            <a:r>
              <a:rPr lang="en-US" sz="1200" b="1" dirty="0">
                <a:solidFill>
                  <a:schemeClr val="dk2"/>
                </a:solidFill>
                <a:latin typeface="Open Sans"/>
                <a:ea typeface="Open Sans"/>
                <a:cs typeface="Open Sans"/>
                <a:sym typeface="Open Sans"/>
              </a:rPr>
              <a:t>Controls for poverty, neighborhood, and vulnerabilities.</a:t>
            </a:r>
          </a:p>
          <a:p>
            <a:pPr lvl="0" algn="ctr"/>
            <a:r>
              <a:rPr lang="en-US" sz="1200" b="1" dirty="0">
                <a:solidFill>
                  <a:schemeClr val="dk2"/>
                </a:solidFill>
                <a:latin typeface="Open Sans"/>
                <a:ea typeface="Open Sans"/>
                <a:cs typeface="Open Sans"/>
                <a:sym typeface="Open Sans"/>
              </a:rPr>
              <a:t>Avoids collider bias.</a:t>
            </a:r>
          </a:p>
          <a:p>
            <a:pPr lvl="0" algn="ctr"/>
            <a:r>
              <a:rPr lang="en-US" sz="1200" b="1" dirty="0">
                <a:solidFill>
                  <a:schemeClr val="dk2"/>
                </a:solidFill>
                <a:latin typeface="Open Sans"/>
                <a:ea typeface="Open Sans"/>
                <a:cs typeface="Open Sans"/>
                <a:sym typeface="Open Sans"/>
              </a:rPr>
              <a:t>Most idealistic, more precise.</a:t>
            </a:r>
          </a:p>
        </p:txBody>
      </p:sp>
      <p:cxnSp>
        <p:nvCxnSpPr>
          <p:cNvPr id="8" name="Google Shape;204;g39dff930041_0_1">
            <a:extLst>
              <a:ext uri="{FF2B5EF4-FFF2-40B4-BE49-F238E27FC236}">
                <a16:creationId xmlns:a16="http://schemas.microsoft.com/office/drawing/2014/main" id="{EDF8EA71-D341-FE1D-5968-BF87A9EA9429}"/>
              </a:ext>
            </a:extLst>
          </p:cNvPr>
          <p:cNvCxnSpPr>
            <a:cxnSpLocks/>
            <a:stCxn id="7" idx="1"/>
            <a:endCxn id="5" idx="1"/>
          </p:cNvCxnSpPr>
          <p:nvPr/>
        </p:nvCxnSpPr>
        <p:spPr>
          <a:xfrm rot="10800000" flipH="1" flipV="1">
            <a:off x="7634730" y="2925209"/>
            <a:ext cx="630270" cy="2204079"/>
          </a:xfrm>
          <a:prstGeom prst="curvedConnector3">
            <a:avLst>
              <a:gd name="adj1" fmla="val -36270"/>
            </a:avLst>
          </a:prstGeom>
          <a:noFill/>
          <a:ln w="38100" cap="flat" cmpd="sng">
            <a:solidFill>
              <a:srgbClr val="FFDC5D"/>
            </a:solidFill>
            <a:prstDash val="solid"/>
            <a:round/>
            <a:headEnd type="none" w="sm" len="sm"/>
            <a:tailEnd type="triangle" w="med" len="med"/>
          </a:ln>
        </p:spPr>
      </p:cxnSp>
    </p:spTree>
    <p:extLst>
      <p:ext uri="{BB962C8B-B14F-4D97-AF65-F5344CB8AC3E}">
        <p14:creationId xmlns:p14="http://schemas.microsoft.com/office/powerpoint/2010/main" val="2078578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8662D4CF-0118-1540-1756-B65EAF1AD2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59EA6D5-F644-1679-226B-75E540B130DA}"/>
              </a:ext>
            </a:extLst>
          </p:cNvPr>
          <p:cNvPicPr>
            <a:picLocks noChangeAspect="1"/>
          </p:cNvPicPr>
          <p:nvPr/>
        </p:nvPicPr>
        <p:blipFill>
          <a:blip r:embed="rId3"/>
          <a:stretch>
            <a:fillRect/>
          </a:stretch>
        </p:blipFill>
        <p:spPr>
          <a:xfrm>
            <a:off x="5203806" y="1590779"/>
            <a:ext cx="6681905" cy="4454604"/>
          </a:xfrm>
          <a:prstGeom prst="rect">
            <a:avLst/>
          </a:prstGeom>
        </p:spPr>
      </p:pic>
      <p:sp>
        <p:nvSpPr>
          <p:cNvPr id="180" name="Google Shape;180;g39dd63b4ae5_0_28">
            <a:extLst>
              <a:ext uri="{FF2B5EF4-FFF2-40B4-BE49-F238E27FC236}">
                <a16:creationId xmlns:a16="http://schemas.microsoft.com/office/drawing/2014/main" id="{0EC10F06-D436-5B8E-E9BF-72E063501DA2}"/>
              </a:ext>
            </a:extLst>
          </p:cNvPr>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a:ea typeface="Open Sans"/>
                <a:cs typeface="Open Sans"/>
                <a:sym typeface="Open Sans"/>
              </a:rPr>
              <a:t>Simulated Data Example</a:t>
            </a:r>
            <a:endParaRPr b="1" dirty="0">
              <a:solidFill>
                <a:srgbClr val="001C84"/>
              </a:solidFill>
              <a:latin typeface="Open Sans"/>
              <a:ea typeface="Open Sans"/>
              <a:cs typeface="Open Sans"/>
              <a:sym typeface="Open Sans"/>
            </a:endParaRPr>
          </a:p>
        </p:txBody>
      </p:sp>
      <p:sp>
        <p:nvSpPr>
          <p:cNvPr id="191" name="Google Shape;191;g39dd63b4ae5_0_28">
            <a:extLst>
              <a:ext uri="{FF2B5EF4-FFF2-40B4-BE49-F238E27FC236}">
                <a16:creationId xmlns:a16="http://schemas.microsoft.com/office/drawing/2014/main" id="{5530E288-3B87-4E18-10A1-18A4F95D8FCE}"/>
              </a:ext>
            </a:extLst>
          </p:cNvPr>
          <p:cNvSpPr txBox="1">
            <a:spLocks noGrp="1"/>
          </p:cNvSpPr>
          <p:nvPr>
            <p:ph type="body" idx="1"/>
          </p:nvPr>
        </p:nvSpPr>
        <p:spPr>
          <a:xfrm>
            <a:off x="306289" y="1590779"/>
            <a:ext cx="4731457" cy="4700016"/>
          </a:xfrm>
          <a:prstGeom prst="rect">
            <a:avLst/>
          </a:prstGeom>
          <a:noFill/>
          <a:ln>
            <a:noFill/>
          </a:ln>
        </p:spPr>
        <p:txBody>
          <a:bodyPr spcFirstLastPara="1" wrap="square" lIns="91425" tIns="45700" rIns="91425" bIns="45700" anchor="t" anchorCtr="0">
            <a:noAutofit/>
          </a:bodyPr>
          <a:lstStyle/>
          <a:p>
            <a:pPr marL="342900" lvl="0" algn="l" rtl="0">
              <a:lnSpc>
                <a:spcPct val="100000"/>
              </a:lnSpc>
              <a:spcBef>
                <a:spcPts val="1000"/>
              </a:spcBef>
              <a:spcAft>
                <a:spcPts val="0"/>
              </a:spcAft>
              <a:buSzPct val="100000"/>
              <a:buFont typeface="Arial" panose="020B0604020202020204" pitchFamily="34" charset="0"/>
              <a:buChar char="•"/>
            </a:pPr>
            <a:r>
              <a:rPr lang="en-US" sz="1600" b="1" dirty="0">
                <a:solidFill>
                  <a:srgbClr val="001C84"/>
                </a:solidFill>
                <a:latin typeface="Open Sans"/>
                <a:ea typeface="Open Sans"/>
                <a:cs typeface="Open Sans"/>
                <a:sym typeface="Open Sans"/>
              </a:rPr>
              <a:t>Model 3</a:t>
            </a:r>
            <a:r>
              <a:rPr lang="en-US" sz="1600" dirty="0">
                <a:latin typeface="Open Sans"/>
                <a:ea typeface="Open Sans"/>
                <a:cs typeface="Open Sans"/>
                <a:sym typeface="Open Sans"/>
              </a:rPr>
              <a:t>: Harper’s data</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Estimated impact of marginalization on likelihood of high school graduation</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Controlling for poverty but NOT controlling for other variables (vulnerabilities, neighborhood)</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Collider bias!</a:t>
            </a:r>
          </a:p>
          <a:p>
            <a:pPr marL="800100" lvl="1">
              <a:spcBef>
                <a:spcPts val="1000"/>
              </a:spcBef>
              <a:buSzPct val="100000"/>
              <a:buFont typeface="Arial" panose="020B0604020202020204" pitchFamily="34" charset="0"/>
              <a:buChar char="•"/>
            </a:pPr>
            <a:r>
              <a:rPr lang="en-US" sz="1600" dirty="0">
                <a:latin typeface="Open Sans"/>
                <a:ea typeface="Open Sans"/>
                <a:cs typeface="Open Sans"/>
                <a:sym typeface="Open Sans"/>
              </a:rPr>
              <a:t>Effect on high school graduation: -5.1%</a:t>
            </a:r>
          </a:p>
          <a:p>
            <a:pPr marL="1257300" lvl="2">
              <a:spcBef>
                <a:spcPts val="1000"/>
              </a:spcBef>
              <a:buSzPct val="100000"/>
              <a:buFont typeface="Arial" panose="020B0604020202020204" pitchFamily="34" charset="0"/>
              <a:buChar char="•"/>
            </a:pPr>
            <a:r>
              <a:rPr lang="en-US" sz="1600" dirty="0">
                <a:latin typeface="Open Sans"/>
                <a:ea typeface="Open Sans"/>
                <a:cs typeface="Open Sans"/>
                <a:sym typeface="Open Sans"/>
              </a:rPr>
              <a:t>Conclusion: </a:t>
            </a:r>
            <a:r>
              <a:rPr lang="en-US" sz="1600" b="1" dirty="0">
                <a:solidFill>
                  <a:srgbClr val="001C84"/>
                </a:solidFill>
                <a:latin typeface="Open Sans"/>
                <a:ea typeface="Open Sans"/>
                <a:cs typeface="Open Sans"/>
                <a:sym typeface="Open Sans"/>
              </a:rPr>
              <a:t>Marginalization decreases likelihood of high school graduation by 5.1%</a:t>
            </a:r>
          </a:p>
          <a:p>
            <a:pPr marL="1257300" lvl="2">
              <a:spcBef>
                <a:spcPts val="1000"/>
              </a:spcBef>
              <a:buSzPct val="100000"/>
              <a:buFont typeface="Arial" panose="020B0604020202020204" pitchFamily="34" charset="0"/>
              <a:buChar char="•"/>
            </a:pPr>
            <a:r>
              <a:rPr lang="en-US" sz="1600" dirty="0">
                <a:solidFill>
                  <a:schemeClr val="tx1"/>
                </a:solidFill>
                <a:latin typeface="Open Sans"/>
                <a:ea typeface="Open Sans"/>
                <a:cs typeface="Open Sans"/>
                <a:sym typeface="Open Sans"/>
              </a:rPr>
              <a:t>Biased impact of marginalization on high school graduation, wrongly suggesting a small impact</a:t>
            </a:r>
          </a:p>
        </p:txBody>
      </p:sp>
      <p:sp>
        <p:nvSpPr>
          <p:cNvPr id="2" name="Slide Number Placeholder 1">
            <a:extLst>
              <a:ext uri="{FF2B5EF4-FFF2-40B4-BE49-F238E27FC236}">
                <a16:creationId xmlns:a16="http://schemas.microsoft.com/office/drawing/2014/main" id="{4AA0EE9D-C027-6C1D-735E-B9580E470B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18" name="Google Shape;191;g39dd63b4ae5_0_28">
            <a:extLst>
              <a:ext uri="{FF2B5EF4-FFF2-40B4-BE49-F238E27FC236}">
                <a16:creationId xmlns:a16="http://schemas.microsoft.com/office/drawing/2014/main" id="{AC55EB0E-35BC-0A50-97E3-790711BFA276}"/>
              </a:ext>
            </a:extLst>
          </p:cNvPr>
          <p:cNvSpPr txBox="1">
            <a:spLocks/>
          </p:cNvSpPr>
          <p:nvPr/>
        </p:nvSpPr>
        <p:spPr>
          <a:xfrm>
            <a:off x="10210800" y="1301925"/>
            <a:ext cx="967771" cy="4592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1000"/>
              </a:spcBef>
              <a:buSzPct val="100000"/>
              <a:buNone/>
            </a:pPr>
            <a:r>
              <a:rPr lang="en-US" sz="1400" b="1" dirty="0">
                <a:solidFill>
                  <a:srgbClr val="001C84"/>
                </a:solidFill>
                <a:latin typeface="Open Sans"/>
                <a:ea typeface="Open Sans"/>
                <a:cs typeface="Open Sans"/>
                <a:sym typeface="Open Sans"/>
              </a:rPr>
              <a:t>Model 3</a:t>
            </a:r>
          </a:p>
        </p:txBody>
      </p:sp>
      <p:sp>
        <p:nvSpPr>
          <p:cNvPr id="3" name="Rectangle: Rounded Corners 2">
            <a:extLst>
              <a:ext uri="{FF2B5EF4-FFF2-40B4-BE49-F238E27FC236}">
                <a16:creationId xmlns:a16="http://schemas.microsoft.com/office/drawing/2014/main" id="{23BED458-382D-A89A-90FC-E0F512BC0DF0}"/>
              </a:ext>
            </a:extLst>
          </p:cNvPr>
          <p:cNvSpPr/>
          <p:nvPr/>
        </p:nvSpPr>
        <p:spPr>
          <a:xfrm>
            <a:off x="10096214" y="1771121"/>
            <a:ext cx="1159933" cy="1278467"/>
          </a:xfrm>
          <a:prstGeom prst="roundRect">
            <a:avLst/>
          </a:prstGeom>
          <a:noFill/>
          <a:ln w="57150">
            <a:solidFill>
              <a:srgbClr val="D99593"/>
            </a:solidFill>
            <a:prstDash val="solid"/>
          </a:ln>
          <a:effectLst>
            <a:glow rad="127000">
              <a:srgbClr val="FFDC5D">
                <a:alpha val="13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200;g39dff930041_0_1">
            <a:extLst>
              <a:ext uri="{FF2B5EF4-FFF2-40B4-BE49-F238E27FC236}">
                <a16:creationId xmlns:a16="http://schemas.microsoft.com/office/drawing/2014/main" id="{1FBB4B15-1341-2B14-E279-75B6B7D1EC21}"/>
              </a:ext>
            </a:extLst>
          </p:cNvPr>
          <p:cNvSpPr/>
          <p:nvPr/>
        </p:nvSpPr>
        <p:spPr>
          <a:xfrm>
            <a:off x="9070320" y="3240600"/>
            <a:ext cx="2836851" cy="1835253"/>
          </a:xfrm>
          <a:prstGeom prst="roundRect">
            <a:avLst>
              <a:gd name="adj" fmla="val 16667"/>
            </a:avLst>
          </a:prstGeom>
          <a:solidFill>
            <a:srgbClr val="D99593"/>
          </a:solidFill>
          <a:ln>
            <a:solidFill>
              <a:srgbClr val="D99593"/>
            </a:solidFill>
          </a:ln>
        </p:spPr>
        <p:txBody>
          <a:bodyPr spcFirstLastPara="1" wrap="square" lIns="91425" tIns="91425" rIns="91425" bIns="91425" anchor="ctr" anchorCtr="0">
            <a:noAutofit/>
          </a:bodyPr>
          <a:lstStyle/>
          <a:p>
            <a:pPr lvl="0" algn="ctr"/>
            <a:r>
              <a:rPr lang="en-US" b="1" dirty="0">
                <a:solidFill>
                  <a:schemeClr val="dk2"/>
                </a:solidFill>
                <a:latin typeface="Open Sans"/>
                <a:ea typeface="Open Sans"/>
                <a:cs typeface="Open Sans"/>
                <a:sym typeface="Open Sans"/>
              </a:rPr>
              <a:t>Model 3: -5.1%</a:t>
            </a:r>
          </a:p>
          <a:p>
            <a:pPr lvl="0" algn="ctr"/>
            <a:endParaRPr lang="en-US" b="1" dirty="0">
              <a:solidFill>
                <a:schemeClr val="dk2"/>
              </a:solidFill>
              <a:latin typeface="Open Sans"/>
              <a:ea typeface="Open Sans"/>
              <a:cs typeface="Open Sans"/>
              <a:sym typeface="Open Sans"/>
            </a:endParaRPr>
          </a:p>
          <a:p>
            <a:pPr lvl="0" algn="ctr"/>
            <a:r>
              <a:rPr lang="en-US" sz="1200" b="1" dirty="0">
                <a:solidFill>
                  <a:schemeClr val="dk2"/>
                </a:solidFill>
                <a:latin typeface="Open Sans"/>
                <a:ea typeface="Open Sans"/>
                <a:cs typeface="Open Sans"/>
                <a:sym typeface="Open Sans"/>
              </a:rPr>
              <a:t>Controls for poverty.</a:t>
            </a:r>
          </a:p>
          <a:p>
            <a:pPr lvl="0" algn="ctr"/>
            <a:r>
              <a:rPr lang="en-US" sz="1200" b="1" dirty="0">
                <a:solidFill>
                  <a:schemeClr val="dk2"/>
                </a:solidFill>
                <a:latin typeface="Open Sans"/>
                <a:ea typeface="Open Sans"/>
                <a:cs typeface="Open Sans"/>
                <a:sym typeface="Open Sans"/>
              </a:rPr>
              <a:t>Does NOT control for neighborhood or vulnerabilities.</a:t>
            </a:r>
          </a:p>
          <a:p>
            <a:pPr lvl="0" algn="ctr"/>
            <a:r>
              <a:rPr lang="en-US" sz="1200" b="1" dirty="0">
                <a:solidFill>
                  <a:schemeClr val="dk2"/>
                </a:solidFill>
                <a:latin typeface="Open Sans"/>
                <a:ea typeface="Open Sans"/>
                <a:cs typeface="Open Sans"/>
                <a:sym typeface="Open Sans"/>
              </a:rPr>
              <a:t>Collider bias !!!</a:t>
            </a:r>
          </a:p>
          <a:p>
            <a:pPr lvl="0" algn="ctr"/>
            <a:r>
              <a:rPr lang="en-US" sz="1200" b="1" dirty="0">
                <a:solidFill>
                  <a:schemeClr val="dk2"/>
                </a:solidFill>
                <a:latin typeface="Open Sans"/>
                <a:ea typeface="Open Sans"/>
                <a:cs typeface="Open Sans"/>
                <a:sym typeface="Open Sans"/>
              </a:rPr>
              <a:t>Under-inflated effect on likelihood of high school graduation.</a:t>
            </a:r>
          </a:p>
        </p:txBody>
      </p:sp>
      <p:cxnSp>
        <p:nvCxnSpPr>
          <p:cNvPr id="9" name="Google Shape;205;g39dff930041_0_1">
            <a:extLst>
              <a:ext uri="{FF2B5EF4-FFF2-40B4-BE49-F238E27FC236}">
                <a16:creationId xmlns:a16="http://schemas.microsoft.com/office/drawing/2014/main" id="{FC495025-F825-3BB9-9586-55341FD3F070}"/>
              </a:ext>
            </a:extLst>
          </p:cNvPr>
          <p:cNvCxnSpPr>
            <a:cxnSpLocks/>
            <a:stCxn id="6" idx="1"/>
            <a:endCxn id="3" idx="1"/>
          </p:cNvCxnSpPr>
          <p:nvPr/>
        </p:nvCxnSpPr>
        <p:spPr>
          <a:xfrm rot="10800000" flipH="1">
            <a:off x="9070320" y="2410355"/>
            <a:ext cx="1025894" cy="1747872"/>
          </a:xfrm>
          <a:prstGeom prst="curvedConnector3">
            <a:avLst>
              <a:gd name="adj1" fmla="val -22283"/>
            </a:avLst>
          </a:prstGeom>
          <a:noFill/>
          <a:ln w="38100" cap="flat" cmpd="sng">
            <a:solidFill>
              <a:srgbClr val="D99593"/>
            </a:solidFill>
            <a:prstDash val="solid"/>
            <a:round/>
            <a:headEnd type="none" w="sm" len="sm"/>
            <a:tailEnd type="triangle" w="med" len="med"/>
          </a:ln>
        </p:spPr>
      </p:cxnSp>
    </p:spTree>
    <p:extLst>
      <p:ext uri="{BB962C8B-B14F-4D97-AF65-F5344CB8AC3E}">
        <p14:creationId xmlns:p14="http://schemas.microsoft.com/office/powerpoint/2010/main" val="367345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E9E0ADC2-EB9E-73F0-2ACE-3FA461443F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968704-5BB6-C520-8F14-915C69969C19}"/>
              </a:ext>
            </a:extLst>
          </p:cNvPr>
          <p:cNvPicPr>
            <a:picLocks noChangeAspect="1"/>
          </p:cNvPicPr>
          <p:nvPr/>
        </p:nvPicPr>
        <p:blipFill>
          <a:blip r:embed="rId3"/>
          <a:stretch>
            <a:fillRect/>
          </a:stretch>
        </p:blipFill>
        <p:spPr>
          <a:xfrm>
            <a:off x="2179349" y="1316711"/>
            <a:ext cx="7833302" cy="5222202"/>
          </a:xfrm>
          <a:prstGeom prst="rect">
            <a:avLst/>
          </a:prstGeom>
        </p:spPr>
      </p:pic>
      <p:sp>
        <p:nvSpPr>
          <p:cNvPr id="198" name="Google Shape;198;g39dff930041_0_1">
            <a:extLst>
              <a:ext uri="{FF2B5EF4-FFF2-40B4-BE49-F238E27FC236}">
                <a16:creationId xmlns:a16="http://schemas.microsoft.com/office/drawing/2014/main" id="{82552689-0601-F82A-A532-E5BD7662D11A}"/>
              </a:ext>
            </a:extLst>
          </p:cNvPr>
          <p:cNvSpPr txBox="1">
            <a:spLocks noGrp="1"/>
          </p:cNvSpPr>
          <p:nvPr>
            <p:ph type="title"/>
          </p:nvPr>
        </p:nvSpPr>
        <p:spPr>
          <a:xfrm>
            <a:off x="310896" y="173711"/>
            <a:ext cx="11494008"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US" sz="2000" b="1">
                <a:solidFill>
                  <a:srgbClr val="001C84"/>
                </a:solidFill>
                <a:latin typeface="Open Sans"/>
                <a:ea typeface="Open Sans"/>
                <a:cs typeface="Open Sans"/>
                <a:sym typeface="Open Sans"/>
              </a:rPr>
              <a:t>Estimates of the impact of marginalization on </a:t>
            </a:r>
            <a:br>
              <a:rPr lang="en-US" sz="2000" b="1">
                <a:solidFill>
                  <a:srgbClr val="001C84"/>
                </a:solidFill>
                <a:latin typeface="Open Sans"/>
                <a:ea typeface="Open Sans"/>
                <a:cs typeface="Open Sans"/>
                <a:sym typeface="Open Sans"/>
              </a:rPr>
            </a:br>
            <a:r>
              <a:rPr lang="en-US" sz="2000" b="1">
                <a:solidFill>
                  <a:srgbClr val="001C84"/>
                </a:solidFill>
                <a:latin typeface="Open Sans"/>
                <a:ea typeface="Open Sans"/>
                <a:cs typeface="Open Sans"/>
                <a:sym typeface="Open Sans"/>
              </a:rPr>
              <a:t>the chance of graduating high school (0-1 scale) for models with and without collider bias</a:t>
            </a:r>
            <a:endParaRPr sz="2000" b="1">
              <a:solidFill>
                <a:srgbClr val="001C84"/>
              </a:solidFill>
              <a:latin typeface="Open Sans"/>
              <a:ea typeface="Open Sans"/>
              <a:cs typeface="Open Sans"/>
              <a:sym typeface="Open Sans"/>
            </a:endParaRPr>
          </a:p>
        </p:txBody>
      </p:sp>
      <p:sp>
        <p:nvSpPr>
          <p:cNvPr id="200" name="Google Shape;200;g39dff930041_0_1">
            <a:extLst>
              <a:ext uri="{FF2B5EF4-FFF2-40B4-BE49-F238E27FC236}">
                <a16:creationId xmlns:a16="http://schemas.microsoft.com/office/drawing/2014/main" id="{C3C3410F-1F2C-3D86-F89B-6174612201BE}"/>
              </a:ext>
            </a:extLst>
          </p:cNvPr>
          <p:cNvSpPr/>
          <p:nvPr/>
        </p:nvSpPr>
        <p:spPr>
          <a:xfrm>
            <a:off x="8964891" y="2119356"/>
            <a:ext cx="2840013" cy="1933939"/>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Model 3: -5.1%</a:t>
            </a:r>
          </a:p>
          <a:p>
            <a:pPr marL="0" marR="0" lvl="0" indent="0" algn="ctr" rtl="0">
              <a:lnSpc>
                <a:spcPct val="100000"/>
              </a:lnSpc>
              <a:spcBef>
                <a:spcPts val="0"/>
              </a:spcBef>
              <a:spcAft>
                <a:spcPts val="0"/>
              </a:spcAft>
              <a:buNone/>
            </a:pPr>
            <a:endParaRPr lang="en-US" sz="1200" b="1" dirty="0">
              <a:solidFill>
                <a:schemeClr val="dk2"/>
              </a:solidFill>
              <a:latin typeface="Open Sans"/>
              <a:ea typeface="Open Sans"/>
              <a:cs typeface="Open Sans"/>
              <a:sym typeface="Open Sans"/>
            </a:endParaRPr>
          </a:p>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Controls for poverty.</a:t>
            </a:r>
          </a:p>
          <a:p>
            <a:pPr marL="0" marR="0" lvl="0" indent="0" algn="ctr" rtl="0">
              <a:lnSpc>
                <a:spcPct val="100000"/>
              </a:lnSpc>
              <a:spcBef>
                <a:spcPts val="0"/>
              </a:spcBef>
              <a:spcAft>
                <a:spcPts val="0"/>
              </a:spcAft>
              <a:buNone/>
            </a:pPr>
            <a:r>
              <a:rPr lang="en-US" sz="1200" b="1" dirty="0">
                <a:solidFill>
                  <a:schemeClr val="dk2"/>
                </a:solidFill>
                <a:latin typeface="Open Sans"/>
                <a:ea typeface="Open Sans"/>
                <a:cs typeface="Open Sans"/>
                <a:sym typeface="Open Sans"/>
              </a:rPr>
              <a:t>Does NOT control for neighborhood or vulnerabilities.</a:t>
            </a:r>
          </a:p>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Collider bias !!!</a:t>
            </a:r>
          </a:p>
          <a:p>
            <a:pPr marL="0" marR="0" lvl="0" indent="0" algn="ctr" rtl="0">
              <a:lnSpc>
                <a:spcPct val="100000"/>
              </a:lnSpc>
              <a:spcBef>
                <a:spcPts val="0"/>
              </a:spcBef>
              <a:spcAft>
                <a:spcPts val="0"/>
              </a:spcAft>
              <a:buNone/>
            </a:pPr>
            <a:r>
              <a:rPr lang="en-US" sz="1200" b="1" dirty="0">
                <a:solidFill>
                  <a:schemeClr val="dk2"/>
                </a:solidFill>
                <a:latin typeface="Open Sans"/>
                <a:ea typeface="Open Sans"/>
                <a:cs typeface="Open Sans"/>
                <a:sym typeface="Open Sans"/>
              </a:rPr>
              <a:t>Under-inflated effect on likelihood of high school graduation.</a:t>
            </a:r>
            <a:endParaRPr lang="en-US" sz="1200" b="1" i="0" u="none" strike="noStrike" cap="none" dirty="0">
              <a:solidFill>
                <a:schemeClr val="dk2"/>
              </a:solidFill>
              <a:latin typeface="Open Sans"/>
              <a:ea typeface="Open Sans"/>
              <a:cs typeface="Open Sans"/>
              <a:sym typeface="Open Sans"/>
            </a:endParaRPr>
          </a:p>
        </p:txBody>
      </p:sp>
      <p:sp>
        <p:nvSpPr>
          <p:cNvPr id="201" name="Google Shape;201;g39dff930041_0_1">
            <a:extLst>
              <a:ext uri="{FF2B5EF4-FFF2-40B4-BE49-F238E27FC236}">
                <a16:creationId xmlns:a16="http://schemas.microsoft.com/office/drawing/2014/main" id="{D257127F-D121-796B-D6EA-88346FFEAC33}"/>
              </a:ext>
            </a:extLst>
          </p:cNvPr>
          <p:cNvSpPr/>
          <p:nvPr/>
        </p:nvSpPr>
        <p:spPr>
          <a:xfrm>
            <a:off x="7355313" y="4367335"/>
            <a:ext cx="2206386" cy="1674976"/>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Model 2: -</a:t>
            </a:r>
            <a:r>
              <a:rPr lang="en-US" b="1" dirty="0">
                <a:solidFill>
                  <a:schemeClr val="dk2"/>
                </a:solidFill>
                <a:latin typeface="Open Sans"/>
                <a:ea typeface="Open Sans"/>
                <a:cs typeface="Open Sans"/>
                <a:sym typeface="Open Sans"/>
              </a:rPr>
              <a:t>9.8</a:t>
            </a:r>
            <a:r>
              <a:rPr lang="en-US" b="1" i="0" u="none" strike="noStrike" cap="none" dirty="0">
                <a:solidFill>
                  <a:schemeClr val="dk2"/>
                </a:solidFill>
                <a:latin typeface="Open Sans"/>
                <a:ea typeface="Open Sans"/>
                <a:cs typeface="Open Sans"/>
                <a:sym typeface="Open Sans"/>
              </a:rPr>
              <a:t>%</a:t>
            </a:r>
          </a:p>
          <a:p>
            <a:pPr marL="0" marR="0" lvl="0" indent="0" algn="ctr" rtl="0">
              <a:lnSpc>
                <a:spcPct val="100000"/>
              </a:lnSpc>
              <a:spcBef>
                <a:spcPts val="0"/>
              </a:spcBef>
              <a:spcAft>
                <a:spcPts val="0"/>
              </a:spcAft>
              <a:buNone/>
            </a:pPr>
            <a:endParaRPr lang="en-US" sz="1200" b="1" dirty="0">
              <a:solidFill>
                <a:schemeClr val="dk2"/>
              </a:solidFill>
              <a:latin typeface="Open Sans"/>
              <a:ea typeface="Open Sans"/>
              <a:cs typeface="Open Sans"/>
              <a:sym typeface="Open Sans"/>
            </a:endParaRPr>
          </a:p>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Controls for poverty, neighborhood, and vulnerabilities.</a:t>
            </a:r>
          </a:p>
          <a:p>
            <a:pPr marL="0" marR="0" lvl="0" indent="0" algn="ctr" rtl="0">
              <a:lnSpc>
                <a:spcPct val="100000"/>
              </a:lnSpc>
              <a:spcBef>
                <a:spcPts val="0"/>
              </a:spcBef>
              <a:spcAft>
                <a:spcPts val="0"/>
              </a:spcAft>
              <a:buNone/>
            </a:pPr>
            <a:r>
              <a:rPr lang="en-US" sz="1200" b="1" dirty="0">
                <a:solidFill>
                  <a:schemeClr val="dk2"/>
                </a:solidFill>
                <a:latin typeface="Open Sans"/>
                <a:ea typeface="Open Sans"/>
                <a:cs typeface="Open Sans"/>
                <a:sym typeface="Open Sans"/>
              </a:rPr>
              <a:t>Avoids collider bias.</a:t>
            </a:r>
          </a:p>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Most idealistic, more precise.</a:t>
            </a:r>
          </a:p>
        </p:txBody>
      </p:sp>
      <p:sp>
        <p:nvSpPr>
          <p:cNvPr id="202" name="Google Shape;202;g39dff930041_0_1">
            <a:extLst>
              <a:ext uri="{FF2B5EF4-FFF2-40B4-BE49-F238E27FC236}">
                <a16:creationId xmlns:a16="http://schemas.microsoft.com/office/drawing/2014/main" id="{786A513F-E95B-83AE-E6B9-517182FBDA58}"/>
              </a:ext>
            </a:extLst>
          </p:cNvPr>
          <p:cNvSpPr/>
          <p:nvPr/>
        </p:nvSpPr>
        <p:spPr>
          <a:xfrm>
            <a:off x="3861910" y="2742983"/>
            <a:ext cx="2504284" cy="187567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Model 1: -</a:t>
            </a:r>
            <a:r>
              <a:rPr lang="en-US" b="1" dirty="0">
                <a:solidFill>
                  <a:schemeClr val="dk2"/>
                </a:solidFill>
                <a:latin typeface="Open Sans"/>
                <a:ea typeface="Open Sans"/>
                <a:cs typeface="Open Sans"/>
                <a:sym typeface="Open Sans"/>
              </a:rPr>
              <a:t>10.1</a:t>
            </a:r>
            <a:r>
              <a:rPr lang="en-US" b="1" i="0" u="none" strike="noStrike" cap="none" dirty="0">
                <a:solidFill>
                  <a:schemeClr val="dk2"/>
                </a:solidFill>
                <a:latin typeface="Open Sans"/>
                <a:ea typeface="Open Sans"/>
                <a:cs typeface="Open Sans"/>
                <a:sym typeface="Open Sans"/>
              </a:rPr>
              <a:t>%</a:t>
            </a:r>
          </a:p>
          <a:p>
            <a:pPr marL="0" marR="0" lvl="0" indent="0" algn="ctr" rtl="0">
              <a:lnSpc>
                <a:spcPct val="100000"/>
              </a:lnSpc>
              <a:spcBef>
                <a:spcPts val="0"/>
              </a:spcBef>
              <a:spcAft>
                <a:spcPts val="0"/>
              </a:spcAft>
              <a:buNone/>
            </a:pPr>
            <a:endParaRPr lang="en-US" sz="1200" b="1" i="0" u="none" strike="noStrike" cap="none" dirty="0">
              <a:solidFill>
                <a:schemeClr val="dk2"/>
              </a:solidFill>
              <a:latin typeface="Open Sans"/>
              <a:ea typeface="Open Sans"/>
              <a:cs typeface="Open Sans"/>
              <a:sym typeface="Open Sans"/>
            </a:endParaRPr>
          </a:p>
          <a:p>
            <a:pPr marL="0" marR="0" lvl="0" indent="0" algn="ctr" rtl="0">
              <a:lnSpc>
                <a:spcPct val="100000"/>
              </a:lnSpc>
              <a:spcBef>
                <a:spcPts val="0"/>
              </a:spcBef>
              <a:spcAft>
                <a:spcPts val="0"/>
              </a:spcAft>
              <a:buNone/>
            </a:pPr>
            <a:r>
              <a:rPr lang="en-US" sz="1200" b="1" dirty="0">
                <a:solidFill>
                  <a:schemeClr val="dk2"/>
                </a:solidFill>
                <a:latin typeface="Open Sans"/>
                <a:ea typeface="Open Sans"/>
                <a:cs typeface="Open Sans"/>
                <a:sym typeface="Open Sans"/>
              </a:rPr>
              <a:t>Controls for poverty and neighborhood.</a:t>
            </a:r>
          </a:p>
          <a:p>
            <a:pPr marL="0" marR="0" lvl="0" indent="0" algn="ctr" rtl="0">
              <a:lnSpc>
                <a:spcPct val="100000"/>
              </a:lnSpc>
              <a:spcBef>
                <a:spcPts val="0"/>
              </a:spcBef>
              <a:spcAft>
                <a:spcPts val="0"/>
              </a:spcAft>
              <a:buNone/>
            </a:pPr>
            <a:r>
              <a:rPr lang="en-US" sz="1200" b="1" dirty="0">
                <a:solidFill>
                  <a:schemeClr val="dk2"/>
                </a:solidFill>
                <a:latin typeface="Open Sans"/>
                <a:ea typeface="Open Sans"/>
                <a:cs typeface="Open Sans"/>
                <a:sym typeface="Open Sans"/>
              </a:rPr>
              <a:t>Does NOT control for vulnerabilities.</a:t>
            </a:r>
          </a:p>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Avoids collider bias.</a:t>
            </a:r>
          </a:p>
          <a:p>
            <a:pPr marL="0" marR="0" lvl="0" indent="0" algn="ctr" rtl="0">
              <a:lnSpc>
                <a:spcPct val="100000"/>
              </a:lnSpc>
              <a:spcBef>
                <a:spcPts val="0"/>
              </a:spcBef>
              <a:spcAft>
                <a:spcPts val="0"/>
              </a:spcAft>
              <a:buNone/>
            </a:pPr>
            <a:r>
              <a:rPr lang="en-US" sz="1200" b="1" dirty="0">
                <a:solidFill>
                  <a:schemeClr val="dk2"/>
                </a:solidFill>
                <a:latin typeface="Open Sans"/>
                <a:ea typeface="Open Sans"/>
                <a:cs typeface="Open Sans"/>
                <a:sym typeface="Open Sans"/>
              </a:rPr>
              <a:t>Most realistic, slightly less precise</a:t>
            </a:r>
            <a:endParaRPr lang="en-US" sz="1200" b="1" i="0" u="none" strike="noStrike" cap="none" dirty="0">
              <a:solidFill>
                <a:schemeClr val="dk2"/>
              </a:solidFill>
              <a:latin typeface="Open Sans"/>
              <a:ea typeface="Open Sans"/>
              <a:cs typeface="Open Sans"/>
              <a:sym typeface="Open Sans"/>
            </a:endParaRPr>
          </a:p>
        </p:txBody>
      </p:sp>
      <p:cxnSp>
        <p:nvCxnSpPr>
          <p:cNvPr id="203" name="Google Shape;203;g39dff930041_0_1">
            <a:extLst>
              <a:ext uri="{FF2B5EF4-FFF2-40B4-BE49-F238E27FC236}">
                <a16:creationId xmlns:a16="http://schemas.microsoft.com/office/drawing/2014/main" id="{8719AA10-C7C3-1F30-21B4-D6FDE1189EA4}"/>
              </a:ext>
            </a:extLst>
          </p:cNvPr>
          <p:cNvCxnSpPr>
            <a:cxnSpLocks/>
            <a:stCxn id="202" idx="2"/>
          </p:cNvCxnSpPr>
          <p:nvPr/>
        </p:nvCxnSpPr>
        <p:spPr>
          <a:xfrm rot="5400000">
            <a:off x="4269195" y="4772172"/>
            <a:ext cx="998377" cy="691339"/>
          </a:xfrm>
          <a:prstGeom prst="curvedConnector3">
            <a:avLst>
              <a:gd name="adj1" fmla="val 107944"/>
            </a:avLst>
          </a:prstGeom>
          <a:noFill/>
          <a:ln w="38100" cap="flat" cmpd="sng">
            <a:solidFill>
              <a:srgbClr val="FFDC5D"/>
            </a:solidFill>
            <a:prstDash val="solid"/>
            <a:round/>
            <a:headEnd type="none" w="sm" len="sm"/>
            <a:tailEnd type="triangle" w="med" len="med"/>
          </a:ln>
        </p:spPr>
      </p:cxnSp>
      <p:cxnSp>
        <p:nvCxnSpPr>
          <p:cNvPr id="204" name="Google Shape;204;g39dff930041_0_1">
            <a:extLst>
              <a:ext uri="{FF2B5EF4-FFF2-40B4-BE49-F238E27FC236}">
                <a16:creationId xmlns:a16="http://schemas.microsoft.com/office/drawing/2014/main" id="{940D9A41-D63B-FF5C-FA98-AD8CFB2F46F1}"/>
              </a:ext>
            </a:extLst>
          </p:cNvPr>
          <p:cNvCxnSpPr>
            <a:cxnSpLocks/>
            <a:stCxn id="201" idx="1"/>
          </p:cNvCxnSpPr>
          <p:nvPr/>
        </p:nvCxnSpPr>
        <p:spPr>
          <a:xfrm rot="10800000" flipV="1">
            <a:off x="6568751" y="5204823"/>
            <a:ext cx="786562" cy="188270"/>
          </a:xfrm>
          <a:prstGeom prst="curvedConnector3">
            <a:avLst>
              <a:gd name="adj1" fmla="val 50000"/>
            </a:avLst>
          </a:prstGeom>
          <a:noFill/>
          <a:ln w="38100" cap="flat" cmpd="sng">
            <a:solidFill>
              <a:srgbClr val="FFDC5D"/>
            </a:solidFill>
            <a:prstDash val="solid"/>
            <a:round/>
            <a:headEnd type="none" w="sm" len="sm"/>
            <a:tailEnd type="triangle" w="med" len="med"/>
          </a:ln>
        </p:spPr>
      </p:cxnSp>
      <p:cxnSp>
        <p:nvCxnSpPr>
          <p:cNvPr id="205" name="Google Shape;205;g39dff930041_0_1">
            <a:extLst>
              <a:ext uri="{FF2B5EF4-FFF2-40B4-BE49-F238E27FC236}">
                <a16:creationId xmlns:a16="http://schemas.microsoft.com/office/drawing/2014/main" id="{B2CD63CD-45DE-4994-22AD-E10F29E5DBB6}"/>
              </a:ext>
            </a:extLst>
          </p:cNvPr>
          <p:cNvCxnSpPr>
            <a:cxnSpLocks/>
            <a:stCxn id="200" idx="1"/>
          </p:cNvCxnSpPr>
          <p:nvPr/>
        </p:nvCxnSpPr>
        <p:spPr>
          <a:xfrm rot="10800000">
            <a:off x="8612155" y="2621902"/>
            <a:ext cx="352736" cy="464424"/>
          </a:xfrm>
          <a:prstGeom prst="curvedConnector2">
            <a:avLst/>
          </a:prstGeom>
          <a:noFill/>
          <a:ln w="38100" cap="flat" cmpd="sng">
            <a:solidFill>
              <a:schemeClr val="accent2"/>
            </a:solidFill>
            <a:prstDash val="solid"/>
            <a:round/>
            <a:headEnd type="none" w="sm" len="sm"/>
            <a:tailEnd type="triangle" w="med" len="med"/>
          </a:ln>
        </p:spPr>
      </p:cxnSp>
      <p:sp>
        <p:nvSpPr>
          <p:cNvPr id="2" name="Slide Number Placeholder 1">
            <a:extLst>
              <a:ext uri="{FF2B5EF4-FFF2-40B4-BE49-F238E27FC236}">
                <a16:creationId xmlns:a16="http://schemas.microsoft.com/office/drawing/2014/main" id="{563DB89B-CA6E-3872-11F9-79C4541EDF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4145307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78FF00DE-566B-F79D-6FB3-BA582DFFE205}"/>
            </a:ext>
          </a:extLst>
        </p:cNvPr>
        <p:cNvGrpSpPr/>
        <p:nvPr/>
      </p:nvGrpSpPr>
      <p:grpSpPr>
        <a:xfrm>
          <a:off x="0" y="0"/>
          <a:ext cx="0" cy="0"/>
          <a:chOff x="0" y="0"/>
          <a:chExt cx="0" cy="0"/>
        </a:xfrm>
      </p:grpSpPr>
      <p:sp>
        <p:nvSpPr>
          <p:cNvPr id="212" name="Google Shape;212;g38240a52d44_0_24">
            <a:extLst>
              <a:ext uri="{FF2B5EF4-FFF2-40B4-BE49-F238E27FC236}">
                <a16:creationId xmlns:a16="http://schemas.microsoft.com/office/drawing/2014/main" id="{36431428-6823-04A9-ADD6-E65600267FFE}"/>
              </a:ext>
            </a:extLst>
          </p:cNvPr>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45454"/>
              <a:buNone/>
            </a:pPr>
            <a:r>
              <a:rPr lang="en-US" b="1">
                <a:solidFill>
                  <a:srgbClr val="001C84"/>
                </a:solidFill>
                <a:latin typeface="Open Sans"/>
                <a:ea typeface="Open Sans"/>
                <a:cs typeface="Open Sans"/>
                <a:sym typeface="Open Sans"/>
              </a:rPr>
              <a:t>Consequences of Ignoring Collider Bias</a:t>
            </a:r>
            <a:endParaRPr b="1">
              <a:solidFill>
                <a:srgbClr val="001C84"/>
              </a:solidFill>
              <a:latin typeface="Open Sans"/>
              <a:ea typeface="Open Sans"/>
              <a:cs typeface="Open Sans"/>
              <a:sym typeface="Open Sans"/>
            </a:endParaRPr>
          </a:p>
        </p:txBody>
      </p:sp>
      <p:sp>
        <p:nvSpPr>
          <p:cNvPr id="213" name="Google Shape;213;g38240a52d44_0_24">
            <a:extLst>
              <a:ext uri="{FF2B5EF4-FFF2-40B4-BE49-F238E27FC236}">
                <a16:creationId xmlns:a16="http://schemas.microsoft.com/office/drawing/2014/main" id="{A31A68FF-CF95-66C1-C430-A36665A8948A}"/>
              </a:ext>
            </a:extLst>
          </p:cNvPr>
          <p:cNvSpPr txBox="1">
            <a:spLocks noGrp="1"/>
          </p:cNvSpPr>
          <p:nvPr>
            <p:ph type="body" idx="1"/>
          </p:nvPr>
        </p:nvSpPr>
        <p:spPr>
          <a:xfrm>
            <a:off x="618744" y="1682562"/>
            <a:ext cx="10677444" cy="4900800"/>
          </a:xfrm>
          <a:prstGeom prst="rect">
            <a:avLst/>
          </a:prstGeom>
          <a:noFill/>
          <a:ln>
            <a:noFill/>
          </a:ln>
        </p:spPr>
        <p:txBody>
          <a:bodyPr spcFirstLastPara="1" wrap="square" lIns="91425" tIns="45700" rIns="91425" bIns="45700" anchor="t" anchorCtr="0">
            <a:noAutofit/>
          </a:bodyPr>
          <a:lstStyle/>
          <a:p>
            <a:pPr marL="0" indent="0">
              <a:spcBef>
                <a:spcPts val="1000"/>
              </a:spcBef>
              <a:buSzPts val="2200"/>
              <a:buNone/>
            </a:pPr>
            <a:r>
              <a:rPr lang="en-US" sz="1600" dirty="0">
                <a:solidFill>
                  <a:schemeClr val="dk1"/>
                </a:solidFill>
                <a:latin typeface="Open Sans"/>
                <a:ea typeface="Open Sans"/>
                <a:cs typeface="Open Sans"/>
                <a:sym typeface="Open Sans"/>
              </a:rPr>
              <a:t>The example highlights three main points: </a:t>
            </a:r>
          </a:p>
          <a:p>
            <a:pPr marL="0" indent="0">
              <a:spcBef>
                <a:spcPts val="1000"/>
              </a:spcBef>
              <a:buSzPct val="100000"/>
              <a:buNone/>
            </a:pPr>
            <a:r>
              <a:rPr lang="en-US" sz="1600" b="1" dirty="0">
                <a:latin typeface="Open Sans"/>
                <a:ea typeface="Open Sans"/>
                <a:cs typeface="Open Sans"/>
                <a:sym typeface="Open Sans"/>
              </a:rPr>
              <a:t>1. </a:t>
            </a:r>
            <a:r>
              <a:rPr lang="en-US" sz="1600" b="1" dirty="0">
                <a:solidFill>
                  <a:srgbClr val="001C84"/>
                </a:solidFill>
                <a:latin typeface="Open Sans"/>
                <a:ea typeface="Open Sans"/>
                <a:cs typeface="Open Sans"/>
                <a:sym typeface="Open Sans"/>
              </a:rPr>
              <a:t>Marginalization due to race and vulnerabilities (e.g. chronic health conditions in the family) are unrelated overall</a:t>
            </a:r>
            <a:r>
              <a:rPr lang="en-US" sz="1600" dirty="0">
                <a:solidFill>
                  <a:schemeClr val="tx1"/>
                </a:solidFill>
                <a:latin typeface="Open Sans"/>
                <a:ea typeface="Open Sans"/>
                <a:cs typeface="Open Sans"/>
                <a:sym typeface="Open Sans"/>
              </a:rPr>
              <a:t>. Note: our DAG has </a:t>
            </a:r>
            <a:r>
              <a:rPr lang="en-US" sz="1600" u="sng" dirty="0">
                <a:solidFill>
                  <a:schemeClr val="tx1"/>
                </a:solidFill>
                <a:latin typeface="Open Sans"/>
                <a:ea typeface="Open Sans"/>
                <a:cs typeface="Open Sans"/>
                <a:sym typeface="Open Sans"/>
              </a:rPr>
              <a:t>no arrows </a:t>
            </a:r>
            <a:r>
              <a:rPr lang="en-US" sz="1600" i="1" u="sng" dirty="0">
                <a:solidFill>
                  <a:schemeClr val="tx1"/>
                </a:solidFill>
                <a:latin typeface="Open Sans"/>
                <a:ea typeface="Open Sans"/>
                <a:cs typeface="Open Sans"/>
                <a:sym typeface="Open Sans"/>
              </a:rPr>
              <a:t>directly</a:t>
            </a:r>
            <a:r>
              <a:rPr lang="en-US" sz="1600" u="sng" dirty="0">
                <a:solidFill>
                  <a:schemeClr val="tx1"/>
                </a:solidFill>
                <a:latin typeface="Open Sans"/>
                <a:ea typeface="Open Sans"/>
                <a:cs typeface="Open Sans"/>
                <a:sym typeface="Open Sans"/>
              </a:rPr>
              <a:t> connecting marginalization and vulnerabilities</a:t>
            </a:r>
            <a:endParaRPr lang="en-US" sz="1600" dirty="0">
              <a:solidFill>
                <a:schemeClr val="tx1"/>
              </a:solidFill>
              <a:latin typeface="Open Sans"/>
              <a:ea typeface="Open Sans"/>
              <a:cs typeface="Open Sans"/>
              <a:sym typeface="Open Sans"/>
            </a:endParaRPr>
          </a:p>
          <a:p>
            <a:pPr marL="774700" lvl="1">
              <a:spcBef>
                <a:spcPts val="1000"/>
              </a:spcBef>
              <a:buSzPct val="100000"/>
              <a:buFont typeface="Arial" panose="020B0604020202020204" pitchFamily="34" charset="0"/>
              <a:buChar char="•"/>
            </a:pPr>
            <a:r>
              <a:rPr lang="en-US" sz="1600" dirty="0">
                <a:solidFill>
                  <a:schemeClr val="dk1"/>
                </a:solidFill>
                <a:latin typeface="Open Sans"/>
                <a:ea typeface="Open Sans"/>
                <a:cs typeface="Open Sans"/>
                <a:sym typeface="Open Sans"/>
              </a:rPr>
              <a:t>Marginalized people tend to live in poor neighborhoods because they’re marginalized</a:t>
            </a:r>
          </a:p>
          <a:p>
            <a:pPr marL="774700" lvl="1">
              <a:spcBef>
                <a:spcPts val="1000"/>
              </a:spcBef>
              <a:buSzPct val="100000"/>
              <a:buFont typeface="Arial" panose="020B0604020202020204" pitchFamily="34" charset="0"/>
              <a:buChar char="•"/>
            </a:pPr>
            <a:r>
              <a:rPr lang="en-US" sz="1600" dirty="0">
                <a:solidFill>
                  <a:schemeClr val="dk1"/>
                </a:solidFill>
                <a:latin typeface="Open Sans"/>
                <a:ea typeface="Open Sans"/>
                <a:cs typeface="Open Sans"/>
                <a:sym typeface="Open Sans"/>
              </a:rPr>
              <a:t>Non-marginalized people tend to live in low-income neighborhoods because of their vulnerabilities (e.g., chronic health conditions)</a:t>
            </a:r>
            <a:endParaRPr lang="en-US" sz="1600" dirty="0">
              <a:latin typeface="Open Sans"/>
              <a:ea typeface="Open Sans"/>
              <a:cs typeface="Open Sans"/>
              <a:sym typeface="Open Sans"/>
            </a:endParaRPr>
          </a:p>
          <a:p>
            <a:pPr marL="774700" lvl="1">
              <a:spcBef>
                <a:spcPts val="1000"/>
              </a:spcBef>
              <a:buSzPct val="100000"/>
              <a:buFont typeface="Arial" panose="020B0604020202020204" pitchFamily="34" charset="0"/>
              <a:buChar char="•"/>
            </a:pPr>
            <a:r>
              <a:rPr lang="en-US" sz="1600" dirty="0">
                <a:solidFill>
                  <a:schemeClr val="dk1"/>
                </a:solidFill>
                <a:latin typeface="Open Sans"/>
                <a:ea typeface="Open Sans"/>
                <a:cs typeface="Open Sans"/>
                <a:sym typeface="Open Sans"/>
              </a:rPr>
              <a:t>In other words, marginalized &amp; non-marginalized students tend to live in low-income neighborhoods for different, unrelated reasons</a:t>
            </a:r>
          </a:p>
          <a:p>
            <a:pPr marL="0" indent="0">
              <a:spcBef>
                <a:spcPts val="1000"/>
              </a:spcBef>
              <a:buSzPts val="2200"/>
              <a:buNone/>
            </a:pPr>
            <a:r>
              <a:rPr lang="en-US" sz="1600" b="1" dirty="0">
                <a:latin typeface="Open Sans"/>
                <a:ea typeface="Open Sans"/>
                <a:cs typeface="Open Sans"/>
                <a:sym typeface="Open Sans"/>
              </a:rPr>
              <a:t>2. </a:t>
            </a:r>
            <a:r>
              <a:rPr lang="en-US" sz="1600" dirty="0">
                <a:solidFill>
                  <a:schemeClr val="dk1"/>
                </a:solidFill>
                <a:latin typeface="Open Sans"/>
                <a:ea typeface="Open Sans"/>
                <a:cs typeface="Open Sans"/>
                <a:sym typeface="Open Sans"/>
              </a:rPr>
              <a:t>If we want to estimate the effects of marginalization on educational outcomes, but we only have information about students living in/attending school in low-income neighborhoods, in effect we’re </a:t>
            </a:r>
            <a:r>
              <a:rPr lang="en-US" sz="1600" b="1" dirty="0">
                <a:solidFill>
                  <a:srgbClr val="001C84"/>
                </a:solidFill>
                <a:latin typeface="Open Sans"/>
                <a:ea typeface="Open Sans"/>
                <a:cs typeface="Open Sans"/>
                <a:sym typeface="Open Sans"/>
              </a:rPr>
              <a:t>comparing marginalized students to a subset of non-marginalized students with above-average levels of vulnerability</a:t>
            </a:r>
            <a:endParaRPr lang="en-US" sz="1600" dirty="0">
              <a:solidFill>
                <a:schemeClr val="tx1"/>
              </a:solidFill>
              <a:latin typeface="Open Sans"/>
              <a:ea typeface="Open Sans"/>
              <a:cs typeface="Open Sans"/>
              <a:sym typeface="Open Sans"/>
            </a:endParaRPr>
          </a:p>
          <a:p>
            <a:pPr marL="0" indent="0">
              <a:spcBef>
                <a:spcPts val="1000"/>
              </a:spcBef>
              <a:buSzPts val="2200"/>
              <a:buNone/>
            </a:pPr>
            <a:r>
              <a:rPr lang="en-US" sz="1600" b="1" dirty="0">
                <a:solidFill>
                  <a:schemeClr val="tx1"/>
                </a:solidFill>
                <a:latin typeface="Open Sans"/>
                <a:ea typeface="Open Sans"/>
                <a:cs typeface="Open Sans"/>
                <a:sym typeface="Open Sans"/>
              </a:rPr>
              <a:t>3. </a:t>
            </a:r>
            <a:r>
              <a:rPr lang="en-US" sz="1600" dirty="0">
                <a:solidFill>
                  <a:schemeClr val="tx1"/>
                </a:solidFill>
                <a:latin typeface="Open Sans"/>
                <a:ea typeface="Open Sans"/>
                <a:cs typeface="Open Sans"/>
                <a:sym typeface="Open Sans"/>
              </a:rPr>
              <a:t>This will </a:t>
            </a:r>
            <a:r>
              <a:rPr lang="en-US" sz="1600" b="1" dirty="0">
                <a:solidFill>
                  <a:srgbClr val="001C84"/>
                </a:solidFill>
                <a:latin typeface="Open Sans"/>
                <a:ea typeface="Open Sans"/>
                <a:cs typeface="Open Sans"/>
                <a:sym typeface="Open Sans"/>
              </a:rPr>
              <a:t>underestimate the negative effect of marginalization </a:t>
            </a:r>
            <a:r>
              <a:rPr lang="en-US" sz="1600" dirty="0">
                <a:solidFill>
                  <a:schemeClr val="tx1"/>
                </a:solidFill>
                <a:latin typeface="Open Sans"/>
                <a:ea typeface="Open Sans"/>
                <a:cs typeface="Open Sans"/>
                <a:sym typeface="Open Sans"/>
              </a:rPr>
              <a:t>on likelihood of high school graduation</a:t>
            </a:r>
          </a:p>
        </p:txBody>
      </p:sp>
      <p:sp>
        <p:nvSpPr>
          <p:cNvPr id="4" name="Slide Number Placeholder 3">
            <a:extLst>
              <a:ext uri="{FF2B5EF4-FFF2-40B4-BE49-F238E27FC236}">
                <a16:creationId xmlns:a16="http://schemas.microsoft.com/office/drawing/2014/main" id="{56BB87B7-E69E-376A-6B63-B12FF74E05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grpSp>
        <p:nvGrpSpPr>
          <p:cNvPr id="3" name="Google Shape;181;g39dd63b4ae5_0_28">
            <a:extLst>
              <a:ext uri="{FF2B5EF4-FFF2-40B4-BE49-F238E27FC236}">
                <a16:creationId xmlns:a16="http://schemas.microsoft.com/office/drawing/2014/main" id="{E022B55E-7A6B-1399-2C0A-8B7677B7F602}"/>
              </a:ext>
            </a:extLst>
          </p:cNvPr>
          <p:cNvGrpSpPr/>
          <p:nvPr/>
        </p:nvGrpSpPr>
        <p:grpSpPr>
          <a:xfrm>
            <a:off x="9426404" y="274638"/>
            <a:ext cx="2605557" cy="1705410"/>
            <a:chOff x="3524975" y="3107024"/>
            <a:chExt cx="5142051" cy="3365616"/>
          </a:xfrm>
        </p:grpSpPr>
        <p:sp>
          <p:nvSpPr>
            <p:cNvPr id="14" name="Google Shape;182;g39dd63b4ae5_0_28">
              <a:extLst>
                <a:ext uri="{FF2B5EF4-FFF2-40B4-BE49-F238E27FC236}">
                  <a16:creationId xmlns:a16="http://schemas.microsoft.com/office/drawing/2014/main" id="{B5A1E5D5-91A5-A412-C33B-7AB946A21FCD}"/>
                </a:ext>
              </a:extLst>
            </p:cNvPr>
            <p:cNvSpPr/>
            <p:nvPr/>
          </p:nvSpPr>
          <p:spPr>
            <a:xfrm>
              <a:off x="4763081" y="3107024"/>
              <a:ext cx="2238000" cy="650700"/>
            </a:xfrm>
            <a:prstGeom prst="roundRect">
              <a:avLst>
                <a:gd name="adj" fmla="val 16667"/>
              </a:avLst>
            </a:prstGeom>
            <a:solidFill>
              <a:srgbClr val="FFDC5D"/>
            </a:solidFill>
            <a:ln w="12700">
              <a:solidFill>
                <a:schemeClr val="tx1"/>
              </a:solid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b="1" i="0" u="none" strike="noStrike" cap="none" dirty="0">
                  <a:solidFill>
                    <a:schemeClr val="dk2"/>
                  </a:solidFill>
                  <a:latin typeface="Open Sans"/>
                  <a:ea typeface="Open Sans"/>
                  <a:cs typeface="Open Sans"/>
                  <a:sym typeface="Open Sans"/>
                </a:rPr>
                <a:t>Marginalization</a:t>
              </a:r>
              <a:endParaRPr sz="700" b="1" i="0" u="none" strike="noStrike" cap="none" dirty="0">
                <a:solidFill>
                  <a:schemeClr val="dk2"/>
                </a:solidFill>
                <a:latin typeface="Open Sans"/>
                <a:ea typeface="Open Sans"/>
                <a:cs typeface="Open Sans"/>
                <a:sym typeface="Open Sans"/>
              </a:endParaRPr>
            </a:p>
          </p:txBody>
        </p:sp>
        <p:sp>
          <p:nvSpPr>
            <p:cNvPr id="15" name="Google Shape;183;g39dd63b4ae5_0_28">
              <a:extLst>
                <a:ext uri="{FF2B5EF4-FFF2-40B4-BE49-F238E27FC236}">
                  <a16:creationId xmlns:a16="http://schemas.microsoft.com/office/drawing/2014/main" id="{05C0E810-7875-EB14-640E-AC239472EA08}"/>
                </a:ext>
              </a:extLst>
            </p:cNvPr>
            <p:cNvSpPr/>
            <p:nvPr/>
          </p:nvSpPr>
          <p:spPr>
            <a:xfrm>
              <a:off x="3524975" y="4701003"/>
              <a:ext cx="1735800" cy="487500"/>
            </a:xfrm>
            <a:prstGeom prst="roundRect">
              <a:avLst>
                <a:gd name="adj" fmla="val 16667"/>
              </a:avLst>
            </a:prstGeom>
            <a:solidFill>
              <a:srgbClr val="D99593"/>
            </a:solidFill>
            <a:ln w="12700">
              <a:solidFill>
                <a:schemeClr val="tx1"/>
              </a:solid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b="1" i="0" u="none" strike="noStrike" cap="none" dirty="0">
                  <a:solidFill>
                    <a:schemeClr val="dk2"/>
                  </a:solidFill>
                  <a:latin typeface="Open Sans"/>
                  <a:ea typeface="Open Sans"/>
                  <a:cs typeface="Open Sans"/>
                  <a:sym typeface="Open Sans"/>
                </a:rPr>
                <a:t>Low-income Neighborhood</a:t>
              </a:r>
              <a:endParaRPr sz="700" b="1" i="0" u="none" strike="noStrike" cap="none" dirty="0">
                <a:solidFill>
                  <a:schemeClr val="dk2"/>
                </a:solidFill>
                <a:latin typeface="Open Sans"/>
                <a:ea typeface="Open Sans"/>
                <a:cs typeface="Open Sans"/>
                <a:sym typeface="Open Sans"/>
              </a:endParaRPr>
            </a:p>
          </p:txBody>
        </p:sp>
        <p:sp>
          <p:nvSpPr>
            <p:cNvPr id="16" name="Google Shape;184;g39dd63b4ae5_0_28">
              <a:extLst>
                <a:ext uri="{FF2B5EF4-FFF2-40B4-BE49-F238E27FC236}">
                  <a16:creationId xmlns:a16="http://schemas.microsoft.com/office/drawing/2014/main" id="{C7C9BC6A-8473-2B79-A2DD-883B7BE6BA40}"/>
                </a:ext>
              </a:extLst>
            </p:cNvPr>
            <p:cNvSpPr/>
            <p:nvPr/>
          </p:nvSpPr>
          <p:spPr>
            <a:xfrm>
              <a:off x="6931226" y="4701003"/>
              <a:ext cx="1735800" cy="487500"/>
            </a:xfrm>
            <a:prstGeom prst="roundRect">
              <a:avLst>
                <a:gd name="adj" fmla="val 16667"/>
              </a:avLst>
            </a:prstGeom>
            <a:solidFill>
              <a:srgbClr val="FFDC5D"/>
            </a:solidFill>
            <a:ln w="12700">
              <a:solidFill>
                <a:schemeClr val="tx1"/>
              </a:solid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b="1" i="0" u="none" strike="noStrike" cap="none">
                  <a:solidFill>
                    <a:schemeClr val="dk2"/>
                  </a:solidFill>
                  <a:latin typeface="Open Sans"/>
                  <a:ea typeface="Open Sans"/>
                  <a:cs typeface="Open Sans"/>
                  <a:sym typeface="Open Sans"/>
                </a:rPr>
                <a:t>High School Graduation</a:t>
              </a:r>
              <a:endParaRPr sz="700" b="1" i="0" u="none" strike="noStrike" cap="none">
                <a:solidFill>
                  <a:schemeClr val="dk2"/>
                </a:solidFill>
                <a:latin typeface="Open Sans"/>
                <a:ea typeface="Open Sans"/>
                <a:cs typeface="Open Sans"/>
                <a:sym typeface="Open Sans"/>
              </a:endParaRPr>
            </a:p>
          </p:txBody>
        </p:sp>
        <p:cxnSp>
          <p:nvCxnSpPr>
            <p:cNvPr id="17" name="Google Shape;185;g39dd63b4ae5_0_28">
              <a:extLst>
                <a:ext uri="{FF2B5EF4-FFF2-40B4-BE49-F238E27FC236}">
                  <a16:creationId xmlns:a16="http://schemas.microsoft.com/office/drawing/2014/main" id="{7061331C-BD51-2987-60BA-A04C013199C2}"/>
                </a:ext>
              </a:extLst>
            </p:cNvPr>
            <p:cNvCxnSpPr>
              <a:stCxn id="14" idx="2"/>
              <a:endCxn id="15" idx="0"/>
            </p:cNvCxnSpPr>
            <p:nvPr/>
          </p:nvCxnSpPr>
          <p:spPr>
            <a:xfrm flipH="1">
              <a:off x="4392881" y="3757724"/>
              <a:ext cx="1489200" cy="943200"/>
            </a:xfrm>
            <a:prstGeom prst="straightConnector1">
              <a:avLst/>
            </a:prstGeom>
            <a:noFill/>
            <a:ln w="12700" cap="flat" cmpd="sng">
              <a:solidFill>
                <a:schemeClr val="accent2"/>
              </a:solidFill>
              <a:prstDash val="solid"/>
              <a:round/>
              <a:headEnd type="none" w="sm" len="sm"/>
              <a:tailEnd type="triangle" w="med" len="med"/>
            </a:ln>
          </p:spPr>
        </p:cxnSp>
        <p:cxnSp>
          <p:nvCxnSpPr>
            <p:cNvPr id="18" name="Google Shape;186;g39dd63b4ae5_0_28">
              <a:extLst>
                <a:ext uri="{FF2B5EF4-FFF2-40B4-BE49-F238E27FC236}">
                  <a16:creationId xmlns:a16="http://schemas.microsoft.com/office/drawing/2014/main" id="{C89196A2-884F-2EA4-4FC9-E0D9C8243900}"/>
                </a:ext>
              </a:extLst>
            </p:cNvPr>
            <p:cNvCxnSpPr>
              <a:stCxn id="14" idx="2"/>
              <a:endCxn id="16" idx="0"/>
            </p:cNvCxnSpPr>
            <p:nvPr/>
          </p:nvCxnSpPr>
          <p:spPr>
            <a:xfrm>
              <a:off x="5882081" y="3757724"/>
              <a:ext cx="1917000" cy="943200"/>
            </a:xfrm>
            <a:prstGeom prst="straightConnector1">
              <a:avLst/>
            </a:prstGeom>
            <a:noFill/>
            <a:ln w="12700" cap="flat" cmpd="sng">
              <a:solidFill>
                <a:schemeClr val="dk2"/>
              </a:solidFill>
              <a:prstDash val="solid"/>
              <a:round/>
              <a:headEnd type="none" w="sm" len="sm"/>
              <a:tailEnd type="triangle" w="med" len="med"/>
            </a:ln>
          </p:spPr>
        </p:cxnSp>
        <p:cxnSp>
          <p:nvCxnSpPr>
            <p:cNvPr id="19" name="Google Shape;187;g39dd63b4ae5_0_28">
              <a:extLst>
                <a:ext uri="{FF2B5EF4-FFF2-40B4-BE49-F238E27FC236}">
                  <a16:creationId xmlns:a16="http://schemas.microsoft.com/office/drawing/2014/main" id="{79897126-0E17-A50E-9F3A-54782836B2C3}"/>
                </a:ext>
              </a:extLst>
            </p:cNvPr>
            <p:cNvCxnSpPr>
              <a:stCxn id="15" idx="3"/>
              <a:endCxn id="16" idx="1"/>
            </p:cNvCxnSpPr>
            <p:nvPr/>
          </p:nvCxnSpPr>
          <p:spPr>
            <a:xfrm>
              <a:off x="5260775" y="4944753"/>
              <a:ext cx="1670400" cy="0"/>
            </a:xfrm>
            <a:prstGeom prst="straightConnector1">
              <a:avLst/>
            </a:prstGeom>
            <a:noFill/>
            <a:ln w="12700" cap="flat" cmpd="sng">
              <a:solidFill>
                <a:schemeClr val="dk2"/>
              </a:solidFill>
              <a:prstDash val="solid"/>
              <a:round/>
              <a:headEnd type="none" w="sm" len="sm"/>
              <a:tailEnd type="triangle" w="med" len="med"/>
            </a:ln>
          </p:spPr>
        </p:cxnSp>
        <p:sp>
          <p:nvSpPr>
            <p:cNvPr id="20" name="Google Shape;188;g39dd63b4ae5_0_28">
              <a:extLst>
                <a:ext uri="{FF2B5EF4-FFF2-40B4-BE49-F238E27FC236}">
                  <a16:creationId xmlns:a16="http://schemas.microsoft.com/office/drawing/2014/main" id="{B86FF575-93E7-C3F4-832B-6A219B247AC6}"/>
                </a:ext>
              </a:extLst>
            </p:cNvPr>
            <p:cNvSpPr/>
            <p:nvPr/>
          </p:nvSpPr>
          <p:spPr>
            <a:xfrm>
              <a:off x="4976981" y="5821940"/>
              <a:ext cx="2238000" cy="650700"/>
            </a:xfrm>
            <a:prstGeom prst="roundRect">
              <a:avLst>
                <a:gd name="adj" fmla="val 16667"/>
              </a:avLst>
            </a:prstGeom>
            <a:solidFill>
              <a:srgbClr val="FFDC5D"/>
            </a:solidFill>
            <a:ln w="12700" cap="flat" cmpd="sng">
              <a:solidFill>
                <a:srgbClr val="001C84"/>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b="1" i="0" u="none" strike="noStrike" cap="none">
                  <a:solidFill>
                    <a:schemeClr val="dk2"/>
                  </a:solidFill>
                  <a:latin typeface="Open Sans"/>
                  <a:ea typeface="Open Sans"/>
                  <a:cs typeface="Open Sans"/>
                  <a:sym typeface="Open Sans"/>
                </a:rPr>
                <a:t>Vulnerabilities</a:t>
              </a:r>
              <a:endParaRPr sz="700" b="1" i="0" u="none" strike="noStrike" cap="none">
                <a:solidFill>
                  <a:schemeClr val="dk2"/>
                </a:solidFill>
                <a:latin typeface="Open Sans"/>
                <a:ea typeface="Open Sans"/>
                <a:cs typeface="Open Sans"/>
                <a:sym typeface="Open Sans"/>
              </a:endParaRPr>
            </a:p>
          </p:txBody>
        </p:sp>
        <p:cxnSp>
          <p:nvCxnSpPr>
            <p:cNvPr id="21" name="Google Shape;189;g39dd63b4ae5_0_28">
              <a:extLst>
                <a:ext uri="{FF2B5EF4-FFF2-40B4-BE49-F238E27FC236}">
                  <a16:creationId xmlns:a16="http://schemas.microsoft.com/office/drawing/2014/main" id="{BCA07BF7-1B61-3E94-EAB1-4BA4255DA8BF}"/>
                </a:ext>
              </a:extLst>
            </p:cNvPr>
            <p:cNvCxnSpPr>
              <a:stCxn id="20" idx="0"/>
              <a:endCxn id="16" idx="2"/>
            </p:cNvCxnSpPr>
            <p:nvPr/>
          </p:nvCxnSpPr>
          <p:spPr>
            <a:xfrm rot="10800000" flipH="1">
              <a:off x="6095981" y="5188640"/>
              <a:ext cx="1703100" cy="633300"/>
            </a:xfrm>
            <a:prstGeom prst="straightConnector1">
              <a:avLst/>
            </a:prstGeom>
            <a:noFill/>
            <a:ln w="12700" cap="flat" cmpd="sng">
              <a:solidFill>
                <a:schemeClr val="dk2"/>
              </a:solidFill>
              <a:prstDash val="dash"/>
              <a:round/>
              <a:headEnd type="none" w="sm" len="sm"/>
              <a:tailEnd type="triangle" w="med" len="med"/>
            </a:ln>
          </p:spPr>
        </p:cxnSp>
        <p:cxnSp>
          <p:nvCxnSpPr>
            <p:cNvPr id="22" name="Google Shape;190;g39dd63b4ae5_0_28">
              <a:extLst>
                <a:ext uri="{FF2B5EF4-FFF2-40B4-BE49-F238E27FC236}">
                  <a16:creationId xmlns:a16="http://schemas.microsoft.com/office/drawing/2014/main" id="{37261FA3-33AF-B0F8-78AB-12CF5FAF4579}"/>
                </a:ext>
              </a:extLst>
            </p:cNvPr>
            <p:cNvCxnSpPr>
              <a:stCxn id="20" idx="0"/>
              <a:endCxn id="15" idx="2"/>
            </p:cNvCxnSpPr>
            <p:nvPr/>
          </p:nvCxnSpPr>
          <p:spPr>
            <a:xfrm rot="10800000">
              <a:off x="4392881" y="5188640"/>
              <a:ext cx="1703100" cy="633300"/>
            </a:xfrm>
            <a:prstGeom prst="straightConnector1">
              <a:avLst/>
            </a:prstGeom>
            <a:noFill/>
            <a:ln w="12700" cap="flat" cmpd="sng">
              <a:solidFill>
                <a:schemeClr val="accent2"/>
              </a:solidFill>
              <a:prstDash val="dash"/>
              <a:round/>
              <a:headEnd type="none" w="sm" len="sm"/>
              <a:tailEnd type="triangle" w="med" len="med"/>
            </a:ln>
          </p:spPr>
        </p:cxnSp>
      </p:grpSp>
    </p:spTree>
    <p:extLst>
      <p:ext uri="{BB962C8B-B14F-4D97-AF65-F5344CB8AC3E}">
        <p14:creationId xmlns:p14="http://schemas.microsoft.com/office/powerpoint/2010/main" val="2794718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38240a52d44_0_24"/>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45454"/>
              <a:buNone/>
            </a:pPr>
            <a:r>
              <a:rPr lang="en-US" b="1">
                <a:solidFill>
                  <a:srgbClr val="001C84"/>
                </a:solidFill>
                <a:latin typeface="Open Sans"/>
                <a:ea typeface="Open Sans"/>
                <a:cs typeface="Open Sans"/>
                <a:sym typeface="Open Sans"/>
              </a:rPr>
              <a:t>Consequences of Ignoring Collider Bias</a:t>
            </a:r>
            <a:endParaRPr b="1">
              <a:solidFill>
                <a:srgbClr val="001C84"/>
              </a:solidFill>
              <a:latin typeface="Open Sans"/>
              <a:ea typeface="Open Sans"/>
              <a:cs typeface="Open Sans"/>
              <a:sym typeface="Open Sans"/>
            </a:endParaRPr>
          </a:p>
        </p:txBody>
      </p:sp>
      <p:sp>
        <p:nvSpPr>
          <p:cNvPr id="213" name="Google Shape;213;g38240a52d44_0_24"/>
          <p:cNvSpPr txBox="1">
            <a:spLocks noGrp="1"/>
          </p:cNvSpPr>
          <p:nvPr>
            <p:ph type="body" idx="1"/>
          </p:nvPr>
        </p:nvSpPr>
        <p:spPr>
          <a:xfrm>
            <a:off x="618744" y="1682562"/>
            <a:ext cx="10954512" cy="4900800"/>
          </a:xfrm>
          <a:prstGeom prst="rect">
            <a:avLst/>
          </a:prstGeom>
          <a:noFill/>
          <a:ln>
            <a:noFill/>
          </a:ln>
        </p:spPr>
        <p:txBody>
          <a:bodyPr spcFirstLastPara="1" wrap="square" lIns="91425" tIns="45700" rIns="91425" bIns="45700" anchor="t" anchorCtr="0">
            <a:normAutofit/>
          </a:bodyPr>
          <a:lstStyle/>
          <a:p>
            <a:pPr marL="774700" lvl="1" algn="l" rtl="0">
              <a:lnSpc>
                <a:spcPct val="100000"/>
              </a:lnSpc>
              <a:spcBef>
                <a:spcPts val="1000"/>
              </a:spcBef>
              <a:spcAft>
                <a:spcPts val="0"/>
              </a:spcAft>
              <a:buSzPts val="2200"/>
              <a:buFont typeface="Arial" panose="020B0604020202020204" pitchFamily="34" charset="0"/>
              <a:buChar char="•"/>
            </a:pPr>
            <a:r>
              <a:rPr lang="en-US" sz="2200" dirty="0">
                <a:solidFill>
                  <a:schemeClr val="tx1"/>
                </a:solidFill>
                <a:latin typeface="Open Sans"/>
                <a:ea typeface="Open Sans"/>
                <a:cs typeface="Open Sans"/>
                <a:sym typeface="Open Sans"/>
              </a:rPr>
              <a:t>We reach inaccurate conclusions that tend to </a:t>
            </a:r>
            <a:r>
              <a:rPr lang="en-US" sz="2200" b="1" dirty="0">
                <a:solidFill>
                  <a:srgbClr val="001C84"/>
                </a:solidFill>
                <a:latin typeface="Open Sans"/>
                <a:ea typeface="Open Sans"/>
                <a:cs typeface="Open Sans"/>
                <a:sym typeface="Open Sans"/>
              </a:rPr>
              <a:t>underestimate the impact of structural problems </a:t>
            </a:r>
            <a:r>
              <a:rPr lang="en-US" sz="2200" dirty="0">
                <a:solidFill>
                  <a:schemeClr val="tx1"/>
                </a:solidFill>
                <a:latin typeface="Open Sans"/>
                <a:ea typeface="Open Sans"/>
                <a:cs typeface="Open Sans"/>
                <a:sym typeface="Open Sans"/>
              </a:rPr>
              <a:t>in society</a:t>
            </a:r>
            <a:endParaRPr sz="2400" dirty="0">
              <a:solidFill>
                <a:schemeClr val="tx1"/>
              </a:solidFill>
            </a:endParaRPr>
          </a:p>
          <a:p>
            <a:pPr marL="774700" lvl="1" algn="l" rtl="0">
              <a:lnSpc>
                <a:spcPct val="100000"/>
              </a:lnSpc>
              <a:spcBef>
                <a:spcPts val="1000"/>
              </a:spcBef>
              <a:spcAft>
                <a:spcPts val="0"/>
              </a:spcAft>
              <a:buSzPts val="2200"/>
              <a:buFont typeface="Arial" panose="020B0604020202020204" pitchFamily="34" charset="0"/>
              <a:buChar char="•"/>
            </a:pPr>
            <a:r>
              <a:rPr lang="en-US" sz="2200" dirty="0">
                <a:solidFill>
                  <a:schemeClr val="dk1"/>
                </a:solidFill>
                <a:latin typeface="Open Sans"/>
                <a:ea typeface="Open Sans"/>
                <a:cs typeface="Open Sans"/>
                <a:sym typeface="Open Sans"/>
              </a:rPr>
              <a:t>This can negatively impact decision-making in social investments, funding allocation, policy-making, etc.</a:t>
            </a:r>
            <a:endParaRPr dirty="0">
              <a:solidFill>
                <a:schemeClr val="dk1"/>
              </a:solidFill>
            </a:endParaRPr>
          </a:p>
          <a:p>
            <a:pPr marL="774700" lvl="1" algn="l" rtl="0">
              <a:lnSpc>
                <a:spcPct val="100000"/>
              </a:lnSpc>
              <a:spcBef>
                <a:spcPts val="1000"/>
              </a:spcBef>
              <a:spcAft>
                <a:spcPts val="0"/>
              </a:spcAft>
              <a:buSzPts val="2200"/>
              <a:buFont typeface="Arial" panose="020B0604020202020204" pitchFamily="34" charset="0"/>
              <a:buChar char="•"/>
            </a:pPr>
            <a:r>
              <a:rPr lang="en-US" sz="2200" dirty="0">
                <a:solidFill>
                  <a:schemeClr val="dk1"/>
                </a:solidFill>
                <a:latin typeface="Open Sans"/>
                <a:ea typeface="Open Sans"/>
                <a:cs typeface="Open Sans"/>
                <a:sym typeface="Open Sans"/>
              </a:rPr>
              <a:t>It can help perpetuate </a:t>
            </a:r>
            <a:r>
              <a:rPr lang="en-US" sz="2200" b="1" dirty="0">
                <a:solidFill>
                  <a:srgbClr val="001C84"/>
                </a:solidFill>
                <a:latin typeface="Open Sans"/>
                <a:ea typeface="Open Sans"/>
                <a:cs typeface="Open Sans"/>
                <a:sym typeface="Open Sans"/>
              </a:rPr>
              <a:t>social biases</a:t>
            </a:r>
            <a:endParaRPr dirty="0">
              <a:solidFill>
                <a:srgbClr val="001C84"/>
              </a:solidFill>
            </a:endParaRPr>
          </a:p>
          <a:p>
            <a:pPr marL="1231900" lvl="2" algn="l" rtl="0">
              <a:lnSpc>
                <a:spcPct val="100000"/>
              </a:lnSpc>
              <a:spcBef>
                <a:spcPts val="1000"/>
              </a:spcBef>
              <a:spcAft>
                <a:spcPts val="0"/>
              </a:spcAft>
              <a:buSzPts val="2200"/>
              <a:buFont typeface="Arial" panose="020B0604020202020204" pitchFamily="34" charset="0"/>
              <a:buChar char="•"/>
            </a:pPr>
            <a:r>
              <a:rPr lang="en-US" sz="2200" dirty="0">
                <a:solidFill>
                  <a:schemeClr val="dk1"/>
                </a:solidFill>
                <a:latin typeface="Open Sans"/>
                <a:ea typeface="Open Sans"/>
                <a:cs typeface="Open Sans"/>
                <a:sym typeface="Open Sans"/>
              </a:rPr>
              <a:t>A study using administrative police records found </a:t>
            </a:r>
            <a:r>
              <a:rPr lang="en-US" sz="2200" b="1" dirty="0">
                <a:solidFill>
                  <a:srgbClr val="001C84"/>
                </a:solidFill>
                <a:latin typeface="Open Sans"/>
                <a:ea typeface="Open Sans"/>
                <a:cs typeface="Open Sans"/>
                <a:sym typeface="Open Sans"/>
              </a:rPr>
              <a:t>no racial differences in police use of force </a:t>
            </a:r>
            <a:r>
              <a:rPr lang="en-US" sz="2200" dirty="0">
                <a:solidFill>
                  <a:schemeClr val="dk1"/>
                </a:solidFill>
                <a:latin typeface="Open Sans"/>
                <a:ea typeface="Open Sans"/>
                <a:cs typeface="Open Sans"/>
                <a:sym typeface="Open Sans"/>
              </a:rPr>
              <a:t>during encounters with civilians (</a:t>
            </a:r>
            <a:r>
              <a:rPr lang="en-US" sz="2200" dirty="0">
                <a:latin typeface="Open Sans"/>
                <a:ea typeface="Open Sans"/>
                <a:cs typeface="Open Sans"/>
                <a:sym typeface="Open Sans"/>
              </a:rPr>
              <a:t>Bui &amp; Cox, 2016</a:t>
            </a:r>
            <a:r>
              <a:rPr lang="en-US" sz="2200" dirty="0">
                <a:solidFill>
                  <a:schemeClr val="dk1"/>
                </a:solidFill>
                <a:latin typeface="Open Sans"/>
                <a:ea typeface="Open Sans"/>
                <a:cs typeface="Open Sans"/>
                <a:sym typeface="Open Sans"/>
              </a:rPr>
              <a:t>)</a:t>
            </a:r>
          </a:p>
          <a:p>
            <a:pPr marL="1231900" lvl="2" algn="l" rtl="0">
              <a:lnSpc>
                <a:spcPct val="100000"/>
              </a:lnSpc>
              <a:spcBef>
                <a:spcPts val="1000"/>
              </a:spcBef>
              <a:spcAft>
                <a:spcPts val="0"/>
              </a:spcAft>
              <a:buSzPts val="2200"/>
              <a:buFont typeface="Arial" panose="020B0604020202020204" pitchFamily="34" charset="0"/>
              <a:buChar char="•"/>
            </a:pPr>
            <a:r>
              <a:rPr lang="en-US" sz="2200" dirty="0">
                <a:solidFill>
                  <a:schemeClr val="dk1"/>
                </a:solidFill>
                <a:latin typeface="Open Sans"/>
                <a:ea typeface="Open Sans"/>
                <a:cs typeface="Open Sans"/>
                <a:sym typeface="Open Sans"/>
              </a:rPr>
              <a:t>Another study later </a:t>
            </a:r>
            <a:r>
              <a:rPr lang="en-US" sz="2200" b="1" dirty="0">
                <a:solidFill>
                  <a:srgbClr val="001C84"/>
                </a:solidFill>
                <a:latin typeface="Open Sans"/>
                <a:ea typeface="Open Sans"/>
                <a:cs typeface="Open Sans"/>
                <a:sym typeface="Open Sans"/>
              </a:rPr>
              <a:t>proved this conclusion wrong</a:t>
            </a:r>
            <a:r>
              <a:rPr lang="en-US" sz="2200" dirty="0">
                <a:solidFill>
                  <a:schemeClr val="dk1"/>
                </a:solidFill>
                <a:latin typeface="Open Sans"/>
                <a:ea typeface="Open Sans"/>
                <a:cs typeface="Open Sans"/>
                <a:sym typeface="Open Sans"/>
              </a:rPr>
              <a:t>, showing how </a:t>
            </a:r>
            <a:r>
              <a:rPr lang="en-US" sz="2200" dirty="0">
                <a:solidFill>
                  <a:schemeClr val="tx1"/>
                </a:solidFill>
                <a:latin typeface="Open Sans"/>
                <a:ea typeface="Open Sans"/>
                <a:cs typeface="Open Sans"/>
                <a:sym typeface="Open Sans"/>
              </a:rPr>
              <a:t>collider bias was responsible for these biased results </a:t>
            </a:r>
            <a:r>
              <a:rPr lang="en-US" sz="2200" dirty="0">
                <a:solidFill>
                  <a:schemeClr val="dk1"/>
                </a:solidFill>
                <a:latin typeface="Open Sans"/>
                <a:ea typeface="Open Sans"/>
                <a:cs typeface="Open Sans"/>
                <a:sym typeface="Open Sans"/>
              </a:rPr>
              <a:t>(Knox et al., 2020) </a:t>
            </a:r>
            <a:endParaRPr dirty="0">
              <a:solidFill>
                <a:schemeClr val="dk1"/>
              </a:solidFill>
            </a:endParaRPr>
          </a:p>
        </p:txBody>
      </p:sp>
      <p:sp>
        <p:nvSpPr>
          <p:cNvPr id="2" name="Slide Number Placeholder 1">
            <a:extLst>
              <a:ext uri="{FF2B5EF4-FFF2-40B4-BE49-F238E27FC236}">
                <a16:creationId xmlns:a16="http://schemas.microsoft.com/office/drawing/2014/main" id="{589E3C16-2653-DC38-B5E9-8332771F68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38e34af980f_0_155"/>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to do about it?</a:t>
            </a:r>
            <a:endParaRPr b="1">
              <a:solidFill>
                <a:srgbClr val="001C84"/>
              </a:solidFill>
              <a:highlight>
                <a:srgbClr val="FFFF00"/>
              </a:highlight>
              <a:latin typeface="Open Sans"/>
              <a:ea typeface="Open Sans"/>
              <a:cs typeface="Open Sans"/>
              <a:sym typeface="Open Sans"/>
            </a:endParaRPr>
          </a:p>
        </p:txBody>
      </p:sp>
      <p:sp>
        <p:nvSpPr>
          <p:cNvPr id="220" name="Google Shape;220;g38e34af980f_0_155"/>
          <p:cNvSpPr txBox="1">
            <a:spLocks noGrp="1"/>
          </p:cNvSpPr>
          <p:nvPr>
            <p:ph type="body" idx="1"/>
          </p:nvPr>
        </p:nvSpPr>
        <p:spPr>
          <a:xfrm>
            <a:off x="621792" y="1417650"/>
            <a:ext cx="11009376" cy="47130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1000"/>
              </a:spcBef>
              <a:spcAft>
                <a:spcPts val="0"/>
              </a:spcAft>
              <a:buSzPct val="100000"/>
              <a:buFont typeface="Arial" panose="020B0604020202020204" pitchFamily="34" charset="0"/>
              <a:buChar char="•"/>
            </a:pPr>
            <a:r>
              <a:rPr lang="en-US" sz="2200" b="1"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Open Sans"/>
              </a:rPr>
              <a:t>Diagnose with a directed acyclic graph (DAG)</a:t>
            </a:r>
            <a:r>
              <a:rPr lang="en-US" sz="2200" dirty="0">
                <a:latin typeface="Open Sans" panose="020B0606030504020204" pitchFamily="34" charset="0"/>
                <a:ea typeface="Open Sans" panose="020B0606030504020204" pitchFamily="34" charset="0"/>
                <a:cs typeface="Open Sans" panose="020B0606030504020204" pitchFamily="34" charset="0"/>
                <a:sym typeface="Open Sans"/>
              </a:rPr>
              <a:t>: before engaging in data analytics, draw your assumptions about what factors influence your variables of interest and target population</a:t>
            </a:r>
          </a:p>
          <a:p>
            <a:pPr marL="1200150" lvl="2" indent="-311150">
              <a:spcBef>
                <a:spcPts val="1000"/>
              </a:spcBef>
              <a:buSzPct val="100000"/>
              <a:buFont typeface="Arial" panose="020B0604020202020204" pitchFamily="34" charset="0"/>
              <a:buChar char="•"/>
            </a:pPr>
            <a:r>
              <a:rPr lang="en-US" sz="1800" dirty="0">
                <a:latin typeface="Open Sans" panose="020B0606030504020204" pitchFamily="34" charset="0"/>
                <a:ea typeface="Open Sans" panose="020B0606030504020204" pitchFamily="34" charset="0"/>
                <a:cs typeface="Open Sans" panose="020B0606030504020204" pitchFamily="34" charset="0"/>
                <a:sym typeface="Open Sans"/>
              </a:rPr>
              <a:t>Systemic factors (i.e. racism)</a:t>
            </a:r>
          </a:p>
          <a:p>
            <a:pPr marL="1200150" lvl="2" indent="-311150">
              <a:spcBef>
                <a:spcPts val="1000"/>
              </a:spcBef>
              <a:buSzPct val="100000"/>
              <a:buFont typeface="Arial" panose="020B0604020202020204" pitchFamily="34" charset="0"/>
              <a:buChar char="•"/>
            </a:pPr>
            <a:r>
              <a:rPr lang="en-US" sz="1800" dirty="0">
                <a:latin typeface="Open Sans" panose="020B0606030504020204" pitchFamily="34" charset="0"/>
                <a:ea typeface="Open Sans" panose="020B0606030504020204" pitchFamily="34" charset="0"/>
                <a:cs typeface="Open Sans" panose="020B0606030504020204" pitchFamily="34" charset="0"/>
                <a:sym typeface="Open Sans"/>
              </a:rPr>
              <a:t>Individual-level factors (i.e. (dis)ability status)</a:t>
            </a:r>
          </a:p>
          <a:p>
            <a:pPr marL="342900" lvl="0" indent="-342900" algn="l" rtl="0">
              <a:lnSpc>
                <a:spcPct val="100000"/>
              </a:lnSpc>
              <a:spcBef>
                <a:spcPts val="1000"/>
              </a:spcBef>
              <a:spcAft>
                <a:spcPts val="0"/>
              </a:spcAft>
              <a:buSzPct val="100000"/>
              <a:buFont typeface="Arial" panose="020B0604020202020204" pitchFamily="34" charset="0"/>
              <a:buChar char="•"/>
            </a:pPr>
            <a:endParaRPr lang="en-US" sz="2200" dirty="0">
              <a:latin typeface="Open Sans" panose="020B0606030504020204" pitchFamily="34" charset="0"/>
              <a:ea typeface="Open Sans" panose="020B0606030504020204" pitchFamily="34" charset="0"/>
              <a:cs typeface="Open Sans" panose="020B0606030504020204" pitchFamily="34" charset="0"/>
              <a:sym typeface="Open Sans"/>
            </a:endParaRPr>
          </a:p>
          <a:p>
            <a:pPr marL="342900" lvl="0" indent="-342900" algn="l" rtl="0">
              <a:lnSpc>
                <a:spcPct val="100000"/>
              </a:lnSpc>
              <a:spcBef>
                <a:spcPts val="1000"/>
              </a:spcBef>
              <a:spcAft>
                <a:spcPts val="0"/>
              </a:spcAft>
              <a:buSzPct val="100000"/>
              <a:buFont typeface="Arial" panose="020B0604020202020204" pitchFamily="34" charset="0"/>
              <a:buChar char="•"/>
            </a:pPr>
            <a:r>
              <a:rPr lang="en-US" sz="2200" dirty="0">
                <a:latin typeface="Open Sans" panose="020B0606030504020204" pitchFamily="34" charset="0"/>
                <a:ea typeface="Open Sans" panose="020B0606030504020204" pitchFamily="34" charset="0"/>
                <a:cs typeface="Open Sans" panose="020B0606030504020204" pitchFamily="34" charset="0"/>
                <a:sym typeface="Open Sans"/>
              </a:rPr>
              <a:t>Note that using administrative data require us to think hard about whether collider bias might be lurking</a:t>
            </a:r>
            <a:endParaRPr dirty="0">
              <a:latin typeface="Open Sans" panose="020B0606030504020204" pitchFamily="34" charset="0"/>
              <a:ea typeface="Open Sans" panose="020B0606030504020204" pitchFamily="34" charset="0"/>
              <a:cs typeface="Open Sans" panose="020B0606030504020204" pitchFamily="34" charset="0"/>
            </a:endParaRPr>
          </a:p>
          <a:p>
            <a:pPr marL="342900" lvl="0" indent="-342900" algn="l" rtl="0">
              <a:lnSpc>
                <a:spcPct val="100000"/>
              </a:lnSpc>
              <a:spcBef>
                <a:spcPts val="1000"/>
              </a:spcBef>
              <a:spcAft>
                <a:spcPts val="0"/>
              </a:spcAft>
              <a:buSzPct val="100000"/>
              <a:buFont typeface="Arial" panose="020B0604020202020204" pitchFamily="34" charset="0"/>
              <a:buChar char="•"/>
            </a:pPr>
            <a:r>
              <a:rPr lang="en-US" sz="2200" dirty="0">
                <a:latin typeface="Open Sans" panose="020B0606030504020204" pitchFamily="34" charset="0"/>
                <a:ea typeface="Open Sans" panose="020B0606030504020204" pitchFamily="34" charset="0"/>
                <a:cs typeface="Open Sans" panose="020B0606030504020204" pitchFamily="34" charset="0"/>
                <a:sym typeface="Open Sans"/>
              </a:rPr>
              <a:t>Administrative data may be population-level data, such as all students in a school district or all people seeking homeless services. However, it is NOT a random sample of the population at large</a:t>
            </a:r>
          </a:p>
          <a:p>
            <a:pPr marL="342900" lvl="0" indent="-342900" algn="l" rtl="0">
              <a:lnSpc>
                <a:spcPct val="100000"/>
              </a:lnSpc>
              <a:spcBef>
                <a:spcPts val="1000"/>
              </a:spcBef>
              <a:spcAft>
                <a:spcPts val="0"/>
              </a:spcAft>
              <a:buSzPct val="100000"/>
              <a:buFont typeface="Arial" panose="020B0604020202020204" pitchFamily="34" charset="0"/>
              <a:buChar char="•"/>
            </a:pPr>
            <a:r>
              <a:rPr lang="en-US" sz="2200" dirty="0">
                <a:solidFill>
                  <a:schemeClr val="tx1"/>
                </a:solidFill>
                <a:latin typeface="Open Sans" panose="020B0606030504020204" pitchFamily="34" charset="0"/>
                <a:ea typeface="Open Sans" panose="020B0606030504020204" pitchFamily="34" charset="0"/>
                <a:cs typeface="Open Sans" panose="020B0606030504020204" pitchFamily="34" charset="0"/>
              </a:rPr>
              <a:t>Back to our story, Harper, the social worker, only had school data for Amari and Liam’s neighborhood. This data </a:t>
            </a:r>
            <a:r>
              <a:rPr lang="en-US" sz="22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does</a:t>
            </a:r>
            <a:r>
              <a:rPr lang="en-US" sz="22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22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not include other suburbs more accessible to non-marginalized students</a:t>
            </a:r>
            <a:r>
              <a:rPr lang="en-US" sz="2200" dirty="0">
                <a:solidFill>
                  <a:schemeClr val="tx1"/>
                </a:solidFill>
                <a:latin typeface="Open Sans" panose="020B0606030504020204" pitchFamily="34" charset="0"/>
                <a:ea typeface="Open Sans" panose="020B0606030504020204" pitchFamily="34" charset="0"/>
                <a:cs typeface="Open Sans" panose="020B0606030504020204" pitchFamily="34" charset="0"/>
              </a:rPr>
              <a:t>, where disparities emerge</a:t>
            </a:r>
          </a:p>
          <a:p>
            <a:pPr marL="800100" lvl="1">
              <a:spcBef>
                <a:spcPts val="1000"/>
              </a:spcBef>
              <a:buSzPct val="100000"/>
              <a:buFont typeface="Arial" panose="020B0604020202020204" pitchFamily="34" charset="0"/>
              <a:buChar char="•"/>
            </a:pP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rPr>
              <a:t>Could Harper access other school district data?</a:t>
            </a:r>
            <a:endParaRPr sz="1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431800" indent="-457200">
              <a:spcBef>
                <a:spcPts val="1000"/>
              </a:spcBef>
              <a:buSzPct val="100000"/>
              <a:buFont typeface="Arial" panose="020B0604020202020204" pitchFamily="34" charset="0"/>
              <a:buChar char="•"/>
            </a:pPr>
            <a:endParaRPr lang="en-US" sz="2600" dirty="0">
              <a:latin typeface="Open Sans" panose="020B0606030504020204" pitchFamily="34" charset="0"/>
              <a:ea typeface="Open Sans" panose="020B0606030504020204" pitchFamily="34" charset="0"/>
              <a:cs typeface="Open Sans" panose="020B0606030504020204" pitchFamily="34" charset="0"/>
              <a:sym typeface="Open Sans"/>
            </a:endParaRPr>
          </a:p>
          <a:p>
            <a:pPr indent="-457200">
              <a:spcBef>
                <a:spcPts val="1000"/>
              </a:spcBef>
              <a:buSzPct val="100000"/>
              <a:buFont typeface="Arial" panose="020B0604020202020204" pitchFamily="34" charset="0"/>
              <a:buChar char="•"/>
            </a:pPr>
            <a:endParaRPr sz="2600" dirty="0">
              <a:latin typeface="Open Sans" panose="020B0606030504020204" pitchFamily="34" charset="0"/>
              <a:ea typeface="Open Sans" panose="020B0606030504020204" pitchFamily="34" charset="0"/>
              <a:cs typeface="Open Sans" panose="020B0606030504020204" pitchFamily="34" charset="0"/>
              <a:sym typeface="Open Sans"/>
            </a:endParaRPr>
          </a:p>
          <a:p>
            <a:pPr marL="342900" lvl="0" algn="l" rtl="0">
              <a:lnSpc>
                <a:spcPct val="100000"/>
              </a:lnSpc>
              <a:spcBef>
                <a:spcPts val="1000"/>
              </a:spcBef>
              <a:spcAft>
                <a:spcPts val="0"/>
              </a:spcAft>
              <a:buSzPct val="100000"/>
              <a:buFont typeface="Arial" panose="020B0604020202020204" pitchFamily="34" charset="0"/>
              <a:buChar char="•"/>
            </a:pPr>
            <a:endParaRPr sz="2200" dirty="0">
              <a:highlight>
                <a:srgbClr val="FFFF00"/>
              </a:highlight>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2" name="Slide Number Placeholder 1">
            <a:extLst>
              <a:ext uri="{FF2B5EF4-FFF2-40B4-BE49-F238E27FC236}">
                <a16:creationId xmlns:a16="http://schemas.microsoft.com/office/drawing/2014/main" id="{1EB7939A-9C23-E90C-40C3-51ADB4AFCE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a:extLst>
            <a:ext uri="{FF2B5EF4-FFF2-40B4-BE49-F238E27FC236}">
              <a16:creationId xmlns:a16="http://schemas.microsoft.com/office/drawing/2014/main" id="{A642511E-F5C4-BD6F-4E45-FE030B0D353F}"/>
            </a:ext>
          </a:extLst>
        </p:cNvPr>
        <p:cNvGrpSpPr/>
        <p:nvPr/>
      </p:nvGrpSpPr>
      <p:grpSpPr>
        <a:xfrm>
          <a:off x="0" y="0"/>
          <a:ext cx="0" cy="0"/>
          <a:chOff x="0" y="0"/>
          <a:chExt cx="0" cy="0"/>
        </a:xfrm>
      </p:grpSpPr>
      <p:sp>
        <p:nvSpPr>
          <p:cNvPr id="226" name="Google Shape;226;g3896c370de1_0_126">
            <a:extLst>
              <a:ext uri="{FF2B5EF4-FFF2-40B4-BE49-F238E27FC236}">
                <a16:creationId xmlns:a16="http://schemas.microsoft.com/office/drawing/2014/main" id="{3A915604-CC69-F5E4-76A0-1A9474CA7600}"/>
              </a:ext>
            </a:extLst>
          </p:cNvPr>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a:ea typeface="Open Sans"/>
                <a:cs typeface="Open Sans"/>
                <a:sym typeface="Open Sans"/>
              </a:rPr>
              <a:t>What to do about it?</a:t>
            </a:r>
            <a:endParaRPr lang="en-US" b="1" dirty="0">
              <a:solidFill>
                <a:srgbClr val="001C84"/>
              </a:solidFill>
              <a:highlight>
                <a:srgbClr val="FFFF00"/>
              </a:highlight>
              <a:latin typeface="Open Sans"/>
              <a:ea typeface="Open Sans"/>
              <a:cs typeface="Open Sans"/>
              <a:sym typeface="Open Sans"/>
            </a:endParaRPr>
          </a:p>
        </p:txBody>
      </p:sp>
      <p:sp>
        <p:nvSpPr>
          <p:cNvPr id="227" name="Google Shape;227;g3896c370de1_0_126">
            <a:extLst>
              <a:ext uri="{FF2B5EF4-FFF2-40B4-BE49-F238E27FC236}">
                <a16:creationId xmlns:a16="http://schemas.microsoft.com/office/drawing/2014/main" id="{CE2F98AD-76F0-A022-D8E6-C2356B9D0F9A}"/>
              </a:ext>
            </a:extLst>
          </p:cNvPr>
          <p:cNvSpPr txBox="1">
            <a:spLocks noGrp="1"/>
          </p:cNvSpPr>
          <p:nvPr>
            <p:ph type="body" idx="1"/>
          </p:nvPr>
        </p:nvSpPr>
        <p:spPr>
          <a:xfrm>
            <a:off x="630936" y="1417650"/>
            <a:ext cx="7918704" cy="4251630"/>
          </a:xfrm>
          <a:prstGeom prst="rect">
            <a:avLst/>
          </a:prstGeom>
          <a:noFill/>
          <a:ln>
            <a:noFill/>
          </a:ln>
        </p:spPr>
        <p:txBody>
          <a:bodyPr spcFirstLastPara="1" wrap="square" lIns="91425" tIns="45700" rIns="91425" bIns="45700" anchor="t" anchorCtr="0">
            <a:normAutofit fontScale="92500" lnSpcReduction="10000"/>
          </a:bodyPr>
          <a:lstStyle/>
          <a:p>
            <a:pPr marL="0" lvl="0" indent="0">
              <a:spcBef>
                <a:spcPts val="1000"/>
              </a:spcBef>
              <a:buNone/>
            </a:pPr>
            <a:r>
              <a:rPr lang="en-US" sz="2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Be transparent </a:t>
            </a:r>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about the limitations of research. </a:t>
            </a:r>
          </a:p>
          <a:p>
            <a:pPr marL="0" lvl="0" indent="0">
              <a:spcBef>
                <a:spcPts val="1000"/>
              </a:spcBef>
              <a:buNone/>
            </a:pPr>
            <a:endParaRPr lang="en-US" sz="2400" b="1"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a:p>
            <a:pPr marL="0" lvl="0" indent="0">
              <a:spcBef>
                <a:spcPts val="1000"/>
              </a:spcBef>
              <a:buNone/>
            </a:pPr>
            <a:r>
              <a:rPr lang="en-US" sz="2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Harper's Realization</a:t>
            </a:r>
            <a:r>
              <a:rPr lang="en-US" sz="2400" dirty="0">
                <a:latin typeface="Open Sans" panose="020B0606030504020204" pitchFamily="34" charset="0"/>
                <a:ea typeface="Open Sans" panose="020B0606030504020204" pitchFamily="34" charset="0"/>
                <a:cs typeface="Open Sans" panose="020B0606030504020204" pitchFamily="34" charset="0"/>
              </a:rPr>
              <a:t>: </a:t>
            </a:r>
          </a:p>
          <a:p>
            <a:pPr marL="342900">
              <a:spcBef>
                <a:spcPts val="1000"/>
              </a:spcBef>
              <a:buSzPct val="100000"/>
            </a:pPr>
            <a:r>
              <a:rPr lang="en-US" sz="2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I can't conclude that discrimination doesn't matter</a:t>
            </a:r>
            <a:r>
              <a:rPr lang="en-US" sz="2400" dirty="0">
                <a:solidFill>
                  <a:srgbClr val="001C84"/>
                </a:solidFill>
                <a:latin typeface="Open Sans" panose="020B0606030504020204" pitchFamily="34" charset="0"/>
                <a:ea typeface="Open Sans" panose="020B0606030504020204" pitchFamily="34" charset="0"/>
                <a:cs typeface="Open Sans" panose="020B0606030504020204" pitchFamily="34" charset="0"/>
              </a:rPr>
              <a:t>.</a:t>
            </a:r>
            <a:r>
              <a:rPr lang="en-US" sz="2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 </a:t>
            </a:r>
          </a:p>
          <a:p>
            <a:pPr marL="342900">
              <a:spcBef>
                <a:spcPts val="1000"/>
              </a:spcBef>
              <a:buSzPct val="100000"/>
            </a:pPr>
            <a:r>
              <a:rPr lang="en-US" sz="2400" dirty="0">
                <a:latin typeface="Open Sans" panose="020B0606030504020204" pitchFamily="34" charset="0"/>
                <a:ea typeface="Open Sans" panose="020B0606030504020204" pitchFamily="34" charset="0"/>
                <a:cs typeface="Open Sans" panose="020B0606030504020204" pitchFamily="34" charset="0"/>
              </a:rPr>
              <a:t>I can only conclude that </a:t>
            </a:r>
            <a:r>
              <a:rPr lang="en-US" sz="2400" i="1" dirty="0">
                <a:latin typeface="Open Sans" panose="020B0606030504020204" pitchFamily="34" charset="0"/>
                <a:ea typeface="Open Sans" panose="020B0606030504020204" pitchFamily="34" charset="0"/>
                <a:cs typeface="Open Sans" panose="020B0606030504020204" pitchFamily="34" charset="0"/>
              </a:rPr>
              <a:t>for this specific neighborhood</a:t>
            </a:r>
            <a:r>
              <a:rPr lang="en-US" sz="2400" dirty="0">
                <a:latin typeface="Open Sans" panose="020B0606030504020204" pitchFamily="34" charset="0"/>
                <a:ea typeface="Open Sans" panose="020B0606030504020204" pitchFamily="34" charset="0"/>
                <a:cs typeface="Open Sans" panose="020B0606030504020204" pitchFamily="34" charset="0"/>
              </a:rPr>
              <a:t>, high poverty affects everyone’s educational opportunities. </a:t>
            </a:r>
          </a:p>
          <a:p>
            <a:pPr marL="342900">
              <a:spcBef>
                <a:spcPts val="1000"/>
              </a:spcBef>
              <a:buSzPct val="100000"/>
            </a:pPr>
            <a:r>
              <a:rPr lang="en-US" sz="2400" dirty="0">
                <a:latin typeface="Open Sans" panose="020B0606030504020204" pitchFamily="34" charset="0"/>
                <a:ea typeface="Open Sans" panose="020B0606030504020204" pitchFamily="34" charset="0"/>
                <a:cs typeface="Open Sans" panose="020B0606030504020204" pitchFamily="34" charset="0"/>
              </a:rPr>
              <a:t>This likely makes the effect of discrimination look smaller than it really is.</a:t>
            </a:r>
          </a:p>
          <a:p>
            <a:pPr marL="342900">
              <a:spcBef>
                <a:spcPts val="1000"/>
              </a:spcBef>
              <a:buSzPct val="100000"/>
            </a:pPr>
            <a:r>
              <a:rPr lang="en-US" sz="2400" dirty="0">
                <a:latin typeface="Open Sans" panose="020B0606030504020204" pitchFamily="34" charset="0"/>
                <a:ea typeface="Open Sans" panose="020B0606030504020204" pitchFamily="34" charset="0"/>
                <a:cs typeface="Open Sans" panose="020B0606030504020204" pitchFamily="34" charset="0"/>
              </a:rPr>
              <a:t>I need county-wide school data to see the real pattern.</a:t>
            </a:r>
            <a:endParaRPr lang="en-US" sz="2200" dirty="0">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2" name="Slide Number Placeholder 1">
            <a:extLst>
              <a:ext uri="{FF2B5EF4-FFF2-40B4-BE49-F238E27FC236}">
                <a16:creationId xmlns:a16="http://schemas.microsoft.com/office/drawing/2014/main" id="{60FBD3FB-EE72-CE21-18DE-4CE7FA227B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5" name="Picture 4">
            <a:extLst>
              <a:ext uri="{FF2B5EF4-FFF2-40B4-BE49-F238E27FC236}">
                <a16:creationId xmlns:a16="http://schemas.microsoft.com/office/drawing/2014/main" id="{94F4281B-2CA8-9B66-E811-7BD97B73C1BB}"/>
              </a:ext>
            </a:extLst>
          </p:cNvPr>
          <p:cNvPicPr>
            <a:picLocks noChangeAspect="1"/>
          </p:cNvPicPr>
          <p:nvPr/>
        </p:nvPicPr>
        <p:blipFill>
          <a:blip r:embed="rId3"/>
          <a:stretch>
            <a:fillRect/>
          </a:stretch>
        </p:blipFill>
        <p:spPr>
          <a:xfrm>
            <a:off x="9143229" y="1915748"/>
            <a:ext cx="1606633" cy="3429176"/>
          </a:xfrm>
          <a:prstGeom prst="rect">
            <a:avLst/>
          </a:prstGeom>
        </p:spPr>
      </p:pic>
    </p:spTree>
    <p:extLst>
      <p:ext uri="{BB962C8B-B14F-4D97-AF65-F5344CB8AC3E}">
        <p14:creationId xmlns:p14="http://schemas.microsoft.com/office/powerpoint/2010/main" val="2356455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8240a52d44_0_32"/>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References</a:t>
            </a:r>
            <a:endParaRPr b="1">
              <a:solidFill>
                <a:srgbClr val="001C84"/>
              </a:solidFill>
              <a:latin typeface="Open Sans"/>
              <a:ea typeface="Open Sans"/>
              <a:cs typeface="Open Sans"/>
              <a:sym typeface="Open Sans"/>
            </a:endParaRPr>
          </a:p>
        </p:txBody>
      </p:sp>
      <p:sp>
        <p:nvSpPr>
          <p:cNvPr id="235" name="Google Shape;235;g38240a52d44_0_32"/>
          <p:cNvSpPr txBox="1">
            <a:spLocks noGrp="1"/>
          </p:cNvSpPr>
          <p:nvPr>
            <p:ph type="body" idx="1"/>
          </p:nvPr>
        </p:nvSpPr>
        <p:spPr>
          <a:xfrm>
            <a:off x="640080" y="1417650"/>
            <a:ext cx="11082528" cy="4900800"/>
          </a:xfrm>
          <a:prstGeom prst="rect">
            <a:avLst/>
          </a:prstGeom>
          <a:noFill/>
          <a:ln>
            <a:noFill/>
          </a:ln>
        </p:spPr>
        <p:txBody>
          <a:bodyPr spcFirstLastPara="1" wrap="square" lIns="91425" tIns="45700" rIns="91425" bIns="45700" anchor="t" anchorCtr="0">
            <a:noAutofit/>
          </a:bodyPr>
          <a:lstStyle/>
          <a:p>
            <a:pPr marL="342900" lvl="0" indent="0" algn="l" rtl="0">
              <a:lnSpc>
                <a:spcPct val="80000"/>
              </a:lnSpc>
              <a:spcBef>
                <a:spcPts val="1000"/>
              </a:spcBef>
              <a:spcAft>
                <a:spcPts val="0"/>
              </a:spcAft>
              <a:buSzPts val="1800"/>
              <a:buNone/>
            </a:pPr>
            <a:r>
              <a:rPr lang="en-US" sz="1400" dirty="0" err="1">
                <a:latin typeface="Open Sans"/>
                <a:ea typeface="Open Sans"/>
                <a:cs typeface="Open Sans"/>
                <a:sym typeface="Open Sans"/>
              </a:rPr>
              <a:t>Elwert</a:t>
            </a:r>
            <a:r>
              <a:rPr lang="en-US" sz="1400" dirty="0">
                <a:latin typeface="Open Sans"/>
                <a:ea typeface="Open Sans"/>
                <a:cs typeface="Open Sans"/>
                <a:sym typeface="Open Sans"/>
              </a:rPr>
              <a:t>, F., &amp; Winship, C. (2014). Endogenous Selection Bias: The Problem of Conditioning on a Collider Variable. </a:t>
            </a:r>
            <a:r>
              <a:rPr lang="en-US" sz="1400" i="1" dirty="0">
                <a:latin typeface="Open Sans"/>
                <a:ea typeface="Open Sans"/>
                <a:cs typeface="Open Sans"/>
                <a:sym typeface="Open Sans"/>
              </a:rPr>
              <a:t>Annual review of sociology</a:t>
            </a:r>
            <a:r>
              <a:rPr lang="en-US" sz="1400" dirty="0">
                <a:latin typeface="Open Sans"/>
                <a:ea typeface="Open Sans"/>
                <a:cs typeface="Open Sans"/>
                <a:sym typeface="Open Sans"/>
              </a:rPr>
              <a:t>, 40, 31–53. </a:t>
            </a:r>
            <a:r>
              <a:rPr lang="en-US" sz="1400" u="sng" dirty="0">
                <a:solidFill>
                  <a:schemeClr val="hlink"/>
                </a:solidFill>
                <a:latin typeface="Open Sans"/>
                <a:ea typeface="Open Sans"/>
                <a:cs typeface="Open Sans"/>
                <a:sym typeface="Open Sans"/>
                <a:hlinkClick r:id="rId3"/>
              </a:rPr>
              <a:t>https://doi.org/10.1146/annurev-soc-071913-043455</a:t>
            </a: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r>
              <a:rPr lang="en-US" sz="1400" dirty="0">
                <a:latin typeface="Open Sans"/>
                <a:ea typeface="Open Sans"/>
                <a:cs typeface="Open Sans"/>
                <a:sym typeface="Open Sans"/>
              </a:rPr>
              <a:t>Hernández-Díaz, S., </a:t>
            </a:r>
            <a:r>
              <a:rPr lang="en-US" sz="1400" dirty="0" err="1">
                <a:latin typeface="Open Sans"/>
                <a:ea typeface="Open Sans"/>
                <a:cs typeface="Open Sans"/>
                <a:sym typeface="Open Sans"/>
              </a:rPr>
              <a:t>Schisterman</a:t>
            </a:r>
            <a:r>
              <a:rPr lang="en-US" sz="1400" dirty="0">
                <a:latin typeface="Open Sans"/>
                <a:ea typeface="Open Sans"/>
                <a:cs typeface="Open Sans"/>
                <a:sym typeface="Open Sans"/>
              </a:rPr>
              <a:t>, E. F., &amp; Hernán, M. A. (2006). The birth weight "paradox" uncovered?. </a:t>
            </a:r>
            <a:r>
              <a:rPr lang="en-US" sz="1400" i="1" dirty="0">
                <a:latin typeface="Open Sans"/>
                <a:ea typeface="Open Sans"/>
                <a:cs typeface="Open Sans"/>
                <a:sym typeface="Open Sans"/>
              </a:rPr>
              <a:t>American journal of epidemiology</a:t>
            </a:r>
            <a:r>
              <a:rPr lang="en-US" sz="1400" dirty="0">
                <a:latin typeface="Open Sans"/>
                <a:ea typeface="Open Sans"/>
                <a:cs typeface="Open Sans"/>
                <a:sym typeface="Open Sans"/>
              </a:rPr>
              <a:t>, 164(11), 1115–1120. </a:t>
            </a:r>
            <a:r>
              <a:rPr lang="en-US" sz="1400" u="sng" dirty="0">
                <a:solidFill>
                  <a:schemeClr val="hlink"/>
                </a:solidFill>
                <a:latin typeface="Open Sans"/>
                <a:ea typeface="Open Sans"/>
                <a:cs typeface="Open Sans"/>
                <a:sym typeface="Open Sans"/>
                <a:hlinkClick r:id="rId4"/>
              </a:rPr>
              <a:t>https://doi.org/10.1093/aje/kwj275</a:t>
            </a: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r>
              <a:rPr lang="en-US" sz="1400" dirty="0">
                <a:latin typeface="Open Sans"/>
                <a:ea typeface="Open Sans"/>
                <a:cs typeface="Open Sans"/>
                <a:sym typeface="Open Sans"/>
              </a:rPr>
              <a:t>Richter, F. G. C., Coulton, C., Urban, A., &amp; Steh, S. (2021). An Integrated Data System Lens Into Evictions and Their Effects. </a:t>
            </a:r>
            <a:r>
              <a:rPr lang="en-US" sz="1400" i="1" dirty="0">
                <a:latin typeface="Open Sans"/>
                <a:ea typeface="Open Sans"/>
                <a:cs typeface="Open Sans"/>
                <a:sym typeface="Open Sans"/>
              </a:rPr>
              <a:t>Housing Policy Debate</a:t>
            </a:r>
            <a:r>
              <a:rPr lang="en-US" sz="1400" dirty="0">
                <a:latin typeface="Open Sans"/>
                <a:ea typeface="Open Sans"/>
                <a:cs typeface="Open Sans"/>
                <a:sym typeface="Open Sans"/>
              </a:rPr>
              <a:t>, 31(3–5), 762–784. </a:t>
            </a:r>
            <a:r>
              <a:rPr lang="en-US" sz="1400" u="sng" dirty="0">
                <a:solidFill>
                  <a:schemeClr val="hlink"/>
                </a:solidFill>
                <a:latin typeface="Open Sans"/>
                <a:ea typeface="Open Sans"/>
                <a:cs typeface="Open Sans"/>
                <a:sym typeface="Open Sans"/>
                <a:hlinkClick r:id="rId5"/>
              </a:rPr>
              <a:t>https://doi.org/10.1080/10511482.2021.1879201</a:t>
            </a: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r>
              <a:rPr lang="en-US" sz="1400" dirty="0">
                <a:latin typeface="Open Sans"/>
                <a:ea typeface="Open Sans"/>
                <a:cs typeface="Open Sans"/>
                <a:sym typeface="Open Sans"/>
              </a:rPr>
              <a:t>Pearl, J., &amp; Mackenzie, D. (2018). The book of why: The new science of cause and effect. </a:t>
            </a:r>
            <a:r>
              <a:rPr lang="en-US" sz="1400" i="1" dirty="0">
                <a:latin typeface="Open Sans"/>
                <a:ea typeface="Open Sans"/>
                <a:cs typeface="Open Sans"/>
                <a:sym typeface="Open Sans"/>
              </a:rPr>
              <a:t>Basic Books</a:t>
            </a:r>
            <a:r>
              <a:rPr lang="en-US" sz="1400" dirty="0">
                <a:latin typeface="Open Sans"/>
                <a:ea typeface="Open Sans"/>
                <a:cs typeface="Open Sans"/>
                <a:sym typeface="Open Sans"/>
              </a:rPr>
              <a:t>.</a:t>
            </a: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r>
              <a:rPr lang="en-US" sz="1400" dirty="0">
                <a:latin typeface="Open Sans"/>
                <a:ea typeface="Open Sans"/>
                <a:cs typeface="Open Sans"/>
                <a:sym typeface="Open Sans"/>
              </a:rPr>
              <a:t>Knox, D., Lowe, W., &amp; </a:t>
            </a:r>
            <a:r>
              <a:rPr lang="en-US" sz="1400" dirty="0" err="1">
                <a:latin typeface="Open Sans"/>
                <a:ea typeface="Open Sans"/>
                <a:cs typeface="Open Sans"/>
                <a:sym typeface="Open Sans"/>
              </a:rPr>
              <a:t>Mummolo</a:t>
            </a:r>
            <a:r>
              <a:rPr lang="en-US" sz="1400" dirty="0">
                <a:latin typeface="Open Sans"/>
                <a:ea typeface="Open Sans"/>
                <a:cs typeface="Open Sans"/>
                <a:sym typeface="Open Sans"/>
              </a:rPr>
              <a:t>, J. (2020). Administrative Records Mask Racially Biased Policing. American Political Science Review, 114(3), 619–637. doi:10.1017/S0003055420000039</a:t>
            </a:r>
            <a:endParaRPr sz="1400" dirty="0">
              <a:latin typeface="Open Sans"/>
              <a:ea typeface="Open Sans"/>
              <a:cs typeface="Open Sans"/>
              <a:sym typeface="Open Sans"/>
            </a:endParaRPr>
          </a:p>
          <a:p>
            <a:pPr marL="342900" lvl="0" indent="0" algn="l" rtl="0">
              <a:lnSpc>
                <a:spcPct val="80000"/>
              </a:lnSpc>
              <a:spcBef>
                <a:spcPts val="1000"/>
              </a:spcBef>
              <a:spcAft>
                <a:spcPts val="0"/>
              </a:spcAft>
              <a:buSzPts val="1800"/>
              <a:buNone/>
            </a:pPr>
            <a:endParaRPr sz="1400" dirty="0">
              <a:latin typeface="Open Sans"/>
              <a:ea typeface="Open Sans"/>
              <a:cs typeface="Open Sans"/>
              <a:sym typeface="Open Sans"/>
            </a:endParaRPr>
          </a:p>
          <a:p>
            <a:pPr marL="342900" lvl="0" indent="0">
              <a:lnSpc>
                <a:spcPct val="80000"/>
              </a:lnSpc>
              <a:spcBef>
                <a:spcPts val="1000"/>
              </a:spcBef>
              <a:buNone/>
            </a:pPr>
            <a:r>
              <a:rPr lang="en-US" sz="1400" dirty="0">
                <a:latin typeface="Open Sans" panose="020B0606030504020204" pitchFamily="34" charset="0"/>
                <a:ea typeface="Open Sans" panose="020B0606030504020204" pitchFamily="34" charset="0"/>
                <a:cs typeface="Open Sans" panose="020B0606030504020204" pitchFamily="34" charset="0"/>
              </a:rPr>
              <a:t>Bui, Q., &amp; Cox, A. (2016, July 11). </a:t>
            </a:r>
            <a:r>
              <a:rPr lang="en-US" sz="1400" i="1" dirty="0">
                <a:latin typeface="Open Sans" panose="020B0606030504020204" pitchFamily="34" charset="0"/>
                <a:ea typeface="Open Sans" panose="020B0606030504020204" pitchFamily="34" charset="0"/>
                <a:cs typeface="Open Sans" panose="020B0606030504020204" pitchFamily="34" charset="0"/>
              </a:rPr>
              <a:t>Surprising new evidence shows bias in police use of force but not in shootings.</a:t>
            </a:r>
            <a:r>
              <a:rPr lang="en-US" sz="1400" dirty="0">
                <a:latin typeface="Open Sans" panose="020B0606030504020204" pitchFamily="34" charset="0"/>
                <a:ea typeface="Open Sans" panose="020B0606030504020204" pitchFamily="34" charset="0"/>
                <a:cs typeface="Open Sans" panose="020B0606030504020204" pitchFamily="34" charset="0"/>
              </a:rPr>
              <a:t> The New York Times. </a:t>
            </a:r>
            <a:r>
              <a:rPr lang="en-US" sz="1400" dirty="0">
                <a:latin typeface="Open Sans" panose="020B0606030504020204" pitchFamily="34" charset="0"/>
                <a:ea typeface="Open Sans" panose="020B0606030504020204" pitchFamily="34" charset="0"/>
                <a:cs typeface="Open Sans" panose="020B0606030504020204" pitchFamily="34" charset="0"/>
                <a:hlinkClick r:id="rId6"/>
              </a:rPr>
              <a:t>https://www.nytimes.com/2016/07/12/upshot/surprising-new-evidence-shows-bias-in-police-use-of-force-but-not-in-shootings.html</a:t>
            </a:r>
            <a:endParaRPr sz="1400" dirty="0">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2" name="Slide Number Placeholder 1">
            <a:extLst>
              <a:ext uri="{FF2B5EF4-FFF2-40B4-BE49-F238E27FC236}">
                <a16:creationId xmlns:a16="http://schemas.microsoft.com/office/drawing/2014/main" id="{56B2A259-2BB4-C3B4-30F3-AB6D99B054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4"/>
          <p:cNvSpPr txBox="1">
            <a:spLocks noGrp="1"/>
          </p:cNvSpPr>
          <p:nvPr>
            <p:ph type="ctrTitle"/>
          </p:nvPr>
        </p:nvSpPr>
        <p:spPr>
          <a:xfrm>
            <a:off x="914400" y="2337461"/>
            <a:ext cx="103632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panose="020B0606030504020204" pitchFamily="34" charset="0"/>
                <a:ea typeface="Open Sans" panose="020B0606030504020204" pitchFamily="34" charset="0"/>
                <a:cs typeface="Open Sans" panose="020B0606030504020204" pitchFamily="34" charset="0"/>
              </a:rPr>
              <a:t>Appendix: More Examples of Collider Bias</a:t>
            </a:r>
            <a:endParaRPr dirty="0">
              <a:solidFill>
                <a:srgbClr val="001C84"/>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Slide Number Placeholder 1">
            <a:extLst>
              <a:ext uri="{FF2B5EF4-FFF2-40B4-BE49-F238E27FC236}">
                <a16:creationId xmlns:a16="http://schemas.microsoft.com/office/drawing/2014/main" id="{730329B1-5109-8A2E-D980-4771043643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38e34af980f_0_8"/>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Low Birthweight Paradox</a:t>
            </a:r>
            <a:endParaRPr b="1">
              <a:solidFill>
                <a:srgbClr val="001C84"/>
              </a:solidFill>
              <a:latin typeface="Open Sans"/>
              <a:ea typeface="Open Sans"/>
              <a:cs typeface="Open Sans"/>
              <a:sym typeface="Open Sans"/>
            </a:endParaRPr>
          </a:p>
        </p:txBody>
      </p:sp>
      <p:sp>
        <p:nvSpPr>
          <p:cNvPr id="248" name="Google Shape;248;g38e34af980f_0_8"/>
          <p:cNvSpPr txBox="1">
            <a:spLocks noGrp="1"/>
          </p:cNvSpPr>
          <p:nvPr>
            <p:ph type="body" idx="1"/>
          </p:nvPr>
        </p:nvSpPr>
        <p:spPr>
          <a:xfrm>
            <a:off x="612648" y="1417650"/>
            <a:ext cx="10945368" cy="996366"/>
          </a:xfrm>
          <a:prstGeom prst="rect">
            <a:avLst/>
          </a:prstGeom>
          <a:noFill/>
          <a:ln>
            <a:noFill/>
          </a:ln>
        </p:spPr>
        <p:txBody>
          <a:bodyPr spcFirstLastPara="1" wrap="square" lIns="91425" tIns="45700" rIns="91425" bIns="45700" anchor="t" anchorCtr="0">
            <a:normAutofit fontScale="92500"/>
          </a:bodyPr>
          <a:lstStyle/>
          <a:p>
            <a:pPr marL="342900" lvl="0" indent="-342900" algn="l" rtl="0">
              <a:lnSpc>
                <a:spcPct val="100000"/>
              </a:lnSpc>
              <a:spcBef>
                <a:spcPts val="1000"/>
              </a:spcBef>
              <a:spcAft>
                <a:spcPts val="0"/>
              </a:spcAft>
              <a:buSzPts val="2200"/>
              <a:buFont typeface="Open Sans"/>
              <a:buChar char="•"/>
            </a:pPr>
            <a:r>
              <a:rPr lang="en-US" sz="2200" dirty="0">
                <a:latin typeface="Open Sans"/>
                <a:ea typeface="Open Sans"/>
                <a:cs typeface="Open Sans"/>
                <a:sym typeface="Open Sans"/>
              </a:rPr>
              <a:t>Low birthweight is a risk factor for infant mortality (Low Birthweight </a:t>
            </a:r>
            <a:r>
              <a:rPr lang="en-US" sz="2200" dirty="0">
                <a:latin typeface="Open Sans"/>
                <a:ea typeface="Open Sans"/>
                <a:cs typeface="Open Sans"/>
                <a:sym typeface="Wingdings" panose="05000000000000000000" pitchFamily="2" charset="2"/>
              </a:rPr>
              <a:t></a:t>
            </a:r>
            <a:r>
              <a:rPr lang="en-US" sz="2200" dirty="0">
                <a:latin typeface="Open Sans"/>
                <a:ea typeface="Open Sans"/>
                <a:cs typeface="Open Sans"/>
                <a:sym typeface="Open Sans"/>
              </a:rPr>
              <a:t> Mortality)</a:t>
            </a:r>
            <a:endParaRPr sz="2200" dirty="0">
              <a:latin typeface="Open Sans"/>
              <a:ea typeface="Open Sans"/>
              <a:cs typeface="Open Sans"/>
              <a:sym typeface="Open Sans"/>
            </a:endParaRPr>
          </a:p>
          <a:p>
            <a:pPr marL="342900" lvl="0" indent="-342900" algn="l" rtl="0">
              <a:lnSpc>
                <a:spcPct val="100000"/>
              </a:lnSpc>
              <a:spcBef>
                <a:spcPts val="1000"/>
              </a:spcBef>
              <a:spcAft>
                <a:spcPts val="0"/>
              </a:spcAft>
              <a:buSzPts val="2200"/>
              <a:buFont typeface="Open Sans"/>
              <a:buChar char="•"/>
            </a:pPr>
            <a:r>
              <a:rPr lang="en-US" sz="2200" dirty="0">
                <a:latin typeface="Open Sans"/>
                <a:ea typeface="Open Sans"/>
                <a:cs typeface="Open Sans"/>
                <a:sym typeface="Open Sans"/>
              </a:rPr>
              <a:t>Smoking is a risk factor for low birthweight (Smoking </a:t>
            </a:r>
            <a:r>
              <a:rPr lang="en-US" sz="2200" dirty="0">
                <a:latin typeface="Open Sans"/>
                <a:ea typeface="Open Sans"/>
                <a:cs typeface="Open Sans"/>
                <a:sym typeface="Wingdings" panose="05000000000000000000" pitchFamily="2" charset="2"/>
              </a:rPr>
              <a:t></a:t>
            </a:r>
            <a:r>
              <a:rPr lang="en-US" sz="2200" dirty="0">
                <a:latin typeface="Open Sans"/>
                <a:ea typeface="Open Sans"/>
                <a:cs typeface="Open Sans"/>
                <a:sym typeface="Open Sans"/>
              </a:rPr>
              <a:t> Low Birthweight </a:t>
            </a:r>
            <a:r>
              <a:rPr lang="en-US" sz="2200" dirty="0">
                <a:latin typeface="Open Sans"/>
                <a:ea typeface="Open Sans"/>
                <a:cs typeface="Open Sans"/>
                <a:sym typeface="Wingdings" panose="05000000000000000000" pitchFamily="2" charset="2"/>
              </a:rPr>
              <a:t></a:t>
            </a:r>
            <a:r>
              <a:rPr lang="en-US" sz="2200" dirty="0">
                <a:latin typeface="Open Sans"/>
                <a:ea typeface="Open Sans"/>
                <a:cs typeface="Open Sans"/>
                <a:sym typeface="Open Sans"/>
              </a:rPr>
              <a:t> Mortality)</a:t>
            </a:r>
            <a:endParaRPr sz="2200" dirty="0">
              <a:latin typeface="Open Sans"/>
              <a:ea typeface="Open Sans"/>
              <a:cs typeface="Open Sans"/>
              <a:sym typeface="Open Sans"/>
            </a:endParaRPr>
          </a:p>
        </p:txBody>
      </p:sp>
      <p:sp>
        <p:nvSpPr>
          <p:cNvPr id="249" name="Google Shape;249;g38e34af980f_0_8"/>
          <p:cNvSpPr/>
          <p:nvPr/>
        </p:nvSpPr>
        <p:spPr>
          <a:xfrm>
            <a:off x="4670661" y="2525380"/>
            <a:ext cx="1533586"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dirty="0">
                <a:solidFill>
                  <a:schemeClr val="dk2"/>
                </a:solidFill>
                <a:latin typeface="Open Sans"/>
                <a:ea typeface="Open Sans"/>
                <a:cs typeface="Open Sans"/>
                <a:sym typeface="Open Sans"/>
              </a:rPr>
              <a:t>Low Birthweight</a:t>
            </a:r>
            <a:endParaRPr sz="1600" b="1" i="0" u="none" strike="noStrike" cap="none" dirty="0">
              <a:solidFill>
                <a:schemeClr val="dk2"/>
              </a:solidFill>
              <a:latin typeface="Open Sans"/>
              <a:ea typeface="Open Sans"/>
              <a:cs typeface="Open Sans"/>
              <a:sym typeface="Open Sans"/>
            </a:endParaRPr>
          </a:p>
        </p:txBody>
      </p:sp>
      <p:sp>
        <p:nvSpPr>
          <p:cNvPr id="250" name="Google Shape;250;g38e34af980f_0_8"/>
          <p:cNvSpPr/>
          <p:nvPr/>
        </p:nvSpPr>
        <p:spPr>
          <a:xfrm>
            <a:off x="7521340" y="2525380"/>
            <a:ext cx="1293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Mortality</a:t>
            </a:r>
            <a:endParaRPr sz="1600" b="1" i="0" u="none" strike="noStrike" cap="none">
              <a:solidFill>
                <a:schemeClr val="dk2"/>
              </a:solidFill>
              <a:latin typeface="Open Sans"/>
              <a:ea typeface="Open Sans"/>
              <a:cs typeface="Open Sans"/>
              <a:sym typeface="Open Sans"/>
            </a:endParaRPr>
          </a:p>
        </p:txBody>
      </p:sp>
      <p:cxnSp>
        <p:nvCxnSpPr>
          <p:cNvPr id="251" name="Google Shape;251;g38e34af980f_0_8"/>
          <p:cNvCxnSpPr>
            <a:cxnSpLocks/>
            <a:stCxn id="249" idx="3"/>
            <a:endCxn id="250" idx="1"/>
          </p:cNvCxnSpPr>
          <p:nvPr/>
        </p:nvCxnSpPr>
        <p:spPr>
          <a:xfrm>
            <a:off x="6204247" y="2848030"/>
            <a:ext cx="1317093" cy="0"/>
          </a:xfrm>
          <a:prstGeom prst="straightConnector1">
            <a:avLst/>
          </a:prstGeom>
          <a:noFill/>
          <a:ln w="28575" cap="flat" cmpd="sng">
            <a:solidFill>
              <a:schemeClr val="dk2"/>
            </a:solidFill>
            <a:prstDash val="solid"/>
            <a:round/>
            <a:headEnd type="none" w="sm" len="sm"/>
            <a:tailEnd type="triangle" w="med" len="med"/>
          </a:ln>
        </p:spPr>
      </p:cxnSp>
      <p:sp>
        <p:nvSpPr>
          <p:cNvPr id="252" name="Google Shape;252;g38e34af980f_0_8"/>
          <p:cNvSpPr/>
          <p:nvPr/>
        </p:nvSpPr>
        <p:spPr>
          <a:xfrm>
            <a:off x="2252343" y="2525380"/>
            <a:ext cx="11535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Smoking</a:t>
            </a:r>
            <a:endParaRPr sz="1600" b="1" i="0" u="none" strike="noStrike" cap="none">
              <a:solidFill>
                <a:schemeClr val="dk2"/>
              </a:solidFill>
              <a:latin typeface="Open Sans"/>
              <a:ea typeface="Open Sans"/>
              <a:cs typeface="Open Sans"/>
              <a:sym typeface="Open Sans"/>
            </a:endParaRPr>
          </a:p>
        </p:txBody>
      </p:sp>
      <p:cxnSp>
        <p:nvCxnSpPr>
          <p:cNvPr id="253" name="Google Shape;253;g38e34af980f_0_8"/>
          <p:cNvCxnSpPr>
            <a:cxnSpLocks/>
            <a:stCxn id="252" idx="3"/>
            <a:endCxn id="249" idx="1"/>
          </p:cNvCxnSpPr>
          <p:nvPr/>
        </p:nvCxnSpPr>
        <p:spPr>
          <a:xfrm>
            <a:off x="3405843" y="2848030"/>
            <a:ext cx="1264818" cy="0"/>
          </a:xfrm>
          <a:prstGeom prst="straightConnector1">
            <a:avLst/>
          </a:prstGeom>
          <a:noFill/>
          <a:ln w="28575" cap="flat" cmpd="sng">
            <a:solidFill>
              <a:schemeClr val="dk2"/>
            </a:solidFill>
            <a:prstDash val="solid"/>
            <a:round/>
            <a:headEnd type="none" w="sm" len="sm"/>
            <a:tailEnd type="triangle" w="med" len="med"/>
          </a:ln>
        </p:spPr>
      </p:cxnSp>
      <p:sp>
        <p:nvSpPr>
          <p:cNvPr id="254" name="Google Shape;254;g38e34af980f_0_8"/>
          <p:cNvSpPr txBox="1"/>
          <p:nvPr/>
        </p:nvSpPr>
        <p:spPr>
          <a:xfrm>
            <a:off x="512064" y="3429000"/>
            <a:ext cx="10853928" cy="3247002"/>
          </a:xfrm>
          <a:prstGeom prst="rect">
            <a:avLst/>
          </a:prstGeom>
          <a:noFill/>
          <a:ln>
            <a:noFill/>
          </a:ln>
        </p:spPr>
        <p:txBody>
          <a:bodyPr spcFirstLastPara="1" wrap="square" lIns="91425" tIns="45700" rIns="91425" bIns="45700" anchor="t" anchorCtr="0">
            <a:spAutoFit/>
          </a:bodyPr>
          <a:lstStyle/>
          <a:p>
            <a:pPr marL="685800" marR="0" lvl="0" indent="-342900" algn="l" rtl="0">
              <a:lnSpc>
                <a:spcPct val="100000"/>
              </a:lnSpc>
              <a:spcBef>
                <a:spcPts val="0"/>
              </a:spcBef>
              <a:spcAft>
                <a:spcPts val="0"/>
              </a:spcAft>
              <a:buFont typeface="Arial" panose="020B0604020202020204" pitchFamily="34" charset="0"/>
              <a:buChar char="•"/>
            </a:pPr>
            <a:r>
              <a:rPr lang="en-US" sz="2200" i="0" u="none" strike="noStrike" cap="none" dirty="0">
                <a:solidFill>
                  <a:schemeClr val="tx1"/>
                </a:solidFill>
                <a:latin typeface="Open Sans"/>
                <a:ea typeface="Open Sans"/>
                <a:cs typeface="Open Sans"/>
                <a:sym typeface="Open Sans"/>
              </a:rPr>
              <a:t>However: </a:t>
            </a:r>
            <a:r>
              <a:rPr lang="en-US" sz="2200" b="1" i="0" u="none" strike="noStrike" cap="none" dirty="0">
                <a:solidFill>
                  <a:srgbClr val="C0504D"/>
                </a:solidFill>
                <a:latin typeface="Open Sans"/>
                <a:ea typeface="Open Sans"/>
                <a:cs typeface="Open Sans"/>
                <a:sym typeface="Open Sans"/>
              </a:rPr>
              <a:t>among infants of low birthweight</a:t>
            </a:r>
            <a:r>
              <a:rPr lang="en-US" sz="2200" i="0" u="none" strike="noStrike" cap="none" dirty="0">
                <a:solidFill>
                  <a:schemeClr val="tx1"/>
                </a:solidFill>
                <a:latin typeface="Open Sans"/>
                <a:ea typeface="Open Sans"/>
                <a:cs typeface="Open Sans"/>
                <a:sym typeface="Open Sans"/>
              </a:rPr>
              <a:t>, infant mortality is lower for infants born to parents who smoke </a:t>
            </a:r>
            <a:r>
              <a:rPr lang="en-US" sz="2600" i="0" u="none" strike="noStrike" cap="none" dirty="0">
                <a:solidFill>
                  <a:schemeClr val="tx1"/>
                </a:solidFill>
                <a:latin typeface="Open Sans"/>
                <a:ea typeface="Open Sans"/>
                <a:cs typeface="Open Sans"/>
                <a:sym typeface="Open Sans"/>
              </a:rPr>
              <a:t>(!)</a:t>
            </a:r>
            <a:endParaRPr dirty="0">
              <a:solidFill>
                <a:schemeClr val="tx1"/>
              </a:solidFill>
            </a:endParaRPr>
          </a:p>
          <a:p>
            <a:pPr marL="785178" marR="0" lvl="1" indent="-342900" algn="l" rtl="0">
              <a:lnSpc>
                <a:spcPct val="100000"/>
              </a:lnSpc>
              <a:spcBef>
                <a:spcPts val="1000"/>
              </a:spcBef>
              <a:spcAft>
                <a:spcPts val="0"/>
              </a:spcAft>
              <a:buClr>
                <a:srgbClr val="000000"/>
              </a:buClr>
              <a:buSzPts val="2200"/>
              <a:buFont typeface="Arial" panose="020B0604020202020204" pitchFamily="34" charset="0"/>
              <a:buChar char="•"/>
            </a:pPr>
            <a:r>
              <a:rPr lang="en-US" sz="2200" b="1" i="0" u="none" strike="noStrike" cap="none" dirty="0">
                <a:solidFill>
                  <a:srgbClr val="001C84"/>
                </a:solidFill>
                <a:latin typeface="Open Sans"/>
                <a:ea typeface="Open Sans"/>
                <a:cs typeface="Open Sans"/>
                <a:sym typeface="Open Sans"/>
              </a:rPr>
              <a:t>What!? Why? </a:t>
            </a:r>
            <a:endParaRPr dirty="0">
              <a:solidFill>
                <a:srgbClr val="001C84"/>
              </a:solidFill>
            </a:endParaRPr>
          </a:p>
          <a:p>
            <a:pPr marL="1242380" marR="0" lvl="2" indent="-342900" algn="l" rtl="0">
              <a:lnSpc>
                <a:spcPct val="100000"/>
              </a:lnSpc>
              <a:spcBef>
                <a:spcPts val="1000"/>
              </a:spcBef>
              <a:spcAft>
                <a:spcPts val="0"/>
              </a:spcAft>
              <a:buClr>
                <a:srgbClr val="000000"/>
              </a:buClr>
              <a:buSzPts val="2200"/>
              <a:buFont typeface="Arial" panose="020B0604020202020204" pitchFamily="34" charset="0"/>
              <a:buChar char="•"/>
            </a:pPr>
            <a:r>
              <a:rPr lang="en-US" sz="2200" b="0" i="0" u="none" strike="noStrike" cap="none" dirty="0">
                <a:solidFill>
                  <a:srgbClr val="000000"/>
                </a:solidFill>
                <a:latin typeface="Open Sans"/>
                <a:ea typeface="Open Sans"/>
                <a:cs typeface="Open Sans"/>
                <a:sym typeface="Open Sans"/>
              </a:rPr>
              <a:t>One theory in the 1960s was that </a:t>
            </a:r>
            <a:r>
              <a:rPr lang="en-US" sz="2200" b="1" dirty="0">
                <a:solidFill>
                  <a:srgbClr val="001C84"/>
                </a:solidFill>
                <a:latin typeface="Open Sans"/>
                <a:ea typeface="Open Sans"/>
                <a:cs typeface="Open Sans"/>
                <a:sym typeface="Open Sans"/>
              </a:rPr>
              <a:t>parent</a:t>
            </a:r>
            <a:r>
              <a:rPr lang="en-US" sz="2200" b="1" i="0" u="none" strike="noStrike" cap="none" dirty="0">
                <a:solidFill>
                  <a:srgbClr val="001C84"/>
                </a:solidFill>
                <a:latin typeface="Open Sans"/>
                <a:ea typeface="Open Sans"/>
                <a:cs typeface="Open Sans"/>
                <a:sym typeface="Open Sans"/>
              </a:rPr>
              <a:t>al smoking is beneficial to infants who happen to be born with </a:t>
            </a:r>
            <a:r>
              <a:rPr lang="en-US" sz="2200" b="1" dirty="0">
                <a:solidFill>
                  <a:srgbClr val="001C84"/>
                </a:solidFill>
                <a:latin typeface="Open Sans"/>
                <a:ea typeface="Open Sans"/>
                <a:cs typeface="Open Sans"/>
                <a:sym typeface="Open Sans"/>
              </a:rPr>
              <a:t>low birthweight</a:t>
            </a:r>
            <a:r>
              <a:rPr lang="en-US" sz="2200" b="1" i="0" u="none" strike="noStrike" cap="none" dirty="0">
                <a:solidFill>
                  <a:srgbClr val="001C84"/>
                </a:solidFill>
                <a:latin typeface="Open Sans"/>
                <a:ea typeface="Open Sans"/>
                <a:cs typeface="Open Sans"/>
                <a:sym typeface="Open Sans"/>
              </a:rPr>
              <a:t>… </a:t>
            </a:r>
            <a:r>
              <a:rPr lang="en-US" sz="2200" b="0" i="0" u="none" strike="noStrike" cap="none" dirty="0">
                <a:solidFill>
                  <a:srgbClr val="000000"/>
                </a:solidFill>
                <a:latin typeface="Open Sans"/>
                <a:ea typeface="Open Sans"/>
                <a:cs typeface="Open Sans"/>
                <a:sym typeface="Open Sans"/>
              </a:rPr>
              <a:t>(Pearl &amp; Mackenzie, 2018) </a:t>
            </a:r>
            <a:endParaRPr lang="en-US" dirty="0">
              <a:ea typeface="Open Sans"/>
            </a:endParaRPr>
          </a:p>
          <a:p>
            <a:pPr marL="1242380" marR="0" lvl="2" indent="-342900" algn="l" rtl="0">
              <a:lnSpc>
                <a:spcPct val="100000"/>
              </a:lnSpc>
              <a:spcBef>
                <a:spcPts val="1000"/>
              </a:spcBef>
              <a:spcAft>
                <a:spcPts val="0"/>
              </a:spcAft>
              <a:buClr>
                <a:srgbClr val="000000"/>
              </a:buClr>
              <a:buSzPts val="2200"/>
              <a:buFont typeface="Arial" panose="020B0604020202020204" pitchFamily="34" charset="0"/>
              <a:buChar char="•"/>
            </a:pPr>
            <a:r>
              <a:rPr lang="en-US" sz="2200" b="0" i="0" u="none" strike="noStrike" cap="none" dirty="0">
                <a:solidFill>
                  <a:srgbClr val="000000"/>
                </a:solidFill>
                <a:latin typeface="Open Sans"/>
                <a:ea typeface="Open Sans"/>
                <a:cs typeface="Open Sans"/>
                <a:sym typeface="Open Sans"/>
              </a:rPr>
              <a:t>This paradox was not reliably explained until 2006 (Hernandez-</a:t>
            </a:r>
            <a:r>
              <a:rPr lang="en-US" sz="2200" b="0" i="0" u="none" strike="noStrike" cap="none" dirty="0" err="1">
                <a:solidFill>
                  <a:srgbClr val="000000"/>
                </a:solidFill>
                <a:latin typeface="Open Sans"/>
                <a:ea typeface="Open Sans"/>
                <a:cs typeface="Open Sans"/>
                <a:sym typeface="Open Sans"/>
              </a:rPr>
              <a:t>Dıaz</a:t>
            </a:r>
            <a:r>
              <a:rPr lang="en-US" sz="2200" b="0" i="0" u="none" strike="noStrike" cap="none" dirty="0">
                <a:solidFill>
                  <a:srgbClr val="000000"/>
                </a:solidFill>
                <a:latin typeface="Open Sans"/>
                <a:ea typeface="Open Sans"/>
                <a:cs typeface="Open Sans"/>
                <a:sym typeface="Open Sans"/>
              </a:rPr>
              <a:t> et al., 2006)</a:t>
            </a:r>
            <a:endParaRPr sz="2200" dirty="0"/>
          </a:p>
        </p:txBody>
      </p:sp>
      <p:sp>
        <p:nvSpPr>
          <p:cNvPr id="2" name="Slide Number Placeholder 1">
            <a:extLst>
              <a:ext uri="{FF2B5EF4-FFF2-40B4-BE49-F238E27FC236}">
                <a16:creationId xmlns:a16="http://schemas.microsoft.com/office/drawing/2014/main" id="{2ABF686C-9AB9-72B4-859D-896B34594B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8e34af980f_0_26"/>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Collider Bias</a:t>
            </a:r>
            <a:endParaRPr b="1">
              <a:solidFill>
                <a:srgbClr val="001C84"/>
              </a:solidFill>
              <a:latin typeface="Open Sans"/>
              <a:ea typeface="Open Sans"/>
              <a:cs typeface="Open Sans"/>
              <a:sym typeface="Open Sans"/>
            </a:endParaRPr>
          </a:p>
        </p:txBody>
      </p:sp>
      <p:sp>
        <p:nvSpPr>
          <p:cNvPr id="261" name="Google Shape;261;g38e34af980f_0_26"/>
          <p:cNvSpPr txBox="1">
            <a:spLocks noGrp="1"/>
          </p:cNvSpPr>
          <p:nvPr>
            <p:ph type="body" idx="1"/>
          </p:nvPr>
        </p:nvSpPr>
        <p:spPr>
          <a:xfrm>
            <a:off x="630936" y="1417650"/>
            <a:ext cx="11000232" cy="2011200"/>
          </a:xfrm>
          <a:prstGeom prst="rect">
            <a:avLst/>
          </a:prstGeom>
          <a:solidFill>
            <a:schemeClr val="lt1"/>
          </a:solidFill>
          <a:ln>
            <a:noFill/>
          </a:ln>
        </p:spPr>
        <p:txBody>
          <a:bodyPr spcFirstLastPara="1" wrap="square" lIns="91425" tIns="45700" rIns="91425" bIns="45700" anchor="t" anchorCtr="0">
            <a:normAutofit/>
          </a:bodyPr>
          <a:lstStyle/>
          <a:p>
            <a:pPr marL="342900" lvl="0" indent="-342900" algn="l" rtl="0">
              <a:lnSpc>
                <a:spcPct val="100000"/>
              </a:lnSpc>
              <a:spcBef>
                <a:spcPts val="1000"/>
              </a:spcBef>
              <a:spcAft>
                <a:spcPts val="0"/>
              </a:spcAft>
              <a:buSzPts val="2200"/>
              <a:buFont typeface="Open Sans"/>
              <a:buChar char="•"/>
            </a:pPr>
            <a:r>
              <a:rPr lang="en-US" sz="2200" dirty="0">
                <a:latin typeface="Open Sans"/>
                <a:ea typeface="Open Sans"/>
                <a:cs typeface="Open Sans"/>
                <a:sym typeface="Open Sans"/>
              </a:rPr>
              <a:t>The Birthweight Paradox appears because of </a:t>
            </a:r>
            <a:r>
              <a:rPr lang="en-US" sz="2200" b="1" dirty="0">
                <a:solidFill>
                  <a:srgbClr val="001C84"/>
                </a:solidFill>
                <a:latin typeface="Open Sans"/>
                <a:ea typeface="Open Sans"/>
                <a:cs typeface="Open Sans"/>
                <a:sym typeface="Open Sans"/>
              </a:rPr>
              <a:t>selection on a collider</a:t>
            </a:r>
            <a:r>
              <a:rPr lang="en-US" sz="2200" dirty="0">
                <a:latin typeface="Open Sans"/>
                <a:ea typeface="Open Sans"/>
                <a:cs typeface="Open Sans"/>
                <a:sym typeface="Open Sans"/>
              </a:rPr>
              <a:t>:</a:t>
            </a:r>
            <a:endParaRPr dirty="0"/>
          </a:p>
          <a:p>
            <a:pPr marL="342900" lvl="0" indent="-342900" algn="l" rtl="0">
              <a:lnSpc>
                <a:spcPct val="100000"/>
              </a:lnSpc>
              <a:spcBef>
                <a:spcPts val="1000"/>
              </a:spcBef>
              <a:spcAft>
                <a:spcPts val="0"/>
              </a:spcAft>
              <a:buSzPts val="2200"/>
              <a:buFont typeface="Open Sans"/>
              <a:buChar char="•"/>
            </a:pPr>
            <a:r>
              <a:rPr lang="en-US" sz="2200" b="1" dirty="0">
                <a:solidFill>
                  <a:srgbClr val="C0504D"/>
                </a:solidFill>
                <a:latin typeface="Open Sans"/>
                <a:ea typeface="Open Sans"/>
                <a:cs typeface="Open Sans"/>
                <a:sym typeface="Open Sans"/>
              </a:rPr>
              <a:t>Among infants of low birthweight </a:t>
            </a:r>
            <a:r>
              <a:rPr lang="en-US" sz="2200" b="1" dirty="0">
                <a:solidFill>
                  <a:schemeClr val="accent2"/>
                </a:solidFill>
                <a:latin typeface="Open Sans"/>
                <a:ea typeface="Open Sans"/>
                <a:cs typeface="Open Sans"/>
                <a:sym typeface="Open Sans"/>
              </a:rPr>
              <a:t>(collider)</a:t>
            </a:r>
            <a:r>
              <a:rPr lang="en-US" sz="2200" dirty="0">
                <a:latin typeface="Open Sans"/>
                <a:ea typeface="Open Sans"/>
                <a:cs typeface="Open Sans"/>
                <a:sym typeface="Open Sans"/>
              </a:rPr>
              <a:t>, infant mortality is </a:t>
            </a:r>
            <a:r>
              <a:rPr lang="en-US" sz="2200" b="1" dirty="0">
                <a:solidFill>
                  <a:srgbClr val="001C84"/>
                </a:solidFill>
                <a:latin typeface="Open Sans"/>
                <a:ea typeface="Open Sans"/>
                <a:cs typeface="Open Sans"/>
                <a:sym typeface="Open Sans"/>
              </a:rPr>
              <a:t>lower</a:t>
            </a:r>
            <a:r>
              <a:rPr lang="en-US" sz="2200" dirty="0">
                <a:latin typeface="Open Sans"/>
                <a:ea typeface="Open Sans"/>
                <a:cs typeface="Open Sans"/>
                <a:sym typeface="Open Sans"/>
              </a:rPr>
              <a:t> for infants born to parents who smoke relative to other infants …</a:t>
            </a:r>
            <a:endParaRPr sz="2200" dirty="0">
              <a:latin typeface="Open Sans"/>
              <a:ea typeface="Open Sans"/>
              <a:cs typeface="Open Sans"/>
              <a:sym typeface="Open Sans"/>
            </a:endParaRPr>
          </a:p>
        </p:txBody>
      </p:sp>
      <p:sp>
        <p:nvSpPr>
          <p:cNvPr id="271" name="Google Shape;271;g38e34af980f_0_26"/>
          <p:cNvSpPr txBox="1"/>
          <p:nvPr/>
        </p:nvSpPr>
        <p:spPr>
          <a:xfrm>
            <a:off x="5529942" y="5931902"/>
            <a:ext cx="6028073" cy="584735"/>
          </a:xfrm>
          <a:prstGeom prst="rect">
            <a:avLst/>
          </a:prstGeom>
          <a:noFill/>
          <a:ln>
            <a:noFill/>
          </a:ln>
        </p:spPr>
        <p:txBody>
          <a:bodyPr spcFirstLastPara="1" wrap="square" lIns="91425" tIns="45700" rIns="91425" bIns="45700" anchor="t" anchorCtr="0">
            <a:spAutoFit/>
          </a:bodyPr>
          <a:lstStyle/>
          <a:p>
            <a:pPr marL="742950" marR="0" lvl="1" indent="-311150" algn="l" rtl="0">
              <a:lnSpc>
                <a:spcPct val="100000"/>
              </a:lnSpc>
              <a:spcBef>
                <a:spcPts val="0"/>
              </a:spcBef>
              <a:spcAft>
                <a:spcPts val="0"/>
              </a:spcAft>
              <a:buClr>
                <a:srgbClr val="000000"/>
              </a:buClr>
              <a:buSzPct val="100000"/>
              <a:buFont typeface="Arial" panose="020B0604020202020204" pitchFamily="34" charset="0"/>
              <a:buChar char="•"/>
            </a:pPr>
            <a:r>
              <a:rPr lang="en-US" sz="1600" b="0" i="0" u="none" strike="noStrike" cap="none" dirty="0">
                <a:solidFill>
                  <a:srgbClr val="000000"/>
                </a:solidFill>
                <a:latin typeface="Open Sans"/>
                <a:ea typeface="Open Sans"/>
                <a:cs typeface="Open Sans"/>
                <a:sym typeface="Open Sans"/>
              </a:rPr>
              <a:t>What may cause infants to have </a:t>
            </a:r>
            <a:r>
              <a:rPr lang="en-US" sz="1600" dirty="0">
                <a:latin typeface="Open Sans"/>
                <a:ea typeface="Open Sans"/>
                <a:cs typeface="Open Sans"/>
                <a:sym typeface="Open Sans"/>
              </a:rPr>
              <a:t>low birthweight</a:t>
            </a:r>
            <a:r>
              <a:rPr lang="en-US" sz="1600" b="0" i="0" u="none" strike="noStrike" cap="none" dirty="0">
                <a:solidFill>
                  <a:srgbClr val="000000"/>
                </a:solidFill>
                <a:latin typeface="Open Sans"/>
                <a:ea typeface="Open Sans"/>
                <a:cs typeface="Open Sans"/>
                <a:sym typeface="Open Sans"/>
              </a:rPr>
              <a:t>? </a:t>
            </a:r>
            <a:endParaRPr dirty="0"/>
          </a:p>
          <a:p>
            <a:pPr marL="742950" marR="0" lvl="1" indent="-311150" algn="l" rtl="0">
              <a:lnSpc>
                <a:spcPct val="100000"/>
              </a:lnSpc>
              <a:spcBef>
                <a:spcPts val="0"/>
              </a:spcBef>
              <a:spcAft>
                <a:spcPts val="0"/>
              </a:spcAft>
              <a:buClr>
                <a:srgbClr val="000000"/>
              </a:buClr>
              <a:buSzPct val="100000"/>
              <a:buFont typeface="Arial" panose="020B0604020202020204" pitchFamily="34" charset="0"/>
              <a:buChar char="•"/>
            </a:pPr>
            <a:r>
              <a:rPr lang="en-US" sz="1600" b="0" i="0" u="none" strike="noStrike" cap="none" dirty="0">
                <a:solidFill>
                  <a:srgbClr val="000000"/>
                </a:solidFill>
                <a:latin typeface="Open Sans"/>
                <a:ea typeface="Open Sans"/>
                <a:cs typeface="Open Sans"/>
                <a:sym typeface="Open Sans"/>
              </a:rPr>
              <a:t>What else contributes to </a:t>
            </a:r>
            <a:r>
              <a:rPr lang="en-US" sz="1600" dirty="0">
                <a:latin typeface="Open Sans"/>
                <a:ea typeface="Open Sans"/>
                <a:cs typeface="Open Sans"/>
                <a:sym typeface="Open Sans"/>
              </a:rPr>
              <a:t>low birthweight</a:t>
            </a:r>
            <a:r>
              <a:rPr lang="en-US" sz="1600" b="0" i="0" u="none" strike="noStrike" cap="none" dirty="0">
                <a:solidFill>
                  <a:srgbClr val="000000"/>
                </a:solidFill>
                <a:latin typeface="Open Sans"/>
                <a:ea typeface="Open Sans"/>
                <a:cs typeface="Open Sans"/>
                <a:sym typeface="Open Sans"/>
              </a:rPr>
              <a:t>?</a:t>
            </a:r>
            <a:endParaRPr sz="1400" b="0" i="0" u="none" strike="noStrike" cap="none" dirty="0">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43EB7BB5-5F42-597E-2B8A-E37C749F56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dirty="0"/>
          </a:p>
        </p:txBody>
      </p:sp>
      <p:grpSp>
        <p:nvGrpSpPr>
          <p:cNvPr id="4" name="Group 3">
            <a:extLst>
              <a:ext uri="{FF2B5EF4-FFF2-40B4-BE49-F238E27FC236}">
                <a16:creationId xmlns:a16="http://schemas.microsoft.com/office/drawing/2014/main" id="{FA7B3E59-087C-11F7-1AAA-8F43BD3050CA}"/>
              </a:ext>
            </a:extLst>
          </p:cNvPr>
          <p:cNvGrpSpPr/>
          <p:nvPr/>
        </p:nvGrpSpPr>
        <p:grpSpPr>
          <a:xfrm>
            <a:off x="2524947" y="3313501"/>
            <a:ext cx="7142106" cy="2203704"/>
            <a:chOff x="2400189" y="4141208"/>
            <a:chExt cx="7142106" cy="2100025"/>
          </a:xfrm>
        </p:grpSpPr>
        <p:sp>
          <p:nvSpPr>
            <p:cNvPr id="5" name="Google Shape;279;g38e34af980f_0_44">
              <a:extLst>
                <a:ext uri="{FF2B5EF4-FFF2-40B4-BE49-F238E27FC236}">
                  <a16:creationId xmlns:a16="http://schemas.microsoft.com/office/drawing/2014/main" id="{AD07911B-F5A5-4076-615E-F378CE028628}"/>
                </a:ext>
              </a:extLst>
            </p:cNvPr>
            <p:cNvSpPr/>
            <p:nvPr/>
          </p:nvSpPr>
          <p:spPr>
            <a:xfrm>
              <a:off x="5806024" y="4888358"/>
              <a:ext cx="1596268" cy="6453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algn="ctr"/>
              <a:r>
                <a:rPr lang="en-US" sz="1600" b="1" dirty="0">
                  <a:solidFill>
                    <a:schemeClr val="dk2"/>
                  </a:solidFill>
                  <a:latin typeface="Open Sans"/>
                  <a:ea typeface="Open Sans"/>
                  <a:cs typeface="Open Sans"/>
                  <a:sym typeface="Open Sans"/>
                </a:rPr>
                <a:t>Low Birthweight</a:t>
              </a:r>
            </a:p>
          </p:txBody>
        </p:sp>
        <p:sp>
          <p:nvSpPr>
            <p:cNvPr id="6" name="Google Shape;280;g38e34af980f_0_44">
              <a:extLst>
                <a:ext uri="{FF2B5EF4-FFF2-40B4-BE49-F238E27FC236}">
                  <a16:creationId xmlns:a16="http://schemas.microsoft.com/office/drawing/2014/main" id="{D965AB61-CD74-335B-67A6-51CEECABF02D}"/>
                </a:ext>
              </a:extLst>
            </p:cNvPr>
            <p:cNvSpPr/>
            <p:nvPr/>
          </p:nvSpPr>
          <p:spPr>
            <a:xfrm>
              <a:off x="8248695" y="4888358"/>
              <a:ext cx="1293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Mortality</a:t>
              </a:r>
              <a:endParaRPr sz="1600" b="1" i="0" u="none" strike="noStrike" cap="none">
                <a:solidFill>
                  <a:schemeClr val="dk2"/>
                </a:solidFill>
                <a:latin typeface="Open Sans"/>
                <a:ea typeface="Open Sans"/>
                <a:cs typeface="Open Sans"/>
                <a:sym typeface="Open Sans"/>
              </a:endParaRPr>
            </a:p>
          </p:txBody>
        </p:sp>
        <p:cxnSp>
          <p:nvCxnSpPr>
            <p:cNvPr id="7" name="Google Shape;281;g38e34af980f_0_44">
              <a:extLst>
                <a:ext uri="{FF2B5EF4-FFF2-40B4-BE49-F238E27FC236}">
                  <a16:creationId xmlns:a16="http://schemas.microsoft.com/office/drawing/2014/main" id="{4A334EEE-8DBC-07CE-9911-C68D5D85DBAE}"/>
                </a:ext>
              </a:extLst>
            </p:cNvPr>
            <p:cNvCxnSpPr>
              <a:cxnSpLocks/>
              <a:stCxn id="5" idx="3"/>
              <a:endCxn id="6" idx="1"/>
            </p:cNvCxnSpPr>
            <p:nvPr/>
          </p:nvCxnSpPr>
          <p:spPr>
            <a:xfrm>
              <a:off x="7402292" y="5211009"/>
              <a:ext cx="846403" cy="0"/>
            </a:xfrm>
            <a:prstGeom prst="straightConnector1">
              <a:avLst/>
            </a:prstGeom>
            <a:noFill/>
            <a:ln w="28575" cap="flat" cmpd="sng">
              <a:solidFill>
                <a:schemeClr val="dk2"/>
              </a:solidFill>
              <a:prstDash val="solid"/>
              <a:round/>
              <a:headEnd type="none" w="sm" len="sm"/>
              <a:tailEnd type="triangle" w="med" len="med"/>
            </a:ln>
            <a:effectLst/>
          </p:spPr>
        </p:cxnSp>
        <p:sp>
          <p:nvSpPr>
            <p:cNvPr id="8" name="Google Shape;282;g38e34af980f_0_44">
              <a:extLst>
                <a:ext uri="{FF2B5EF4-FFF2-40B4-BE49-F238E27FC236}">
                  <a16:creationId xmlns:a16="http://schemas.microsoft.com/office/drawing/2014/main" id="{F426C6D0-A80E-05E5-80B5-60DC9B6CEC76}"/>
                </a:ext>
              </a:extLst>
            </p:cNvPr>
            <p:cNvSpPr/>
            <p:nvPr/>
          </p:nvSpPr>
          <p:spPr>
            <a:xfrm>
              <a:off x="2555889" y="4141208"/>
              <a:ext cx="11922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dirty="0">
                  <a:solidFill>
                    <a:schemeClr val="dk2"/>
                  </a:solidFill>
                  <a:latin typeface="Open Sans"/>
                  <a:ea typeface="Open Sans"/>
                  <a:cs typeface="Open Sans"/>
                  <a:sym typeface="Open Sans"/>
                </a:rPr>
                <a:t>Smoking</a:t>
              </a:r>
              <a:endParaRPr sz="1600" b="1" i="0" u="none" strike="noStrike" cap="none" dirty="0">
                <a:solidFill>
                  <a:schemeClr val="dk2"/>
                </a:solidFill>
                <a:latin typeface="Open Sans"/>
                <a:ea typeface="Open Sans"/>
                <a:cs typeface="Open Sans"/>
                <a:sym typeface="Open Sans"/>
              </a:endParaRPr>
            </a:p>
          </p:txBody>
        </p:sp>
        <p:sp>
          <p:nvSpPr>
            <p:cNvPr id="9" name="Google Shape;283;g38e34af980f_0_44">
              <a:extLst>
                <a:ext uri="{FF2B5EF4-FFF2-40B4-BE49-F238E27FC236}">
                  <a16:creationId xmlns:a16="http://schemas.microsoft.com/office/drawing/2014/main" id="{6D3D17AF-5709-F887-4C5B-F7D35561D4EE}"/>
                </a:ext>
              </a:extLst>
            </p:cNvPr>
            <p:cNvSpPr/>
            <p:nvPr/>
          </p:nvSpPr>
          <p:spPr>
            <a:xfrm>
              <a:off x="2400189" y="5595933"/>
              <a:ext cx="1503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Other risk factors</a:t>
              </a:r>
              <a:endParaRPr sz="1600" b="1" i="0" u="none" strike="noStrike" cap="none">
                <a:solidFill>
                  <a:schemeClr val="dk2"/>
                </a:solidFill>
                <a:latin typeface="Open Sans"/>
                <a:ea typeface="Open Sans"/>
                <a:cs typeface="Open Sans"/>
                <a:sym typeface="Open Sans"/>
              </a:endParaRPr>
            </a:p>
          </p:txBody>
        </p:sp>
        <p:cxnSp>
          <p:nvCxnSpPr>
            <p:cNvPr id="10" name="Google Shape;284;g38e34af980f_0_44">
              <a:extLst>
                <a:ext uri="{FF2B5EF4-FFF2-40B4-BE49-F238E27FC236}">
                  <a16:creationId xmlns:a16="http://schemas.microsoft.com/office/drawing/2014/main" id="{C60D93E5-F491-D5E2-1FDA-0D5C73574EE3}"/>
                </a:ext>
              </a:extLst>
            </p:cNvPr>
            <p:cNvCxnSpPr>
              <a:cxnSpLocks/>
              <a:endCxn id="5" idx="1"/>
            </p:cNvCxnSpPr>
            <p:nvPr/>
          </p:nvCxnSpPr>
          <p:spPr>
            <a:xfrm>
              <a:off x="3748089" y="4514858"/>
              <a:ext cx="2057935" cy="696151"/>
            </a:xfrm>
            <a:prstGeom prst="straightConnector1">
              <a:avLst/>
            </a:prstGeom>
            <a:noFill/>
            <a:ln w="25400" cap="flat" cmpd="sng">
              <a:solidFill>
                <a:schemeClr val="accent2"/>
              </a:solidFill>
              <a:prstDash val="solid"/>
              <a:round/>
              <a:headEnd type="none" w="sm" len="sm"/>
              <a:tailEnd type="triangle" w="med" len="med"/>
            </a:ln>
            <a:effectLst/>
          </p:spPr>
        </p:cxnSp>
        <p:cxnSp>
          <p:nvCxnSpPr>
            <p:cNvPr id="11" name="Google Shape;285;g38e34af980f_0_44">
              <a:extLst>
                <a:ext uri="{FF2B5EF4-FFF2-40B4-BE49-F238E27FC236}">
                  <a16:creationId xmlns:a16="http://schemas.microsoft.com/office/drawing/2014/main" id="{05C6437C-4089-3C25-4793-60550B2F24AC}"/>
                </a:ext>
              </a:extLst>
            </p:cNvPr>
            <p:cNvCxnSpPr>
              <a:cxnSpLocks/>
              <a:stCxn id="9" idx="3"/>
              <a:endCxn id="5" idx="1"/>
            </p:cNvCxnSpPr>
            <p:nvPr/>
          </p:nvCxnSpPr>
          <p:spPr>
            <a:xfrm flipV="1">
              <a:off x="3903789" y="5211009"/>
              <a:ext cx="1902235" cy="707575"/>
            </a:xfrm>
            <a:prstGeom prst="straightConnector1">
              <a:avLst/>
            </a:prstGeom>
            <a:noFill/>
            <a:ln w="25400" cap="flat" cmpd="sng">
              <a:solidFill>
                <a:schemeClr val="accent2"/>
              </a:solidFill>
              <a:prstDash val="solid"/>
              <a:round/>
              <a:headEnd type="none" w="sm" len="sm"/>
              <a:tailEnd type="triangle" w="med" len="med"/>
            </a:ln>
            <a:effectLst/>
          </p:spPr>
        </p:cxnSp>
        <p:cxnSp>
          <p:nvCxnSpPr>
            <p:cNvPr id="12" name="Google Shape;286;g38e34af980f_0_44">
              <a:extLst>
                <a:ext uri="{FF2B5EF4-FFF2-40B4-BE49-F238E27FC236}">
                  <a16:creationId xmlns:a16="http://schemas.microsoft.com/office/drawing/2014/main" id="{5EB2A570-8358-3C57-E6E7-F618A98E56FB}"/>
                </a:ext>
              </a:extLst>
            </p:cNvPr>
            <p:cNvCxnSpPr>
              <a:stCxn id="8" idx="0"/>
              <a:endCxn id="6" idx="0"/>
            </p:cNvCxnSpPr>
            <p:nvPr/>
          </p:nvCxnSpPr>
          <p:spPr>
            <a:xfrm rot="-5400000" flipH="1">
              <a:off x="5650089" y="1643108"/>
              <a:ext cx="747300" cy="5743500"/>
            </a:xfrm>
            <a:prstGeom prst="curvedConnector3">
              <a:avLst>
                <a:gd name="adj1" fmla="val -31865"/>
              </a:avLst>
            </a:prstGeom>
            <a:noFill/>
            <a:ln w="28575" cap="flat" cmpd="sng">
              <a:solidFill>
                <a:schemeClr val="dk2"/>
              </a:solidFill>
              <a:prstDash val="solid"/>
              <a:round/>
              <a:headEnd type="none" w="sm" len="sm"/>
              <a:tailEnd type="stealth" w="med" len="med"/>
            </a:ln>
            <a:effectLst/>
          </p:spPr>
        </p:cxnSp>
        <p:cxnSp>
          <p:nvCxnSpPr>
            <p:cNvPr id="13" name="Google Shape;287;g38e34af980f_0_44">
              <a:extLst>
                <a:ext uri="{FF2B5EF4-FFF2-40B4-BE49-F238E27FC236}">
                  <a16:creationId xmlns:a16="http://schemas.microsoft.com/office/drawing/2014/main" id="{B2841476-D615-A7D4-2B5A-4AE4ECB9036D}"/>
                </a:ext>
              </a:extLst>
            </p:cNvPr>
            <p:cNvCxnSpPr>
              <a:stCxn id="9" idx="2"/>
              <a:endCxn id="6" idx="2"/>
            </p:cNvCxnSpPr>
            <p:nvPr/>
          </p:nvCxnSpPr>
          <p:spPr>
            <a:xfrm rot="-5400000">
              <a:off x="5669889" y="3015633"/>
              <a:ext cx="707700" cy="5743500"/>
            </a:xfrm>
            <a:prstGeom prst="curvedConnector3">
              <a:avLst>
                <a:gd name="adj1" fmla="val -33648"/>
              </a:avLst>
            </a:prstGeom>
            <a:noFill/>
            <a:ln w="25400" cap="flat" cmpd="sng">
              <a:solidFill>
                <a:schemeClr val="accent2"/>
              </a:solidFill>
              <a:prstDash val="solid"/>
              <a:round/>
              <a:headEnd type="none" w="sm" len="sm"/>
              <a:tailEnd type="stealth" w="med" len="med"/>
            </a:ln>
            <a:effectLst/>
          </p:spPr>
        </p:cxn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8e34af980f_0_44"/>
          <p:cNvSpPr txBox="1">
            <a:spLocks noGrp="1"/>
          </p:cNvSpPr>
          <p:nvPr>
            <p:ph type="title"/>
          </p:nvPr>
        </p:nvSpPr>
        <p:spPr>
          <a:xfrm>
            <a:off x="841248" y="274638"/>
            <a:ext cx="10360152"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636"/>
              <a:buNone/>
            </a:pPr>
            <a:r>
              <a:rPr lang="en-US" sz="3600" b="1">
                <a:solidFill>
                  <a:srgbClr val="001C84"/>
                </a:solidFill>
                <a:latin typeface="Open Sans"/>
                <a:ea typeface="Open Sans"/>
                <a:cs typeface="Open Sans"/>
                <a:sym typeface="Open Sans"/>
              </a:rPr>
              <a:t>Understanding the Low Birthweight Paradox</a:t>
            </a:r>
            <a:endParaRPr sz="3600" b="1">
              <a:solidFill>
                <a:srgbClr val="001C84"/>
              </a:solidFill>
              <a:latin typeface="Open Sans"/>
              <a:ea typeface="Open Sans"/>
              <a:cs typeface="Open Sans"/>
              <a:sym typeface="Open Sans"/>
            </a:endParaRPr>
          </a:p>
        </p:txBody>
      </p:sp>
      <p:sp>
        <p:nvSpPr>
          <p:cNvPr id="278" name="Google Shape;278;g38e34af980f_0_44"/>
          <p:cNvSpPr txBox="1">
            <a:spLocks noGrp="1"/>
          </p:cNvSpPr>
          <p:nvPr>
            <p:ph type="body" idx="1"/>
          </p:nvPr>
        </p:nvSpPr>
        <p:spPr>
          <a:xfrm>
            <a:off x="641493" y="1382484"/>
            <a:ext cx="10908792" cy="2424797"/>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1000"/>
              </a:spcBef>
              <a:spcAft>
                <a:spcPts val="0"/>
              </a:spcAft>
              <a:buSzPts val="1805"/>
              <a:buFont typeface="Open Sans"/>
              <a:buChar char="•"/>
            </a:pPr>
            <a:r>
              <a:rPr lang="en-US" sz="1804" b="1" dirty="0">
                <a:solidFill>
                  <a:srgbClr val="001C84"/>
                </a:solidFill>
                <a:latin typeface="Open Sans"/>
                <a:ea typeface="Open Sans"/>
                <a:cs typeface="Open Sans"/>
                <a:sym typeface="Open Sans"/>
              </a:rPr>
              <a:t>A non-causal pathway is opened </a:t>
            </a:r>
            <a:r>
              <a:rPr lang="en-US" sz="1804" dirty="0">
                <a:latin typeface="Open Sans"/>
                <a:ea typeface="Open Sans"/>
                <a:cs typeface="Open Sans"/>
                <a:sym typeface="Open Sans"/>
              </a:rPr>
              <a:t>when selecting on </a:t>
            </a:r>
            <a:r>
              <a:rPr lang="en-US" sz="1804" b="1" dirty="0">
                <a:solidFill>
                  <a:srgbClr val="C0504D"/>
                </a:solidFill>
                <a:latin typeface="Open Sans"/>
                <a:ea typeface="Open Sans"/>
                <a:cs typeface="Open Sans"/>
                <a:sym typeface="Open Sans"/>
              </a:rPr>
              <a:t>low birthweight (collider variable),</a:t>
            </a:r>
            <a:r>
              <a:rPr lang="en-US" sz="1804" dirty="0">
                <a:solidFill>
                  <a:srgbClr val="C0504D"/>
                </a:solidFill>
                <a:latin typeface="Open Sans"/>
                <a:ea typeface="Open Sans"/>
                <a:cs typeface="Open Sans"/>
                <a:sym typeface="Open Sans"/>
              </a:rPr>
              <a:t> </a:t>
            </a:r>
            <a:r>
              <a:rPr lang="en-US" sz="1804" dirty="0">
                <a:latin typeface="Open Sans"/>
                <a:ea typeface="Open Sans"/>
                <a:cs typeface="Open Sans"/>
                <a:sym typeface="Open Sans"/>
              </a:rPr>
              <a:t>biasing estimates of the causal effects of smoking on mortality</a:t>
            </a:r>
          </a:p>
          <a:p>
            <a:pPr marL="800100" lvl="1">
              <a:lnSpc>
                <a:spcPct val="80000"/>
              </a:lnSpc>
              <a:spcBef>
                <a:spcPts val="1000"/>
              </a:spcBef>
              <a:buSzPts val="1805"/>
              <a:buFont typeface="Open Sans"/>
              <a:buChar char="•"/>
            </a:pPr>
            <a:r>
              <a:rPr lang="en-US" sz="1200" b="1" dirty="0">
                <a:solidFill>
                  <a:srgbClr val="001C84"/>
                </a:solidFill>
                <a:latin typeface="Open Sans"/>
                <a:ea typeface="Open Sans"/>
                <a:cs typeface="Open Sans"/>
                <a:sym typeface="Open Sans"/>
              </a:rPr>
              <a:t>Smoking </a:t>
            </a:r>
            <a:r>
              <a:rPr lang="en-US" sz="1200" b="1" dirty="0">
                <a:solidFill>
                  <a:srgbClr val="001C84"/>
                </a:solidFill>
                <a:latin typeface="Open Sans"/>
                <a:ea typeface="Open Sans"/>
                <a:cs typeface="Open Sans"/>
                <a:sym typeface="Wingdings" panose="05000000000000000000" pitchFamily="2" charset="2"/>
              </a:rPr>
              <a:t> </a:t>
            </a:r>
            <a:r>
              <a:rPr lang="en-US" sz="1200" b="1" dirty="0">
                <a:solidFill>
                  <a:srgbClr val="C0504D"/>
                </a:solidFill>
                <a:latin typeface="Open Sans"/>
                <a:ea typeface="Open Sans"/>
                <a:cs typeface="Open Sans"/>
                <a:sym typeface="Wingdings" panose="05000000000000000000" pitchFamily="2" charset="2"/>
              </a:rPr>
              <a:t>Low Birthweight</a:t>
            </a:r>
            <a:r>
              <a:rPr lang="en-US" sz="1200" b="1" dirty="0">
                <a:solidFill>
                  <a:srgbClr val="001C84"/>
                </a:solidFill>
                <a:latin typeface="Open Sans"/>
                <a:ea typeface="Open Sans"/>
                <a:cs typeface="Open Sans"/>
                <a:sym typeface="Wingdings" panose="05000000000000000000" pitchFamily="2" charset="2"/>
              </a:rPr>
              <a:t>  Other risk factors  Mortality</a:t>
            </a:r>
            <a:endParaRPr sz="2180" dirty="0"/>
          </a:p>
          <a:p>
            <a:pPr marL="342900" lvl="0" indent="-342900" algn="l" rtl="0">
              <a:lnSpc>
                <a:spcPct val="80000"/>
              </a:lnSpc>
              <a:spcBef>
                <a:spcPts val="1000"/>
              </a:spcBef>
              <a:spcAft>
                <a:spcPts val="0"/>
              </a:spcAft>
              <a:buSzPts val="1805"/>
              <a:buFont typeface="Open Sans"/>
              <a:buChar char="•"/>
            </a:pPr>
            <a:r>
              <a:rPr lang="en-US" sz="1804" b="1" dirty="0">
                <a:solidFill>
                  <a:srgbClr val="001C84"/>
                </a:solidFill>
                <a:latin typeface="Open Sans"/>
                <a:ea typeface="Open Sans"/>
                <a:cs typeface="Open Sans"/>
                <a:sym typeface="Open Sans"/>
              </a:rPr>
              <a:t>Other risk factors </a:t>
            </a:r>
            <a:r>
              <a:rPr lang="en-US" sz="1804" dirty="0">
                <a:solidFill>
                  <a:schemeClr val="tx1"/>
                </a:solidFill>
                <a:latin typeface="Open Sans"/>
                <a:ea typeface="Open Sans"/>
                <a:cs typeface="Open Sans"/>
                <a:sym typeface="Open Sans"/>
              </a:rPr>
              <a:t>(i.e., congenital diagnoses) </a:t>
            </a:r>
            <a:r>
              <a:rPr lang="en-US" sz="1804" dirty="0">
                <a:latin typeface="Open Sans"/>
                <a:ea typeface="Open Sans"/>
                <a:cs typeface="Open Sans"/>
                <a:sym typeface="Open Sans"/>
              </a:rPr>
              <a:t>also lead to low birthweight and are </a:t>
            </a:r>
            <a:r>
              <a:rPr lang="en-US" sz="1804" b="1" dirty="0">
                <a:solidFill>
                  <a:srgbClr val="001C84"/>
                </a:solidFill>
                <a:latin typeface="Open Sans"/>
                <a:ea typeface="Open Sans"/>
                <a:cs typeface="Open Sans"/>
                <a:sym typeface="Open Sans"/>
              </a:rPr>
              <a:t>high risk factors for infant mortality</a:t>
            </a:r>
            <a:r>
              <a:rPr lang="en-US" sz="1804" dirty="0">
                <a:latin typeface="Open Sans"/>
                <a:ea typeface="Open Sans"/>
                <a:cs typeface="Open Sans"/>
                <a:sym typeface="Open Sans"/>
              </a:rPr>
              <a:t>!</a:t>
            </a:r>
            <a:endParaRPr sz="2580" dirty="0"/>
          </a:p>
          <a:p>
            <a:pPr marL="342900" lvl="0" indent="-342900" algn="l" rtl="0">
              <a:lnSpc>
                <a:spcPct val="80000"/>
              </a:lnSpc>
              <a:spcBef>
                <a:spcPts val="1000"/>
              </a:spcBef>
              <a:spcAft>
                <a:spcPts val="0"/>
              </a:spcAft>
              <a:buSzPts val="1805"/>
              <a:buFont typeface="Open Sans"/>
              <a:buChar char="•"/>
            </a:pPr>
            <a:r>
              <a:rPr lang="en-US" sz="1804" dirty="0">
                <a:latin typeface="Open Sans"/>
                <a:ea typeface="Open Sans"/>
                <a:cs typeface="Open Sans"/>
                <a:sym typeface="Open Sans"/>
              </a:rPr>
              <a:t>Smoking and other risk factors of low birthweight are uncorrelated in the general population but appear negatively correlated in the low birthweight sample</a:t>
            </a:r>
            <a:endParaRPr sz="2580" dirty="0"/>
          </a:p>
          <a:p>
            <a:pPr marL="342900" lvl="0" indent="-342900" algn="l" rtl="0">
              <a:lnSpc>
                <a:spcPct val="80000"/>
              </a:lnSpc>
              <a:spcBef>
                <a:spcPts val="1000"/>
              </a:spcBef>
              <a:spcAft>
                <a:spcPts val="0"/>
              </a:spcAft>
              <a:buSzPts val="1805"/>
              <a:buFont typeface="Open Sans"/>
              <a:buChar char="•"/>
            </a:pPr>
            <a:r>
              <a:rPr lang="en-US" sz="1804" dirty="0">
                <a:latin typeface="Open Sans"/>
                <a:ea typeface="Open Sans"/>
                <a:cs typeface="Open Sans"/>
                <a:sym typeface="Open Sans"/>
              </a:rPr>
              <a:t>Our low birthweight population is </a:t>
            </a:r>
            <a:r>
              <a:rPr lang="en-US" sz="1804" b="1" dirty="0">
                <a:solidFill>
                  <a:srgbClr val="001C84"/>
                </a:solidFill>
                <a:latin typeface="Open Sans"/>
                <a:ea typeface="Open Sans"/>
                <a:cs typeface="Open Sans"/>
                <a:sym typeface="Open Sans"/>
              </a:rPr>
              <a:t>NOT representative of all births</a:t>
            </a:r>
            <a:r>
              <a:rPr lang="en-US" sz="1804" dirty="0">
                <a:solidFill>
                  <a:schemeClr val="tx1"/>
                </a:solidFill>
                <a:latin typeface="Open Sans"/>
                <a:ea typeface="Open Sans"/>
                <a:cs typeface="Open Sans"/>
                <a:sym typeface="Open Sans"/>
              </a:rPr>
              <a:t>, so it is not suitable to study the impact of smoking on infant mortality</a:t>
            </a:r>
            <a:endParaRPr sz="2580" dirty="0">
              <a:solidFill>
                <a:schemeClr val="tx1"/>
              </a:solidFill>
            </a:endParaRPr>
          </a:p>
          <a:p>
            <a:pPr marL="342900" lvl="0" indent="-234632" algn="l" rtl="0">
              <a:lnSpc>
                <a:spcPct val="80000"/>
              </a:lnSpc>
              <a:spcBef>
                <a:spcPts val="1000"/>
              </a:spcBef>
              <a:spcAft>
                <a:spcPts val="0"/>
              </a:spcAft>
              <a:buSzPts val="1705"/>
              <a:buNone/>
            </a:pPr>
            <a:endParaRPr sz="1804" dirty="0">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E3A6E640-BC7C-28C6-31DF-9AAC92AB054D}"/>
              </a:ext>
            </a:extLst>
          </p:cNvPr>
          <p:cNvSpPr>
            <a:spLocks noGrp="1"/>
          </p:cNvSpPr>
          <p:nvPr>
            <p:ph type="sldNum" idx="12"/>
          </p:nvPr>
        </p:nvSpPr>
        <p:spPr>
          <a:xfrm>
            <a:off x="8895489" y="6178683"/>
            <a:ext cx="2844800" cy="365125"/>
          </a:xfrm>
        </p:spPr>
        <p:txBody>
          <a:bodyPr/>
          <a:lstStyle/>
          <a:p>
            <a:pPr marL="0" lvl="0" indent="0" algn="r" rtl="0">
              <a:spcBef>
                <a:spcPts val="0"/>
              </a:spcBef>
              <a:spcAft>
                <a:spcPts val="0"/>
              </a:spcAft>
              <a:buNone/>
            </a:pPr>
            <a:fld id="{00000000-1234-1234-1234-123412341234}" type="slidenum">
              <a:rPr lang="en-US" smtClean="0"/>
              <a:t>22</a:t>
            </a:fld>
            <a:endParaRPr lang="en-US"/>
          </a:p>
        </p:txBody>
      </p:sp>
      <p:grpSp>
        <p:nvGrpSpPr>
          <p:cNvPr id="3" name="Group 2">
            <a:extLst>
              <a:ext uri="{FF2B5EF4-FFF2-40B4-BE49-F238E27FC236}">
                <a16:creationId xmlns:a16="http://schemas.microsoft.com/office/drawing/2014/main" id="{AE57BE5F-8525-0162-E6E5-F7D867BFA511}"/>
              </a:ext>
            </a:extLst>
          </p:cNvPr>
          <p:cNvGrpSpPr/>
          <p:nvPr/>
        </p:nvGrpSpPr>
        <p:grpSpPr>
          <a:xfrm>
            <a:off x="2524836" y="4340104"/>
            <a:ext cx="7142106" cy="2203704"/>
            <a:chOff x="2400189" y="4141208"/>
            <a:chExt cx="7142106" cy="2100025"/>
          </a:xfrm>
        </p:grpSpPr>
        <p:sp>
          <p:nvSpPr>
            <p:cNvPr id="14" name="Google Shape;279;g38e34af980f_0_44">
              <a:extLst>
                <a:ext uri="{FF2B5EF4-FFF2-40B4-BE49-F238E27FC236}">
                  <a16:creationId xmlns:a16="http://schemas.microsoft.com/office/drawing/2014/main" id="{902D4A3E-B620-4B90-75D3-2420F0C1E39E}"/>
                </a:ext>
              </a:extLst>
            </p:cNvPr>
            <p:cNvSpPr/>
            <p:nvPr/>
          </p:nvSpPr>
          <p:spPr>
            <a:xfrm>
              <a:off x="5806024" y="4888358"/>
              <a:ext cx="1596268" cy="6453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algn="ctr"/>
              <a:r>
                <a:rPr lang="en-US" sz="1600" b="1" dirty="0">
                  <a:solidFill>
                    <a:schemeClr val="dk2"/>
                  </a:solidFill>
                  <a:latin typeface="Open Sans"/>
                  <a:ea typeface="Open Sans"/>
                  <a:cs typeface="Open Sans"/>
                  <a:sym typeface="Open Sans"/>
                </a:rPr>
                <a:t>Low Birthweight</a:t>
              </a:r>
            </a:p>
          </p:txBody>
        </p:sp>
        <p:sp>
          <p:nvSpPr>
            <p:cNvPr id="15" name="Google Shape;280;g38e34af980f_0_44">
              <a:extLst>
                <a:ext uri="{FF2B5EF4-FFF2-40B4-BE49-F238E27FC236}">
                  <a16:creationId xmlns:a16="http://schemas.microsoft.com/office/drawing/2014/main" id="{21E6DF34-DC54-F1A4-2455-727845E46446}"/>
                </a:ext>
              </a:extLst>
            </p:cNvPr>
            <p:cNvSpPr/>
            <p:nvPr/>
          </p:nvSpPr>
          <p:spPr>
            <a:xfrm>
              <a:off x="8248695" y="4888358"/>
              <a:ext cx="1293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Mortality</a:t>
              </a:r>
              <a:endParaRPr sz="1600" b="1" i="0" u="none" strike="noStrike" cap="none">
                <a:solidFill>
                  <a:schemeClr val="dk2"/>
                </a:solidFill>
                <a:latin typeface="Open Sans"/>
                <a:ea typeface="Open Sans"/>
                <a:cs typeface="Open Sans"/>
                <a:sym typeface="Open Sans"/>
              </a:endParaRPr>
            </a:p>
          </p:txBody>
        </p:sp>
        <p:cxnSp>
          <p:nvCxnSpPr>
            <p:cNvPr id="16" name="Google Shape;281;g38e34af980f_0_44">
              <a:extLst>
                <a:ext uri="{FF2B5EF4-FFF2-40B4-BE49-F238E27FC236}">
                  <a16:creationId xmlns:a16="http://schemas.microsoft.com/office/drawing/2014/main" id="{41935F36-3F8C-CCDE-FEC3-FC9FF37AD4A5}"/>
                </a:ext>
              </a:extLst>
            </p:cNvPr>
            <p:cNvCxnSpPr>
              <a:cxnSpLocks/>
              <a:stCxn id="14" idx="3"/>
              <a:endCxn id="15" idx="1"/>
            </p:cNvCxnSpPr>
            <p:nvPr/>
          </p:nvCxnSpPr>
          <p:spPr>
            <a:xfrm>
              <a:off x="7402292" y="5211009"/>
              <a:ext cx="846403" cy="0"/>
            </a:xfrm>
            <a:prstGeom prst="straightConnector1">
              <a:avLst/>
            </a:prstGeom>
            <a:noFill/>
            <a:ln w="28575" cap="flat" cmpd="sng">
              <a:solidFill>
                <a:schemeClr val="dk2"/>
              </a:solidFill>
              <a:prstDash val="solid"/>
              <a:round/>
              <a:headEnd type="none" w="sm" len="sm"/>
              <a:tailEnd type="triangle" w="med" len="med"/>
            </a:ln>
            <a:effectLst/>
          </p:spPr>
        </p:cxnSp>
        <p:sp>
          <p:nvSpPr>
            <p:cNvPr id="17" name="Google Shape;282;g38e34af980f_0_44">
              <a:extLst>
                <a:ext uri="{FF2B5EF4-FFF2-40B4-BE49-F238E27FC236}">
                  <a16:creationId xmlns:a16="http://schemas.microsoft.com/office/drawing/2014/main" id="{BAD85301-F03B-0456-27C8-3BFE496951BD}"/>
                </a:ext>
              </a:extLst>
            </p:cNvPr>
            <p:cNvSpPr/>
            <p:nvPr/>
          </p:nvSpPr>
          <p:spPr>
            <a:xfrm>
              <a:off x="2555889" y="4141208"/>
              <a:ext cx="11922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dirty="0">
                  <a:solidFill>
                    <a:schemeClr val="dk2"/>
                  </a:solidFill>
                  <a:latin typeface="Open Sans"/>
                  <a:ea typeface="Open Sans"/>
                  <a:cs typeface="Open Sans"/>
                  <a:sym typeface="Open Sans"/>
                </a:rPr>
                <a:t>Smoking</a:t>
              </a:r>
              <a:endParaRPr sz="1600" b="1" i="0" u="none" strike="noStrike" cap="none" dirty="0">
                <a:solidFill>
                  <a:schemeClr val="dk2"/>
                </a:solidFill>
                <a:latin typeface="Open Sans"/>
                <a:ea typeface="Open Sans"/>
                <a:cs typeface="Open Sans"/>
                <a:sym typeface="Open Sans"/>
              </a:endParaRPr>
            </a:p>
          </p:txBody>
        </p:sp>
        <p:sp>
          <p:nvSpPr>
            <p:cNvPr id="18" name="Google Shape;283;g38e34af980f_0_44">
              <a:extLst>
                <a:ext uri="{FF2B5EF4-FFF2-40B4-BE49-F238E27FC236}">
                  <a16:creationId xmlns:a16="http://schemas.microsoft.com/office/drawing/2014/main" id="{673331F1-B6F1-1066-090A-8217453C1CAD}"/>
                </a:ext>
              </a:extLst>
            </p:cNvPr>
            <p:cNvSpPr/>
            <p:nvPr/>
          </p:nvSpPr>
          <p:spPr>
            <a:xfrm>
              <a:off x="2400189" y="5595933"/>
              <a:ext cx="1503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Other risk factors</a:t>
              </a:r>
              <a:endParaRPr sz="1600" b="1" i="0" u="none" strike="noStrike" cap="none">
                <a:solidFill>
                  <a:schemeClr val="dk2"/>
                </a:solidFill>
                <a:latin typeface="Open Sans"/>
                <a:ea typeface="Open Sans"/>
                <a:cs typeface="Open Sans"/>
                <a:sym typeface="Open Sans"/>
              </a:endParaRPr>
            </a:p>
          </p:txBody>
        </p:sp>
        <p:cxnSp>
          <p:nvCxnSpPr>
            <p:cNvPr id="19" name="Google Shape;284;g38e34af980f_0_44">
              <a:extLst>
                <a:ext uri="{FF2B5EF4-FFF2-40B4-BE49-F238E27FC236}">
                  <a16:creationId xmlns:a16="http://schemas.microsoft.com/office/drawing/2014/main" id="{BA3E888B-0CE5-7C8A-516D-657D8A5342C5}"/>
                </a:ext>
              </a:extLst>
            </p:cNvPr>
            <p:cNvCxnSpPr>
              <a:cxnSpLocks/>
              <a:endCxn id="14" idx="1"/>
            </p:cNvCxnSpPr>
            <p:nvPr/>
          </p:nvCxnSpPr>
          <p:spPr>
            <a:xfrm>
              <a:off x="3748089" y="4514858"/>
              <a:ext cx="2057935" cy="696151"/>
            </a:xfrm>
            <a:prstGeom prst="straightConnector1">
              <a:avLst/>
            </a:prstGeom>
            <a:noFill/>
            <a:ln w="25400" cap="flat" cmpd="sng">
              <a:solidFill>
                <a:schemeClr val="accent2"/>
              </a:solidFill>
              <a:prstDash val="solid"/>
              <a:round/>
              <a:headEnd type="none" w="sm" len="sm"/>
              <a:tailEnd type="triangle" w="med" len="med"/>
            </a:ln>
            <a:effectLst/>
          </p:spPr>
        </p:cxnSp>
        <p:cxnSp>
          <p:nvCxnSpPr>
            <p:cNvPr id="20" name="Google Shape;285;g38e34af980f_0_44">
              <a:extLst>
                <a:ext uri="{FF2B5EF4-FFF2-40B4-BE49-F238E27FC236}">
                  <a16:creationId xmlns:a16="http://schemas.microsoft.com/office/drawing/2014/main" id="{3E198E90-B4F0-4FA8-49AD-14500E43D5E2}"/>
                </a:ext>
              </a:extLst>
            </p:cNvPr>
            <p:cNvCxnSpPr>
              <a:cxnSpLocks/>
              <a:stCxn id="18" idx="3"/>
              <a:endCxn id="14" idx="1"/>
            </p:cNvCxnSpPr>
            <p:nvPr/>
          </p:nvCxnSpPr>
          <p:spPr>
            <a:xfrm flipV="1">
              <a:off x="3903789" y="5211009"/>
              <a:ext cx="1902235" cy="707575"/>
            </a:xfrm>
            <a:prstGeom prst="straightConnector1">
              <a:avLst/>
            </a:prstGeom>
            <a:noFill/>
            <a:ln w="25400" cap="flat" cmpd="sng">
              <a:solidFill>
                <a:schemeClr val="accent2"/>
              </a:solidFill>
              <a:prstDash val="solid"/>
              <a:round/>
              <a:headEnd type="none" w="sm" len="sm"/>
              <a:tailEnd type="triangle" w="med" len="med"/>
            </a:ln>
            <a:effectLst/>
          </p:spPr>
        </p:cxnSp>
        <p:cxnSp>
          <p:nvCxnSpPr>
            <p:cNvPr id="21" name="Google Shape;286;g38e34af980f_0_44">
              <a:extLst>
                <a:ext uri="{FF2B5EF4-FFF2-40B4-BE49-F238E27FC236}">
                  <a16:creationId xmlns:a16="http://schemas.microsoft.com/office/drawing/2014/main" id="{A9F6EC46-00D6-4C64-9659-4C71324CEC71}"/>
                </a:ext>
              </a:extLst>
            </p:cNvPr>
            <p:cNvCxnSpPr>
              <a:stCxn id="17" idx="0"/>
              <a:endCxn id="15" idx="0"/>
            </p:cNvCxnSpPr>
            <p:nvPr/>
          </p:nvCxnSpPr>
          <p:spPr>
            <a:xfrm rot="-5400000" flipH="1">
              <a:off x="5650089" y="1643108"/>
              <a:ext cx="747300" cy="5743500"/>
            </a:xfrm>
            <a:prstGeom prst="curvedConnector3">
              <a:avLst>
                <a:gd name="adj1" fmla="val -31865"/>
              </a:avLst>
            </a:prstGeom>
            <a:noFill/>
            <a:ln w="28575" cap="flat" cmpd="sng">
              <a:solidFill>
                <a:schemeClr val="dk2"/>
              </a:solidFill>
              <a:prstDash val="solid"/>
              <a:round/>
              <a:headEnd type="none" w="sm" len="sm"/>
              <a:tailEnd type="stealth" w="med" len="med"/>
            </a:ln>
            <a:effectLst/>
          </p:spPr>
        </p:cxnSp>
        <p:cxnSp>
          <p:nvCxnSpPr>
            <p:cNvPr id="22" name="Google Shape;287;g38e34af980f_0_44">
              <a:extLst>
                <a:ext uri="{FF2B5EF4-FFF2-40B4-BE49-F238E27FC236}">
                  <a16:creationId xmlns:a16="http://schemas.microsoft.com/office/drawing/2014/main" id="{837D3DBC-6E97-4329-2815-9D0A4D8E56DA}"/>
                </a:ext>
              </a:extLst>
            </p:cNvPr>
            <p:cNvCxnSpPr>
              <a:stCxn id="18" idx="2"/>
              <a:endCxn id="15" idx="2"/>
            </p:cNvCxnSpPr>
            <p:nvPr/>
          </p:nvCxnSpPr>
          <p:spPr>
            <a:xfrm rot="-5400000">
              <a:off x="5669889" y="3015633"/>
              <a:ext cx="707700" cy="5743500"/>
            </a:xfrm>
            <a:prstGeom prst="curvedConnector3">
              <a:avLst>
                <a:gd name="adj1" fmla="val -33648"/>
              </a:avLst>
            </a:prstGeom>
            <a:noFill/>
            <a:ln w="25400" cap="flat" cmpd="sng">
              <a:solidFill>
                <a:schemeClr val="accent2"/>
              </a:solidFill>
              <a:prstDash val="solid"/>
              <a:round/>
              <a:headEnd type="none" w="sm" len="sm"/>
              <a:tailEnd type="stealth" w="med" len="med"/>
            </a:ln>
            <a:effectLst/>
          </p:spPr>
        </p:cxn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3896c370de1_0_83"/>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Low Birthweight Paradox</a:t>
            </a:r>
            <a:endParaRPr b="1">
              <a:solidFill>
                <a:srgbClr val="001C84"/>
              </a:solidFill>
              <a:latin typeface="Open Sans"/>
              <a:ea typeface="Open Sans"/>
              <a:cs typeface="Open Sans"/>
              <a:sym typeface="Open Sans"/>
            </a:endParaRPr>
          </a:p>
        </p:txBody>
      </p:sp>
      <p:sp>
        <p:nvSpPr>
          <p:cNvPr id="294" name="Google Shape;294;g3896c370de1_0_83"/>
          <p:cNvSpPr txBox="1">
            <a:spLocks noGrp="1"/>
          </p:cNvSpPr>
          <p:nvPr>
            <p:ph type="body" idx="1"/>
          </p:nvPr>
        </p:nvSpPr>
        <p:spPr>
          <a:xfrm>
            <a:off x="640080" y="1417650"/>
            <a:ext cx="10936224" cy="20742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1000"/>
              </a:spcBef>
              <a:spcAft>
                <a:spcPts val="0"/>
              </a:spcAft>
              <a:buSzPts val="2378"/>
              <a:buFont typeface="Open Sans"/>
              <a:buChar char="•"/>
            </a:pPr>
            <a:r>
              <a:rPr lang="en-US" sz="2200" dirty="0">
                <a:latin typeface="Open Sans"/>
                <a:ea typeface="Open Sans"/>
                <a:cs typeface="Open Sans"/>
                <a:sym typeface="Open Sans"/>
              </a:rPr>
              <a:t>Without realizing that low birthweight is a </a:t>
            </a:r>
            <a:r>
              <a:rPr lang="en-US" sz="2200" b="1" dirty="0">
                <a:solidFill>
                  <a:srgbClr val="C0504D"/>
                </a:solidFill>
                <a:latin typeface="Open Sans"/>
                <a:ea typeface="Open Sans"/>
                <a:cs typeface="Open Sans"/>
                <a:sym typeface="Open Sans"/>
              </a:rPr>
              <a:t>collider variable</a:t>
            </a:r>
            <a:r>
              <a:rPr lang="en-US" sz="2200" dirty="0">
                <a:latin typeface="Open Sans"/>
                <a:ea typeface="Open Sans"/>
                <a:cs typeface="Open Sans"/>
                <a:sym typeface="Open Sans"/>
              </a:rPr>
              <a:t>, we may </a:t>
            </a:r>
            <a:r>
              <a:rPr lang="en-US" sz="2200" b="1" dirty="0">
                <a:solidFill>
                  <a:srgbClr val="001C84"/>
                </a:solidFill>
                <a:latin typeface="Open Sans"/>
                <a:ea typeface="Open Sans"/>
                <a:cs typeface="Open Sans"/>
                <a:sym typeface="Open Sans"/>
              </a:rPr>
              <a:t>inaccurately</a:t>
            </a:r>
            <a:r>
              <a:rPr lang="en-US" sz="2200" b="1" dirty="0">
                <a:latin typeface="Open Sans"/>
                <a:ea typeface="Open Sans"/>
                <a:cs typeface="Open Sans"/>
                <a:sym typeface="Open Sans"/>
              </a:rPr>
              <a:t> </a:t>
            </a:r>
            <a:r>
              <a:rPr lang="en-US" sz="2200" dirty="0">
                <a:latin typeface="Open Sans"/>
                <a:ea typeface="Open Sans"/>
                <a:cs typeface="Open Sans"/>
                <a:sym typeface="Open Sans"/>
              </a:rPr>
              <a:t>assume that </a:t>
            </a:r>
            <a:r>
              <a:rPr lang="en-US" sz="2200" b="1" dirty="0">
                <a:solidFill>
                  <a:srgbClr val="001C84"/>
                </a:solidFill>
                <a:latin typeface="Open Sans"/>
                <a:ea typeface="Open Sans"/>
                <a:cs typeface="Open Sans"/>
                <a:sym typeface="Open Sans"/>
              </a:rPr>
              <a:t>parental smoking is protective</a:t>
            </a:r>
            <a:r>
              <a:rPr lang="en-US" sz="2200" dirty="0">
                <a:solidFill>
                  <a:srgbClr val="001C84"/>
                </a:solidFill>
                <a:latin typeface="Open Sans"/>
                <a:ea typeface="Open Sans"/>
                <a:cs typeface="Open Sans"/>
                <a:sym typeface="Open Sans"/>
              </a:rPr>
              <a:t> </a:t>
            </a:r>
            <a:r>
              <a:rPr lang="en-US" sz="2200" dirty="0">
                <a:latin typeface="Open Sans"/>
                <a:ea typeface="Open Sans"/>
                <a:cs typeface="Open Sans"/>
                <a:sym typeface="Open Sans"/>
              </a:rPr>
              <a:t>for infants of low birthweight</a:t>
            </a:r>
            <a:endParaRPr sz="2200" dirty="0">
              <a:latin typeface="Open Sans"/>
              <a:ea typeface="Open Sans"/>
              <a:cs typeface="Open Sans"/>
              <a:sym typeface="Open Sans"/>
            </a:endParaRPr>
          </a:p>
          <a:p>
            <a:pPr marL="342900" lvl="0">
              <a:spcBef>
                <a:spcPts val="1000"/>
              </a:spcBef>
              <a:buSzPts val="2378"/>
              <a:buFont typeface="Open Sans"/>
              <a:buChar char="•"/>
            </a:pPr>
            <a:r>
              <a:rPr lang="en-US" sz="2200" dirty="0">
                <a:latin typeface="Open Sans"/>
                <a:ea typeface="Open Sans"/>
                <a:cs typeface="Open Sans"/>
                <a:sym typeface="Open Sans"/>
              </a:rPr>
              <a:t>When we see low birthweight as a collider variable, we </a:t>
            </a:r>
            <a:r>
              <a:rPr lang="en-US" sz="2200" b="1" dirty="0">
                <a:solidFill>
                  <a:srgbClr val="001C84"/>
                </a:solidFill>
                <a:latin typeface="Open Sans"/>
                <a:ea typeface="Open Sans"/>
                <a:cs typeface="Open Sans"/>
                <a:sym typeface="Open Sans"/>
              </a:rPr>
              <a:t>more accurately understand who comprises our low birthweight population</a:t>
            </a:r>
            <a:endParaRPr sz="2200" b="1"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96B75CFD-D150-F1F2-72E7-77497C22AF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grpSp>
        <p:nvGrpSpPr>
          <p:cNvPr id="13" name="Group 12">
            <a:extLst>
              <a:ext uri="{FF2B5EF4-FFF2-40B4-BE49-F238E27FC236}">
                <a16:creationId xmlns:a16="http://schemas.microsoft.com/office/drawing/2014/main" id="{33790F7B-72EF-0B01-E703-5907C69B0241}"/>
              </a:ext>
            </a:extLst>
          </p:cNvPr>
          <p:cNvGrpSpPr/>
          <p:nvPr/>
        </p:nvGrpSpPr>
        <p:grpSpPr>
          <a:xfrm>
            <a:off x="2537139" y="3933073"/>
            <a:ext cx="7142106" cy="2203704"/>
            <a:chOff x="2400189" y="4141208"/>
            <a:chExt cx="7142106" cy="2100025"/>
          </a:xfrm>
        </p:grpSpPr>
        <p:sp>
          <p:nvSpPr>
            <p:cNvPr id="14" name="Google Shape;279;g38e34af980f_0_44">
              <a:extLst>
                <a:ext uri="{FF2B5EF4-FFF2-40B4-BE49-F238E27FC236}">
                  <a16:creationId xmlns:a16="http://schemas.microsoft.com/office/drawing/2014/main" id="{DC4541AF-747F-0085-7223-91428B4DF8E3}"/>
                </a:ext>
              </a:extLst>
            </p:cNvPr>
            <p:cNvSpPr/>
            <p:nvPr/>
          </p:nvSpPr>
          <p:spPr>
            <a:xfrm>
              <a:off x="5806024" y="4888358"/>
              <a:ext cx="1596268" cy="6453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algn="ctr"/>
              <a:r>
                <a:rPr lang="en-US" sz="1600" b="1" dirty="0">
                  <a:solidFill>
                    <a:schemeClr val="dk2"/>
                  </a:solidFill>
                  <a:latin typeface="Open Sans"/>
                  <a:ea typeface="Open Sans"/>
                  <a:cs typeface="Open Sans"/>
                  <a:sym typeface="Open Sans"/>
                </a:rPr>
                <a:t>Low Birthweight</a:t>
              </a:r>
            </a:p>
          </p:txBody>
        </p:sp>
        <p:sp>
          <p:nvSpPr>
            <p:cNvPr id="15" name="Google Shape;280;g38e34af980f_0_44">
              <a:extLst>
                <a:ext uri="{FF2B5EF4-FFF2-40B4-BE49-F238E27FC236}">
                  <a16:creationId xmlns:a16="http://schemas.microsoft.com/office/drawing/2014/main" id="{FEE2786C-9953-8651-200D-1C5F9909C589}"/>
                </a:ext>
              </a:extLst>
            </p:cNvPr>
            <p:cNvSpPr/>
            <p:nvPr/>
          </p:nvSpPr>
          <p:spPr>
            <a:xfrm>
              <a:off x="8248695" y="4888358"/>
              <a:ext cx="1293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Mortality</a:t>
              </a:r>
              <a:endParaRPr sz="1600" b="1" i="0" u="none" strike="noStrike" cap="none">
                <a:solidFill>
                  <a:schemeClr val="dk2"/>
                </a:solidFill>
                <a:latin typeface="Open Sans"/>
                <a:ea typeface="Open Sans"/>
                <a:cs typeface="Open Sans"/>
                <a:sym typeface="Open Sans"/>
              </a:endParaRPr>
            </a:p>
          </p:txBody>
        </p:sp>
        <p:cxnSp>
          <p:nvCxnSpPr>
            <p:cNvPr id="16" name="Google Shape;281;g38e34af980f_0_44">
              <a:extLst>
                <a:ext uri="{FF2B5EF4-FFF2-40B4-BE49-F238E27FC236}">
                  <a16:creationId xmlns:a16="http://schemas.microsoft.com/office/drawing/2014/main" id="{6F5811C8-E516-CEDA-3957-29CA93397398}"/>
                </a:ext>
              </a:extLst>
            </p:cNvPr>
            <p:cNvCxnSpPr>
              <a:cxnSpLocks/>
              <a:stCxn id="14" idx="3"/>
              <a:endCxn id="15" idx="1"/>
            </p:cNvCxnSpPr>
            <p:nvPr/>
          </p:nvCxnSpPr>
          <p:spPr>
            <a:xfrm>
              <a:off x="7402292" y="5211009"/>
              <a:ext cx="846403" cy="0"/>
            </a:xfrm>
            <a:prstGeom prst="straightConnector1">
              <a:avLst/>
            </a:prstGeom>
            <a:noFill/>
            <a:ln w="28575" cap="flat" cmpd="sng">
              <a:solidFill>
                <a:schemeClr val="dk2"/>
              </a:solidFill>
              <a:prstDash val="solid"/>
              <a:round/>
              <a:headEnd type="none" w="sm" len="sm"/>
              <a:tailEnd type="triangle" w="med" len="med"/>
            </a:ln>
            <a:effectLst/>
          </p:spPr>
        </p:cxnSp>
        <p:sp>
          <p:nvSpPr>
            <p:cNvPr id="17" name="Google Shape;282;g38e34af980f_0_44">
              <a:extLst>
                <a:ext uri="{FF2B5EF4-FFF2-40B4-BE49-F238E27FC236}">
                  <a16:creationId xmlns:a16="http://schemas.microsoft.com/office/drawing/2014/main" id="{2EBB13F6-B825-5FA4-3F85-6E4C587E93DF}"/>
                </a:ext>
              </a:extLst>
            </p:cNvPr>
            <p:cNvSpPr/>
            <p:nvPr/>
          </p:nvSpPr>
          <p:spPr>
            <a:xfrm>
              <a:off x="2555889" y="4141208"/>
              <a:ext cx="11922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dirty="0">
                  <a:solidFill>
                    <a:schemeClr val="dk2"/>
                  </a:solidFill>
                  <a:latin typeface="Open Sans"/>
                  <a:ea typeface="Open Sans"/>
                  <a:cs typeface="Open Sans"/>
                  <a:sym typeface="Open Sans"/>
                </a:rPr>
                <a:t>Smoking</a:t>
              </a:r>
              <a:endParaRPr sz="1600" b="1" i="0" u="none" strike="noStrike" cap="none" dirty="0">
                <a:solidFill>
                  <a:schemeClr val="dk2"/>
                </a:solidFill>
                <a:latin typeface="Open Sans"/>
                <a:ea typeface="Open Sans"/>
                <a:cs typeface="Open Sans"/>
                <a:sym typeface="Open Sans"/>
              </a:endParaRPr>
            </a:p>
          </p:txBody>
        </p:sp>
        <p:sp>
          <p:nvSpPr>
            <p:cNvPr id="18" name="Google Shape;283;g38e34af980f_0_44">
              <a:extLst>
                <a:ext uri="{FF2B5EF4-FFF2-40B4-BE49-F238E27FC236}">
                  <a16:creationId xmlns:a16="http://schemas.microsoft.com/office/drawing/2014/main" id="{4CA4004D-1D44-7B97-6974-95762ADA26DB}"/>
                </a:ext>
              </a:extLst>
            </p:cNvPr>
            <p:cNvSpPr/>
            <p:nvPr/>
          </p:nvSpPr>
          <p:spPr>
            <a:xfrm>
              <a:off x="2400189" y="5595933"/>
              <a:ext cx="1503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chemeClr val="dk2"/>
                  </a:solidFill>
                  <a:latin typeface="Open Sans"/>
                  <a:ea typeface="Open Sans"/>
                  <a:cs typeface="Open Sans"/>
                  <a:sym typeface="Open Sans"/>
                </a:rPr>
                <a:t>Other risk factors</a:t>
              </a:r>
              <a:endParaRPr sz="1600" b="1" i="0" u="none" strike="noStrike" cap="none">
                <a:solidFill>
                  <a:schemeClr val="dk2"/>
                </a:solidFill>
                <a:latin typeface="Open Sans"/>
                <a:ea typeface="Open Sans"/>
                <a:cs typeface="Open Sans"/>
                <a:sym typeface="Open Sans"/>
              </a:endParaRPr>
            </a:p>
          </p:txBody>
        </p:sp>
        <p:cxnSp>
          <p:nvCxnSpPr>
            <p:cNvPr id="19" name="Google Shape;284;g38e34af980f_0_44">
              <a:extLst>
                <a:ext uri="{FF2B5EF4-FFF2-40B4-BE49-F238E27FC236}">
                  <a16:creationId xmlns:a16="http://schemas.microsoft.com/office/drawing/2014/main" id="{16654CD8-73F1-CE25-6D61-9F8637E37F3D}"/>
                </a:ext>
              </a:extLst>
            </p:cNvPr>
            <p:cNvCxnSpPr>
              <a:cxnSpLocks/>
              <a:endCxn id="14" idx="1"/>
            </p:cNvCxnSpPr>
            <p:nvPr/>
          </p:nvCxnSpPr>
          <p:spPr>
            <a:xfrm>
              <a:off x="3748089" y="4514858"/>
              <a:ext cx="2057935" cy="696151"/>
            </a:xfrm>
            <a:prstGeom prst="straightConnector1">
              <a:avLst/>
            </a:prstGeom>
            <a:noFill/>
            <a:ln w="25400" cap="flat" cmpd="sng">
              <a:solidFill>
                <a:schemeClr val="accent2"/>
              </a:solidFill>
              <a:prstDash val="solid"/>
              <a:round/>
              <a:headEnd type="none" w="sm" len="sm"/>
              <a:tailEnd type="triangle" w="med" len="med"/>
            </a:ln>
            <a:effectLst/>
          </p:spPr>
        </p:cxnSp>
        <p:cxnSp>
          <p:nvCxnSpPr>
            <p:cNvPr id="20" name="Google Shape;285;g38e34af980f_0_44">
              <a:extLst>
                <a:ext uri="{FF2B5EF4-FFF2-40B4-BE49-F238E27FC236}">
                  <a16:creationId xmlns:a16="http://schemas.microsoft.com/office/drawing/2014/main" id="{F250F78F-D317-8D57-813B-329F3A4DE651}"/>
                </a:ext>
              </a:extLst>
            </p:cNvPr>
            <p:cNvCxnSpPr>
              <a:cxnSpLocks/>
              <a:stCxn id="18" idx="3"/>
              <a:endCxn id="14" idx="1"/>
            </p:cNvCxnSpPr>
            <p:nvPr/>
          </p:nvCxnSpPr>
          <p:spPr>
            <a:xfrm flipV="1">
              <a:off x="3903789" y="5211009"/>
              <a:ext cx="1902235" cy="707575"/>
            </a:xfrm>
            <a:prstGeom prst="straightConnector1">
              <a:avLst/>
            </a:prstGeom>
            <a:noFill/>
            <a:ln w="25400" cap="flat" cmpd="sng">
              <a:solidFill>
                <a:schemeClr val="accent2"/>
              </a:solidFill>
              <a:prstDash val="solid"/>
              <a:round/>
              <a:headEnd type="none" w="sm" len="sm"/>
              <a:tailEnd type="triangle" w="med" len="med"/>
            </a:ln>
            <a:effectLst/>
          </p:spPr>
        </p:cxnSp>
        <p:cxnSp>
          <p:nvCxnSpPr>
            <p:cNvPr id="21" name="Google Shape;286;g38e34af980f_0_44">
              <a:extLst>
                <a:ext uri="{FF2B5EF4-FFF2-40B4-BE49-F238E27FC236}">
                  <a16:creationId xmlns:a16="http://schemas.microsoft.com/office/drawing/2014/main" id="{EDC91312-381F-C387-2285-45EECA0FF61C}"/>
                </a:ext>
              </a:extLst>
            </p:cNvPr>
            <p:cNvCxnSpPr>
              <a:stCxn id="17" idx="0"/>
              <a:endCxn id="15" idx="0"/>
            </p:cNvCxnSpPr>
            <p:nvPr/>
          </p:nvCxnSpPr>
          <p:spPr>
            <a:xfrm rot="-5400000" flipH="1">
              <a:off x="5650089" y="1643108"/>
              <a:ext cx="747300" cy="5743500"/>
            </a:xfrm>
            <a:prstGeom prst="curvedConnector3">
              <a:avLst>
                <a:gd name="adj1" fmla="val -31865"/>
              </a:avLst>
            </a:prstGeom>
            <a:noFill/>
            <a:ln w="28575" cap="flat" cmpd="sng">
              <a:solidFill>
                <a:schemeClr val="dk2"/>
              </a:solidFill>
              <a:prstDash val="solid"/>
              <a:round/>
              <a:headEnd type="none" w="sm" len="sm"/>
              <a:tailEnd type="stealth" w="med" len="med"/>
            </a:ln>
            <a:effectLst/>
          </p:spPr>
        </p:cxnSp>
        <p:cxnSp>
          <p:nvCxnSpPr>
            <p:cNvPr id="22" name="Google Shape;287;g38e34af980f_0_44">
              <a:extLst>
                <a:ext uri="{FF2B5EF4-FFF2-40B4-BE49-F238E27FC236}">
                  <a16:creationId xmlns:a16="http://schemas.microsoft.com/office/drawing/2014/main" id="{7951A12C-C902-42DE-7164-4F5C6A4CBA22}"/>
                </a:ext>
              </a:extLst>
            </p:cNvPr>
            <p:cNvCxnSpPr>
              <a:stCxn id="18" idx="2"/>
              <a:endCxn id="15" idx="2"/>
            </p:cNvCxnSpPr>
            <p:nvPr/>
          </p:nvCxnSpPr>
          <p:spPr>
            <a:xfrm rot="-5400000">
              <a:off x="5669889" y="3015633"/>
              <a:ext cx="707700" cy="5743500"/>
            </a:xfrm>
            <a:prstGeom prst="curvedConnector3">
              <a:avLst>
                <a:gd name="adj1" fmla="val -33648"/>
              </a:avLst>
            </a:prstGeom>
            <a:noFill/>
            <a:ln w="25400" cap="flat" cmpd="sng">
              <a:solidFill>
                <a:schemeClr val="accent2"/>
              </a:solidFill>
              <a:prstDash val="solid"/>
              <a:round/>
              <a:headEnd type="none" w="sm" len="sm"/>
              <a:tailEnd type="stealth" w="med" len="med"/>
            </a:ln>
            <a:effectLst/>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38e34af980f_0_14"/>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40909"/>
              <a:buNone/>
            </a:pPr>
            <a:r>
              <a:rPr lang="en-US" b="1">
                <a:solidFill>
                  <a:srgbClr val="001C84"/>
                </a:solidFill>
                <a:latin typeface="Open Sans"/>
                <a:ea typeface="Open Sans"/>
                <a:cs typeface="Open Sans"/>
                <a:sym typeface="Open Sans"/>
              </a:rPr>
              <a:t>Collider Bias in Eviction Research</a:t>
            </a:r>
            <a:endParaRPr b="1">
              <a:solidFill>
                <a:srgbClr val="001C84"/>
              </a:solidFill>
              <a:latin typeface="Open Sans"/>
              <a:ea typeface="Open Sans"/>
              <a:cs typeface="Open Sans"/>
              <a:sym typeface="Open Sans"/>
            </a:endParaRPr>
          </a:p>
        </p:txBody>
      </p:sp>
      <p:sp>
        <p:nvSpPr>
          <p:cNvPr id="315" name="Google Shape;315;g38e34af980f_0_14"/>
          <p:cNvSpPr txBox="1">
            <a:spLocks noGrp="1"/>
          </p:cNvSpPr>
          <p:nvPr>
            <p:ph type="body" idx="1"/>
          </p:nvPr>
        </p:nvSpPr>
        <p:spPr>
          <a:xfrm>
            <a:off x="603504" y="1601550"/>
            <a:ext cx="10972800" cy="20115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1000"/>
              </a:spcBef>
              <a:spcAft>
                <a:spcPts val="0"/>
              </a:spcAft>
              <a:buSzPts val="2200"/>
              <a:buFont typeface="Arial" panose="020B0604020202020204" pitchFamily="34" charset="0"/>
              <a:buChar char="•"/>
            </a:pPr>
            <a:r>
              <a:rPr lang="en-US" sz="2200" dirty="0">
                <a:latin typeface="Open Sans"/>
                <a:ea typeface="Open Sans"/>
                <a:cs typeface="Open Sans"/>
                <a:sym typeface="Open Sans"/>
              </a:rPr>
              <a:t>In a study in Cleveland, OH, by Richter et al. (2021), a </a:t>
            </a:r>
            <a:r>
              <a:rPr lang="en-US" sz="2200" b="1" dirty="0">
                <a:solidFill>
                  <a:srgbClr val="001C84"/>
                </a:solidFill>
                <a:latin typeface="Open Sans"/>
                <a:ea typeface="Open Sans"/>
                <a:cs typeface="Open Sans"/>
                <a:sym typeface="Open Sans"/>
              </a:rPr>
              <a:t>positive association</a:t>
            </a:r>
            <a:r>
              <a:rPr lang="en-US" sz="2200" dirty="0">
                <a:solidFill>
                  <a:srgbClr val="001C84"/>
                </a:solidFill>
                <a:latin typeface="Open Sans"/>
                <a:ea typeface="Open Sans"/>
                <a:cs typeface="Open Sans"/>
                <a:sym typeface="Open Sans"/>
              </a:rPr>
              <a:t> </a:t>
            </a:r>
            <a:r>
              <a:rPr lang="en-US" sz="2200" dirty="0">
                <a:latin typeface="Open Sans"/>
                <a:ea typeface="Open Sans"/>
                <a:cs typeface="Open Sans"/>
                <a:sym typeface="Open Sans"/>
              </a:rPr>
              <a:t>was found between </a:t>
            </a:r>
            <a:r>
              <a:rPr lang="en-US" sz="2200" b="1" dirty="0">
                <a:solidFill>
                  <a:srgbClr val="001C84"/>
                </a:solidFill>
                <a:latin typeface="Open Sans"/>
                <a:ea typeface="Open Sans"/>
                <a:cs typeface="Open Sans"/>
                <a:sym typeface="Open Sans"/>
              </a:rPr>
              <a:t>White identity and receiving an eviction order </a:t>
            </a:r>
            <a:r>
              <a:rPr lang="en-US" sz="2200" b="1" dirty="0">
                <a:solidFill>
                  <a:srgbClr val="C0504D"/>
                </a:solidFill>
                <a:latin typeface="Open Sans"/>
                <a:ea typeface="Open Sans"/>
                <a:cs typeface="Open Sans"/>
                <a:sym typeface="Open Sans"/>
              </a:rPr>
              <a:t>among those who received an eviction filling</a:t>
            </a:r>
            <a:endParaRPr sz="2200" b="1" dirty="0">
              <a:solidFill>
                <a:srgbClr val="C0504D"/>
              </a:solidFill>
              <a:latin typeface="Open Sans"/>
              <a:ea typeface="Open Sans"/>
              <a:cs typeface="Open Sans"/>
              <a:sym typeface="Open Sans"/>
            </a:endParaRPr>
          </a:p>
          <a:p>
            <a:pPr marL="774700" lvl="1" algn="l" rtl="0">
              <a:lnSpc>
                <a:spcPct val="100000"/>
              </a:lnSpc>
              <a:spcBef>
                <a:spcPts val="1000"/>
              </a:spcBef>
              <a:spcAft>
                <a:spcPts val="0"/>
              </a:spcAft>
              <a:buSzPts val="2200"/>
              <a:buFont typeface="Arial" panose="020B0604020202020204" pitchFamily="34" charset="0"/>
              <a:buChar char="•"/>
            </a:pPr>
            <a:r>
              <a:rPr lang="en-US" sz="2200" dirty="0">
                <a:latin typeface="Open Sans"/>
                <a:ea typeface="Open Sans"/>
                <a:cs typeface="Open Sans"/>
                <a:sym typeface="Open Sans"/>
              </a:rPr>
              <a:t>Are White individuals more likely to receive an eviction order than individuals of a marginalized race?</a:t>
            </a:r>
            <a:endParaRPr sz="2200" dirty="0">
              <a:latin typeface="Open Sans"/>
              <a:ea typeface="Open Sans"/>
              <a:cs typeface="Open Sans"/>
              <a:sym typeface="Open Sans"/>
            </a:endParaRPr>
          </a:p>
        </p:txBody>
      </p:sp>
      <p:pic>
        <p:nvPicPr>
          <p:cNvPr id="319" name="Google Shape;319;g38e34af980f_0_14"/>
          <p:cNvPicPr preferRelativeResize="0"/>
          <p:nvPr/>
        </p:nvPicPr>
        <p:blipFill rotWithShape="1">
          <a:blip r:embed="rId3">
            <a:alphaModFix/>
          </a:blip>
          <a:srcRect/>
          <a:stretch/>
        </p:blipFill>
        <p:spPr>
          <a:xfrm>
            <a:off x="1017317" y="3614220"/>
            <a:ext cx="3813275" cy="2986000"/>
          </a:xfrm>
          <a:prstGeom prst="rect">
            <a:avLst/>
          </a:prstGeom>
          <a:noFill/>
          <a:ln w="19050" cap="flat" cmpd="sng">
            <a:solidFill>
              <a:schemeClr val="dk2"/>
            </a:solidFill>
            <a:prstDash val="solid"/>
            <a:round/>
            <a:headEnd type="none" w="sm" len="sm"/>
            <a:tailEnd type="none" w="sm" len="sm"/>
          </a:ln>
        </p:spPr>
      </p:pic>
      <p:sp>
        <p:nvSpPr>
          <p:cNvPr id="320" name="Google Shape;320;g38e34af980f_0_14"/>
          <p:cNvSpPr txBox="1"/>
          <p:nvPr/>
        </p:nvSpPr>
        <p:spPr>
          <a:xfrm>
            <a:off x="5244405" y="5629255"/>
            <a:ext cx="6198414"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Arial"/>
              </a:rPr>
              <a:t>Logistic regression model estimation of the likelihood of receiving an eviction order. The data represent </a:t>
            </a:r>
            <a:r>
              <a:rPr lang="en-US" sz="1400" b="0" i="1"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Arial"/>
              </a:rPr>
              <a:t>eviction case filings in the City of Cleveland, Ohio, 2013–2016, linked to public assistance records</a:t>
            </a:r>
            <a:r>
              <a:rPr lang="en-US" sz="1400" b="0" i="0"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Arial"/>
              </a:rPr>
              <a:t>. Variables correspond to the head of household associated with the eviction filing.</a:t>
            </a:r>
            <a:endParaRPr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12" name="Group 11">
            <a:extLst>
              <a:ext uri="{FF2B5EF4-FFF2-40B4-BE49-F238E27FC236}">
                <a16:creationId xmlns:a16="http://schemas.microsoft.com/office/drawing/2014/main" id="{A3C50969-FEC9-E8F8-26E3-CF324BC7EEAD}"/>
              </a:ext>
            </a:extLst>
          </p:cNvPr>
          <p:cNvGrpSpPr/>
          <p:nvPr/>
        </p:nvGrpSpPr>
        <p:grpSpPr>
          <a:xfrm>
            <a:off x="6680109" y="3429000"/>
            <a:ext cx="3372856" cy="2052186"/>
            <a:chOff x="6500648" y="3377684"/>
            <a:chExt cx="3372856" cy="2052186"/>
          </a:xfrm>
        </p:grpSpPr>
        <p:sp>
          <p:nvSpPr>
            <p:cNvPr id="316" name="Google Shape;316;g38e34af980f_0_14"/>
            <p:cNvSpPr/>
            <p:nvPr/>
          </p:nvSpPr>
          <p:spPr>
            <a:xfrm>
              <a:off x="7361410" y="3377684"/>
              <a:ext cx="1572768" cy="869502"/>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Marginalization</a:t>
              </a:r>
              <a:endParaRPr sz="1050" b="1" i="0" u="none" strike="noStrike" cap="none" dirty="0">
                <a:solidFill>
                  <a:schemeClr val="dk2"/>
                </a:solidFill>
                <a:latin typeface="Open Sans"/>
                <a:ea typeface="Open Sans"/>
                <a:cs typeface="Open Sans"/>
                <a:sym typeface="Open Sans"/>
              </a:endParaRPr>
            </a:p>
          </p:txBody>
        </p:sp>
        <p:sp>
          <p:nvSpPr>
            <p:cNvPr id="317" name="Google Shape;317;g38e34af980f_0_14"/>
            <p:cNvSpPr/>
            <p:nvPr/>
          </p:nvSpPr>
          <p:spPr>
            <a:xfrm>
              <a:off x="8783904" y="4784570"/>
              <a:ext cx="1089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Order</a:t>
              </a:r>
              <a:endParaRPr b="1" i="0" u="none" strike="noStrike" cap="none" dirty="0">
                <a:solidFill>
                  <a:schemeClr val="dk2"/>
                </a:solidFill>
                <a:latin typeface="Open Sans"/>
                <a:ea typeface="Open Sans"/>
                <a:cs typeface="Open Sans"/>
                <a:sym typeface="Open Sans"/>
              </a:endParaRPr>
            </a:p>
          </p:txBody>
        </p:sp>
        <p:cxnSp>
          <p:nvCxnSpPr>
            <p:cNvPr id="318" name="Google Shape;318;g38e34af980f_0_14"/>
            <p:cNvCxnSpPr>
              <a:cxnSpLocks/>
              <a:stCxn id="316" idx="2"/>
              <a:endCxn id="317" idx="0"/>
            </p:cNvCxnSpPr>
            <p:nvPr/>
          </p:nvCxnSpPr>
          <p:spPr>
            <a:xfrm>
              <a:off x="8147794" y="4247186"/>
              <a:ext cx="1180910" cy="537384"/>
            </a:xfrm>
            <a:prstGeom prst="straightConnector1">
              <a:avLst/>
            </a:prstGeom>
            <a:noFill/>
            <a:ln w="28575" cap="flat" cmpd="sng">
              <a:solidFill>
                <a:schemeClr val="dk2"/>
              </a:solidFill>
              <a:prstDash val="solid"/>
              <a:round/>
              <a:headEnd type="none" w="sm" len="sm"/>
              <a:tailEnd type="triangle" w="med" len="med"/>
            </a:ln>
          </p:spPr>
        </p:cxnSp>
        <p:sp>
          <p:nvSpPr>
            <p:cNvPr id="321" name="Google Shape;321;g38e34af980f_0_14"/>
            <p:cNvSpPr/>
            <p:nvPr/>
          </p:nvSpPr>
          <p:spPr>
            <a:xfrm>
              <a:off x="6500648" y="4784570"/>
              <a:ext cx="1089600" cy="6453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Filing</a:t>
              </a:r>
              <a:endParaRPr b="1" i="0" u="none" strike="noStrike" cap="none" dirty="0">
                <a:solidFill>
                  <a:schemeClr val="dk2"/>
                </a:solidFill>
                <a:latin typeface="Open Sans"/>
                <a:ea typeface="Open Sans"/>
                <a:cs typeface="Open Sans"/>
                <a:sym typeface="Open Sans"/>
              </a:endParaRPr>
            </a:p>
          </p:txBody>
        </p:sp>
        <p:cxnSp>
          <p:nvCxnSpPr>
            <p:cNvPr id="322" name="Google Shape;322;g38e34af980f_0_14"/>
            <p:cNvCxnSpPr>
              <a:cxnSpLocks/>
              <a:stCxn id="316" idx="2"/>
              <a:endCxn id="321" idx="0"/>
            </p:cNvCxnSpPr>
            <p:nvPr/>
          </p:nvCxnSpPr>
          <p:spPr>
            <a:xfrm flipH="1">
              <a:off x="7045448" y="4247186"/>
              <a:ext cx="1102346" cy="537384"/>
            </a:xfrm>
            <a:prstGeom prst="straightConnector1">
              <a:avLst/>
            </a:prstGeom>
            <a:noFill/>
            <a:ln w="28575" cap="flat" cmpd="sng">
              <a:solidFill>
                <a:schemeClr val="accent2"/>
              </a:solidFill>
              <a:prstDash val="solid"/>
              <a:round/>
              <a:headEnd type="none" w="sm" len="sm"/>
              <a:tailEnd type="triangle" w="med" len="med"/>
            </a:ln>
          </p:spPr>
        </p:cxnSp>
        <p:cxnSp>
          <p:nvCxnSpPr>
            <p:cNvPr id="323" name="Google Shape;323;g38e34af980f_0_14"/>
            <p:cNvCxnSpPr>
              <a:cxnSpLocks/>
              <a:stCxn id="321" idx="3"/>
              <a:endCxn id="317" idx="1"/>
            </p:cNvCxnSpPr>
            <p:nvPr/>
          </p:nvCxnSpPr>
          <p:spPr>
            <a:xfrm>
              <a:off x="7590248" y="5107220"/>
              <a:ext cx="1193656" cy="0"/>
            </a:xfrm>
            <a:prstGeom prst="straightConnector1">
              <a:avLst/>
            </a:prstGeom>
            <a:noFill/>
            <a:ln w="28575" cap="flat" cmpd="sng">
              <a:solidFill>
                <a:schemeClr val="accent2"/>
              </a:solidFill>
              <a:prstDash val="solid"/>
              <a:round/>
              <a:headEnd type="none" w="sm" len="sm"/>
              <a:tailEnd type="triangle" w="med" len="med"/>
            </a:ln>
          </p:spPr>
        </p:cxnSp>
      </p:grpSp>
      <p:sp>
        <p:nvSpPr>
          <p:cNvPr id="2" name="Slide Number Placeholder 1">
            <a:extLst>
              <a:ext uri="{FF2B5EF4-FFF2-40B4-BE49-F238E27FC236}">
                <a16:creationId xmlns:a16="http://schemas.microsoft.com/office/drawing/2014/main" id="{822D0B72-8D08-2E76-757B-020F1E88B0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38e34af980f_0_93"/>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40909"/>
              <a:buNone/>
            </a:pPr>
            <a:r>
              <a:rPr lang="en-US" b="1">
                <a:solidFill>
                  <a:srgbClr val="001C84"/>
                </a:solidFill>
                <a:latin typeface="Open Sans"/>
                <a:ea typeface="Open Sans"/>
                <a:cs typeface="Open Sans"/>
                <a:sym typeface="Open Sans"/>
              </a:rPr>
              <a:t>Collider Bias in Eviction Research</a:t>
            </a:r>
            <a:endParaRPr b="1">
              <a:solidFill>
                <a:srgbClr val="001C84"/>
              </a:solidFill>
              <a:latin typeface="Open Sans"/>
              <a:ea typeface="Open Sans"/>
              <a:cs typeface="Open Sans"/>
              <a:sym typeface="Open Sans"/>
            </a:endParaRPr>
          </a:p>
        </p:txBody>
      </p:sp>
      <p:sp>
        <p:nvSpPr>
          <p:cNvPr id="330" name="Google Shape;330;g38e34af980f_0_93"/>
          <p:cNvSpPr txBox="1">
            <a:spLocks noGrp="1"/>
          </p:cNvSpPr>
          <p:nvPr>
            <p:ph type="body" idx="1"/>
          </p:nvPr>
        </p:nvSpPr>
        <p:spPr>
          <a:xfrm>
            <a:off x="682867" y="1691970"/>
            <a:ext cx="6423277" cy="4507662"/>
          </a:xfrm>
          <a:prstGeom prst="rect">
            <a:avLst/>
          </a:prstGeom>
          <a:noFill/>
          <a:ln>
            <a:noFill/>
          </a:ln>
        </p:spPr>
        <p:txBody>
          <a:bodyPr spcFirstLastPara="1" wrap="square" lIns="91425" tIns="45700" rIns="91425" bIns="45700" anchor="t" anchorCtr="0">
            <a:normAutofit fontScale="92500" lnSpcReduction="10000"/>
          </a:bodyPr>
          <a:lstStyle/>
          <a:p>
            <a:pPr marL="774700" lvl="1" algn="l" rtl="0">
              <a:lnSpc>
                <a:spcPct val="100000"/>
              </a:lnSpc>
              <a:spcBef>
                <a:spcPts val="1000"/>
              </a:spcBef>
              <a:spcAft>
                <a:spcPts val="0"/>
              </a:spcAft>
              <a:buSzPct val="108108"/>
              <a:buFont typeface="Arial" panose="020B0604020202020204" pitchFamily="34" charset="0"/>
              <a:buChar char="•"/>
            </a:pPr>
            <a:r>
              <a:rPr lang="en-US" sz="2200" dirty="0">
                <a:latin typeface="Open Sans"/>
                <a:ea typeface="Open Sans"/>
                <a:cs typeface="Open Sans"/>
                <a:sym typeface="Open Sans"/>
              </a:rPr>
              <a:t>Who makes up the</a:t>
            </a:r>
            <a:r>
              <a:rPr lang="en-US" sz="2200" dirty="0">
                <a:solidFill>
                  <a:schemeClr val="accent2"/>
                </a:solidFill>
                <a:latin typeface="Open Sans"/>
                <a:ea typeface="Open Sans"/>
                <a:cs typeface="Open Sans"/>
                <a:sym typeface="Open Sans"/>
              </a:rPr>
              <a:t> </a:t>
            </a:r>
            <a:r>
              <a:rPr lang="en-US" sz="2200" b="1" dirty="0">
                <a:solidFill>
                  <a:schemeClr val="accent2"/>
                </a:solidFill>
                <a:latin typeface="Open Sans"/>
                <a:ea typeface="Open Sans"/>
                <a:cs typeface="Open Sans"/>
                <a:sym typeface="Open Sans"/>
              </a:rPr>
              <a:t>population of people who receive an eviction filing (collider variable)</a:t>
            </a:r>
            <a:r>
              <a:rPr lang="en-US" sz="2200" dirty="0">
                <a:latin typeface="Open Sans"/>
                <a:ea typeface="Open Sans"/>
                <a:cs typeface="Open Sans"/>
                <a:sym typeface="Open Sans"/>
              </a:rPr>
              <a:t>?</a:t>
            </a:r>
            <a:endParaRPr dirty="0"/>
          </a:p>
          <a:p>
            <a:pPr marL="774700" lvl="1" algn="l" rtl="0">
              <a:lnSpc>
                <a:spcPct val="100000"/>
              </a:lnSpc>
              <a:spcBef>
                <a:spcPts val="1000"/>
              </a:spcBef>
              <a:spcAft>
                <a:spcPts val="0"/>
              </a:spcAft>
              <a:buSzPct val="108108"/>
              <a:buFont typeface="Arial" panose="020B0604020202020204" pitchFamily="34" charset="0"/>
              <a:buChar char="•"/>
            </a:pPr>
            <a:r>
              <a:rPr lang="en-US" sz="2200" dirty="0">
                <a:latin typeface="Open Sans"/>
                <a:ea typeface="Open Sans"/>
                <a:cs typeface="Open Sans"/>
                <a:sym typeface="Open Sans"/>
              </a:rPr>
              <a:t>Marginalization plays a role in housing instability, but other vulnerabilities unrelated to marginalization, such as health issues may also contribute</a:t>
            </a:r>
            <a:endParaRPr dirty="0"/>
          </a:p>
          <a:p>
            <a:pPr marL="774700" lvl="1" algn="l" rtl="0">
              <a:lnSpc>
                <a:spcPct val="100000"/>
              </a:lnSpc>
              <a:spcBef>
                <a:spcPts val="1000"/>
              </a:spcBef>
              <a:spcAft>
                <a:spcPts val="0"/>
              </a:spcAft>
              <a:buSzPct val="108108"/>
              <a:buFont typeface="Arial" panose="020B0604020202020204" pitchFamily="34" charset="0"/>
              <a:buChar char="•"/>
            </a:pPr>
            <a:r>
              <a:rPr lang="en-US" sz="2200" dirty="0">
                <a:latin typeface="Open Sans"/>
                <a:ea typeface="Open Sans"/>
                <a:cs typeface="Open Sans"/>
                <a:sym typeface="Open Sans"/>
              </a:rPr>
              <a:t>Selecting on eviction fillings (using this data in the analysis) cannot help us understand the impact of marginalization on receiving an eviction order</a:t>
            </a:r>
            <a:endParaRPr dirty="0"/>
          </a:p>
          <a:p>
            <a:pPr marL="774700" lvl="1" algn="l" rtl="0">
              <a:lnSpc>
                <a:spcPct val="100000"/>
              </a:lnSpc>
              <a:spcBef>
                <a:spcPts val="1000"/>
              </a:spcBef>
              <a:spcAft>
                <a:spcPts val="0"/>
              </a:spcAft>
              <a:buSzPct val="108108"/>
              <a:buFont typeface="Arial" panose="020B0604020202020204" pitchFamily="34" charset="0"/>
              <a:buChar char="•"/>
            </a:pPr>
            <a:r>
              <a:rPr lang="en-US" sz="2200" dirty="0">
                <a:latin typeface="Open Sans"/>
                <a:ea typeface="Open Sans"/>
                <a:cs typeface="Open Sans"/>
                <a:sym typeface="Open Sans"/>
              </a:rPr>
              <a:t>We find that </a:t>
            </a:r>
            <a:r>
              <a:rPr lang="en-US" sz="2200" b="1" dirty="0">
                <a:solidFill>
                  <a:schemeClr val="accent2"/>
                </a:solidFill>
                <a:latin typeface="Open Sans"/>
                <a:ea typeface="Open Sans"/>
                <a:cs typeface="Open Sans"/>
                <a:sym typeface="Open Sans"/>
              </a:rPr>
              <a:t>among those who receive an eviction filing</a:t>
            </a:r>
            <a:r>
              <a:rPr lang="en-US" sz="2200" dirty="0">
                <a:latin typeface="Open Sans"/>
                <a:ea typeface="Open Sans"/>
                <a:cs typeface="Open Sans"/>
                <a:sym typeface="Open Sans"/>
              </a:rPr>
              <a:t>, those identified as White are more likely to receive an eviction order, but …</a:t>
            </a:r>
            <a:endParaRPr dirty="0"/>
          </a:p>
          <a:p>
            <a:pPr marL="774700" lvl="1" algn="l" rtl="0">
              <a:lnSpc>
                <a:spcPct val="100000"/>
              </a:lnSpc>
              <a:spcBef>
                <a:spcPts val="1000"/>
              </a:spcBef>
              <a:spcAft>
                <a:spcPts val="0"/>
              </a:spcAft>
              <a:buSzPct val="108108"/>
              <a:buFont typeface="Arial" panose="020B0604020202020204" pitchFamily="34" charset="0"/>
              <a:buChar char="•"/>
            </a:pPr>
            <a:endParaRPr sz="2200" dirty="0">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6C24D0AF-A649-3EB3-7FFC-FA8D53D0AD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grpSp>
        <p:nvGrpSpPr>
          <p:cNvPr id="14" name="Group 13">
            <a:extLst>
              <a:ext uri="{FF2B5EF4-FFF2-40B4-BE49-F238E27FC236}">
                <a16:creationId xmlns:a16="http://schemas.microsoft.com/office/drawing/2014/main" id="{D1EE4CB3-3764-B68E-D626-3A3C3B55A163}"/>
              </a:ext>
            </a:extLst>
          </p:cNvPr>
          <p:cNvGrpSpPr/>
          <p:nvPr/>
        </p:nvGrpSpPr>
        <p:grpSpPr>
          <a:xfrm>
            <a:off x="7500671" y="1775860"/>
            <a:ext cx="3389922" cy="3733404"/>
            <a:chOff x="7500671" y="1775860"/>
            <a:chExt cx="3389922" cy="3733404"/>
          </a:xfrm>
        </p:grpSpPr>
        <p:grpSp>
          <p:nvGrpSpPr>
            <p:cNvPr id="17" name="Group 16">
              <a:extLst>
                <a:ext uri="{FF2B5EF4-FFF2-40B4-BE49-F238E27FC236}">
                  <a16:creationId xmlns:a16="http://schemas.microsoft.com/office/drawing/2014/main" id="{89D1D9B9-EFC8-4BC1-BFFB-15ED1666E58A}"/>
                </a:ext>
              </a:extLst>
            </p:cNvPr>
            <p:cNvGrpSpPr/>
            <p:nvPr/>
          </p:nvGrpSpPr>
          <p:grpSpPr>
            <a:xfrm>
              <a:off x="8045471" y="1775860"/>
              <a:ext cx="2845122" cy="3733404"/>
              <a:chOff x="8007720" y="1691970"/>
              <a:chExt cx="2845122" cy="3733404"/>
            </a:xfrm>
          </p:grpSpPr>
          <p:cxnSp>
            <p:nvCxnSpPr>
              <p:cNvPr id="339" name="Google Shape;339;g38e34af980f_0_93"/>
              <p:cNvCxnSpPr>
                <a:cxnSpLocks/>
                <a:stCxn id="338" idx="0"/>
                <a:endCxn id="10" idx="2"/>
              </p:cNvCxnSpPr>
              <p:nvPr/>
            </p:nvCxnSpPr>
            <p:spPr>
              <a:xfrm flipH="1" flipV="1">
                <a:off x="8007720" y="3744156"/>
                <a:ext cx="1250622" cy="665118"/>
              </a:xfrm>
              <a:prstGeom prst="straightConnector1">
                <a:avLst/>
              </a:prstGeom>
              <a:noFill/>
              <a:ln w="28575" cap="flat" cmpd="sng">
                <a:solidFill>
                  <a:srgbClr val="C0504D"/>
                </a:solidFill>
                <a:prstDash val="solid"/>
                <a:round/>
                <a:headEnd type="none" w="sm" len="sm"/>
                <a:tailEnd type="triangle" w="med" len="med"/>
              </a:ln>
            </p:spPr>
          </p:cxnSp>
          <p:cxnSp>
            <p:nvCxnSpPr>
              <p:cNvPr id="340" name="Google Shape;340;g38e34af980f_0_93"/>
              <p:cNvCxnSpPr>
                <a:cxnSpLocks/>
                <a:stCxn id="338" idx="0"/>
                <a:endCxn id="5" idx="2"/>
              </p:cNvCxnSpPr>
              <p:nvPr/>
            </p:nvCxnSpPr>
            <p:spPr>
              <a:xfrm flipV="1">
                <a:off x="9258342" y="3744156"/>
                <a:ext cx="1049700" cy="665118"/>
              </a:xfrm>
              <a:prstGeom prst="straightConnector1">
                <a:avLst/>
              </a:prstGeom>
              <a:noFill/>
              <a:ln w="28575" cap="flat" cmpd="sng">
                <a:solidFill>
                  <a:schemeClr val="bg2"/>
                </a:solidFill>
                <a:prstDash val="solid"/>
                <a:round/>
                <a:headEnd type="none" w="sm" len="sm"/>
                <a:tailEnd type="triangle" w="med" len="med"/>
              </a:ln>
            </p:spPr>
          </p:cxnSp>
          <p:grpSp>
            <p:nvGrpSpPr>
              <p:cNvPr id="16" name="Group 15">
                <a:extLst>
                  <a:ext uri="{FF2B5EF4-FFF2-40B4-BE49-F238E27FC236}">
                    <a16:creationId xmlns:a16="http://schemas.microsoft.com/office/drawing/2014/main" id="{B9068ED5-A4EC-1562-EDF3-1CAFF2D618A4}"/>
                  </a:ext>
                </a:extLst>
              </p:cNvPr>
              <p:cNvGrpSpPr/>
              <p:nvPr/>
            </p:nvGrpSpPr>
            <p:grpSpPr>
              <a:xfrm>
                <a:off x="8007720" y="1691970"/>
                <a:ext cx="2845122" cy="3733404"/>
                <a:chOff x="8007720" y="1691970"/>
                <a:chExt cx="2845122" cy="3733404"/>
              </a:xfrm>
            </p:grpSpPr>
            <p:sp>
              <p:nvSpPr>
                <p:cNvPr id="338" name="Google Shape;338;g38e34af980f_0_93"/>
                <p:cNvSpPr/>
                <p:nvPr/>
              </p:nvSpPr>
              <p:spPr>
                <a:xfrm>
                  <a:off x="8208642" y="4409274"/>
                  <a:ext cx="2099400" cy="1016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strike="noStrike" cap="none" dirty="0">
                      <a:solidFill>
                        <a:schemeClr val="dk2"/>
                      </a:solidFill>
                      <a:latin typeface="Open Sans"/>
                      <a:ea typeface="Open Sans"/>
                      <a:cs typeface="Open Sans"/>
                      <a:sym typeface="Open Sans"/>
                    </a:rPr>
                    <a:t>Other unobserved individual-level vulnerabilities</a:t>
                  </a:r>
                  <a:endParaRPr b="1" i="0" strike="noStrike" cap="none" dirty="0">
                    <a:solidFill>
                      <a:schemeClr val="dk2"/>
                    </a:solidFill>
                    <a:latin typeface="Open Sans"/>
                    <a:ea typeface="Open Sans"/>
                    <a:cs typeface="Open Sans"/>
                    <a:sym typeface="Open Sans"/>
                  </a:endParaRPr>
                </a:p>
              </p:txBody>
            </p:sp>
            <p:grpSp>
              <p:nvGrpSpPr>
                <p:cNvPr id="3" name="Group 2">
                  <a:extLst>
                    <a:ext uri="{FF2B5EF4-FFF2-40B4-BE49-F238E27FC236}">
                      <a16:creationId xmlns:a16="http://schemas.microsoft.com/office/drawing/2014/main" id="{0B46A188-9390-6D26-E2E3-F0D64DB356CF}"/>
                    </a:ext>
                  </a:extLst>
                </p:cNvPr>
                <p:cNvGrpSpPr/>
                <p:nvPr/>
              </p:nvGrpSpPr>
              <p:grpSpPr>
                <a:xfrm>
                  <a:off x="8007720" y="1691970"/>
                  <a:ext cx="2845122" cy="2052186"/>
                  <a:chOff x="7028382" y="3377684"/>
                  <a:chExt cx="2845122" cy="2052186"/>
                </a:xfrm>
              </p:grpSpPr>
              <p:sp>
                <p:nvSpPr>
                  <p:cNvPr id="4" name="Google Shape;316;g38e34af980f_0_14">
                    <a:extLst>
                      <a:ext uri="{FF2B5EF4-FFF2-40B4-BE49-F238E27FC236}">
                        <a16:creationId xmlns:a16="http://schemas.microsoft.com/office/drawing/2014/main" id="{EB3995C7-4EAA-FB66-71A1-E8C82A50A5CF}"/>
                      </a:ext>
                    </a:extLst>
                  </p:cNvPr>
                  <p:cNvSpPr/>
                  <p:nvPr/>
                </p:nvSpPr>
                <p:spPr>
                  <a:xfrm>
                    <a:off x="7361410" y="3377684"/>
                    <a:ext cx="1572768" cy="869502"/>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Marginalization</a:t>
                    </a:r>
                    <a:endParaRPr sz="1050" b="1" i="0" u="none" strike="noStrike" cap="none" dirty="0">
                      <a:solidFill>
                        <a:schemeClr val="dk2"/>
                      </a:solidFill>
                      <a:latin typeface="Open Sans"/>
                      <a:ea typeface="Open Sans"/>
                      <a:cs typeface="Open Sans"/>
                      <a:sym typeface="Open Sans"/>
                    </a:endParaRPr>
                  </a:p>
                </p:txBody>
              </p:sp>
              <p:sp>
                <p:nvSpPr>
                  <p:cNvPr id="5" name="Google Shape;317;g38e34af980f_0_14">
                    <a:extLst>
                      <a:ext uri="{FF2B5EF4-FFF2-40B4-BE49-F238E27FC236}">
                        <a16:creationId xmlns:a16="http://schemas.microsoft.com/office/drawing/2014/main" id="{B2D69B87-8573-348B-97DF-D96A35B6C7D5}"/>
                      </a:ext>
                    </a:extLst>
                  </p:cNvPr>
                  <p:cNvSpPr/>
                  <p:nvPr/>
                </p:nvSpPr>
                <p:spPr>
                  <a:xfrm>
                    <a:off x="8783904" y="4784570"/>
                    <a:ext cx="1089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Order</a:t>
                    </a:r>
                    <a:endParaRPr b="1" i="0" u="none" strike="noStrike" cap="none" dirty="0">
                      <a:solidFill>
                        <a:schemeClr val="dk2"/>
                      </a:solidFill>
                      <a:latin typeface="Open Sans"/>
                      <a:ea typeface="Open Sans"/>
                      <a:cs typeface="Open Sans"/>
                      <a:sym typeface="Open Sans"/>
                    </a:endParaRPr>
                  </a:p>
                </p:txBody>
              </p:sp>
              <p:cxnSp>
                <p:nvCxnSpPr>
                  <p:cNvPr id="6" name="Google Shape;318;g38e34af980f_0_14">
                    <a:extLst>
                      <a:ext uri="{FF2B5EF4-FFF2-40B4-BE49-F238E27FC236}">
                        <a16:creationId xmlns:a16="http://schemas.microsoft.com/office/drawing/2014/main" id="{FC37114D-5D94-8CCA-01F8-CF23433C01B6}"/>
                      </a:ext>
                    </a:extLst>
                  </p:cNvPr>
                  <p:cNvCxnSpPr>
                    <a:cxnSpLocks/>
                    <a:stCxn id="4" idx="2"/>
                    <a:endCxn id="5" idx="0"/>
                  </p:cNvCxnSpPr>
                  <p:nvPr/>
                </p:nvCxnSpPr>
                <p:spPr>
                  <a:xfrm>
                    <a:off x="8147794" y="4247186"/>
                    <a:ext cx="1180910" cy="537384"/>
                  </a:xfrm>
                  <a:prstGeom prst="straightConnector1">
                    <a:avLst/>
                  </a:prstGeom>
                  <a:noFill/>
                  <a:ln w="28575" cap="flat" cmpd="sng">
                    <a:solidFill>
                      <a:schemeClr val="dk2"/>
                    </a:solidFill>
                    <a:prstDash val="solid"/>
                    <a:round/>
                    <a:headEnd type="none" w="sm" len="sm"/>
                    <a:tailEnd type="triangle" w="med" len="med"/>
                  </a:ln>
                </p:spPr>
              </p:cxnSp>
              <p:cxnSp>
                <p:nvCxnSpPr>
                  <p:cNvPr id="8" name="Google Shape;322;g38e34af980f_0_14">
                    <a:extLst>
                      <a:ext uri="{FF2B5EF4-FFF2-40B4-BE49-F238E27FC236}">
                        <a16:creationId xmlns:a16="http://schemas.microsoft.com/office/drawing/2014/main" id="{DD678699-2E31-03C6-5510-0C8AA8523BED}"/>
                      </a:ext>
                    </a:extLst>
                  </p:cNvPr>
                  <p:cNvCxnSpPr>
                    <a:cxnSpLocks/>
                    <a:stCxn id="4" idx="2"/>
                    <a:endCxn id="10" idx="0"/>
                  </p:cNvCxnSpPr>
                  <p:nvPr/>
                </p:nvCxnSpPr>
                <p:spPr>
                  <a:xfrm flipH="1">
                    <a:off x="7028382" y="4247186"/>
                    <a:ext cx="1119412" cy="537384"/>
                  </a:xfrm>
                  <a:prstGeom prst="straightConnector1">
                    <a:avLst/>
                  </a:prstGeom>
                  <a:noFill/>
                  <a:ln w="28575" cap="flat" cmpd="sng">
                    <a:solidFill>
                      <a:schemeClr val="accent2"/>
                    </a:solidFill>
                    <a:prstDash val="solid"/>
                    <a:round/>
                    <a:headEnd type="none" w="sm" len="sm"/>
                    <a:tailEnd type="triangle" w="med" len="med"/>
                  </a:ln>
                </p:spPr>
              </p:cxnSp>
              <p:cxnSp>
                <p:nvCxnSpPr>
                  <p:cNvPr id="9" name="Google Shape;323;g38e34af980f_0_14">
                    <a:extLst>
                      <a:ext uri="{FF2B5EF4-FFF2-40B4-BE49-F238E27FC236}">
                        <a16:creationId xmlns:a16="http://schemas.microsoft.com/office/drawing/2014/main" id="{5634D87E-D6DA-CBA7-FC8A-87F1442F00DA}"/>
                      </a:ext>
                    </a:extLst>
                  </p:cNvPr>
                  <p:cNvCxnSpPr>
                    <a:cxnSpLocks/>
                    <a:stCxn id="10" idx="3"/>
                    <a:endCxn id="5" idx="1"/>
                  </p:cNvCxnSpPr>
                  <p:nvPr/>
                </p:nvCxnSpPr>
                <p:spPr>
                  <a:xfrm>
                    <a:off x="7573182" y="5107220"/>
                    <a:ext cx="1210722" cy="0"/>
                  </a:xfrm>
                  <a:prstGeom prst="straightConnector1">
                    <a:avLst/>
                  </a:prstGeom>
                  <a:noFill/>
                  <a:ln w="28575" cap="flat" cmpd="sng">
                    <a:solidFill>
                      <a:schemeClr val="accent2"/>
                    </a:solidFill>
                    <a:prstDash val="solid"/>
                    <a:round/>
                    <a:headEnd type="none" w="sm" len="sm"/>
                    <a:tailEnd type="triangle" w="med" len="med"/>
                  </a:ln>
                </p:spPr>
              </p:cxnSp>
            </p:grpSp>
          </p:grpSp>
        </p:grpSp>
        <p:sp>
          <p:nvSpPr>
            <p:cNvPr id="10" name="Google Shape;321;g38e34af980f_0_14">
              <a:extLst>
                <a:ext uri="{FF2B5EF4-FFF2-40B4-BE49-F238E27FC236}">
                  <a16:creationId xmlns:a16="http://schemas.microsoft.com/office/drawing/2014/main" id="{B0C20334-02B8-748E-1C49-FE01A527CE19}"/>
                </a:ext>
              </a:extLst>
            </p:cNvPr>
            <p:cNvSpPr/>
            <p:nvPr/>
          </p:nvSpPr>
          <p:spPr>
            <a:xfrm>
              <a:off x="7500671" y="3182746"/>
              <a:ext cx="1089600" cy="6453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Filing</a:t>
              </a:r>
              <a:endParaRPr b="1" i="0" u="none" strike="noStrike" cap="none" dirty="0">
                <a:solidFill>
                  <a:schemeClr val="dk2"/>
                </a:solidFill>
                <a:latin typeface="Open Sans"/>
                <a:ea typeface="Open Sans"/>
                <a:cs typeface="Open Sans"/>
                <a:sym typeface="Open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g38e34af980f_0_134"/>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40909"/>
              <a:buNone/>
            </a:pPr>
            <a:r>
              <a:rPr lang="en-US" b="1">
                <a:solidFill>
                  <a:srgbClr val="001C84"/>
                </a:solidFill>
                <a:latin typeface="Open Sans"/>
                <a:ea typeface="Open Sans"/>
                <a:cs typeface="Open Sans"/>
                <a:sym typeface="Open Sans"/>
              </a:rPr>
              <a:t>Collider Bias in Eviction Research</a:t>
            </a:r>
            <a:endParaRPr b="1">
              <a:solidFill>
                <a:srgbClr val="001C84"/>
              </a:solidFill>
              <a:latin typeface="Open Sans"/>
              <a:ea typeface="Open Sans"/>
              <a:cs typeface="Open Sans"/>
              <a:sym typeface="Open Sans"/>
            </a:endParaRPr>
          </a:p>
        </p:txBody>
      </p:sp>
      <p:sp>
        <p:nvSpPr>
          <p:cNvPr id="347" name="Google Shape;347;g38e34af980f_0_134"/>
          <p:cNvSpPr txBox="1">
            <a:spLocks noGrp="1"/>
          </p:cNvSpPr>
          <p:nvPr>
            <p:ph type="body" idx="1"/>
          </p:nvPr>
        </p:nvSpPr>
        <p:spPr>
          <a:xfrm>
            <a:off x="658368" y="1417650"/>
            <a:ext cx="10917936" cy="2011500"/>
          </a:xfrm>
          <a:prstGeom prst="rect">
            <a:avLst/>
          </a:prstGeom>
          <a:noFill/>
          <a:ln>
            <a:noFill/>
          </a:ln>
        </p:spPr>
        <p:txBody>
          <a:bodyPr spcFirstLastPara="1" wrap="square" lIns="91425" tIns="45700" rIns="91425" bIns="45700" anchor="t" anchorCtr="0">
            <a:normAutofit/>
          </a:bodyPr>
          <a:lstStyle/>
          <a:p>
            <a:pPr marL="774700" lvl="1" algn="l" rtl="0">
              <a:lnSpc>
                <a:spcPct val="100000"/>
              </a:lnSpc>
              <a:spcBef>
                <a:spcPts val="1000"/>
              </a:spcBef>
              <a:spcAft>
                <a:spcPts val="0"/>
              </a:spcAft>
              <a:buSzPts val="2200"/>
              <a:buFont typeface="Arial" panose="020B0604020202020204" pitchFamily="34" charset="0"/>
              <a:buChar char="•"/>
            </a:pPr>
            <a:r>
              <a:rPr lang="en-US" sz="2200" dirty="0">
                <a:latin typeface="Open Sans"/>
                <a:ea typeface="Open Sans"/>
                <a:cs typeface="Open Sans"/>
                <a:sym typeface="Open Sans"/>
              </a:rPr>
              <a:t>… Black head of households are overrepresented in the population of people who receive an eviction filing</a:t>
            </a:r>
            <a:endParaRPr sz="2200" dirty="0">
              <a:latin typeface="Open Sans"/>
              <a:ea typeface="Open Sans"/>
              <a:cs typeface="Open Sans"/>
              <a:sym typeface="Open Sans"/>
            </a:endParaRPr>
          </a:p>
        </p:txBody>
      </p:sp>
      <p:pic>
        <p:nvPicPr>
          <p:cNvPr id="348" name="Google Shape;348;g38e34af980f_0_134"/>
          <p:cNvPicPr preferRelativeResize="0"/>
          <p:nvPr/>
        </p:nvPicPr>
        <p:blipFill rotWithShape="1">
          <a:blip r:embed="rId3">
            <a:alphaModFix/>
          </a:blip>
          <a:srcRect/>
          <a:stretch/>
        </p:blipFill>
        <p:spPr>
          <a:xfrm>
            <a:off x="895634" y="2805727"/>
            <a:ext cx="7585925" cy="3344399"/>
          </a:xfrm>
          <a:prstGeom prst="rect">
            <a:avLst/>
          </a:prstGeom>
          <a:noFill/>
          <a:ln w="19050" cap="flat" cmpd="sng">
            <a:solidFill>
              <a:schemeClr val="dk2"/>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6879BA7D-C11B-30C1-102F-D7FDAC52C0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dirty="0"/>
          </a:p>
        </p:txBody>
      </p:sp>
      <p:grpSp>
        <p:nvGrpSpPr>
          <p:cNvPr id="15" name="Group 14">
            <a:extLst>
              <a:ext uri="{FF2B5EF4-FFF2-40B4-BE49-F238E27FC236}">
                <a16:creationId xmlns:a16="http://schemas.microsoft.com/office/drawing/2014/main" id="{AFA70397-F5D4-81E7-BED1-0F2095338134}"/>
              </a:ext>
            </a:extLst>
          </p:cNvPr>
          <p:cNvGrpSpPr/>
          <p:nvPr/>
        </p:nvGrpSpPr>
        <p:grpSpPr>
          <a:xfrm>
            <a:off x="8607352" y="2288608"/>
            <a:ext cx="3389922" cy="3733404"/>
            <a:chOff x="7500671" y="1775860"/>
            <a:chExt cx="3389922" cy="3733404"/>
          </a:xfrm>
        </p:grpSpPr>
        <p:grpSp>
          <p:nvGrpSpPr>
            <p:cNvPr id="16" name="Group 15">
              <a:extLst>
                <a:ext uri="{FF2B5EF4-FFF2-40B4-BE49-F238E27FC236}">
                  <a16:creationId xmlns:a16="http://schemas.microsoft.com/office/drawing/2014/main" id="{A5BED7D6-E7E1-F6F8-1323-31854F715C36}"/>
                </a:ext>
              </a:extLst>
            </p:cNvPr>
            <p:cNvGrpSpPr/>
            <p:nvPr/>
          </p:nvGrpSpPr>
          <p:grpSpPr>
            <a:xfrm>
              <a:off x="8045471" y="1775860"/>
              <a:ext cx="2845122" cy="3733404"/>
              <a:chOff x="8007720" y="1691970"/>
              <a:chExt cx="2845122" cy="3733404"/>
            </a:xfrm>
          </p:grpSpPr>
          <p:cxnSp>
            <p:nvCxnSpPr>
              <p:cNvPr id="18" name="Google Shape;339;g38e34af980f_0_93">
                <a:extLst>
                  <a:ext uri="{FF2B5EF4-FFF2-40B4-BE49-F238E27FC236}">
                    <a16:creationId xmlns:a16="http://schemas.microsoft.com/office/drawing/2014/main" id="{09F0CEB6-8399-3EB9-F902-3A2A2D7EACA6}"/>
                  </a:ext>
                </a:extLst>
              </p:cNvPr>
              <p:cNvCxnSpPr>
                <a:cxnSpLocks/>
                <a:stCxn id="21" idx="0"/>
                <a:endCxn id="17" idx="2"/>
              </p:cNvCxnSpPr>
              <p:nvPr/>
            </p:nvCxnSpPr>
            <p:spPr>
              <a:xfrm flipH="1" flipV="1">
                <a:off x="8007720" y="3744156"/>
                <a:ext cx="1250622" cy="665118"/>
              </a:xfrm>
              <a:prstGeom prst="straightConnector1">
                <a:avLst/>
              </a:prstGeom>
              <a:noFill/>
              <a:ln w="28575" cap="flat" cmpd="sng">
                <a:solidFill>
                  <a:srgbClr val="C0504D"/>
                </a:solidFill>
                <a:prstDash val="solid"/>
                <a:round/>
                <a:headEnd type="none" w="sm" len="sm"/>
                <a:tailEnd type="triangle" w="med" len="med"/>
              </a:ln>
            </p:spPr>
          </p:cxnSp>
          <p:cxnSp>
            <p:nvCxnSpPr>
              <p:cNvPr id="19" name="Google Shape;340;g38e34af980f_0_93">
                <a:extLst>
                  <a:ext uri="{FF2B5EF4-FFF2-40B4-BE49-F238E27FC236}">
                    <a16:creationId xmlns:a16="http://schemas.microsoft.com/office/drawing/2014/main" id="{0B071C12-D2A4-DA91-6968-3675E743E6A7}"/>
                  </a:ext>
                </a:extLst>
              </p:cNvPr>
              <p:cNvCxnSpPr>
                <a:cxnSpLocks/>
                <a:stCxn id="21" idx="0"/>
                <a:endCxn id="24" idx="2"/>
              </p:cNvCxnSpPr>
              <p:nvPr/>
            </p:nvCxnSpPr>
            <p:spPr>
              <a:xfrm flipV="1">
                <a:off x="9258342" y="3744156"/>
                <a:ext cx="1049700" cy="665118"/>
              </a:xfrm>
              <a:prstGeom prst="straightConnector1">
                <a:avLst/>
              </a:prstGeom>
              <a:noFill/>
              <a:ln w="28575" cap="flat" cmpd="sng">
                <a:solidFill>
                  <a:schemeClr val="bg2"/>
                </a:solidFill>
                <a:prstDash val="solid"/>
                <a:round/>
                <a:headEnd type="none" w="sm" len="sm"/>
                <a:tailEnd type="triangle" w="med" len="med"/>
              </a:ln>
            </p:spPr>
          </p:cxnSp>
          <p:grpSp>
            <p:nvGrpSpPr>
              <p:cNvPr id="20" name="Group 19">
                <a:extLst>
                  <a:ext uri="{FF2B5EF4-FFF2-40B4-BE49-F238E27FC236}">
                    <a16:creationId xmlns:a16="http://schemas.microsoft.com/office/drawing/2014/main" id="{3BBF6602-5DC8-5E03-4DE6-A7CF654C28E0}"/>
                  </a:ext>
                </a:extLst>
              </p:cNvPr>
              <p:cNvGrpSpPr/>
              <p:nvPr/>
            </p:nvGrpSpPr>
            <p:grpSpPr>
              <a:xfrm>
                <a:off x="8007720" y="1691970"/>
                <a:ext cx="2845122" cy="3733404"/>
                <a:chOff x="8007720" y="1691970"/>
                <a:chExt cx="2845122" cy="3733404"/>
              </a:xfrm>
            </p:grpSpPr>
            <p:sp>
              <p:nvSpPr>
                <p:cNvPr id="21" name="Google Shape;338;g38e34af980f_0_93">
                  <a:extLst>
                    <a:ext uri="{FF2B5EF4-FFF2-40B4-BE49-F238E27FC236}">
                      <a16:creationId xmlns:a16="http://schemas.microsoft.com/office/drawing/2014/main" id="{93C4F6CA-862A-74B2-7068-B03AB8246A7A}"/>
                    </a:ext>
                  </a:extLst>
                </p:cNvPr>
                <p:cNvSpPr/>
                <p:nvPr/>
              </p:nvSpPr>
              <p:spPr>
                <a:xfrm>
                  <a:off x="8208642" y="4409274"/>
                  <a:ext cx="2099400" cy="1016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strike="noStrike" cap="none" dirty="0">
                      <a:solidFill>
                        <a:schemeClr val="dk2"/>
                      </a:solidFill>
                      <a:latin typeface="Open Sans"/>
                      <a:ea typeface="Open Sans"/>
                      <a:cs typeface="Open Sans"/>
                      <a:sym typeface="Open Sans"/>
                    </a:rPr>
                    <a:t>Other unobserved individual-level vulnerabilities</a:t>
                  </a:r>
                  <a:endParaRPr b="1" i="0" strike="noStrike" cap="none" dirty="0">
                    <a:solidFill>
                      <a:schemeClr val="dk2"/>
                    </a:solidFill>
                    <a:latin typeface="Open Sans"/>
                    <a:ea typeface="Open Sans"/>
                    <a:cs typeface="Open Sans"/>
                    <a:sym typeface="Open Sans"/>
                  </a:endParaRPr>
                </a:p>
              </p:txBody>
            </p:sp>
            <p:grpSp>
              <p:nvGrpSpPr>
                <p:cNvPr id="22" name="Group 21">
                  <a:extLst>
                    <a:ext uri="{FF2B5EF4-FFF2-40B4-BE49-F238E27FC236}">
                      <a16:creationId xmlns:a16="http://schemas.microsoft.com/office/drawing/2014/main" id="{C1D3E2AA-3EC2-18DD-9938-156F9066BBD3}"/>
                    </a:ext>
                  </a:extLst>
                </p:cNvPr>
                <p:cNvGrpSpPr/>
                <p:nvPr/>
              </p:nvGrpSpPr>
              <p:grpSpPr>
                <a:xfrm>
                  <a:off x="8007720" y="1691970"/>
                  <a:ext cx="2845122" cy="2052186"/>
                  <a:chOff x="7028382" y="3377684"/>
                  <a:chExt cx="2845122" cy="2052186"/>
                </a:xfrm>
              </p:grpSpPr>
              <p:sp>
                <p:nvSpPr>
                  <p:cNvPr id="23" name="Google Shape;316;g38e34af980f_0_14">
                    <a:extLst>
                      <a:ext uri="{FF2B5EF4-FFF2-40B4-BE49-F238E27FC236}">
                        <a16:creationId xmlns:a16="http://schemas.microsoft.com/office/drawing/2014/main" id="{145E8DFF-1375-8228-C7D4-6F6A11257419}"/>
                      </a:ext>
                    </a:extLst>
                  </p:cNvPr>
                  <p:cNvSpPr/>
                  <p:nvPr/>
                </p:nvSpPr>
                <p:spPr>
                  <a:xfrm>
                    <a:off x="7361410" y="3377684"/>
                    <a:ext cx="1572768" cy="869502"/>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Marginalization</a:t>
                    </a:r>
                    <a:endParaRPr sz="1050" b="1" i="0" u="none" strike="noStrike" cap="none" dirty="0">
                      <a:solidFill>
                        <a:schemeClr val="dk2"/>
                      </a:solidFill>
                      <a:latin typeface="Open Sans"/>
                      <a:ea typeface="Open Sans"/>
                      <a:cs typeface="Open Sans"/>
                      <a:sym typeface="Open Sans"/>
                    </a:endParaRPr>
                  </a:p>
                </p:txBody>
              </p:sp>
              <p:sp>
                <p:nvSpPr>
                  <p:cNvPr id="24" name="Google Shape;317;g38e34af980f_0_14">
                    <a:extLst>
                      <a:ext uri="{FF2B5EF4-FFF2-40B4-BE49-F238E27FC236}">
                        <a16:creationId xmlns:a16="http://schemas.microsoft.com/office/drawing/2014/main" id="{F97EF839-D875-88E5-70E5-9FBE7FB6912C}"/>
                      </a:ext>
                    </a:extLst>
                  </p:cNvPr>
                  <p:cNvSpPr/>
                  <p:nvPr/>
                </p:nvSpPr>
                <p:spPr>
                  <a:xfrm>
                    <a:off x="8783904" y="4784570"/>
                    <a:ext cx="1089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Order</a:t>
                    </a:r>
                    <a:endParaRPr b="1" i="0" u="none" strike="noStrike" cap="none" dirty="0">
                      <a:solidFill>
                        <a:schemeClr val="dk2"/>
                      </a:solidFill>
                      <a:latin typeface="Open Sans"/>
                      <a:ea typeface="Open Sans"/>
                      <a:cs typeface="Open Sans"/>
                      <a:sym typeface="Open Sans"/>
                    </a:endParaRPr>
                  </a:p>
                </p:txBody>
              </p:sp>
              <p:cxnSp>
                <p:nvCxnSpPr>
                  <p:cNvPr id="25" name="Google Shape;318;g38e34af980f_0_14">
                    <a:extLst>
                      <a:ext uri="{FF2B5EF4-FFF2-40B4-BE49-F238E27FC236}">
                        <a16:creationId xmlns:a16="http://schemas.microsoft.com/office/drawing/2014/main" id="{F44A9A64-374E-5EA0-C691-0AABCCC0C9AC}"/>
                      </a:ext>
                    </a:extLst>
                  </p:cNvPr>
                  <p:cNvCxnSpPr>
                    <a:cxnSpLocks/>
                    <a:stCxn id="23" idx="2"/>
                    <a:endCxn id="24" idx="0"/>
                  </p:cNvCxnSpPr>
                  <p:nvPr/>
                </p:nvCxnSpPr>
                <p:spPr>
                  <a:xfrm>
                    <a:off x="8147794" y="4247186"/>
                    <a:ext cx="1180910" cy="537384"/>
                  </a:xfrm>
                  <a:prstGeom prst="straightConnector1">
                    <a:avLst/>
                  </a:prstGeom>
                  <a:noFill/>
                  <a:ln w="28575" cap="flat" cmpd="sng">
                    <a:solidFill>
                      <a:schemeClr val="dk2"/>
                    </a:solidFill>
                    <a:prstDash val="solid"/>
                    <a:round/>
                    <a:headEnd type="none" w="sm" len="sm"/>
                    <a:tailEnd type="triangle" w="med" len="med"/>
                  </a:ln>
                </p:spPr>
              </p:cxnSp>
              <p:cxnSp>
                <p:nvCxnSpPr>
                  <p:cNvPr id="26" name="Google Shape;322;g38e34af980f_0_14">
                    <a:extLst>
                      <a:ext uri="{FF2B5EF4-FFF2-40B4-BE49-F238E27FC236}">
                        <a16:creationId xmlns:a16="http://schemas.microsoft.com/office/drawing/2014/main" id="{A82739C8-A218-68CA-DA79-D5F2C8646EF4}"/>
                      </a:ext>
                    </a:extLst>
                  </p:cNvPr>
                  <p:cNvCxnSpPr>
                    <a:cxnSpLocks/>
                    <a:stCxn id="23" idx="2"/>
                    <a:endCxn id="17" idx="0"/>
                  </p:cNvCxnSpPr>
                  <p:nvPr/>
                </p:nvCxnSpPr>
                <p:spPr>
                  <a:xfrm flipH="1">
                    <a:off x="7028382" y="4247186"/>
                    <a:ext cx="1119412" cy="537384"/>
                  </a:xfrm>
                  <a:prstGeom prst="straightConnector1">
                    <a:avLst/>
                  </a:prstGeom>
                  <a:noFill/>
                  <a:ln w="28575" cap="flat" cmpd="sng">
                    <a:solidFill>
                      <a:schemeClr val="accent2"/>
                    </a:solidFill>
                    <a:prstDash val="solid"/>
                    <a:round/>
                    <a:headEnd type="none" w="sm" len="sm"/>
                    <a:tailEnd type="triangle" w="med" len="med"/>
                  </a:ln>
                </p:spPr>
              </p:cxnSp>
              <p:cxnSp>
                <p:nvCxnSpPr>
                  <p:cNvPr id="27" name="Google Shape;323;g38e34af980f_0_14">
                    <a:extLst>
                      <a:ext uri="{FF2B5EF4-FFF2-40B4-BE49-F238E27FC236}">
                        <a16:creationId xmlns:a16="http://schemas.microsoft.com/office/drawing/2014/main" id="{4C950156-2600-FDCB-F2B5-9E3D02D22659}"/>
                      </a:ext>
                    </a:extLst>
                  </p:cNvPr>
                  <p:cNvCxnSpPr>
                    <a:cxnSpLocks/>
                    <a:stCxn id="17" idx="3"/>
                    <a:endCxn id="24" idx="1"/>
                  </p:cNvCxnSpPr>
                  <p:nvPr/>
                </p:nvCxnSpPr>
                <p:spPr>
                  <a:xfrm>
                    <a:off x="7573182" y="5107220"/>
                    <a:ext cx="1210722" cy="0"/>
                  </a:xfrm>
                  <a:prstGeom prst="straightConnector1">
                    <a:avLst/>
                  </a:prstGeom>
                  <a:noFill/>
                  <a:ln w="28575" cap="flat" cmpd="sng">
                    <a:solidFill>
                      <a:schemeClr val="accent2"/>
                    </a:solidFill>
                    <a:prstDash val="solid"/>
                    <a:round/>
                    <a:headEnd type="none" w="sm" len="sm"/>
                    <a:tailEnd type="triangle" w="med" len="med"/>
                  </a:ln>
                </p:spPr>
              </p:cxnSp>
            </p:grpSp>
          </p:grpSp>
        </p:grpSp>
        <p:sp>
          <p:nvSpPr>
            <p:cNvPr id="17" name="Google Shape;321;g38e34af980f_0_14">
              <a:extLst>
                <a:ext uri="{FF2B5EF4-FFF2-40B4-BE49-F238E27FC236}">
                  <a16:creationId xmlns:a16="http://schemas.microsoft.com/office/drawing/2014/main" id="{6B9D0195-AD1E-9AB4-FE22-5EB24719AAFE}"/>
                </a:ext>
              </a:extLst>
            </p:cNvPr>
            <p:cNvSpPr/>
            <p:nvPr/>
          </p:nvSpPr>
          <p:spPr>
            <a:xfrm>
              <a:off x="7500671" y="3182746"/>
              <a:ext cx="1089600" cy="6453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Filing</a:t>
              </a:r>
              <a:endParaRPr b="1" i="0" u="none" strike="noStrike" cap="none" dirty="0">
                <a:solidFill>
                  <a:schemeClr val="dk2"/>
                </a:solidFill>
                <a:latin typeface="Open Sans"/>
                <a:ea typeface="Open Sans"/>
                <a:cs typeface="Open Sans"/>
                <a:sym typeface="Open Sans"/>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3896c370de1_0_103"/>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40909"/>
              <a:buNone/>
            </a:pPr>
            <a:r>
              <a:rPr lang="en-US" b="1" dirty="0">
                <a:solidFill>
                  <a:srgbClr val="001C84"/>
                </a:solidFill>
                <a:latin typeface="Open Sans"/>
                <a:ea typeface="Open Sans"/>
                <a:cs typeface="Open Sans"/>
                <a:sym typeface="Open Sans"/>
              </a:rPr>
              <a:t>Collider Bias in Eviction Research</a:t>
            </a:r>
            <a:endParaRPr b="1" dirty="0">
              <a:solidFill>
                <a:srgbClr val="001C84"/>
              </a:solidFill>
              <a:latin typeface="Open Sans"/>
              <a:ea typeface="Open Sans"/>
              <a:cs typeface="Open Sans"/>
              <a:sym typeface="Open Sans"/>
            </a:endParaRPr>
          </a:p>
        </p:txBody>
      </p:sp>
      <p:sp>
        <p:nvSpPr>
          <p:cNvPr id="365" name="Google Shape;365;g3896c370de1_0_103"/>
          <p:cNvSpPr txBox="1">
            <a:spLocks noGrp="1"/>
          </p:cNvSpPr>
          <p:nvPr>
            <p:ph type="body" idx="1"/>
          </p:nvPr>
        </p:nvSpPr>
        <p:spPr>
          <a:xfrm>
            <a:off x="744240" y="1759958"/>
            <a:ext cx="7811836" cy="2735040"/>
          </a:xfrm>
          <a:prstGeom prst="rect">
            <a:avLst/>
          </a:prstGeom>
          <a:noFill/>
          <a:ln>
            <a:noFill/>
          </a:ln>
        </p:spPr>
        <p:txBody>
          <a:bodyPr spcFirstLastPara="1" wrap="square" lIns="91425" tIns="45700" rIns="91425" bIns="45700" anchor="t" anchorCtr="0">
            <a:normAutofit fontScale="92500"/>
          </a:bodyPr>
          <a:lstStyle/>
          <a:p>
            <a:pPr marL="342900" lvl="0" indent="-342900" algn="l" rtl="0">
              <a:lnSpc>
                <a:spcPct val="100000"/>
              </a:lnSpc>
              <a:spcBef>
                <a:spcPts val="1000"/>
              </a:spcBef>
              <a:spcAft>
                <a:spcPts val="0"/>
              </a:spcAft>
              <a:buSzPts val="2378"/>
              <a:buFont typeface="Open Sans"/>
              <a:buChar char="•"/>
            </a:pPr>
            <a:r>
              <a:rPr lang="en-US" sz="2200" dirty="0">
                <a:latin typeface="Open Sans"/>
                <a:ea typeface="Open Sans"/>
                <a:cs typeface="Open Sans"/>
                <a:sym typeface="Open Sans"/>
              </a:rPr>
              <a:t>Without realizing that eviction filing is a </a:t>
            </a:r>
            <a:r>
              <a:rPr lang="en-US" sz="2200" b="1" dirty="0">
                <a:solidFill>
                  <a:srgbClr val="C0504D"/>
                </a:solidFill>
                <a:latin typeface="Open Sans"/>
                <a:ea typeface="Open Sans"/>
                <a:cs typeface="Open Sans"/>
                <a:sym typeface="Open Sans"/>
              </a:rPr>
              <a:t>collider variable</a:t>
            </a:r>
            <a:r>
              <a:rPr lang="en-US" sz="2200" dirty="0">
                <a:latin typeface="Open Sans"/>
                <a:ea typeface="Open Sans"/>
                <a:cs typeface="Open Sans"/>
                <a:sym typeface="Open Sans"/>
              </a:rPr>
              <a:t>, we may </a:t>
            </a:r>
            <a:r>
              <a:rPr lang="en-US" sz="2200" b="1" dirty="0">
                <a:solidFill>
                  <a:srgbClr val="001C84"/>
                </a:solidFill>
                <a:latin typeface="Open Sans"/>
                <a:ea typeface="Open Sans"/>
                <a:cs typeface="Open Sans"/>
                <a:sym typeface="Open Sans"/>
              </a:rPr>
              <a:t>inaccurately</a:t>
            </a:r>
            <a:r>
              <a:rPr lang="en-US" sz="2200" dirty="0">
                <a:solidFill>
                  <a:schemeClr val="tx1"/>
                </a:solidFill>
                <a:latin typeface="Open Sans"/>
                <a:ea typeface="Open Sans"/>
                <a:cs typeface="Open Sans"/>
                <a:sym typeface="Open Sans"/>
              </a:rPr>
              <a:t> interpret results as White individuals being more likely to receive an eviction order, thus concluding that </a:t>
            </a:r>
            <a:r>
              <a:rPr lang="en-US" sz="2200" b="1" dirty="0">
                <a:solidFill>
                  <a:srgbClr val="001C84"/>
                </a:solidFill>
                <a:latin typeface="Open Sans"/>
                <a:ea typeface="Open Sans"/>
                <a:cs typeface="Open Sans"/>
                <a:sym typeface="Open Sans"/>
              </a:rPr>
              <a:t>marginalization does not influence eviction outcomes</a:t>
            </a:r>
            <a:endParaRPr dirty="0">
              <a:solidFill>
                <a:srgbClr val="001C84"/>
              </a:solidFill>
            </a:endParaRPr>
          </a:p>
          <a:p>
            <a:pPr marL="342900" lvl="0" indent="-342900" algn="l" rtl="0">
              <a:lnSpc>
                <a:spcPct val="100000"/>
              </a:lnSpc>
              <a:spcBef>
                <a:spcPts val="1000"/>
              </a:spcBef>
              <a:spcAft>
                <a:spcPts val="0"/>
              </a:spcAft>
              <a:buSzPts val="2378"/>
              <a:buFont typeface="Open Sans"/>
              <a:buChar char="•"/>
            </a:pPr>
            <a:r>
              <a:rPr lang="en-US" sz="2200" dirty="0">
                <a:latin typeface="Open Sans"/>
                <a:ea typeface="Open Sans"/>
                <a:cs typeface="Open Sans"/>
                <a:sym typeface="Open Sans"/>
              </a:rPr>
              <a:t>Using graphical models can help scrutinize our data and assumptions for colliders and </a:t>
            </a:r>
            <a:r>
              <a:rPr lang="en-US" sz="2200" b="1" dirty="0">
                <a:solidFill>
                  <a:srgbClr val="001C84"/>
                </a:solidFill>
                <a:latin typeface="Open Sans"/>
                <a:ea typeface="Open Sans"/>
                <a:cs typeface="Open Sans"/>
                <a:sym typeface="Open Sans"/>
              </a:rPr>
              <a:t>more accurately understand the data and the social system that underlies the data</a:t>
            </a:r>
            <a:endParaRPr sz="2200"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3F1E253F-54B0-ED70-F022-BC5248ACA5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pic>
        <p:nvPicPr>
          <p:cNvPr id="228" name="Google Shape;228;g3896c370de1_0_126"/>
          <p:cNvPicPr preferRelativeResize="0"/>
          <p:nvPr/>
        </p:nvPicPr>
        <p:blipFill rotWithShape="1">
          <a:blip r:embed="rId3">
            <a:alphaModFix/>
          </a:blip>
          <a:srcRect/>
          <a:stretch/>
        </p:blipFill>
        <p:spPr>
          <a:xfrm>
            <a:off x="4778170" y="4462873"/>
            <a:ext cx="5808736" cy="1739524"/>
          </a:xfrm>
          <a:prstGeom prst="rect">
            <a:avLst/>
          </a:prstGeom>
          <a:noFill/>
          <a:ln w="19050" cap="flat" cmpd="sng">
            <a:solidFill>
              <a:schemeClr val="dk2"/>
            </a:solidFill>
            <a:prstDash val="solid"/>
            <a:round/>
            <a:headEnd type="none" w="sm" len="sm"/>
            <a:tailEnd type="none" w="sm" len="sm"/>
          </a:ln>
        </p:spPr>
      </p:pic>
      <p:sp>
        <p:nvSpPr>
          <p:cNvPr id="4" name="TextBox 3">
            <a:extLst>
              <a:ext uri="{FF2B5EF4-FFF2-40B4-BE49-F238E27FC236}">
                <a16:creationId xmlns:a16="http://schemas.microsoft.com/office/drawing/2014/main" id="{C719B93D-6613-3362-3FB4-31E170CAC465}"/>
              </a:ext>
            </a:extLst>
          </p:cNvPr>
          <p:cNvSpPr txBox="1"/>
          <p:nvPr/>
        </p:nvSpPr>
        <p:spPr>
          <a:xfrm>
            <a:off x="1082842" y="4985278"/>
            <a:ext cx="3351998" cy="646331"/>
          </a:xfrm>
          <a:prstGeom prst="rect">
            <a:avLst/>
          </a:prstGeom>
          <a:noFill/>
        </p:spPr>
        <p:txBody>
          <a:bodyPr wrap="square">
            <a:spAutoFit/>
          </a:bodyPr>
          <a:lstStyle/>
          <a:p>
            <a:r>
              <a:rPr lang="en-US" sz="1800" dirty="0">
                <a:latin typeface="Open Sans"/>
                <a:ea typeface="Open Sans"/>
                <a:cs typeface="Open Sans"/>
                <a:sym typeface="Open Sans"/>
              </a:rPr>
              <a:t>Note how the authors describe the study findings:</a:t>
            </a:r>
            <a:endParaRPr lang="en-US" sz="1800" dirty="0"/>
          </a:p>
        </p:txBody>
      </p:sp>
      <p:sp>
        <p:nvSpPr>
          <p:cNvPr id="6" name="TextBox 5">
            <a:extLst>
              <a:ext uri="{FF2B5EF4-FFF2-40B4-BE49-F238E27FC236}">
                <a16:creationId xmlns:a16="http://schemas.microsoft.com/office/drawing/2014/main" id="{3A168688-30C7-F144-EF01-A9C01D4CB9A4}"/>
              </a:ext>
            </a:extLst>
          </p:cNvPr>
          <p:cNvSpPr txBox="1"/>
          <p:nvPr/>
        </p:nvSpPr>
        <p:spPr>
          <a:xfrm>
            <a:off x="4310674" y="6218072"/>
            <a:ext cx="7101037" cy="480131"/>
          </a:xfrm>
          <a:prstGeom prst="rect">
            <a:avLst/>
          </a:prstGeom>
          <a:noFill/>
        </p:spPr>
        <p:txBody>
          <a:bodyPr wrap="square">
            <a:spAutoFit/>
          </a:bodyPr>
          <a:lstStyle/>
          <a:p>
            <a:pPr marL="342900" lvl="0" indent="0" algn="l" rtl="0">
              <a:lnSpc>
                <a:spcPct val="80000"/>
              </a:lnSpc>
              <a:spcBef>
                <a:spcPts val="1000"/>
              </a:spcBef>
              <a:spcAft>
                <a:spcPts val="0"/>
              </a:spcAft>
              <a:buSzPts val="1800"/>
              <a:buNone/>
            </a:pPr>
            <a:r>
              <a:rPr lang="en-US" sz="1050" dirty="0">
                <a:latin typeface="Open Sans" panose="020B0606030504020204" pitchFamily="34" charset="0"/>
                <a:ea typeface="Open Sans" panose="020B0606030504020204" pitchFamily="34" charset="0"/>
                <a:cs typeface="Open Sans" panose="020B0606030504020204" pitchFamily="34" charset="0"/>
                <a:sym typeface="Open Sans"/>
              </a:rPr>
              <a:t>Richter, F. G. C., Coulton, C., Urban, A., &amp; Steh, S. (2021). An Integrated Data System Lens Into Evictions and Their Effects. </a:t>
            </a:r>
            <a:r>
              <a:rPr lang="en-US" sz="1050" i="1" dirty="0">
                <a:latin typeface="Open Sans" panose="020B0606030504020204" pitchFamily="34" charset="0"/>
                <a:ea typeface="Open Sans" panose="020B0606030504020204" pitchFamily="34" charset="0"/>
                <a:cs typeface="Open Sans" panose="020B0606030504020204" pitchFamily="34" charset="0"/>
                <a:sym typeface="Open Sans"/>
              </a:rPr>
              <a:t>Housing Policy Debate</a:t>
            </a:r>
            <a:r>
              <a:rPr lang="en-US" sz="1050" dirty="0">
                <a:latin typeface="Open Sans" panose="020B0606030504020204" pitchFamily="34" charset="0"/>
                <a:ea typeface="Open Sans" panose="020B0606030504020204" pitchFamily="34" charset="0"/>
                <a:cs typeface="Open Sans" panose="020B0606030504020204" pitchFamily="34" charset="0"/>
                <a:sym typeface="Open Sans"/>
              </a:rPr>
              <a:t>, 31(3–5), 762–784. </a:t>
            </a:r>
            <a:r>
              <a:rPr lang="en-US" sz="1050" u="sng" dirty="0">
                <a:solidFill>
                  <a:schemeClr val="hlink"/>
                </a:solidFill>
                <a:latin typeface="Open Sans" panose="020B0606030504020204" pitchFamily="34" charset="0"/>
                <a:ea typeface="Open Sans" panose="020B0606030504020204" pitchFamily="34" charset="0"/>
                <a:cs typeface="Open Sans" panose="020B0606030504020204" pitchFamily="34" charset="0"/>
                <a:sym typeface="Open Sans"/>
                <a:hlinkClick r:id="rId4"/>
              </a:rPr>
              <a:t>https://doi.org/10.1080/10511482.2021.1879201</a:t>
            </a:r>
            <a:endParaRPr lang="en-US" sz="1050" dirty="0">
              <a:latin typeface="Open Sans" panose="020B0606030504020204" pitchFamily="34" charset="0"/>
              <a:ea typeface="Open Sans" panose="020B0606030504020204" pitchFamily="34" charset="0"/>
              <a:cs typeface="Open Sans" panose="020B0606030504020204" pitchFamily="34" charset="0"/>
              <a:sym typeface="Open Sans"/>
            </a:endParaRPr>
          </a:p>
        </p:txBody>
      </p:sp>
      <p:grpSp>
        <p:nvGrpSpPr>
          <p:cNvPr id="17" name="Group 16">
            <a:extLst>
              <a:ext uri="{FF2B5EF4-FFF2-40B4-BE49-F238E27FC236}">
                <a16:creationId xmlns:a16="http://schemas.microsoft.com/office/drawing/2014/main" id="{1C50B897-E738-CC2E-E9B6-7C37932E7CCE}"/>
              </a:ext>
            </a:extLst>
          </p:cNvPr>
          <p:cNvGrpSpPr/>
          <p:nvPr/>
        </p:nvGrpSpPr>
        <p:grpSpPr>
          <a:xfrm>
            <a:off x="8628717" y="287457"/>
            <a:ext cx="3389922" cy="3733404"/>
            <a:chOff x="7500671" y="1775860"/>
            <a:chExt cx="3389922" cy="3733404"/>
          </a:xfrm>
        </p:grpSpPr>
        <p:grpSp>
          <p:nvGrpSpPr>
            <p:cNvPr id="18" name="Group 17">
              <a:extLst>
                <a:ext uri="{FF2B5EF4-FFF2-40B4-BE49-F238E27FC236}">
                  <a16:creationId xmlns:a16="http://schemas.microsoft.com/office/drawing/2014/main" id="{9B22563A-9D3A-2CAE-8B48-069EDB9EAC2B}"/>
                </a:ext>
              </a:extLst>
            </p:cNvPr>
            <p:cNvGrpSpPr/>
            <p:nvPr/>
          </p:nvGrpSpPr>
          <p:grpSpPr>
            <a:xfrm>
              <a:off x="8045471" y="1775860"/>
              <a:ext cx="2845122" cy="3733404"/>
              <a:chOff x="8007720" y="1691970"/>
              <a:chExt cx="2845122" cy="3733404"/>
            </a:xfrm>
          </p:grpSpPr>
          <p:cxnSp>
            <p:nvCxnSpPr>
              <p:cNvPr id="20" name="Google Shape;339;g38e34af980f_0_93">
                <a:extLst>
                  <a:ext uri="{FF2B5EF4-FFF2-40B4-BE49-F238E27FC236}">
                    <a16:creationId xmlns:a16="http://schemas.microsoft.com/office/drawing/2014/main" id="{C9A773EA-E860-DC90-B993-259A4CCE2A0D}"/>
                  </a:ext>
                </a:extLst>
              </p:cNvPr>
              <p:cNvCxnSpPr>
                <a:cxnSpLocks/>
                <a:stCxn id="23" idx="0"/>
                <a:endCxn id="19" idx="2"/>
              </p:cNvCxnSpPr>
              <p:nvPr/>
            </p:nvCxnSpPr>
            <p:spPr>
              <a:xfrm flipH="1" flipV="1">
                <a:off x="8007720" y="3744156"/>
                <a:ext cx="1250622" cy="665118"/>
              </a:xfrm>
              <a:prstGeom prst="straightConnector1">
                <a:avLst/>
              </a:prstGeom>
              <a:noFill/>
              <a:ln w="28575" cap="flat" cmpd="sng">
                <a:solidFill>
                  <a:srgbClr val="C0504D"/>
                </a:solidFill>
                <a:prstDash val="solid"/>
                <a:round/>
                <a:headEnd type="none" w="sm" len="sm"/>
                <a:tailEnd type="triangle" w="med" len="med"/>
              </a:ln>
            </p:spPr>
          </p:cxnSp>
          <p:cxnSp>
            <p:nvCxnSpPr>
              <p:cNvPr id="21" name="Google Shape;340;g38e34af980f_0_93">
                <a:extLst>
                  <a:ext uri="{FF2B5EF4-FFF2-40B4-BE49-F238E27FC236}">
                    <a16:creationId xmlns:a16="http://schemas.microsoft.com/office/drawing/2014/main" id="{DD7FD798-14E1-F00B-3E69-47D3E72031FF}"/>
                  </a:ext>
                </a:extLst>
              </p:cNvPr>
              <p:cNvCxnSpPr>
                <a:cxnSpLocks/>
                <a:stCxn id="23" idx="0"/>
                <a:endCxn id="26" idx="2"/>
              </p:cNvCxnSpPr>
              <p:nvPr/>
            </p:nvCxnSpPr>
            <p:spPr>
              <a:xfrm flipV="1">
                <a:off x="9258342" y="3744156"/>
                <a:ext cx="1049700" cy="665118"/>
              </a:xfrm>
              <a:prstGeom prst="straightConnector1">
                <a:avLst/>
              </a:prstGeom>
              <a:noFill/>
              <a:ln w="28575" cap="flat" cmpd="sng">
                <a:solidFill>
                  <a:schemeClr val="bg2"/>
                </a:solidFill>
                <a:prstDash val="solid"/>
                <a:round/>
                <a:headEnd type="none" w="sm" len="sm"/>
                <a:tailEnd type="triangle" w="med" len="med"/>
              </a:ln>
            </p:spPr>
          </p:cxnSp>
          <p:grpSp>
            <p:nvGrpSpPr>
              <p:cNvPr id="22" name="Group 21">
                <a:extLst>
                  <a:ext uri="{FF2B5EF4-FFF2-40B4-BE49-F238E27FC236}">
                    <a16:creationId xmlns:a16="http://schemas.microsoft.com/office/drawing/2014/main" id="{BB77D1BF-70E6-BC4C-BEE4-71390C107319}"/>
                  </a:ext>
                </a:extLst>
              </p:cNvPr>
              <p:cNvGrpSpPr/>
              <p:nvPr/>
            </p:nvGrpSpPr>
            <p:grpSpPr>
              <a:xfrm>
                <a:off x="8007720" y="1691970"/>
                <a:ext cx="2845122" cy="3733404"/>
                <a:chOff x="8007720" y="1691970"/>
                <a:chExt cx="2845122" cy="3733404"/>
              </a:xfrm>
            </p:grpSpPr>
            <p:sp>
              <p:nvSpPr>
                <p:cNvPr id="23" name="Google Shape;338;g38e34af980f_0_93">
                  <a:extLst>
                    <a:ext uri="{FF2B5EF4-FFF2-40B4-BE49-F238E27FC236}">
                      <a16:creationId xmlns:a16="http://schemas.microsoft.com/office/drawing/2014/main" id="{2FCA93F8-5AA7-B121-3FC9-ED6AB2351E41}"/>
                    </a:ext>
                  </a:extLst>
                </p:cNvPr>
                <p:cNvSpPr/>
                <p:nvPr/>
              </p:nvSpPr>
              <p:spPr>
                <a:xfrm>
                  <a:off x="8208642" y="4409274"/>
                  <a:ext cx="2099400" cy="1016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strike="noStrike" cap="none" dirty="0">
                      <a:solidFill>
                        <a:schemeClr val="dk2"/>
                      </a:solidFill>
                      <a:latin typeface="Open Sans"/>
                      <a:ea typeface="Open Sans"/>
                      <a:cs typeface="Open Sans"/>
                      <a:sym typeface="Open Sans"/>
                    </a:rPr>
                    <a:t>Other unobserved individual-level vulnerabilities</a:t>
                  </a:r>
                  <a:endParaRPr b="1" i="0" strike="noStrike" cap="none" dirty="0">
                    <a:solidFill>
                      <a:schemeClr val="dk2"/>
                    </a:solidFill>
                    <a:latin typeface="Open Sans"/>
                    <a:ea typeface="Open Sans"/>
                    <a:cs typeface="Open Sans"/>
                    <a:sym typeface="Open Sans"/>
                  </a:endParaRPr>
                </a:p>
              </p:txBody>
            </p:sp>
            <p:grpSp>
              <p:nvGrpSpPr>
                <p:cNvPr id="24" name="Group 23">
                  <a:extLst>
                    <a:ext uri="{FF2B5EF4-FFF2-40B4-BE49-F238E27FC236}">
                      <a16:creationId xmlns:a16="http://schemas.microsoft.com/office/drawing/2014/main" id="{0C42A1A0-BC7E-2AE2-6556-7253BC5FC073}"/>
                    </a:ext>
                  </a:extLst>
                </p:cNvPr>
                <p:cNvGrpSpPr/>
                <p:nvPr/>
              </p:nvGrpSpPr>
              <p:grpSpPr>
                <a:xfrm>
                  <a:off x="8007720" y="1691970"/>
                  <a:ext cx="2845122" cy="2052186"/>
                  <a:chOff x="7028382" y="3377684"/>
                  <a:chExt cx="2845122" cy="2052186"/>
                </a:xfrm>
              </p:grpSpPr>
              <p:sp>
                <p:nvSpPr>
                  <p:cNvPr id="25" name="Google Shape;316;g38e34af980f_0_14">
                    <a:extLst>
                      <a:ext uri="{FF2B5EF4-FFF2-40B4-BE49-F238E27FC236}">
                        <a16:creationId xmlns:a16="http://schemas.microsoft.com/office/drawing/2014/main" id="{EDDE6D1A-3444-EFAC-69E6-2FF9BCD04B25}"/>
                      </a:ext>
                    </a:extLst>
                  </p:cNvPr>
                  <p:cNvSpPr/>
                  <p:nvPr/>
                </p:nvSpPr>
                <p:spPr>
                  <a:xfrm>
                    <a:off x="7361410" y="3377684"/>
                    <a:ext cx="1572768" cy="869502"/>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200" b="1" i="0" u="none" strike="noStrike" cap="none" dirty="0">
                        <a:solidFill>
                          <a:schemeClr val="dk2"/>
                        </a:solidFill>
                        <a:latin typeface="Open Sans"/>
                        <a:ea typeface="Open Sans"/>
                        <a:cs typeface="Open Sans"/>
                        <a:sym typeface="Open Sans"/>
                      </a:rPr>
                      <a:t>Marginalization</a:t>
                    </a:r>
                    <a:endParaRPr sz="1050" b="1" i="0" u="none" strike="noStrike" cap="none" dirty="0">
                      <a:solidFill>
                        <a:schemeClr val="dk2"/>
                      </a:solidFill>
                      <a:latin typeface="Open Sans"/>
                      <a:ea typeface="Open Sans"/>
                      <a:cs typeface="Open Sans"/>
                      <a:sym typeface="Open Sans"/>
                    </a:endParaRPr>
                  </a:p>
                </p:txBody>
              </p:sp>
              <p:sp>
                <p:nvSpPr>
                  <p:cNvPr id="26" name="Google Shape;317;g38e34af980f_0_14">
                    <a:extLst>
                      <a:ext uri="{FF2B5EF4-FFF2-40B4-BE49-F238E27FC236}">
                        <a16:creationId xmlns:a16="http://schemas.microsoft.com/office/drawing/2014/main" id="{578AFF06-357A-FAC6-E377-402F8819ED89}"/>
                      </a:ext>
                    </a:extLst>
                  </p:cNvPr>
                  <p:cNvSpPr/>
                  <p:nvPr/>
                </p:nvSpPr>
                <p:spPr>
                  <a:xfrm>
                    <a:off x="8783904" y="4784570"/>
                    <a:ext cx="1089600" cy="645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Order</a:t>
                    </a:r>
                    <a:endParaRPr b="1" i="0" u="none" strike="noStrike" cap="none" dirty="0">
                      <a:solidFill>
                        <a:schemeClr val="dk2"/>
                      </a:solidFill>
                      <a:latin typeface="Open Sans"/>
                      <a:ea typeface="Open Sans"/>
                      <a:cs typeface="Open Sans"/>
                      <a:sym typeface="Open Sans"/>
                    </a:endParaRPr>
                  </a:p>
                </p:txBody>
              </p:sp>
              <p:cxnSp>
                <p:nvCxnSpPr>
                  <p:cNvPr id="27" name="Google Shape;318;g38e34af980f_0_14">
                    <a:extLst>
                      <a:ext uri="{FF2B5EF4-FFF2-40B4-BE49-F238E27FC236}">
                        <a16:creationId xmlns:a16="http://schemas.microsoft.com/office/drawing/2014/main" id="{288E5944-EF2E-581F-B819-52FA42EBBDBF}"/>
                      </a:ext>
                    </a:extLst>
                  </p:cNvPr>
                  <p:cNvCxnSpPr>
                    <a:cxnSpLocks/>
                    <a:stCxn id="25" idx="2"/>
                    <a:endCxn id="26" idx="0"/>
                  </p:cNvCxnSpPr>
                  <p:nvPr/>
                </p:nvCxnSpPr>
                <p:spPr>
                  <a:xfrm>
                    <a:off x="8147794" y="4247186"/>
                    <a:ext cx="1180910" cy="537384"/>
                  </a:xfrm>
                  <a:prstGeom prst="straightConnector1">
                    <a:avLst/>
                  </a:prstGeom>
                  <a:noFill/>
                  <a:ln w="28575" cap="flat" cmpd="sng">
                    <a:solidFill>
                      <a:schemeClr val="dk2"/>
                    </a:solidFill>
                    <a:prstDash val="solid"/>
                    <a:round/>
                    <a:headEnd type="none" w="sm" len="sm"/>
                    <a:tailEnd type="triangle" w="med" len="med"/>
                  </a:ln>
                </p:spPr>
              </p:cxnSp>
              <p:cxnSp>
                <p:nvCxnSpPr>
                  <p:cNvPr id="28" name="Google Shape;322;g38e34af980f_0_14">
                    <a:extLst>
                      <a:ext uri="{FF2B5EF4-FFF2-40B4-BE49-F238E27FC236}">
                        <a16:creationId xmlns:a16="http://schemas.microsoft.com/office/drawing/2014/main" id="{81B0687C-BFA6-E231-BF58-9F5AA98D852C}"/>
                      </a:ext>
                    </a:extLst>
                  </p:cNvPr>
                  <p:cNvCxnSpPr>
                    <a:cxnSpLocks/>
                    <a:stCxn id="25" idx="2"/>
                    <a:endCxn id="19" idx="0"/>
                  </p:cNvCxnSpPr>
                  <p:nvPr/>
                </p:nvCxnSpPr>
                <p:spPr>
                  <a:xfrm flipH="1">
                    <a:off x="7028382" y="4247186"/>
                    <a:ext cx="1119412" cy="537384"/>
                  </a:xfrm>
                  <a:prstGeom prst="straightConnector1">
                    <a:avLst/>
                  </a:prstGeom>
                  <a:noFill/>
                  <a:ln w="28575" cap="flat" cmpd="sng">
                    <a:solidFill>
                      <a:schemeClr val="accent2"/>
                    </a:solidFill>
                    <a:prstDash val="solid"/>
                    <a:round/>
                    <a:headEnd type="none" w="sm" len="sm"/>
                    <a:tailEnd type="triangle" w="med" len="med"/>
                  </a:ln>
                </p:spPr>
              </p:cxnSp>
              <p:cxnSp>
                <p:nvCxnSpPr>
                  <p:cNvPr id="29" name="Google Shape;323;g38e34af980f_0_14">
                    <a:extLst>
                      <a:ext uri="{FF2B5EF4-FFF2-40B4-BE49-F238E27FC236}">
                        <a16:creationId xmlns:a16="http://schemas.microsoft.com/office/drawing/2014/main" id="{D993EFAD-15D6-9CCB-A891-DA9EAFA8C35A}"/>
                      </a:ext>
                    </a:extLst>
                  </p:cNvPr>
                  <p:cNvCxnSpPr>
                    <a:cxnSpLocks/>
                    <a:stCxn id="19" idx="3"/>
                    <a:endCxn id="26" idx="1"/>
                  </p:cNvCxnSpPr>
                  <p:nvPr/>
                </p:nvCxnSpPr>
                <p:spPr>
                  <a:xfrm>
                    <a:off x="7573182" y="5107220"/>
                    <a:ext cx="1210722" cy="0"/>
                  </a:xfrm>
                  <a:prstGeom prst="straightConnector1">
                    <a:avLst/>
                  </a:prstGeom>
                  <a:noFill/>
                  <a:ln w="28575" cap="flat" cmpd="sng">
                    <a:solidFill>
                      <a:schemeClr val="accent2"/>
                    </a:solidFill>
                    <a:prstDash val="solid"/>
                    <a:round/>
                    <a:headEnd type="none" w="sm" len="sm"/>
                    <a:tailEnd type="triangle" w="med" len="med"/>
                  </a:ln>
                </p:spPr>
              </p:cxnSp>
            </p:grpSp>
          </p:grpSp>
        </p:grpSp>
        <p:sp>
          <p:nvSpPr>
            <p:cNvPr id="19" name="Google Shape;321;g38e34af980f_0_14">
              <a:extLst>
                <a:ext uri="{FF2B5EF4-FFF2-40B4-BE49-F238E27FC236}">
                  <a16:creationId xmlns:a16="http://schemas.microsoft.com/office/drawing/2014/main" id="{0968F1A7-C416-AD24-5375-BF724862A6C1}"/>
                </a:ext>
              </a:extLst>
            </p:cNvPr>
            <p:cNvSpPr/>
            <p:nvPr/>
          </p:nvSpPr>
          <p:spPr>
            <a:xfrm>
              <a:off x="7500671" y="3182746"/>
              <a:ext cx="1089600" cy="645300"/>
            </a:xfrm>
            <a:prstGeom prst="roundRect">
              <a:avLst>
                <a:gd name="adj" fmla="val 16667"/>
              </a:avLst>
            </a:prstGeom>
            <a:solidFill>
              <a:srgbClr val="D9959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b="1" i="0" u="none" strike="noStrike" cap="none" dirty="0">
                  <a:solidFill>
                    <a:schemeClr val="dk2"/>
                  </a:solidFill>
                  <a:latin typeface="Open Sans"/>
                  <a:ea typeface="Open Sans"/>
                  <a:cs typeface="Open Sans"/>
                  <a:sym typeface="Open Sans"/>
                </a:rPr>
                <a:t>Eviction Filing</a:t>
              </a:r>
              <a:endParaRPr b="1" i="0" u="none" strike="noStrike" cap="none" dirty="0">
                <a:solidFill>
                  <a:schemeClr val="dk2"/>
                </a:solidFill>
                <a:latin typeface="Open Sans"/>
                <a:ea typeface="Open Sans"/>
                <a:cs typeface="Open Sans"/>
                <a:sym typeface="Open Sans"/>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521</TotalTime>
  <Words>3246</Words>
  <Application>Microsoft Office PowerPoint</Application>
  <PresentationFormat>Widescreen</PresentationFormat>
  <Paragraphs>339</Paragraphs>
  <Slides>27</Slides>
  <Notes>27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27</vt:i4>
      </vt:variant>
    </vt:vector>
  </HeadingPairs>
  <TitlesOfParts>
    <vt:vector size="33" baseType="lpstr">
      <vt:lpstr>Calibri</vt:lpstr>
      <vt:lpstr>Open Sans</vt:lpstr>
      <vt:lpstr>Play</vt:lpstr>
      <vt:lpstr>Arial</vt:lpstr>
      <vt:lpstr>Office Theme</vt:lpstr>
      <vt:lpstr>1_Office Theme</vt:lpstr>
      <vt:lpstr>An illustration of  Collider Bias  in housing research</vt:lpstr>
      <vt:lpstr>PowerPoint Presentation</vt:lpstr>
      <vt:lpstr>PowerPoint Presentation</vt:lpstr>
      <vt:lpstr>PowerPoint Presentation</vt:lpstr>
      <vt:lpstr>Introduction</vt:lpstr>
      <vt:lpstr>Collider Bias in Research</vt:lpstr>
      <vt:lpstr>Collider Bias in Research</vt:lpstr>
      <vt:lpstr>Collider Bias in Research</vt:lpstr>
      <vt:lpstr>Simulated Data Example</vt:lpstr>
      <vt:lpstr>Simulated Data Example</vt:lpstr>
      <vt:lpstr>Simulated Data Example</vt:lpstr>
      <vt:lpstr>Simulated Data Example</vt:lpstr>
      <vt:lpstr>Estimates of the impact of marginalization on  the chance of graduating high school (0-1 scale) for models with and without collider bias</vt:lpstr>
      <vt:lpstr>Consequences of Ignoring Collider Bias</vt:lpstr>
      <vt:lpstr>Consequences of Ignoring Collider Bias</vt:lpstr>
      <vt:lpstr>What to do about it?</vt:lpstr>
      <vt:lpstr>What to do about it?</vt:lpstr>
      <vt:lpstr>References</vt:lpstr>
      <vt:lpstr>Appendix: More Examples of Collider Bias</vt:lpstr>
      <vt:lpstr>Low Birthweight Paradox</vt:lpstr>
      <vt:lpstr>Collider Bias</vt:lpstr>
      <vt:lpstr>Understanding the Low Birthweight Paradox</vt:lpstr>
      <vt:lpstr>Low Birthweight Paradox</vt:lpstr>
      <vt:lpstr>Collider Bias in Eviction Research</vt:lpstr>
      <vt:lpstr>Collider Bias in Eviction Research</vt:lpstr>
      <vt:lpstr>Collider Bias in Eviction Research</vt:lpstr>
      <vt:lpstr>Collider Bias in Eviction Research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Christine Marlow</cp:lastModifiedBy>
  <cp:revision>14</cp:revision>
  <cp:lastPrinted>2026-01-21T17:20:08Z</cp:lastPrinted>
  <dcterms:created xsi:type="dcterms:W3CDTF">2012-08-24T00:53:15Z</dcterms:created>
  <dcterms:modified xsi:type="dcterms:W3CDTF">2026-02-10T19:27:46Z</dcterms:modified>
</cp:coreProperties>
</file>