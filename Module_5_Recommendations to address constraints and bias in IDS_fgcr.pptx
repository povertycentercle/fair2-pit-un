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7" r:id="rId2"/>
    <p:sldId id="278" r:id="rId3"/>
    <p:sldId id="273" r:id="rId4"/>
    <p:sldId id="259" r:id="rId5"/>
    <p:sldId id="260" r:id="rId6"/>
    <p:sldId id="271" r:id="rId7"/>
    <p:sldId id="262" r:id="rId8"/>
    <p:sldId id="263" r:id="rId9"/>
    <p:sldId id="264" r:id="rId10"/>
    <p:sldId id="265" r:id="rId11"/>
    <p:sldId id="272" r:id="rId12"/>
    <p:sldId id="267" r:id="rId13"/>
    <p:sldId id="268" r:id="rId14"/>
    <p:sldId id="269" r:id="rId15"/>
    <p:sldId id="274" r:id="rId16"/>
  </p:sldIdLst>
  <p:sldSz cx="12192000" cy="6858000"/>
  <p:notesSz cx="6858000" cy="9144000"/>
  <p:embeddedFontLst>
    <p:embeddedFont>
      <p:font typeface="Open Sans" panose="020B0606030504020204" pitchFamily="34" charset="0"/>
      <p:regular r:id="rId18"/>
      <p:bold r:id="rId19"/>
      <p:italic r:id="rId20"/>
      <p:boldItalic r:id="rId21"/>
    </p:embeddedFont>
    <p:embeddedFont>
      <p:font typeface="Play"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qVhmyYCkEMK3ea5pPJZ+lKCbv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C84"/>
    <a:srgbClr val="FFDC5D"/>
    <a:srgbClr val="EDAA00"/>
    <a:srgbClr val="D63D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a31e955e2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g3a31e955e22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0296D151-F207-B01E-730A-466F981B05A6}"/>
            </a:ext>
          </a:extLst>
        </p:cNvPr>
        <p:cNvGrpSpPr/>
        <p:nvPr/>
      </p:nvGrpSpPr>
      <p:grpSpPr>
        <a:xfrm>
          <a:off x="0" y="0"/>
          <a:ext cx="0" cy="0"/>
          <a:chOff x="0" y="0"/>
          <a:chExt cx="0" cy="0"/>
        </a:xfrm>
      </p:grpSpPr>
      <p:sp>
        <p:nvSpPr>
          <p:cNvPr id="113" name="Google Shape;113;p2:notes">
            <a:extLst>
              <a:ext uri="{FF2B5EF4-FFF2-40B4-BE49-F238E27FC236}">
                <a16:creationId xmlns:a16="http://schemas.microsoft.com/office/drawing/2014/main" id="{2BF54882-5265-D6F8-51B0-D2971CF4D6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114" name="Google Shape;114;p2:notes">
            <a:extLst>
              <a:ext uri="{FF2B5EF4-FFF2-40B4-BE49-F238E27FC236}">
                <a16:creationId xmlns:a16="http://schemas.microsoft.com/office/drawing/2014/main" id="{FBC90804-52DB-3B25-044B-8D8CEBFB0C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0412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E2251F8-62D8-85B7-97C7-EABF00C770C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C7FAD86-8ECC-854D-C108-8814CB403F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ACC31418-12E4-6AA0-961E-E3B49E65E4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1061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1B809ED3-3100-C3F6-2C04-11519026A4D5}"/>
            </a:ext>
          </a:extLst>
        </p:cNvPr>
        <p:cNvGrpSpPr/>
        <p:nvPr/>
      </p:nvGrpSpPr>
      <p:grpSpPr>
        <a:xfrm>
          <a:off x="0" y="0"/>
          <a:ext cx="0" cy="0"/>
          <a:chOff x="0" y="0"/>
          <a:chExt cx="0" cy="0"/>
        </a:xfrm>
      </p:grpSpPr>
      <p:sp>
        <p:nvSpPr>
          <p:cNvPr id="147" name="Google Shape;147;p4:notes">
            <a:extLst>
              <a:ext uri="{FF2B5EF4-FFF2-40B4-BE49-F238E27FC236}">
                <a16:creationId xmlns:a16="http://schemas.microsoft.com/office/drawing/2014/main" id="{8C7E31E7-34C0-413B-1A79-FED31AAB97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4:notes">
            <a:extLst>
              <a:ext uri="{FF2B5EF4-FFF2-40B4-BE49-F238E27FC236}">
                <a16:creationId xmlns:a16="http://schemas.microsoft.com/office/drawing/2014/main" id="{212532EE-8FF1-1E57-B96B-FF5C0C389B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1559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9" name="Google Shape;1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 name="Google Shape;2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 name="Google Shape;26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5E50E605-88B1-407B-4813-B2F52E7F67D0}"/>
            </a:ext>
          </a:extLst>
        </p:cNvPr>
        <p:cNvGrpSpPr/>
        <p:nvPr/>
      </p:nvGrpSpPr>
      <p:grpSpPr>
        <a:xfrm>
          <a:off x="0" y="0"/>
          <a:ext cx="0" cy="0"/>
          <a:chOff x="0" y="0"/>
          <a:chExt cx="0" cy="0"/>
        </a:xfrm>
      </p:grpSpPr>
      <p:sp>
        <p:nvSpPr>
          <p:cNvPr id="267" name="Google Shape;267;p9:notes">
            <a:extLst>
              <a:ext uri="{FF2B5EF4-FFF2-40B4-BE49-F238E27FC236}">
                <a16:creationId xmlns:a16="http://schemas.microsoft.com/office/drawing/2014/main" id="{B9557A58-5E28-545D-DD18-80538F7218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 name="Google Shape;268;p9:notes">
            <a:extLst>
              <a:ext uri="{FF2B5EF4-FFF2-40B4-BE49-F238E27FC236}">
                <a16:creationId xmlns:a16="http://schemas.microsoft.com/office/drawing/2014/main" id="{7FA360A3-2D7B-D378-0499-BB5BB8785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0773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6" name="Google Shape;29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9" name="Google Shape;31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2" name="Google Shape;3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DC609DC5-EB8F-5297-6C1C-EF408C616DCC}"/>
            </a:ext>
          </a:extLst>
        </p:cNvPr>
        <p:cNvGrpSpPr/>
        <p:nvPr/>
      </p:nvGrpSpPr>
      <p:grpSpPr>
        <a:xfrm>
          <a:off x="0" y="0"/>
          <a:ext cx="0" cy="0"/>
          <a:chOff x="0" y="0"/>
          <a:chExt cx="0" cy="0"/>
        </a:xfrm>
      </p:grpSpPr>
      <p:sp>
        <p:nvSpPr>
          <p:cNvPr id="341" name="Google Shape;341;p12:notes">
            <a:extLst>
              <a:ext uri="{FF2B5EF4-FFF2-40B4-BE49-F238E27FC236}">
                <a16:creationId xmlns:a16="http://schemas.microsoft.com/office/drawing/2014/main" id="{50F33C1A-75DB-79FD-81CF-126F8DC07E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2" name="Google Shape;342;p12:notes">
            <a:extLst>
              <a:ext uri="{FF2B5EF4-FFF2-40B4-BE49-F238E27FC236}">
                <a16:creationId xmlns:a16="http://schemas.microsoft.com/office/drawing/2014/main" id="{D194F4D1-2C02-4BEE-8B4F-BBA991185E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8626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987425"/>
            <a:ext cx="6172200" cy="4873625"/>
          </a:xfrm>
          <a:prstGeom prst="rect">
            <a:avLst/>
          </a:prstGeom>
          <a:noFill/>
          <a:ln>
            <a:noFill/>
          </a:ln>
        </p:spPr>
      </p:sp>
      <p:sp>
        <p:nvSpPr>
          <p:cNvPr id="64" name="Google Shape;6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a31e955e22_0_10"/>
          <p:cNvSpPr txBox="1">
            <a:spLocks noGrp="1"/>
          </p:cNvSpPr>
          <p:nvPr>
            <p:ph type="title"/>
          </p:nvPr>
        </p:nvSpPr>
        <p:spPr>
          <a:xfrm>
            <a:off x="838200" y="1288669"/>
            <a:ext cx="10515600" cy="1325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Recommendations to address constraints and bias in Integrated Data Analytics</a:t>
            </a:r>
            <a:endParaRPr sz="3600" b="1" dirty="0">
              <a:solidFill>
                <a:srgbClr val="001C84"/>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09A801F9-C167-39AC-A397-0FBA63C0F24D}"/>
              </a:ext>
            </a:extLst>
          </p:cNvPr>
          <p:cNvSpPr txBox="1"/>
          <p:nvPr/>
        </p:nvSpPr>
        <p:spPr>
          <a:xfrm>
            <a:off x="716437" y="3525623"/>
            <a:ext cx="10595727" cy="2862322"/>
          </a:xfrm>
          <a:prstGeom prst="rect">
            <a:avLst/>
          </a:prstGeom>
          <a:noFill/>
        </p:spPr>
        <p:txBody>
          <a:bodyPr wrap="square">
            <a:spAutoFit/>
          </a:bodyPr>
          <a:lstStyle/>
          <a:p>
            <a:pPr marL="457200" marR="0" lvl="0" indent="-342900" algn="ctr"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en-US" sz="3200" b="1" i="0" u="none" strike="noStrike" kern="0" cap="none" spc="0" normalizeH="0" baseline="0" noProof="0" dirty="0">
                <a:ln>
                  <a:noFill/>
                </a:ln>
                <a:solidFill>
                  <a:srgbClr val="C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Centering the Public Interest in Integrated Administrative Data Analytics</a:t>
            </a:r>
          </a:p>
          <a:p>
            <a:pPr marL="457200" marR="0" lvl="0" indent="-342900" algn="ctr" defTabSz="914400" rtl="0" eaLnBrk="1" fontAlgn="auto" latinLnBrk="0" hangingPunct="1">
              <a:lnSpc>
                <a:spcPct val="100000"/>
              </a:lnSpc>
              <a:spcBef>
                <a:spcPts val="0"/>
              </a:spcBef>
              <a:spcAft>
                <a:spcPts val="0"/>
              </a:spcAft>
              <a:buClr>
                <a:srgbClr val="595959"/>
              </a:buClr>
              <a:buSzPts val="2800"/>
              <a:buFont typeface="Arial"/>
              <a:buNone/>
              <a:tabLst/>
              <a:defRPr/>
            </a:pPr>
            <a:endParaRPr kumimoji="0" lang="en-US" sz="2000" b="1" i="0" u="none" strike="noStrike" kern="0" cap="none" spc="0" normalizeH="0" baseline="0" noProof="0" dirty="0">
              <a:ln>
                <a:noFill/>
              </a:ln>
              <a:solidFill>
                <a:srgbClr val="C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457200" marR="0" lvl="0" indent="-342900" algn="ctr"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en-US" sz="2000" b="1" i="0" u="none" strike="noStrike" kern="0" cap="none" spc="0" normalizeH="0" baseline="0" noProof="0" dirty="0">
                <a:ln>
                  <a:noFill/>
                </a:ln>
                <a:solidFill>
                  <a:srgbClr val="C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Module </a:t>
            </a:r>
            <a:r>
              <a:rPr kumimoji="0" lang="en-US" sz="3600" b="1" i="0" u="none" strike="noStrike" kern="0" cap="none" spc="0" normalizeH="0" baseline="0" noProof="0" dirty="0">
                <a:ln>
                  <a:noFill/>
                </a:ln>
                <a:solidFill>
                  <a:srgbClr val="C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5</a:t>
            </a:r>
            <a:r>
              <a:rPr kumimoji="0" lang="en-US" sz="2000" b="1" i="0" u="none" strike="noStrike" kern="0" cap="none" spc="0" normalizeH="0" baseline="0" noProof="0" dirty="0">
                <a:ln>
                  <a:noFill/>
                </a:ln>
                <a:solidFill>
                  <a:srgbClr val="C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 of 5</a:t>
            </a:r>
          </a:p>
          <a:p>
            <a:pPr marL="457200" marR="0" lvl="0" indent="-342900" algn="ctr" defTabSz="914400" rtl="0" eaLnBrk="1" fontAlgn="auto" latinLnBrk="0" hangingPunct="1">
              <a:lnSpc>
                <a:spcPct val="100000"/>
              </a:lnSpc>
              <a:spcBef>
                <a:spcPts val="0"/>
              </a:spcBef>
              <a:spcAft>
                <a:spcPts val="0"/>
              </a:spcAft>
              <a:buClr>
                <a:srgbClr val="595959"/>
              </a:buClr>
              <a:buSzPts val="2800"/>
              <a:buFont typeface="Arial"/>
              <a:buNone/>
              <a:tabLst/>
              <a:defRPr/>
            </a:pPr>
            <a:endParaRPr kumimoji="0" lang="en-US" sz="2000" b="1" i="0" u="none" strike="noStrike" kern="0" cap="none" spc="0" normalizeH="0" baseline="0" noProof="0" dirty="0">
              <a:ln>
                <a:noFill/>
              </a:ln>
              <a:solidFill>
                <a:srgbClr val="595959"/>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42900" algn="ctr">
              <a:buClr>
                <a:srgbClr val="595959"/>
              </a:buClr>
              <a:buSzPts val="2800"/>
            </a:pPr>
            <a:r>
              <a:rPr lang="en-US" sz="2000" b="1" dirty="0">
                <a:solidFill>
                  <a:srgbClr val="001C84"/>
                </a:solidFill>
                <a:latin typeface="Open Sans"/>
                <a:ea typeface="Open Sans"/>
                <a:cs typeface="Open Sans"/>
                <a:sym typeface="Open Sans"/>
              </a:rPr>
              <a:t>Public Interest Technology University Network Year 6 Challenge</a:t>
            </a:r>
            <a:endParaRPr lang="en-US" sz="2000" dirty="0">
              <a:solidFill>
                <a:srgbClr val="001C84"/>
              </a:solidFill>
            </a:endParaRPr>
          </a:p>
          <a:p>
            <a:pPr marL="457200" lvl="0" indent="-342900" algn="ctr">
              <a:buClr>
                <a:srgbClr val="595959"/>
              </a:buClr>
              <a:buSzPts val="2800"/>
            </a:pPr>
            <a:r>
              <a:rPr lang="en-US" sz="1600" b="1" dirty="0">
                <a:solidFill>
                  <a:srgbClr val="001C84"/>
                </a:solidFill>
                <a:latin typeface="Open Sans"/>
                <a:ea typeface="Open Sans"/>
                <a:cs typeface="Open Sans"/>
                <a:sym typeface="Open Sans"/>
              </a:rPr>
              <a:t>January 2026</a:t>
            </a:r>
            <a:r>
              <a:rPr lang="en-US" sz="2000" b="1" dirty="0">
                <a:solidFill>
                  <a:srgbClr val="001C84"/>
                </a:solidFill>
                <a:latin typeface="Open Sans"/>
                <a:ea typeface="Open Sans"/>
                <a:cs typeface="Open Sans"/>
                <a:sym typeface="Open Sans"/>
              </a:rPr>
              <a:t> </a:t>
            </a:r>
            <a:endParaRPr lang="en-US" b="1" dirty="0">
              <a:solidFill>
                <a:srgbClr val="001C84"/>
              </a:solidFill>
              <a:latin typeface="Open Sans"/>
              <a:ea typeface="Open Sans"/>
              <a:cs typeface="Open Sans"/>
              <a:sym typeface="Open Sans"/>
            </a:endParaRPr>
          </a:p>
        </p:txBody>
      </p:sp>
      <p:sp>
        <p:nvSpPr>
          <p:cNvPr id="3" name="Slide Number Placeholder 2">
            <a:extLst>
              <a:ext uri="{FF2B5EF4-FFF2-40B4-BE49-F238E27FC236}">
                <a16:creationId xmlns:a16="http://schemas.microsoft.com/office/drawing/2014/main" id="{6D6CA8C1-7687-75C7-4F19-C9F84ABA71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A44ACF1D-CE1A-85F1-F2FE-A8D0E8BECA52}"/>
            </a:ext>
          </a:extLst>
        </p:cNvPr>
        <p:cNvGrpSpPr/>
        <p:nvPr/>
      </p:nvGrpSpPr>
      <p:grpSpPr>
        <a:xfrm>
          <a:off x="0" y="0"/>
          <a:ext cx="0" cy="0"/>
          <a:chOff x="0" y="0"/>
          <a:chExt cx="0" cy="0"/>
        </a:xfrm>
      </p:grpSpPr>
      <p:sp>
        <p:nvSpPr>
          <p:cNvPr id="116" name="Google Shape;116;p2">
            <a:extLst>
              <a:ext uri="{FF2B5EF4-FFF2-40B4-BE49-F238E27FC236}">
                <a16:creationId xmlns:a16="http://schemas.microsoft.com/office/drawing/2014/main" id="{076E1F00-EE86-DF39-6922-41E0A5A1060F}"/>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2700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17" name="Google Shape;117;p2">
            <a:extLst>
              <a:ext uri="{FF2B5EF4-FFF2-40B4-BE49-F238E27FC236}">
                <a16:creationId xmlns:a16="http://schemas.microsoft.com/office/drawing/2014/main" id="{6D9DFE58-E644-A2AF-AB84-65F85D83B900}"/>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01600" cap="flat" cmpd="sng">
            <a:solidFill>
              <a:schemeClr val="lt1"/>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nvGrpSpPr>
          <p:cNvPr id="3" name="Group 2">
            <a:extLst>
              <a:ext uri="{FF2B5EF4-FFF2-40B4-BE49-F238E27FC236}">
                <a16:creationId xmlns:a16="http://schemas.microsoft.com/office/drawing/2014/main" id="{A5E30F39-8359-36E6-E77A-443E414FBA9B}"/>
              </a:ext>
            </a:extLst>
          </p:cNvPr>
          <p:cNvGrpSpPr/>
          <p:nvPr/>
        </p:nvGrpSpPr>
        <p:grpSpPr>
          <a:xfrm>
            <a:off x="662660" y="2509930"/>
            <a:ext cx="3129378" cy="1235276"/>
            <a:chOff x="860675" y="2439143"/>
            <a:chExt cx="3129378" cy="1235276"/>
          </a:xfrm>
        </p:grpSpPr>
        <p:sp>
          <p:nvSpPr>
            <p:cNvPr id="16" name="Parallelogram 15">
              <a:extLst>
                <a:ext uri="{FF2B5EF4-FFF2-40B4-BE49-F238E27FC236}">
                  <a16:creationId xmlns:a16="http://schemas.microsoft.com/office/drawing/2014/main" id="{81C12823-DACE-3624-D64E-E98E11CECEC8}"/>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 name="TextBox 1">
              <a:extLst>
                <a:ext uri="{FF2B5EF4-FFF2-40B4-BE49-F238E27FC236}">
                  <a16:creationId xmlns:a16="http://schemas.microsoft.com/office/drawing/2014/main" id="{3B847A7F-667F-26B5-07F6-7443FFD1FB53}"/>
                </a:ext>
              </a:extLst>
            </p:cNvPr>
            <p:cNvSpPr txBox="1"/>
            <p:nvPr/>
          </p:nvSpPr>
          <p:spPr>
            <a:xfrm>
              <a:off x="2002894" y="2439144"/>
              <a:ext cx="1747582" cy="1235275"/>
            </a:xfrm>
            <a:prstGeom prst="rect">
              <a:avLst/>
            </a:prstGeom>
            <a:noFill/>
          </p:spPr>
          <p:txBody>
            <a:bodyPr wrap="square" rtlCol="0" anchor="ctr" anchorCtr="0">
              <a:normAutofit/>
            </a:bodyPr>
            <a:lstStyle/>
            <a:p>
              <a:pPr lvl="0" algn="r">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1</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FAIR2: A framework for integrating community knowledge in data analytics and addressing discrimination bias</a:t>
              </a:r>
            </a:p>
          </p:txBody>
        </p:sp>
      </p:grpSp>
      <p:grpSp>
        <p:nvGrpSpPr>
          <p:cNvPr id="4" name="Group 3">
            <a:extLst>
              <a:ext uri="{FF2B5EF4-FFF2-40B4-BE49-F238E27FC236}">
                <a16:creationId xmlns:a16="http://schemas.microsoft.com/office/drawing/2014/main" id="{5643994A-1A65-A758-C900-DE43473412D4}"/>
              </a:ext>
            </a:extLst>
          </p:cNvPr>
          <p:cNvGrpSpPr/>
          <p:nvPr/>
        </p:nvGrpSpPr>
        <p:grpSpPr>
          <a:xfrm>
            <a:off x="155728" y="2213169"/>
            <a:ext cx="1828801" cy="1828800"/>
            <a:chOff x="201777" y="2142382"/>
            <a:chExt cx="1828801" cy="1828800"/>
          </a:xfrm>
        </p:grpSpPr>
        <p:sp>
          <p:nvSpPr>
            <p:cNvPr id="120" name="Google Shape;120;p2">
              <a:extLst>
                <a:ext uri="{FF2B5EF4-FFF2-40B4-BE49-F238E27FC236}">
                  <a16:creationId xmlns:a16="http://schemas.microsoft.com/office/drawing/2014/main" id="{56352803-7EAD-7A81-7793-0CAE612157AF}"/>
                </a:ext>
              </a:extLst>
            </p:cNvPr>
            <p:cNvSpPr/>
            <p:nvPr/>
          </p:nvSpPr>
          <p:spPr>
            <a:xfrm rot="2700000" flipH="1">
              <a:off x="201778" y="2142381"/>
              <a:ext cx="1828800" cy="1828801"/>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algn="ctr"/>
              <a:r>
                <a:rPr lang="en-US" dirty="0">
                  <a:solidFill>
                    <a:schemeClr val="lt1"/>
                  </a:solidFill>
                </a:rPr>
                <a:t>2 2</a:t>
              </a:r>
            </a:p>
            <a:p>
              <a:pPr algn="ctr"/>
              <a:endParaRPr lang="en-US" dirty="0">
                <a:solidFill>
                  <a:schemeClr val="lt1"/>
                </a:solidFill>
              </a:endParaRPr>
            </a:p>
          </p:txBody>
        </p:sp>
        <p:pic>
          <p:nvPicPr>
            <p:cNvPr id="121" name="Google Shape;121;p2" title="fair2.png">
              <a:extLst>
                <a:ext uri="{FF2B5EF4-FFF2-40B4-BE49-F238E27FC236}">
                  <a16:creationId xmlns:a16="http://schemas.microsoft.com/office/drawing/2014/main" id="{37A0A927-FFCA-A91B-98D8-8A58E94B67C3}"/>
                </a:ext>
              </a:extLst>
            </p:cNvPr>
            <p:cNvPicPr preferRelativeResize="0"/>
            <p:nvPr/>
          </p:nvPicPr>
          <p:blipFill rotWithShape="1">
            <a:blip r:embed="rId3">
              <a:alphaModFix/>
            </a:blip>
            <a:srcRect/>
            <a:stretch/>
          </p:blipFill>
          <p:spPr>
            <a:xfrm>
              <a:off x="430646" y="2393607"/>
              <a:ext cx="1368680" cy="1376137"/>
            </a:xfrm>
            <a:prstGeom prst="rect">
              <a:avLst/>
            </a:prstGeom>
            <a:noFill/>
            <a:ln>
              <a:noFill/>
            </a:ln>
          </p:spPr>
        </p:pic>
      </p:grpSp>
      <p:grpSp>
        <p:nvGrpSpPr>
          <p:cNvPr id="18" name="Group 17">
            <a:extLst>
              <a:ext uri="{FF2B5EF4-FFF2-40B4-BE49-F238E27FC236}">
                <a16:creationId xmlns:a16="http://schemas.microsoft.com/office/drawing/2014/main" id="{AAA0B4BA-797A-4DB4-A286-0994037D815D}"/>
              </a:ext>
            </a:extLst>
          </p:cNvPr>
          <p:cNvGrpSpPr/>
          <p:nvPr/>
        </p:nvGrpSpPr>
        <p:grpSpPr>
          <a:xfrm>
            <a:off x="818818" y="4925408"/>
            <a:ext cx="3129378" cy="1235277"/>
            <a:chOff x="860675" y="2439143"/>
            <a:chExt cx="3129378" cy="1235277"/>
          </a:xfrm>
        </p:grpSpPr>
        <p:sp>
          <p:nvSpPr>
            <p:cNvPr id="19" name="Parallelogram 18">
              <a:extLst>
                <a:ext uri="{FF2B5EF4-FFF2-40B4-BE49-F238E27FC236}">
                  <a16:creationId xmlns:a16="http://schemas.microsoft.com/office/drawing/2014/main" id="{3F5CF219-B676-0672-92A8-20D9F5BC0E7E}"/>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0" name="TextBox 19">
              <a:extLst>
                <a:ext uri="{FF2B5EF4-FFF2-40B4-BE49-F238E27FC236}">
                  <a16:creationId xmlns:a16="http://schemas.microsoft.com/office/drawing/2014/main" id="{AFCD1F30-D31C-9F15-00D6-773E623760B6}"/>
                </a:ext>
              </a:extLst>
            </p:cNvPr>
            <p:cNvSpPr txBox="1"/>
            <p:nvPr/>
          </p:nvSpPr>
          <p:spPr>
            <a:xfrm>
              <a:off x="1236834" y="2439143"/>
              <a:ext cx="1747582" cy="1235277"/>
            </a:xfrm>
            <a:prstGeom prst="rect">
              <a:avLst/>
            </a:prstGeom>
            <a:noFill/>
          </p:spPr>
          <p:txBody>
            <a:bodyPr wrap="square" rtlCol="0" anchor="ctr" anchorCtr="0">
              <a:normAutofit/>
            </a:bodyPr>
            <a:lstStyle/>
            <a:p>
              <a:pPr lvl="0">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2</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Demographic Data in Integrated Data Systems: Seeking Experiential Knowledge to Inform Race and Gender Data</a:t>
              </a:r>
            </a:p>
          </p:txBody>
        </p:sp>
      </p:grpSp>
      <p:grpSp>
        <p:nvGrpSpPr>
          <p:cNvPr id="28" name="Group 27">
            <a:extLst>
              <a:ext uri="{FF2B5EF4-FFF2-40B4-BE49-F238E27FC236}">
                <a16:creationId xmlns:a16="http://schemas.microsoft.com/office/drawing/2014/main" id="{362D7BD4-A691-3BE9-2670-082CBA354642}"/>
              </a:ext>
            </a:extLst>
          </p:cNvPr>
          <p:cNvGrpSpPr/>
          <p:nvPr/>
        </p:nvGrpSpPr>
        <p:grpSpPr>
          <a:xfrm>
            <a:off x="2919955" y="4613685"/>
            <a:ext cx="1828800" cy="1849086"/>
            <a:chOff x="3057427" y="4589179"/>
            <a:chExt cx="1828800" cy="1849086"/>
          </a:xfrm>
        </p:grpSpPr>
        <p:sp>
          <p:nvSpPr>
            <p:cNvPr id="15" name="Google Shape;120;p2">
              <a:extLst>
                <a:ext uri="{FF2B5EF4-FFF2-40B4-BE49-F238E27FC236}">
                  <a16:creationId xmlns:a16="http://schemas.microsoft.com/office/drawing/2014/main" id="{37D1806B-EA48-317B-150C-0A58443710B5}"/>
                </a:ext>
              </a:extLst>
            </p:cNvPr>
            <p:cNvSpPr/>
            <p:nvPr/>
          </p:nvSpPr>
          <p:spPr>
            <a:xfrm rot="2700000" flipH="1">
              <a:off x="3057427" y="4609465"/>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pic>
          <p:nvPicPr>
            <p:cNvPr id="8" name="Picture 7" descr="A person wearing a white shirt and blue jeans&#10;&#10;AI-generated content may be incorrect.">
              <a:extLst>
                <a:ext uri="{FF2B5EF4-FFF2-40B4-BE49-F238E27FC236}">
                  <a16:creationId xmlns:a16="http://schemas.microsoft.com/office/drawing/2014/main" id="{38240F59-6AE0-547D-4C4E-BCB17909B2C7}"/>
                </a:ext>
              </a:extLst>
            </p:cNvPr>
            <p:cNvPicPr>
              <a:picLocks noChangeAspect="1"/>
            </p:cNvPicPr>
            <p:nvPr/>
          </p:nvPicPr>
          <p:blipFill>
            <a:blip r:embed="rId4"/>
            <a:srcRect l="4657" t="2322" r="-4831" b="57726"/>
            <a:stretch>
              <a:fillRect/>
            </a:stretch>
          </p:blipFill>
          <p:spPr>
            <a:xfrm>
              <a:off x="3103056" y="4589179"/>
              <a:ext cx="1737542" cy="1736762"/>
            </a:xfrm>
            <a:prstGeom prst="ellipse">
              <a:avLst/>
            </a:prstGeom>
          </p:spPr>
        </p:pic>
      </p:grpSp>
      <p:grpSp>
        <p:nvGrpSpPr>
          <p:cNvPr id="25" name="Group 24">
            <a:extLst>
              <a:ext uri="{FF2B5EF4-FFF2-40B4-BE49-F238E27FC236}">
                <a16:creationId xmlns:a16="http://schemas.microsoft.com/office/drawing/2014/main" id="{D7A5EF57-8733-A8CF-2EEC-2D7F6FA3C29A}"/>
              </a:ext>
            </a:extLst>
          </p:cNvPr>
          <p:cNvGrpSpPr/>
          <p:nvPr/>
        </p:nvGrpSpPr>
        <p:grpSpPr>
          <a:xfrm>
            <a:off x="8966445" y="850769"/>
            <a:ext cx="3129378" cy="1235276"/>
            <a:chOff x="860675" y="2439143"/>
            <a:chExt cx="3129378" cy="1235276"/>
          </a:xfrm>
        </p:grpSpPr>
        <p:sp>
          <p:nvSpPr>
            <p:cNvPr id="26" name="Parallelogram 25">
              <a:extLst>
                <a:ext uri="{FF2B5EF4-FFF2-40B4-BE49-F238E27FC236}">
                  <a16:creationId xmlns:a16="http://schemas.microsoft.com/office/drawing/2014/main" id="{8D7CE65A-E554-FEC4-F43F-28032521C854}"/>
                </a:ext>
              </a:extLst>
            </p:cNvPr>
            <p:cNvSpPr/>
            <p:nvPr/>
          </p:nvSpPr>
          <p:spPr>
            <a:xfrm>
              <a:off x="860675" y="2439143"/>
              <a:ext cx="3129378" cy="1235276"/>
            </a:xfrm>
            <a:prstGeom prst="parallelogram">
              <a:avLst/>
            </a:prstGeom>
            <a:solidFill>
              <a:srgbClr val="EDAA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7" name="TextBox 26">
              <a:extLst>
                <a:ext uri="{FF2B5EF4-FFF2-40B4-BE49-F238E27FC236}">
                  <a16:creationId xmlns:a16="http://schemas.microsoft.com/office/drawing/2014/main" id="{10C370DA-B8A8-ACDE-7D03-F7A0E34F2979}"/>
                </a:ext>
              </a:extLst>
            </p:cNvPr>
            <p:cNvSpPr txBox="1"/>
            <p:nvPr/>
          </p:nvSpPr>
          <p:spPr>
            <a:xfrm>
              <a:off x="2260542" y="2439144"/>
              <a:ext cx="1489933" cy="1235275"/>
            </a:xfrm>
            <a:prstGeom prst="rect">
              <a:avLst/>
            </a:prstGeom>
            <a:noFill/>
          </p:spPr>
          <p:txBody>
            <a:bodyPr wrap="square" rtlCol="0" anchor="ctr" anchorCtr="0">
              <a:normAutofit/>
            </a:bodyPr>
            <a:lstStyle/>
            <a:p>
              <a:pPr lvl="0" algn="r">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5</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Recommendations to address constraints and bias in Integrated Data Analytics</a:t>
              </a:r>
            </a:p>
          </p:txBody>
        </p:sp>
      </p:grpSp>
      <p:grpSp>
        <p:nvGrpSpPr>
          <p:cNvPr id="24" name="Group 23">
            <a:extLst>
              <a:ext uri="{FF2B5EF4-FFF2-40B4-BE49-F238E27FC236}">
                <a16:creationId xmlns:a16="http://schemas.microsoft.com/office/drawing/2014/main" id="{363D2952-C4F3-8900-2028-FD849BD4C32F}"/>
              </a:ext>
            </a:extLst>
          </p:cNvPr>
          <p:cNvGrpSpPr/>
          <p:nvPr/>
        </p:nvGrpSpPr>
        <p:grpSpPr>
          <a:xfrm>
            <a:off x="8517537" y="460356"/>
            <a:ext cx="1828800" cy="1828800"/>
            <a:chOff x="8969838" y="563282"/>
            <a:chExt cx="1828800" cy="1828800"/>
          </a:xfrm>
        </p:grpSpPr>
        <p:sp>
          <p:nvSpPr>
            <p:cNvPr id="13" name="Google Shape;120;p2">
              <a:extLst>
                <a:ext uri="{FF2B5EF4-FFF2-40B4-BE49-F238E27FC236}">
                  <a16:creationId xmlns:a16="http://schemas.microsoft.com/office/drawing/2014/main" id="{39A7D595-F2DC-22CD-6087-9F35471DD631}"/>
                </a:ext>
              </a:extLst>
            </p:cNvPr>
            <p:cNvSpPr/>
            <p:nvPr/>
          </p:nvSpPr>
          <p:spPr>
            <a:xfrm rot="13500000" flipH="1">
              <a:off x="8969838" y="563282"/>
              <a:ext cx="1828800" cy="1828800"/>
            </a:xfrm>
            <a:prstGeom prst="teardrop">
              <a:avLst>
                <a:gd name="adj" fmla="val 131496"/>
              </a:avLst>
            </a:prstGeom>
            <a:solidFill>
              <a:srgbClr val="FFDC5D"/>
            </a:solidFill>
            <a:ln w="57150" cap="flat" cmpd="sng">
              <a:solidFill>
                <a:srgbClr val="EDAA00"/>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pic>
          <p:nvPicPr>
            <p:cNvPr id="6" name="Picture 5" descr="A diagram of data analysis&#10;&#10;AI-generated content may be incorrect.">
              <a:extLst>
                <a:ext uri="{FF2B5EF4-FFF2-40B4-BE49-F238E27FC236}">
                  <a16:creationId xmlns:a16="http://schemas.microsoft.com/office/drawing/2014/main" id="{BB3EAB94-4DEA-D318-0163-C09B7C2474EE}"/>
                </a:ext>
              </a:extLst>
            </p:cNvPr>
            <p:cNvPicPr>
              <a:picLocks noChangeAspect="1"/>
            </p:cNvPicPr>
            <p:nvPr/>
          </p:nvPicPr>
          <p:blipFill>
            <a:blip r:embed="rId5"/>
            <a:stretch>
              <a:fillRect/>
            </a:stretch>
          </p:blipFill>
          <p:spPr>
            <a:xfrm>
              <a:off x="9138924" y="1048721"/>
              <a:ext cx="1490628" cy="875916"/>
            </a:xfrm>
            <a:prstGeom prst="rect">
              <a:avLst/>
            </a:prstGeom>
          </p:spPr>
        </p:pic>
      </p:grpSp>
      <p:grpSp>
        <p:nvGrpSpPr>
          <p:cNvPr id="10" name="Group 9">
            <a:extLst>
              <a:ext uri="{FF2B5EF4-FFF2-40B4-BE49-F238E27FC236}">
                <a16:creationId xmlns:a16="http://schemas.microsoft.com/office/drawing/2014/main" id="{2D6A0FD6-770C-8C32-B07A-2F98F41A3577}"/>
              </a:ext>
            </a:extLst>
          </p:cNvPr>
          <p:cNvGrpSpPr/>
          <p:nvPr/>
        </p:nvGrpSpPr>
        <p:grpSpPr>
          <a:xfrm>
            <a:off x="4619703" y="850769"/>
            <a:ext cx="3129378" cy="1235276"/>
            <a:chOff x="860675" y="2439143"/>
            <a:chExt cx="3129378" cy="1235276"/>
          </a:xfrm>
        </p:grpSpPr>
        <p:sp>
          <p:nvSpPr>
            <p:cNvPr id="21" name="Parallelogram 20">
              <a:extLst>
                <a:ext uri="{FF2B5EF4-FFF2-40B4-BE49-F238E27FC236}">
                  <a16:creationId xmlns:a16="http://schemas.microsoft.com/office/drawing/2014/main" id="{0EA37EAC-C33C-9450-F431-D82DE7ED9915}"/>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2" name="TextBox 21">
              <a:extLst>
                <a:ext uri="{FF2B5EF4-FFF2-40B4-BE49-F238E27FC236}">
                  <a16:creationId xmlns:a16="http://schemas.microsoft.com/office/drawing/2014/main" id="{0046F48F-76EA-562D-4B57-49E2899249DD}"/>
                </a:ext>
              </a:extLst>
            </p:cNvPr>
            <p:cNvSpPr txBox="1"/>
            <p:nvPr/>
          </p:nvSpPr>
          <p:spPr>
            <a:xfrm>
              <a:off x="2260542" y="2439144"/>
              <a:ext cx="1489933" cy="1235275"/>
            </a:xfrm>
            <a:prstGeom prst="rect">
              <a:avLst/>
            </a:prstGeom>
            <a:noFill/>
          </p:spPr>
          <p:txBody>
            <a:bodyPr wrap="square" rtlCol="0" anchor="ctr" anchorCtr="0">
              <a:normAutofit/>
            </a:bodyPr>
            <a:lstStyle/>
            <a:p>
              <a:pPr lvl="0" algn="r">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3</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An illustration of Label Bias in Homelessness </a:t>
              </a: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Data Analytics</a:t>
              </a:r>
            </a:p>
          </p:txBody>
        </p:sp>
      </p:grpSp>
      <p:grpSp>
        <p:nvGrpSpPr>
          <p:cNvPr id="23" name="Group 22">
            <a:extLst>
              <a:ext uri="{FF2B5EF4-FFF2-40B4-BE49-F238E27FC236}">
                <a16:creationId xmlns:a16="http://schemas.microsoft.com/office/drawing/2014/main" id="{142FE324-33A3-1C53-6C99-EED0E9433CDC}"/>
              </a:ext>
            </a:extLst>
          </p:cNvPr>
          <p:cNvGrpSpPr/>
          <p:nvPr/>
        </p:nvGrpSpPr>
        <p:grpSpPr>
          <a:xfrm>
            <a:off x="4360937" y="541485"/>
            <a:ext cx="1828799" cy="1872794"/>
            <a:chOff x="4360937" y="541485"/>
            <a:chExt cx="1828799" cy="1872794"/>
          </a:xfrm>
        </p:grpSpPr>
        <p:sp>
          <p:nvSpPr>
            <p:cNvPr id="32" name="Google Shape;120;p2">
              <a:extLst>
                <a:ext uri="{FF2B5EF4-FFF2-40B4-BE49-F238E27FC236}">
                  <a16:creationId xmlns:a16="http://schemas.microsoft.com/office/drawing/2014/main" id="{3BAF55BB-0A88-9004-02AE-0B06E68F734D}"/>
                </a:ext>
              </a:extLst>
            </p:cNvPr>
            <p:cNvSpPr/>
            <p:nvPr/>
          </p:nvSpPr>
          <p:spPr>
            <a:xfrm rot="13500000" flipH="1">
              <a:off x="4360937" y="541485"/>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a:solidFill>
                  <a:schemeClr val="lt1"/>
                </a:solidFill>
                <a:latin typeface="Arial"/>
                <a:ea typeface="Arial"/>
                <a:cs typeface="Arial"/>
                <a:sym typeface="Arial"/>
              </a:endParaRPr>
            </a:p>
          </p:txBody>
        </p:sp>
        <p:pic>
          <p:nvPicPr>
            <p:cNvPr id="37" name="Picture 36" descr="A group of people in different colors&#10;&#10;AI-generated content may be incorrect.">
              <a:extLst>
                <a:ext uri="{FF2B5EF4-FFF2-40B4-BE49-F238E27FC236}">
                  <a16:creationId xmlns:a16="http://schemas.microsoft.com/office/drawing/2014/main" id="{683A6187-9A24-31E1-C197-76D51024FE3F}"/>
                </a:ext>
              </a:extLst>
            </p:cNvPr>
            <p:cNvPicPr>
              <a:picLocks noChangeAspect="1"/>
            </p:cNvPicPr>
            <p:nvPr/>
          </p:nvPicPr>
          <p:blipFill>
            <a:blip r:embed="rId6"/>
            <a:srcRect l="62973" t="17640" r="8598" b="27183"/>
            <a:stretch>
              <a:fillRect/>
            </a:stretch>
          </p:blipFill>
          <p:spPr>
            <a:xfrm>
              <a:off x="4465200" y="634509"/>
              <a:ext cx="1630800" cy="1779770"/>
            </a:xfrm>
            <a:prstGeom prst="ellipse">
              <a:avLst/>
            </a:prstGeom>
          </p:spPr>
        </p:pic>
      </p:grpSp>
      <p:grpSp>
        <p:nvGrpSpPr>
          <p:cNvPr id="5" name="Group 4">
            <a:extLst>
              <a:ext uri="{FF2B5EF4-FFF2-40B4-BE49-F238E27FC236}">
                <a16:creationId xmlns:a16="http://schemas.microsoft.com/office/drawing/2014/main" id="{45E0A796-756F-F767-80F7-453021B8C4DC}"/>
              </a:ext>
            </a:extLst>
          </p:cNvPr>
          <p:cNvGrpSpPr/>
          <p:nvPr/>
        </p:nvGrpSpPr>
        <p:grpSpPr>
          <a:xfrm>
            <a:off x="5416048" y="4503771"/>
            <a:ext cx="3129378" cy="1235522"/>
            <a:chOff x="860675" y="2438897"/>
            <a:chExt cx="3129378" cy="1235522"/>
          </a:xfrm>
        </p:grpSpPr>
        <p:sp>
          <p:nvSpPr>
            <p:cNvPr id="9" name="Parallelogram 8">
              <a:extLst>
                <a:ext uri="{FF2B5EF4-FFF2-40B4-BE49-F238E27FC236}">
                  <a16:creationId xmlns:a16="http://schemas.microsoft.com/office/drawing/2014/main" id="{CEAF3D93-63FB-FC76-4726-942E86EAAE19}"/>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11" name="TextBox 10">
              <a:extLst>
                <a:ext uri="{FF2B5EF4-FFF2-40B4-BE49-F238E27FC236}">
                  <a16:creationId xmlns:a16="http://schemas.microsoft.com/office/drawing/2014/main" id="{71922A96-7F4B-F081-57C5-BC191D19E720}"/>
                </a:ext>
              </a:extLst>
            </p:cNvPr>
            <p:cNvSpPr txBox="1"/>
            <p:nvPr/>
          </p:nvSpPr>
          <p:spPr>
            <a:xfrm>
              <a:off x="1230969" y="2438897"/>
              <a:ext cx="1747582" cy="1235277"/>
            </a:xfrm>
            <a:prstGeom prst="rect">
              <a:avLst/>
            </a:prstGeom>
            <a:noFill/>
          </p:spPr>
          <p:txBody>
            <a:bodyPr wrap="square" rtlCol="0" anchor="ctr" anchorCtr="0">
              <a:normAutofit/>
            </a:bodyPr>
            <a:lstStyle/>
            <a:p>
              <a:pPr lvl="0">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4</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An illustration of </a:t>
              </a: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Collider Bias in </a:t>
              </a: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housing research</a:t>
              </a:r>
            </a:p>
          </p:txBody>
        </p:sp>
      </p:grpSp>
      <p:grpSp>
        <p:nvGrpSpPr>
          <p:cNvPr id="14" name="Group 13">
            <a:extLst>
              <a:ext uri="{FF2B5EF4-FFF2-40B4-BE49-F238E27FC236}">
                <a16:creationId xmlns:a16="http://schemas.microsoft.com/office/drawing/2014/main" id="{0BF39262-BD38-9D9E-8A2E-27181BB000E2}"/>
              </a:ext>
            </a:extLst>
          </p:cNvPr>
          <p:cNvGrpSpPr/>
          <p:nvPr/>
        </p:nvGrpSpPr>
        <p:grpSpPr>
          <a:xfrm>
            <a:off x="7091011" y="4221659"/>
            <a:ext cx="1828799" cy="1828800"/>
            <a:chOff x="7091011" y="4221659"/>
            <a:chExt cx="1828799" cy="1828800"/>
          </a:xfrm>
        </p:grpSpPr>
        <p:sp>
          <p:nvSpPr>
            <p:cNvPr id="17" name="Google Shape;120;p2">
              <a:extLst>
                <a:ext uri="{FF2B5EF4-FFF2-40B4-BE49-F238E27FC236}">
                  <a16:creationId xmlns:a16="http://schemas.microsoft.com/office/drawing/2014/main" id="{809B1D9B-F1B1-4C14-57E1-7928D8945110}"/>
                </a:ext>
              </a:extLst>
            </p:cNvPr>
            <p:cNvSpPr/>
            <p:nvPr/>
          </p:nvSpPr>
          <p:spPr>
            <a:xfrm rot="2700000" flipH="1">
              <a:off x="7091011" y="4221659"/>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grpSp>
          <p:nvGrpSpPr>
            <p:cNvPr id="35" name="Group 34">
              <a:extLst>
                <a:ext uri="{FF2B5EF4-FFF2-40B4-BE49-F238E27FC236}">
                  <a16:creationId xmlns:a16="http://schemas.microsoft.com/office/drawing/2014/main" id="{AB416FC0-F352-1757-27E8-BFA4C48A0F9A}"/>
                </a:ext>
              </a:extLst>
            </p:cNvPr>
            <p:cNvGrpSpPr/>
            <p:nvPr/>
          </p:nvGrpSpPr>
          <p:grpSpPr>
            <a:xfrm>
              <a:off x="7229347" y="4409020"/>
              <a:ext cx="1564364" cy="1465506"/>
              <a:chOff x="3501616" y="1534157"/>
              <a:chExt cx="2328314" cy="2181179"/>
            </a:xfrm>
          </p:grpSpPr>
          <p:pic>
            <p:nvPicPr>
              <p:cNvPr id="38" name="Picture 37" descr="A group of people in different colors&#10;&#10;AI-generated content may be incorrect.">
                <a:extLst>
                  <a:ext uri="{FF2B5EF4-FFF2-40B4-BE49-F238E27FC236}">
                    <a16:creationId xmlns:a16="http://schemas.microsoft.com/office/drawing/2014/main" id="{859869FE-822D-58BC-062A-9BC27062D563}"/>
                  </a:ext>
                </a:extLst>
              </p:cNvPr>
              <p:cNvPicPr>
                <a:picLocks noChangeAspect="1"/>
              </p:cNvPicPr>
              <p:nvPr/>
            </p:nvPicPr>
            <p:blipFill>
              <a:blip r:embed="rId6"/>
              <a:srcRect l="14593" t="14370" r="55902" b="26199"/>
              <a:stretch>
                <a:fillRect/>
              </a:stretch>
            </p:blipFill>
            <p:spPr>
              <a:xfrm>
                <a:off x="3501616" y="1652038"/>
                <a:ext cx="1821602" cy="2063298"/>
              </a:xfrm>
              <a:prstGeom prst="ellipse">
                <a:avLst/>
              </a:prstGeom>
            </p:spPr>
          </p:pic>
          <p:pic>
            <p:nvPicPr>
              <p:cNvPr id="39" name="Picture 38" descr="A group of people in different colors&#10;&#10;AI-generated content may be incorrect.">
                <a:extLst>
                  <a:ext uri="{FF2B5EF4-FFF2-40B4-BE49-F238E27FC236}">
                    <a16:creationId xmlns:a16="http://schemas.microsoft.com/office/drawing/2014/main" id="{E4267128-3C51-38D0-A971-72499556E827}"/>
                  </a:ext>
                </a:extLst>
              </p:cNvPr>
              <p:cNvPicPr>
                <a:picLocks noChangeAspect="1"/>
              </p:cNvPicPr>
              <p:nvPr/>
            </p:nvPicPr>
            <p:blipFill>
              <a:blip r:embed="rId6"/>
              <a:srcRect l="33568" t="12909" r="39362" b="27097"/>
              <a:stretch>
                <a:fillRect/>
              </a:stretch>
            </p:blipFill>
            <p:spPr>
              <a:xfrm>
                <a:off x="4079780" y="1534157"/>
                <a:ext cx="1750150" cy="2181179"/>
              </a:xfrm>
              <a:prstGeom prst="ellipse">
                <a:avLst/>
              </a:prstGeom>
            </p:spPr>
          </p:pic>
        </p:grpSp>
      </p:grpSp>
    </p:spTree>
    <p:extLst>
      <p:ext uri="{BB962C8B-B14F-4D97-AF65-F5344CB8AC3E}">
        <p14:creationId xmlns:p14="http://schemas.microsoft.com/office/powerpoint/2010/main" val="4010396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a:extLst>
            <a:ext uri="{FF2B5EF4-FFF2-40B4-BE49-F238E27FC236}">
              <a16:creationId xmlns:a16="http://schemas.microsoft.com/office/drawing/2014/main" id="{1D6C7012-1332-1F8E-4FC9-EC259FBF7E89}"/>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40AAD32-3B95-F3CE-FFD6-B0F1364A92DC}"/>
              </a:ext>
            </a:extLst>
          </p:cNvPr>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Arial"/>
              <a:ea typeface="Arial"/>
              <a:cs typeface="Arial"/>
              <a:sym typeface="Arial"/>
            </a:endParaRPr>
          </a:p>
        </p:txBody>
      </p:sp>
      <p:sp>
        <p:nvSpPr>
          <p:cNvPr id="97" name="Google Shape;97;p2">
            <a:extLst>
              <a:ext uri="{FF2B5EF4-FFF2-40B4-BE49-F238E27FC236}">
                <a16:creationId xmlns:a16="http://schemas.microsoft.com/office/drawing/2014/main" id="{91B88E60-8AE0-D1BC-3876-7314E025BFA9}"/>
              </a:ext>
            </a:extLst>
          </p:cNvPr>
          <p:cNvSpPr txBox="1">
            <a:spLocks noGrp="1"/>
          </p:cNvSpPr>
          <p:nvPr>
            <p:ph type="title"/>
          </p:nvPr>
        </p:nvSpPr>
        <p:spPr>
          <a:xfrm>
            <a:off x="736190" y="884802"/>
            <a:ext cx="3796306" cy="4666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Play"/>
              <a:buNone/>
            </a:pPr>
            <a:r>
              <a:rPr lang="en-US" sz="4800" b="1" dirty="0">
                <a:solidFill>
                  <a:srgbClr val="001C84"/>
                </a:solidFill>
                <a:latin typeface="Open Sans"/>
                <a:ea typeface="Open Sans"/>
                <a:cs typeface="Open Sans"/>
                <a:sym typeface="Open Sans"/>
              </a:rPr>
              <a:t>Consider possible mitigation strategies at various stages</a:t>
            </a:r>
            <a:endParaRPr b="1" dirty="0">
              <a:solidFill>
                <a:srgbClr val="001C84"/>
              </a:solidFill>
              <a:latin typeface="Open Sans"/>
              <a:ea typeface="Open Sans"/>
              <a:cs typeface="Open Sans"/>
              <a:sym typeface="Open Sans"/>
            </a:endParaRPr>
          </a:p>
        </p:txBody>
      </p:sp>
      <p:grpSp>
        <p:nvGrpSpPr>
          <p:cNvPr id="2" name="Google Shape;130;p3">
            <a:extLst>
              <a:ext uri="{FF2B5EF4-FFF2-40B4-BE49-F238E27FC236}">
                <a16:creationId xmlns:a16="http://schemas.microsoft.com/office/drawing/2014/main" id="{B9FC1987-C00E-F4D2-0BCE-B494C76031CB}"/>
              </a:ext>
            </a:extLst>
          </p:cNvPr>
          <p:cNvGrpSpPr/>
          <p:nvPr/>
        </p:nvGrpSpPr>
        <p:grpSpPr>
          <a:xfrm>
            <a:off x="5271744" y="1475101"/>
            <a:ext cx="6075004" cy="3485721"/>
            <a:chOff x="3058" y="985244"/>
            <a:chExt cx="6075004" cy="3485721"/>
          </a:xfrm>
        </p:grpSpPr>
        <p:sp>
          <p:nvSpPr>
            <p:cNvPr id="3" name="Google Shape;131;p3">
              <a:extLst>
                <a:ext uri="{FF2B5EF4-FFF2-40B4-BE49-F238E27FC236}">
                  <a16:creationId xmlns:a16="http://schemas.microsoft.com/office/drawing/2014/main" id="{FD24D409-BA35-2781-C86C-FE5388116F86}"/>
                </a:ext>
              </a:extLst>
            </p:cNvPr>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132;p3">
              <a:extLst>
                <a:ext uri="{FF2B5EF4-FFF2-40B4-BE49-F238E27FC236}">
                  <a16:creationId xmlns:a16="http://schemas.microsoft.com/office/drawing/2014/main" id="{7BB2E6A7-C468-5A36-9155-CE34B9CD0E81}"/>
                </a:ext>
              </a:extLst>
            </p:cNvPr>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bg1"/>
                  </a:solidFill>
                  <a:latin typeface="Open Sans"/>
                  <a:ea typeface="Open Sans"/>
                  <a:cs typeface="Open Sans"/>
                  <a:sym typeface="Open Sans"/>
                </a:rPr>
                <a:t>Research question</a:t>
              </a:r>
              <a:endParaRPr dirty="0">
                <a:solidFill>
                  <a:schemeClr val="bg1"/>
                </a:solidFill>
                <a:latin typeface="Open Sans"/>
                <a:ea typeface="Open Sans"/>
                <a:cs typeface="Open Sans"/>
                <a:sym typeface="Open Sans"/>
              </a:endParaRPr>
            </a:p>
          </p:txBody>
        </p:sp>
        <p:sp>
          <p:nvSpPr>
            <p:cNvPr id="5" name="Google Shape;133;p3">
              <a:extLst>
                <a:ext uri="{FF2B5EF4-FFF2-40B4-BE49-F238E27FC236}">
                  <a16:creationId xmlns:a16="http://schemas.microsoft.com/office/drawing/2014/main" id="{CDB6D6A8-9EA9-4AE4-1B88-CA32C88A62E4}"/>
                </a:ext>
              </a:extLst>
            </p:cNvPr>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 name="Google Shape;134;p3">
              <a:extLst>
                <a:ext uri="{FF2B5EF4-FFF2-40B4-BE49-F238E27FC236}">
                  <a16:creationId xmlns:a16="http://schemas.microsoft.com/office/drawing/2014/main" id="{C3AA0060-D8DA-37BF-9BDC-DB67CCA62717}"/>
                </a:ext>
              </a:extLst>
            </p:cNvPr>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latin typeface="Open Sans"/>
                <a:ea typeface="Open Sans"/>
                <a:cs typeface="Open Sans"/>
                <a:sym typeface="Open Sans"/>
              </a:endParaRPr>
            </a:p>
          </p:txBody>
        </p:sp>
        <p:sp>
          <p:nvSpPr>
            <p:cNvPr id="7" name="Google Shape;135;p3">
              <a:extLst>
                <a:ext uri="{FF2B5EF4-FFF2-40B4-BE49-F238E27FC236}">
                  <a16:creationId xmlns:a16="http://schemas.microsoft.com/office/drawing/2014/main" id="{578A37B8-AB3F-290A-60AE-2B4AA83B2D14}"/>
                </a:ext>
              </a:extLst>
            </p:cNvPr>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136;p3">
              <a:extLst>
                <a:ext uri="{FF2B5EF4-FFF2-40B4-BE49-F238E27FC236}">
                  <a16:creationId xmlns:a16="http://schemas.microsoft.com/office/drawing/2014/main" id="{3E940464-C169-1A27-1290-0E11EEF39133}"/>
                </a:ext>
              </a:extLst>
            </p:cNvPr>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latin typeface="Open Sans"/>
                <a:ea typeface="Open Sans"/>
                <a:cs typeface="Open Sans"/>
                <a:sym typeface="Open Sans"/>
              </a:endParaRPr>
            </a:p>
          </p:txBody>
        </p:sp>
        <p:sp>
          <p:nvSpPr>
            <p:cNvPr id="9" name="Google Shape;137;p3">
              <a:extLst>
                <a:ext uri="{FF2B5EF4-FFF2-40B4-BE49-F238E27FC236}">
                  <a16:creationId xmlns:a16="http://schemas.microsoft.com/office/drawing/2014/main" id="{D1E284F7-F7A7-134C-71AB-4591EBCF6496}"/>
                </a:ext>
              </a:extLst>
            </p:cNvPr>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138;p3">
              <a:extLst>
                <a:ext uri="{FF2B5EF4-FFF2-40B4-BE49-F238E27FC236}">
                  <a16:creationId xmlns:a16="http://schemas.microsoft.com/office/drawing/2014/main" id="{BCFAA5AF-0AA1-40EA-C25C-C569B1F214B9}"/>
                </a:ext>
              </a:extLst>
            </p:cNvPr>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11" name="Google Shape;139;p3">
              <a:extLst>
                <a:ext uri="{FF2B5EF4-FFF2-40B4-BE49-F238E27FC236}">
                  <a16:creationId xmlns:a16="http://schemas.microsoft.com/office/drawing/2014/main" id="{F1D6F530-91DD-D52E-8D84-B6BD68958207}"/>
                </a:ext>
              </a:extLst>
            </p:cNvPr>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40;p3">
              <a:extLst>
                <a:ext uri="{FF2B5EF4-FFF2-40B4-BE49-F238E27FC236}">
                  <a16:creationId xmlns:a16="http://schemas.microsoft.com/office/drawing/2014/main" id="{590DE42B-9077-947A-38A4-E515175E99A3}"/>
                </a:ext>
              </a:extLst>
            </p:cNvPr>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3" name="Google Shape;141;p3">
              <a:extLst>
                <a:ext uri="{FF2B5EF4-FFF2-40B4-BE49-F238E27FC236}">
                  <a16:creationId xmlns:a16="http://schemas.microsoft.com/office/drawing/2014/main" id="{0EBB7062-9CED-E59F-63C2-62566001E490}"/>
                </a:ext>
              </a:extLst>
            </p:cNvPr>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2;p3">
              <a:extLst>
                <a:ext uri="{FF2B5EF4-FFF2-40B4-BE49-F238E27FC236}">
                  <a16:creationId xmlns:a16="http://schemas.microsoft.com/office/drawing/2014/main" id="{BC1E82F4-4448-9A57-AC4E-5E47901583FE}"/>
                </a:ext>
              </a:extLst>
            </p:cNvPr>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5" name="Google Shape;143;p3">
              <a:extLst>
                <a:ext uri="{FF2B5EF4-FFF2-40B4-BE49-F238E27FC236}">
                  <a16:creationId xmlns:a16="http://schemas.microsoft.com/office/drawing/2014/main" id="{E982BC3B-B5B6-DC03-808A-ED60C3E900A1}"/>
                </a:ext>
              </a:extLst>
            </p:cNvPr>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44;p3">
              <a:extLst>
                <a:ext uri="{FF2B5EF4-FFF2-40B4-BE49-F238E27FC236}">
                  <a16:creationId xmlns:a16="http://schemas.microsoft.com/office/drawing/2014/main" id="{EB1C83FF-CE99-BF6D-6113-140CC29AD89F}"/>
                </a:ext>
              </a:extLst>
            </p:cNvPr>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7" name="Google Shape;145;p3">
              <a:extLst>
                <a:ext uri="{FF2B5EF4-FFF2-40B4-BE49-F238E27FC236}">
                  <a16:creationId xmlns:a16="http://schemas.microsoft.com/office/drawing/2014/main" id="{7E2F1E31-BD31-13A4-250D-7FB0ED88F57F}"/>
                </a:ext>
              </a:extLst>
            </p:cNvPr>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18" name="Slide Number Placeholder 17">
            <a:extLst>
              <a:ext uri="{FF2B5EF4-FFF2-40B4-BE49-F238E27FC236}">
                <a16:creationId xmlns:a16="http://schemas.microsoft.com/office/drawing/2014/main" id="{0A74B8B2-A4C1-1C37-190B-2C0ABB4813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83729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p3"/>
          <p:cNvSpPr/>
          <p:nvPr/>
        </p:nvSpPr>
        <p:spPr>
          <a:xfrm>
            <a:off x="0" y="-38750"/>
            <a:ext cx="12192000" cy="6857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8" name="Google Shape;128;p3"/>
          <p:cNvSpPr txBox="1">
            <a:spLocks noGrp="1"/>
          </p:cNvSpPr>
          <p:nvPr>
            <p:ph type="title"/>
          </p:nvPr>
        </p:nvSpPr>
        <p:spPr>
          <a:xfrm>
            <a:off x="645065" y="1097280"/>
            <a:ext cx="3796306" cy="4666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600"/>
              <a:buFont typeface="Play"/>
              <a:buNone/>
            </a:pPr>
            <a:r>
              <a:rPr lang="en-US" sz="2000" b="1" dirty="0">
                <a:solidFill>
                  <a:srgbClr val="001C84"/>
                </a:solidFill>
                <a:latin typeface="Open Sans"/>
                <a:ea typeface="Open Sans"/>
                <a:cs typeface="Open Sans"/>
                <a:sym typeface="Open Sans"/>
              </a:rPr>
              <a:t>Adjust the research question to be more specific and reflective of the actual data available.</a:t>
            </a:r>
            <a:br>
              <a:rPr lang="en-US" sz="2000" b="1" dirty="0">
                <a:solidFill>
                  <a:srgbClr val="001C84"/>
                </a:solidFill>
                <a:latin typeface="Open Sans"/>
                <a:ea typeface="Open Sans"/>
                <a:cs typeface="Open Sans"/>
                <a:sym typeface="Open Sans"/>
              </a:rPr>
            </a:br>
            <a:r>
              <a:rPr lang="en-US" sz="2000" b="1" dirty="0">
                <a:solidFill>
                  <a:srgbClr val="001C84"/>
                </a:solidFill>
                <a:latin typeface="Open Sans"/>
                <a:ea typeface="Open Sans"/>
                <a:cs typeface="Open Sans"/>
                <a:sym typeface="Open Sans"/>
              </a:rPr>
              <a:t>If we only have access to shelter data,</a:t>
            </a:r>
            <a:br>
              <a:rPr lang="en-US" sz="2000" dirty="0">
                <a:latin typeface="Open Sans"/>
                <a:ea typeface="Open Sans"/>
                <a:cs typeface="Open Sans"/>
                <a:sym typeface="Open Sans"/>
              </a:rPr>
            </a:br>
            <a:br>
              <a:rPr lang="en-US" sz="2000" dirty="0">
                <a:latin typeface="Open Sans"/>
                <a:ea typeface="Open Sans"/>
                <a:cs typeface="Open Sans"/>
                <a:sym typeface="Open Sans"/>
              </a:rPr>
            </a:br>
            <a:r>
              <a:rPr lang="en-US" sz="2000" u="sng" dirty="0">
                <a:latin typeface="Open Sans"/>
                <a:ea typeface="Open Sans"/>
                <a:cs typeface="Open Sans"/>
                <a:sym typeface="Open Sans"/>
              </a:rPr>
              <a:t>Instead of saying</a:t>
            </a:r>
            <a:r>
              <a:rPr lang="en-US" sz="2000" dirty="0">
                <a:latin typeface="Open Sans"/>
                <a:ea typeface="Open Sans"/>
                <a:cs typeface="Open Sans"/>
                <a:sym typeface="Open Sans"/>
              </a:rPr>
              <a:t>:</a:t>
            </a:r>
            <a:endParaRPr sz="2000" dirty="0">
              <a:latin typeface="Open Sans"/>
              <a:ea typeface="Open Sans"/>
              <a:cs typeface="Open Sans"/>
              <a:sym typeface="Open Sans"/>
            </a:endParaRPr>
          </a:p>
          <a:p>
            <a:pPr marL="457200" lvl="0" indent="0" algn="l" rtl="0">
              <a:lnSpc>
                <a:spcPct val="90000"/>
              </a:lnSpc>
              <a:spcBef>
                <a:spcPts val="0"/>
              </a:spcBef>
              <a:spcAft>
                <a:spcPts val="0"/>
              </a:spcAft>
              <a:buClr>
                <a:schemeClr val="dk1"/>
              </a:buClr>
              <a:buSzPts val="1600"/>
              <a:buFont typeface="Play"/>
              <a:buNone/>
            </a:pPr>
            <a:r>
              <a:rPr lang="en-US" sz="2000" dirty="0">
                <a:latin typeface="Open Sans"/>
                <a:ea typeface="Open Sans"/>
                <a:cs typeface="Open Sans"/>
                <a:sym typeface="Open Sans"/>
              </a:rPr>
              <a:t>The research question is to estimate the risk of </a:t>
            </a:r>
            <a:r>
              <a:rPr lang="en-US" sz="2000" b="1" dirty="0">
                <a:solidFill>
                  <a:schemeClr val="accent4"/>
                </a:solidFill>
                <a:latin typeface="Open Sans"/>
                <a:ea typeface="Open Sans"/>
                <a:cs typeface="Open Sans"/>
                <a:sym typeface="Open Sans"/>
              </a:rPr>
              <a:t>homelessness</a:t>
            </a:r>
            <a:r>
              <a:rPr lang="en-US" sz="2000" dirty="0">
                <a:latin typeface="Open Sans"/>
                <a:ea typeface="Open Sans"/>
                <a:cs typeface="Open Sans"/>
                <a:sym typeface="Open Sans"/>
              </a:rPr>
              <a:t>. </a:t>
            </a:r>
            <a:endParaRPr sz="2000" dirty="0">
              <a:latin typeface="Open Sans"/>
              <a:ea typeface="Open Sans"/>
              <a:cs typeface="Open Sans"/>
              <a:sym typeface="Open Sans"/>
            </a:endParaRPr>
          </a:p>
          <a:p>
            <a:pPr marL="0" lvl="0" indent="0" algn="l" rtl="0">
              <a:lnSpc>
                <a:spcPct val="90000"/>
              </a:lnSpc>
              <a:spcBef>
                <a:spcPts val="0"/>
              </a:spcBef>
              <a:spcAft>
                <a:spcPts val="0"/>
              </a:spcAft>
              <a:buClr>
                <a:schemeClr val="dk1"/>
              </a:buClr>
              <a:buSzPts val="1600"/>
              <a:buFont typeface="Play"/>
              <a:buNone/>
            </a:pPr>
            <a:endParaRPr sz="2000" u="sng" dirty="0">
              <a:latin typeface="Open Sans"/>
              <a:ea typeface="Open Sans"/>
              <a:cs typeface="Open Sans"/>
              <a:sym typeface="Open Sans"/>
            </a:endParaRPr>
          </a:p>
          <a:p>
            <a:pPr marL="0" lvl="0" indent="0" algn="l" rtl="0">
              <a:lnSpc>
                <a:spcPct val="90000"/>
              </a:lnSpc>
              <a:spcBef>
                <a:spcPts val="0"/>
              </a:spcBef>
              <a:spcAft>
                <a:spcPts val="0"/>
              </a:spcAft>
              <a:buClr>
                <a:schemeClr val="dk1"/>
              </a:buClr>
              <a:buSzPts val="1600"/>
              <a:buFont typeface="Play"/>
              <a:buNone/>
            </a:pPr>
            <a:r>
              <a:rPr lang="en-US" sz="2000" u="sng" dirty="0">
                <a:latin typeface="Open Sans"/>
                <a:ea typeface="Open Sans"/>
                <a:cs typeface="Open Sans"/>
                <a:sym typeface="Open Sans"/>
              </a:rPr>
              <a:t>Say</a:t>
            </a:r>
            <a:r>
              <a:rPr lang="en-US" sz="2000" dirty="0">
                <a:latin typeface="Open Sans"/>
                <a:ea typeface="Open Sans"/>
                <a:cs typeface="Open Sans"/>
                <a:sym typeface="Open Sans"/>
              </a:rPr>
              <a:t>: </a:t>
            </a:r>
            <a:endParaRPr sz="2000" dirty="0">
              <a:latin typeface="Open Sans"/>
              <a:ea typeface="Open Sans"/>
              <a:cs typeface="Open Sans"/>
              <a:sym typeface="Open Sans"/>
            </a:endParaRPr>
          </a:p>
          <a:p>
            <a:pPr marL="457200" lvl="0" indent="0" algn="l" rtl="0">
              <a:lnSpc>
                <a:spcPct val="90000"/>
              </a:lnSpc>
              <a:spcBef>
                <a:spcPts val="0"/>
              </a:spcBef>
              <a:spcAft>
                <a:spcPts val="0"/>
              </a:spcAft>
              <a:buClr>
                <a:schemeClr val="dk1"/>
              </a:buClr>
              <a:buSzPts val="1600"/>
              <a:buFont typeface="Play"/>
              <a:buNone/>
            </a:pPr>
            <a:r>
              <a:rPr lang="en-US" sz="2000" dirty="0">
                <a:latin typeface="Open Sans"/>
                <a:ea typeface="Open Sans"/>
                <a:cs typeface="Open Sans"/>
                <a:sym typeface="Open Sans"/>
              </a:rPr>
              <a:t>The research question is to estimate the risk of </a:t>
            </a:r>
            <a:r>
              <a:rPr lang="en-US" sz="2000" b="1" dirty="0">
                <a:solidFill>
                  <a:srgbClr val="D63D1F"/>
                </a:solidFill>
                <a:latin typeface="Open Sans"/>
                <a:ea typeface="Open Sans"/>
                <a:cs typeface="Open Sans"/>
                <a:sym typeface="Open Sans"/>
              </a:rPr>
              <a:t>shelter use</a:t>
            </a:r>
            <a:r>
              <a:rPr lang="en-US" sz="2000" dirty="0">
                <a:latin typeface="Open Sans"/>
                <a:ea typeface="Open Sans"/>
                <a:cs typeface="Open Sans"/>
                <a:sym typeface="Open Sans"/>
              </a:rPr>
              <a:t>.</a:t>
            </a:r>
            <a:endParaRPr sz="2800" dirty="0">
              <a:latin typeface="Open Sans"/>
              <a:ea typeface="Open Sans"/>
              <a:cs typeface="Open Sans"/>
              <a:sym typeface="Open Sans"/>
            </a:endParaRPr>
          </a:p>
        </p:txBody>
      </p:sp>
      <p:grpSp>
        <p:nvGrpSpPr>
          <p:cNvPr id="130" name="Google Shape;130;p3"/>
          <p:cNvGrpSpPr/>
          <p:nvPr/>
        </p:nvGrpSpPr>
        <p:grpSpPr>
          <a:xfrm>
            <a:off x="5271744" y="1475101"/>
            <a:ext cx="6075004" cy="3485721"/>
            <a:chOff x="3058" y="985244"/>
            <a:chExt cx="6075004" cy="3485721"/>
          </a:xfrm>
        </p:grpSpPr>
        <p:sp>
          <p:nvSpPr>
            <p:cNvPr id="131" name="Google Shape;131;p3"/>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
            <p:cNvSpPr/>
            <p:nvPr/>
          </p:nvSpPr>
          <p:spPr>
            <a:xfrm>
              <a:off x="3058" y="98524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Research question</a:t>
              </a:r>
              <a:endParaRPr b="1" dirty="0">
                <a:latin typeface="Open Sans"/>
                <a:ea typeface="Open Sans"/>
                <a:cs typeface="Open Sans"/>
                <a:sym typeface="Open Sans"/>
              </a:endParaRPr>
            </a:p>
          </p:txBody>
        </p:sp>
        <p:sp>
          <p:nvSpPr>
            <p:cNvPr id="133" name="Google Shape;133;p3"/>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3"/>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latin typeface="Open Sans"/>
                <a:ea typeface="Open Sans"/>
                <a:cs typeface="Open Sans"/>
                <a:sym typeface="Open Sans"/>
              </a:endParaRPr>
            </a:p>
          </p:txBody>
        </p:sp>
        <p:sp>
          <p:nvSpPr>
            <p:cNvPr id="135" name="Google Shape;135;p3"/>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3"/>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latin typeface="Open Sans"/>
                <a:ea typeface="Open Sans"/>
                <a:cs typeface="Open Sans"/>
                <a:sym typeface="Open Sans"/>
              </a:endParaRPr>
            </a:p>
          </p:txBody>
        </p:sp>
        <p:sp>
          <p:nvSpPr>
            <p:cNvPr id="137" name="Google Shape;137;p3"/>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139" name="Google Shape;139;p3"/>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41" name="Google Shape;141;p3"/>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3"/>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43" name="Google Shape;143;p3"/>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45" name="Google Shape;145;p3"/>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69429120-B231-1892-0EBA-1091D6AFDF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4</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4"/>
          <p:cNvSpPr txBox="1">
            <a:spLocks noGrp="1"/>
          </p:cNvSpPr>
          <p:nvPr>
            <p:ph type="title"/>
          </p:nvPr>
        </p:nvSpPr>
        <p:spPr>
          <a:xfrm>
            <a:off x="645065" y="1097280"/>
            <a:ext cx="3796306" cy="466620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80000"/>
              <a:buNone/>
            </a:pPr>
            <a:r>
              <a:rPr lang="en-US" sz="2000" b="1" dirty="0">
                <a:solidFill>
                  <a:srgbClr val="001C84"/>
                </a:solidFill>
                <a:latin typeface="Open Sans"/>
                <a:ea typeface="Open Sans"/>
                <a:cs typeface="Open Sans"/>
                <a:sym typeface="Open Sans"/>
              </a:rPr>
              <a:t>Adjust the research question to be more specific and reflective of the actual data collected</a:t>
            </a:r>
            <a:br>
              <a:rPr lang="en-US" sz="2000" dirty="0">
                <a:latin typeface="Open Sans"/>
                <a:ea typeface="Open Sans"/>
                <a:cs typeface="Open Sans"/>
                <a:sym typeface="Open Sans"/>
              </a:rPr>
            </a:br>
            <a:br>
              <a:rPr lang="en-US" sz="2000" dirty="0">
                <a:latin typeface="Open Sans"/>
                <a:ea typeface="Open Sans"/>
                <a:cs typeface="Open Sans"/>
                <a:sym typeface="Open Sans"/>
              </a:rPr>
            </a:br>
            <a:r>
              <a:rPr lang="en-US" sz="2000" u="sng" dirty="0">
                <a:latin typeface="Open Sans"/>
                <a:ea typeface="Open Sans"/>
                <a:cs typeface="Open Sans"/>
                <a:sym typeface="Open Sans"/>
              </a:rPr>
              <a:t>Instead of saying</a:t>
            </a:r>
            <a:r>
              <a:rPr lang="en-US" sz="2000" dirty="0">
                <a:latin typeface="Open Sans"/>
                <a:ea typeface="Open Sans"/>
                <a:cs typeface="Open Sans"/>
                <a:sym typeface="Open Sans"/>
              </a:rPr>
              <a:t>:</a:t>
            </a:r>
            <a:endParaRPr sz="2000" u="sng" dirty="0">
              <a:latin typeface="Open Sans"/>
              <a:ea typeface="Open Sans"/>
              <a:cs typeface="Open Sans"/>
              <a:sym typeface="Open Sans"/>
            </a:endParaRPr>
          </a:p>
          <a:p>
            <a:pPr marL="457200" lvl="0" indent="0" algn="l" rtl="0">
              <a:lnSpc>
                <a:spcPct val="90000"/>
              </a:lnSpc>
              <a:spcBef>
                <a:spcPts val="0"/>
              </a:spcBef>
              <a:spcAft>
                <a:spcPts val="0"/>
              </a:spcAft>
              <a:buSzPct val="80000"/>
              <a:buNone/>
            </a:pPr>
            <a:r>
              <a:rPr lang="en-US" sz="2000" dirty="0">
                <a:latin typeface="Open Sans"/>
                <a:ea typeface="Open Sans"/>
                <a:cs typeface="Open Sans"/>
                <a:sym typeface="Open Sans"/>
              </a:rPr>
              <a:t>The research question is </a:t>
            </a:r>
            <a:r>
              <a:rPr lang="en-US" sz="2000" dirty="0">
                <a:solidFill>
                  <a:srgbClr val="000000"/>
                </a:solidFill>
                <a:latin typeface="Open Sans"/>
                <a:ea typeface="Open Sans"/>
                <a:cs typeface="Open Sans"/>
                <a:sym typeface="Open Sans"/>
              </a:rPr>
              <a:t>how the experience of </a:t>
            </a:r>
            <a:r>
              <a:rPr lang="en-US" sz="2000" b="1" dirty="0">
                <a:solidFill>
                  <a:schemeClr val="accent4"/>
                </a:solidFill>
                <a:latin typeface="Open Sans"/>
                <a:ea typeface="Open Sans"/>
                <a:cs typeface="Open Sans"/>
                <a:sym typeface="Open Sans"/>
              </a:rPr>
              <a:t>homelessness differs by gender</a:t>
            </a:r>
            <a:r>
              <a:rPr lang="en-US" sz="2000" dirty="0">
                <a:latin typeface="Open Sans"/>
                <a:ea typeface="Open Sans"/>
                <a:cs typeface="Open Sans"/>
                <a:sym typeface="Open Sans"/>
              </a:rPr>
              <a:t>.</a:t>
            </a:r>
            <a:endParaRPr sz="2000" dirty="0">
              <a:latin typeface="Open Sans"/>
              <a:ea typeface="Open Sans"/>
              <a:cs typeface="Open Sans"/>
              <a:sym typeface="Open Sans"/>
            </a:endParaRPr>
          </a:p>
          <a:p>
            <a:pPr marL="457200" lvl="0" indent="0" algn="l" rtl="0">
              <a:lnSpc>
                <a:spcPct val="90000"/>
              </a:lnSpc>
              <a:spcBef>
                <a:spcPts val="0"/>
              </a:spcBef>
              <a:spcAft>
                <a:spcPts val="0"/>
              </a:spcAft>
              <a:buSzPct val="80000"/>
              <a:buNone/>
            </a:pPr>
            <a:endParaRPr sz="2000" dirty="0">
              <a:solidFill>
                <a:schemeClr val="accent1"/>
              </a:solidFill>
              <a:latin typeface="Open Sans"/>
              <a:ea typeface="Open Sans"/>
              <a:cs typeface="Open Sans"/>
              <a:sym typeface="Open Sans"/>
            </a:endParaRPr>
          </a:p>
          <a:p>
            <a:pPr marL="0" lvl="0" indent="0" algn="l" rtl="0">
              <a:lnSpc>
                <a:spcPct val="90000"/>
              </a:lnSpc>
              <a:spcBef>
                <a:spcPts val="0"/>
              </a:spcBef>
              <a:spcAft>
                <a:spcPts val="0"/>
              </a:spcAft>
              <a:buSzPct val="80000"/>
              <a:buNone/>
            </a:pPr>
            <a:r>
              <a:rPr lang="en-US" sz="2000" u="sng" dirty="0">
                <a:latin typeface="Open Sans"/>
                <a:ea typeface="Open Sans"/>
                <a:cs typeface="Open Sans"/>
                <a:sym typeface="Open Sans"/>
              </a:rPr>
              <a:t>Say</a:t>
            </a:r>
            <a:r>
              <a:rPr lang="en-US" sz="2000" dirty="0">
                <a:latin typeface="Open Sans"/>
                <a:ea typeface="Open Sans"/>
                <a:cs typeface="Open Sans"/>
                <a:sym typeface="Open Sans"/>
              </a:rPr>
              <a:t>: </a:t>
            </a:r>
            <a:endParaRPr sz="2000" dirty="0">
              <a:latin typeface="Open Sans"/>
              <a:ea typeface="Open Sans"/>
              <a:cs typeface="Open Sans"/>
              <a:sym typeface="Open Sans"/>
            </a:endParaRPr>
          </a:p>
          <a:p>
            <a:pPr marL="457200" lvl="0" indent="0" algn="l" rtl="0">
              <a:lnSpc>
                <a:spcPct val="90000"/>
              </a:lnSpc>
              <a:spcBef>
                <a:spcPts val="0"/>
              </a:spcBef>
              <a:spcAft>
                <a:spcPts val="0"/>
              </a:spcAft>
              <a:buSzPct val="80000"/>
              <a:buNone/>
            </a:pPr>
            <a:r>
              <a:rPr lang="en-US" sz="2000" dirty="0">
                <a:latin typeface="Open Sans"/>
                <a:ea typeface="Open Sans"/>
                <a:cs typeface="Open Sans"/>
                <a:sym typeface="Open Sans"/>
              </a:rPr>
              <a:t>The research question is how </a:t>
            </a:r>
            <a:r>
              <a:rPr lang="en-US" sz="2000" b="1" dirty="0">
                <a:solidFill>
                  <a:srgbClr val="D63D1F"/>
                </a:solidFill>
                <a:latin typeface="Open Sans"/>
                <a:ea typeface="Open Sans"/>
                <a:cs typeface="Open Sans"/>
                <a:sym typeface="Open Sans"/>
              </a:rPr>
              <a:t>shelter use differs by gender, specifically the most recent self-reported binary gender</a:t>
            </a:r>
            <a:r>
              <a:rPr lang="en-US" sz="2000" dirty="0">
                <a:latin typeface="Open Sans"/>
                <a:ea typeface="Open Sans"/>
                <a:cs typeface="Open Sans"/>
                <a:sym typeface="Open Sans"/>
              </a:rPr>
              <a:t>.</a:t>
            </a:r>
            <a:endParaRPr sz="2800" dirty="0">
              <a:latin typeface="Open Sans"/>
              <a:ea typeface="Open Sans"/>
              <a:cs typeface="Open Sans"/>
              <a:sym typeface="Open Sans"/>
            </a:endParaRPr>
          </a:p>
        </p:txBody>
      </p:sp>
      <p:grpSp>
        <p:nvGrpSpPr>
          <p:cNvPr id="152" name="Google Shape;152;p4"/>
          <p:cNvGrpSpPr/>
          <p:nvPr/>
        </p:nvGrpSpPr>
        <p:grpSpPr>
          <a:xfrm>
            <a:off x="5271744" y="1475101"/>
            <a:ext cx="6075004" cy="3485721"/>
            <a:chOff x="3058" y="985244"/>
            <a:chExt cx="6075004" cy="3485721"/>
          </a:xfrm>
        </p:grpSpPr>
        <p:sp>
          <p:nvSpPr>
            <p:cNvPr id="153" name="Google Shape;153;p4"/>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4"/>
            <p:cNvSpPr/>
            <p:nvPr/>
          </p:nvSpPr>
          <p:spPr>
            <a:xfrm>
              <a:off x="3058" y="98524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Research question</a:t>
              </a:r>
              <a:endParaRPr b="1" dirty="0">
                <a:latin typeface="Open Sans"/>
                <a:ea typeface="Open Sans"/>
                <a:cs typeface="Open Sans"/>
                <a:sym typeface="Open Sans"/>
              </a:endParaRPr>
            </a:p>
          </p:txBody>
        </p:sp>
        <p:sp>
          <p:nvSpPr>
            <p:cNvPr id="155" name="Google Shape;155;p4"/>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4"/>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latin typeface="Open Sans"/>
                <a:ea typeface="Open Sans"/>
                <a:cs typeface="Open Sans"/>
                <a:sym typeface="Open Sans"/>
              </a:endParaRPr>
            </a:p>
          </p:txBody>
        </p:sp>
        <p:sp>
          <p:nvSpPr>
            <p:cNvPr id="157" name="Google Shape;157;p4"/>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4"/>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latin typeface="Open Sans"/>
                <a:ea typeface="Open Sans"/>
                <a:cs typeface="Open Sans"/>
                <a:sym typeface="Open Sans"/>
              </a:endParaRPr>
            </a:p>
          </p:txBody>
        </p:sp>
        <p:sp>
          <p:nvSpPr>
            <p:cNvPr id="159" name="Google Shape;159;p4"/>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4"/>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161" name="Google Shape;161;p4"/>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4"/>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63" name="Google Shape;163;p4"/>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4"/>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65" name="Google Shape;165;p4"/>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4"/>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67" name="Google Shape;167;p4"/>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E309841F-BFD1-C551-FC93-8A18C9516D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5</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A92D47B5-9737-1266-FF4F-251431DA604B}"/>
            </a:ext>
          </a:extLst>
        </p:cNvPr>
        <p:cNvGrpSpPr/>
        <p:nvPr/>
      </p:nvGrpSpPr>
      <p:grpSpPr>
        <a:xfrm>
          <a:off x="0" y="0"/>
          <a:ext cx="0" cy="0"/>
          <a:chOff x="0" y="0"/>
          <a:chExt cx="0" cy="0"/>
        </a:xfrm>
      </p:grpSpPr>
      <p:sp>
        <p:nvSpPr>
          <p:cNvPr id="150" name="Google Shape;150;p4">
            <a:extLst>
              <a:ext uri="{FF2B5EF4-FFF2-40B4-BE49-F238E27FC236}">
                <a16:creationId xmlns:a16="http://schemas.microsoft.com/office/drawing/2014/main" id="{1027F954-0FD2-733C-D8ED-B081077FFB14}"/>
              </a:ext>
            </a:extLst>
          </p:cNvPr>
          <p:cNvSpPr txBox="1">
            <a:spLocks noGrp="1"/>
          </p:cNvSpPr>
          <p:nvPr>
            <p:ph type="title"/>
          </p:nvPr>
        </p:nvSpPr>
        <p:spPr>
          <a:xfrm>
            <a:off x="645064" y="1097280"/>
            <a:ext cx="3963511" cy="4666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80000"/>
              <a:buNone/>
            </a:pPr>
            <a:r>
              <a:rPr lang="en-US" sz="20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Use FAIR2 as a guide</a:t>
            </a:r>
            <a:br>
              <a:rPr lang="en-US" sz="20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6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Frame – Articulate – Identify – Report</a:t>
            </a:r>
            <a:br>
              <a:rPr lang="en-US" sz="16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br>
            <a:br>
              <a:rPr lang="en-US" sz="16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FAIR2…</a:t>
            </a: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8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Frames</a:t>
            </a: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 (meta)data with experiential knowledge, </a:t>
            </a: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8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Articulates</a:t>
            </a: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 assumptions about data relationships with causal graphs, </a:t>
            </a: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8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Identifies</a:t>
            </a: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 sources of bias in the data, and </a:t>
            </a: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8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Reports</a:t>
            </a: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 back to those represented in the data</a:t>
            </a: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b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b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….leading to a more ethical use of data and analytics for the public interest.</a:t>
            </a:r>
            <a:endParaRPr sz="28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grpSp>
        <p:nvGrpSpPr>
          <p:cNvPr id="152" name="Google Shape;152;p4">
            <a:extLst>
              <a:ext uri="{FF2B5EF4-FFF2-40B4-BE49-F238E27FC236}">
                <a16:creationId xmlns:a16="http://schemas.microsoft.com/office/drawing/2014/main" id="{0C23A210-C65F-EBB0-E919-9941C67934D2}"/>
              </a:ext>
            </a:extLst>
          </p:cNvPr>
          <p:cNvGrpSpPr/>
          <p:nvPr/>
        </p:nvGrpSpPr>
        <p:grpSpPr>
          <a:xfrm>
            <a:off x="5271744" y="1475101"/>
            <a:ext cx="6075004" cy="3485721"/>
            <a:chOff x="3058" y="985244"/>
            <a:chExt cx="6075004" cy="3485721"/>
          </a:xfrm>
        </p:grpSpPr>
        <p:sp>
          <p:nvSpPr>
            <p:cNvPr id="153" name="Google Shape;153;p4">
              <a:extLst>
                <a:ext uri="{FF2B5EF4-FFF2-40B4-BE49-F238E27FC236}">
                  <a16:creationId xmlns:a16="http://schemas.microsoft.com/office/drawing/2014/main" id="{C41A0FB3-4FAE-8314-CF0B-3B076E2C54E4}"/>
                </a:ext>
              </a:extLst>
            </p:cNvPr>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4">
              <a:extLst>
                <a:ext uri="{FF2B5EF4-FFF2-40B4-BE49-F238E27FC236}">
                  <a16:creationId xmlns:a16="http://schemas.microsoft.com/office/drawing/2014/main" id="{CEDBD522-608F-595C-01A1-CABF07D968B4}"/>
                </a:ext>
              </a:extLst>
            </p:cNvPr>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bg1"/>
                  </a:solidFill>
                  <a:latin typeface="Open Sans"/>
                  <a:ea typeface="Open Sans"/>
                  <a:cs typeface="Open Sans"/>
                  <a:sym typeface="Open Sans"/>
                </a:rPr>
                <a:t>Research question</a:t>
              </a:r>
              <a:endParaRPr dirty="0">
                <a:solidFill>
                  <a:schemeClr val="bg1"/>
                </a:solidFill>
                <a:latin typeface="Open Sans"/>
                <a:ea typeface="Open Sans"/>
                <a:cs typeface="Open Sans"/>
                <a:sym typeface="Open Sans"/>
              </a:endParaRPr>
            </a:p>
          </p:txBody>
        </p:sp>
        <p:sp>
          <p:nvSpPr>
            <p:cNvPr id="155" name="Google Shape;155;p4">
              <a:extLst>
                <a:ext uri="{FF2B5EF4-FFF2-40B4-BE49-F238E27FC236}">
                  <a16:creationId xmlns:a16="http://schemas.microsoft.com/office/drawing/2014/main" id="{34E91FDB-89C4-794D-1F4F-B4811DA72A9A}"/>
                </a:ext>
              </a:extLst>
            </p:cNvPr>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4079C2FD-B06A-374A-5EDF-20C9CA83CD4B}"/>
                </a:ext>
              </a:extLst>
            </p:cNvPr>
            <p:cNvSpPr/>
            <p:nvPr/>
          </p:nvSpPr>
          <p:spPr>
            <a:xfrm>
              <a:off x="3058" y="223010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Research design</a:t>
              </a:r>
              <a:endParaRPr b="1" dirty="0">
                <a:solidFill>
                  <a:srgbClr val="001C84"/>
                </a:solidFill>
                <a:latin typeface="Open Sans"/>
                <a:ea typeface="Open Sans"/>
                <a:cs typeface="Open Sans"/>
                <a:sym typeface="Open Sans"/>
              </a:endParaRPr>
            </a:p>
          </p:txBody>
        </p:sp>
        <p:sp>
          <p:nvSpPr>
            <p:cNvPr id="157" name="Google Shape;157;p4">
              <a:extLst>
                <a:ext uri="{FF2B5EF4-FFF2-40B4-BE49-F238E27FC236}">
                  <a16:creationId xmlns:a16="http://schemas.microsoft.com/office/drawing/2014/main" id="{F335086C-BA94-04BD-787F-317481D6C856}"/>
                </a:ext>
              </a:extLst>
            </p:cNvPr>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4">
              <a:extLst>
                <a:ext uri="{FF2B5EF4-FFF2-40B4-BE49-F238E27FC236}">
                  <a16:creationId xmlns:a16="http://schemas.microsoft.com/office/drawing/2014/main" id="{2FF09544-14EC-F3C6-2B87-2CA8232D9682}"/>
                </a:ext>
              </a:extLst>
            </p:cNvPr>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Design of measures</a:t>
              </a:r>
              <a:endParaRPr dirty="0">
                <a:latin typeface="Open Sans"/>
                <a:ea typeface="Open Sans"/>
                <a:cs typeface="Open Sans"/>
                <a:sym typeface="Open Sans"/>
              </a:endParaRPr>
            </a:p>
          </p:txBody>
        </p:sp>
        <p:sp>
          <p:nvSpPr>
            <p:cNvPr id="159" name="Google Shape;159;p4">
              <a:extLst>
                <a:ext uri="{FF2B5EF4-FFF2-40B4-BE49-F238E27FC236}">
                  <a16:creationId xmlns:a16="http://schemas.microsoft.com/office/drawing/2014/main" id="{21E5771D-4F4A-6F85-BE42-E6C9AEDA8E74}"/>
                </a:ext>
              </a:extLst>
            </p:cNvPr>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4">
              <a:extLst>
                <a:ext uri="{FF2B5EF4-FFF2-40B4-BE49-F238E27FC236}">
                  <a16:creationId xmlns:a16="http://schemas.microsoft.com/office/drawing/2014/main" id="{7C647F1E-257E-160A-9B06-B2CE5B87F299}"/>
                </a:ext>
              </a:extLst>
            </p:cNvPr>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161" name="Google Shape;161;p4">
              <a:extLst>
                <a:ext uri="{FF2B5EF4-FFF2-40B4-BE49-F238E27FC236}">
                  <a16:creationId xmlns:a16="http://schemas.microsoft.com/office/drawing/2014/main" id="{45E7E8FD-3281-046F-0065-A76CFB1105FE}"/>
                </a:ext>
              </a:extLst>
            </p:cNvPr>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4">
              <a:extLst>
                <a:ext uri="{FF2B5EF4-FFF2-40B4-BE49-F238E27FC236}">
                  <a16:creationId xmlns:a16="http://schemas.microsoft.com/office/drawing/2014/main" id="{8C809F94-2099-0044-10AB-330AD7C9BDBC}"/>
                </a:ext>
              </a:extLst>
            </p:cNvPr>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63" name="Google Shape;163;p4">
              <a:extLst>
                <a:ext uri="{FF2B5EF4-FFF2-40B4-BE49-F238E27FC236}">
                  <a16:creationId xmlns:a16="http://schemas.microsoft.com/office/drawing/2014/main" id="{75EAB215-E76F-0530-9606-B9A5D3420533}"/>
                </a:ext>
              </a:extLst>
            </p:cNvPr>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4">
              <a:extLst>
                <a:ext uri="{FF2B5EF4-FFF2-40B4-BE49-F238E27FC236}">
                  <a16:creationId xmlns:a16="http://schemas.microsoft.com/office/drawing/2014/main" id="{58510345-DDBA-481E-6F24-2DB103EC1EC5}"/>
                </a:ext>
              </a:extLst>
            </p:cNvPr>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65" name="Google Shape;165;p4">
              <a:extLst>
                <a:ext uri="{FF2B5EF4-FFF2-40B4-BE49-F238E27FC236}">
                  <a16:creationId xmlns:a16="http://schemas.microsoft.com/office/drawing/2014/main" id="{A544ACDF-4045-36EF-4A1F-7494A23DD953}"/>
                </a:ext>
              </a:extLst>
            </p:cNvPr>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4">
              <a:extLst>
                <a:ext uri="{FF2B5EF4-FFF2-40B4-BE49-F238E27FC236}">
                  <a16:creationId xmlns:a16="http://schemas.microsoft.com/office/drawing/2014/main" id="{0A7463AC-13E6-4FBA-AADA-BDC35DEB633A}"/>
                </a:ext>
              </a:extLst>
            </p:cNvPr>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67" name="Google Shape;167;p4">
              <a:extLst>
                <a:ext uri="{FF2B5EF4-FFF2-40B4-BE49-F238E27FC236}">
                  <a16:creationId xmlns:a16="http://schemas.microsoft.com/office/drawing/2014/main" id="{97848DBA-F27B-841A-D114-E6BAAD8E414F}"/>
                </a:ext>
              </a:extLst>
            </p:cNvPr>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44CDE497-DDD4-2F75-F7C6-91555C855C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6</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54318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0"/>
        <p:cNvGrpSpPr/>
        <p:nvPr/>
      </p:nvGrpSpPr>
      <p:grpSpPr>
        <a:xfrm>
          <a:off x="0" y="0"/>
          <a:ext cx="0" cy="0"/>
          <a:chOff x="0" y="0"/>
          <a:chExt cx="0" cy="0"/>
        </a:xfrm>
      </p:grpSpPr>
      <p:sp>
        <p:nvSpPr>
          <p:cNvPr id="202" name="Google Shape;202;p6"/>
          <p:cNvSpPr txBox="1">
            <a:spLocks noGrp="1"/>
          </p:cNvSpPr>
          <p:nvPr>
            <p:ph type="title"/>
          </p:nvPr>
        </p:nvSpPr>
        <p:spPr>
          <a:xfrm>
            <a:off x="370114" y="884800"/>
            <a:ext cx="4695767" cy="5498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ct val="100000"/>
              <a:buNone/>
            </a:pPr>
            <a:r>
              <a:rPr lang="en-US" sz="1800" b="1" dirty="0">
                <a:solidFill>
                  <a:srgbClr val="001C84"/>
                </a:solidFill>
                <a:latin typeface="Open Sans"/>
                <a:ea typeface="Open Sans"/>
                <a:cs typeface="Open Sans"/>
                <a:sym typeface="Open Sans"/>
              </a:rPr>
              <a:t>Frame and Articulate the research design: Learn about the data-generating process and metadata; make explicit your assumptions in a graphical model.</a:t>
            </a:r>
            <a:br>
              <a:rPr lang="en-US" sz="1800" b="1" dirty="0">
                <a:solidFill>
                  <a:srgbClr val="001C84"/>
                </a:solidFill>
                <a:latin typeface="Open Sans"/>
                <a:ea typeface="Open Sans"/>
                <a:cs typeface="Open Sans"/>
                <a:sym typeface="Open Sans"/>
              </a:rPr>
            </a:br>
            <a:br>
              <a:rPr lang="en-US" sz="1800" b="1" dirty="0">
                <a:solidFill>
                  <a:srgbClr val="001C84"/>
                </a:solidFill>
                <a:latin typeface="Open Sans"/>
                <a:ea typeface="Open Sans"/>
                <a:cs typeface="Open Sans"/>
                <a:sym typeface="Open Sans"/>
              </a:rPr>
            </a:br>
            <a:r>
              <a:rPr lang="en-US" sz="1800" b="1" dirty="0">
                <a:solidFill>
                  <a:srgbClr val="001C84"/>
                </a:solidFill>
                <a:latin typeface="Open Sans"/>
                <a:ea typeface="Open Sans"/>
                <a:cs typeface="Open Sans"/>
                <a:sym typeface="Open Sans"/>
              </a:rPr>
              <a:t>Knowledge is experiential, scientific, and historical.</a:t>
            </a:r>
            <a:br>
              <a:rPr lang="en-US" sz="1800" dirty="0">
                <a:highlight>
                  <a:srgbClr val="FFFF00"/>
                </a:highlight>
                <a:latin typeface="Open Sans"/>
                <a:ea typeface="Open Sans"/>
                <a:cs typeface="Open Sans"/>
                <a:sym typeface="Open Sans"/>
              </a:rPr>
            </a:br>
            <a:br>
              <a:rPr lang="en-US" sz="1800" dirty="0">
                <a:latin typeface="Open Sans"/>
                <a:ea typeface="Open Sans"/>
                <a:cs typeface="Open Sans"/>
                <a:sym typeface="Open Sans"/>
              </a:rPr>
            </a:br>
            <a:r>
              <a:rPr lang="en-US" sz="1800" u="sng" dirty="0">
                <a:latin typeface="Open Sans"/>
                <a:ea typeface="Open Sans"/>
                <a:cs typeface="Open Sans"/>
                <a:sym typeface="Open Sans"/>
              </a:rPr>
              <a:t>Instead of</a:t>
            </a:r>
            <a:r>
              <a:rPr lang="en-US" sz="1800" dirty="0">
                <a:latin typeface="Open Sans"/>
                <a:ea typeface="Open Sans"/>
                <a:cs typeface="Open Sans"/>
                <a:sym typeface="Open Sans"/>
              </a:rPr>
              <a:t>: </a:t>
            </a:r>
            <a:endParaRPr sz="1800" dirty="0">
              <a:latin typeface="Open Sans"/>
              <a:ea typeface="Open Sans"/>
              <a:cs typeface="Open Sans"/>
              <a:sym typeface="Open Sans"/>
            </a:endParaRPr>
          </a:p>
          <a:p>
            <a:pPr marL="457200" lvl="0" indent="0" algn="l" rtl="0">
              <a:lnSpc>
                <a:spcPct val="90000"/>
              </a:lnSpc>
              <a:spcBef>
                <a:spcPts val="0"/>
              </a:spcBef>
              <a:spcAft>
                <a:spcPts val="0"/>
              </a:spcAft>
              <a:buSzPct val="100000"/>
              <a:buNone/>
            </a:pPr>
            <a:r>
              <a:rPr lang="en-US" sz="1800" b="1" dirty="0">
                <a:solidFill>
                  <a:schemeClr val="accent4"/>
                </a:solidFill>
                <a:latin typeface="Open Sans"/>
                <a:ea typeface="Open Sans"/>
                <a:cs typeface="Open Sans"/>
                <a:sym typeface="Open Sans"/>
              </a:rPr>
              <a:t>Assuming data is always an accurate and objective reflection of reality,</a:t>
            </a:r>
            <a:endParaRPr sz="1800" dirty="0">
              <a:latin typeface="Open Sans"/>
              <a:ea typeface="Open Sans"/>
              <a:cs typeface="Open Sans"/>
              <a:sym typeface="Open Sans"/>
            </a:endParaRPr>
          </a:p>
          <a:p>
            <a:pPr marL="457200" lvl="0" indent="0" algn="l" rtl="0">
              <a:lnSpc>
                <a:spcPct val="90000"/>
              </a:lnSpc>
              <a:spcBef>
                <a:spcPts val="0"/>
              </a:spcBef>
              <a:spcAft>
                <a:spcPts val="0"/>
              </a:spcAft>
              <a:buSzPct val="100000"/>
              <a:buNone/>
            </a:pPr>
            <a:endParaRPr sz="1800" dirty="0">
              <a:latin typeface="Open Sans"/>
              <a:ea typeface="Open Sans"/>
              <a:cs typeface="Open Sans"/>
              <a:sym typeface="Open Sans"/>
            </a:endParaRPr>
          </a:p>
          <a:p>
            <a:pPr marL="0" lvl="0" indent="0" algn="l" rtl="0">
              <a:lnSpc>
                <a:spcPct val="90000"/>
              </a:lnSpc>
              <a:spcBef>
                <a:spcPts val="0"/>
              </a:spcBef>
              <a:spcAft>
                <a:spcPts val="0"/>
              </a:spcAft>
              <a:buSzPct val="100000"/>
              <a:buNone/>
            </a:pPr>
            <a:r>
              <a:rPr lang="en-US" sz="1800" u="sng" dirty="0">
                <a:latin typeface="Open Sans"/>
                <a:ea typeface="Open Sans"/>
                <a:cs typeface="Open Sans"/>
                <a:sym typeface="Open Sans"/>
              </a:rPr>
              <a:t>Consider</a:t>
            </a:r>
            <a:r>
              <a:rPr lang="en-US" sz="1800" dirty="0">
                <a:latin typeface="Open Sans"/>
                <a:ea typeface="Open Sans"/>
                <a:cs typeface="Open Sans"/>
                <a:sym typeface="Open Sans"/>
              </a:rPr>
              <a:t>: </a:t>
            </a:r>
            <a:endParaRPr sz="1800" dirty="0">
              <a:latin typeface="Open Sans"/>
              <a:ea typeface="Open Sans"/>
              <a:cs typeface="Open Sans"/>
              <a:sym typeface="Open Sans"/>
            </a:endParaRPr>
          </a:p>
          <a:p>
            <a:pPr marL="457200" lvl="0" indent="0" algn="l" rtl="0">
              <a:lnSpc>
                <a:spcPct val="90000"/>
              </a:lnSpc>
              <a:spcBef>
                <a:spcPts val="0"/>
              </a:spcBef>
              <a:spcAft>
                <a:spcPts val="0"/>
              </a:spcAft>
              <a:buSzPct val="100000"/>
              <a:buNone/>
            </a:pPr>
            <a:r>
              <a:rPr lang="en-US" sz="1600" dirty="0">
                <a:latin typeface="Open Sans"/>
                <a:ea typeface="Open Sans"/>
                <a:cs typeface="Open Sans"/>
                <a:sym typeface="Open Sans"/>
              </a:rPr>
              <a:t>Under what social interactions were the data generated?  </a:t>
            </a:r>
            <a:r>
              <a:rPr lang="en-US" sz="1600" b="1" dirty="0">
                <a:solidFill>
                  <a:srgbClr val="D63D1F"/>
                </a:solidFill>
                <a:latin typeface="Open Sans"/>
                <a:ea typeface="Open Sans"/>
                <a:cs typeface="Open Sans"/>
                <a:sym typeface="Open Sans"/>
              </a:rPr>
              <a:t>Ask people represented in the data what factors might influence their data intake answers</a:t>
            </a:r>
            <a:r>
              <a:rPr lang="en-US" sz="1600" dirty="0">
                <a:latin typeface="Open Sans"/>
                <a:ea typeface="Open Sans"/>
                <a:cs typeface="Open Sans"/>
                <a:sym typeface="Open Sans"/>
              </a:rPr>
              <a:t>. Use a graphical model to transparently state modeling assumptions.</a:t>
            </a:r>
            <a:br>
              <a:rPr lang="en-US" sz="1400" dirty="0">
                <a:latin typeface="Open Sans"/>
                <a:ea typeface="Open Sans"/>
                <a:cs typeface="Open Sans"/>
                <a:sym typeface="Open Sans"/>
              </a:rPr>
            </a:br>
            <a:br>
              <a:rPr lang="en-US" sz="1200" dirty="0">
                <a:latin typeface="Open Sans"/>
                <a:ea typeface="Open Sans"/>
                <a:cs typeface="Open Sans"/>
                <a:sym typeface="Open Sans"/>
              </a:rPr>
            </a:br>
            <a:endParaRPr sz="1200"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8F092782-CE36-6C4B-3DF9-3FE31D803F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7</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3" name="Google Shape;152;p4">
            <a:extLst>
              <a:ext uri="{FF2B5EF4-FFF2-40B4-BE49-F238E27FC236}">
                <a16:creationId xmlns:a16="http://schemas.microsoft.com/office/drawing/2014/main" id="{6C44BA0F-E2BE-3F95-DEF9-B11CAAD66E73}"/>
              </a:ext>
            </a:extLst>
          </p:cNvPr>
          <p:cNvGrpSpPr/>
          <p:nvPr/>
        </p:nvGrpSpPr>
        <p:grpSpPr>
          <a:xfrm>
            <a:off x="5271744" y="1475101"/>
            <a:ext cx="6075004" cy="3485721"/>
            <a:chOff x="3058" y="985244"/>
            <a:chExt cx="6075004" cy="3485721"/>
          </a:xfrm>
        </p:grpSpPr>
        <p:sp>
          <p:nvSpPr>
            <p:cNvPr id="4" name="Google Shape;153;p4">
              <a:extLst>
                <a:ext uri="{FF2B5EF4-FFF2-40B4-BE49-F238E27FC236}">
                  <a16:creationId xmlns:a16="http://schemas.microsoft.com/office/drawing/2014/main" id="{C6D000DB-E776-8F3F-CE39-388108CE935D}"/>
                </a:ext>
              </a:extLst>
            </p:cNvPr>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154;p4">
              <a:extLst>
                <a:ext uri="{FF2B5EF4-FFF2-40B4-BE49-F238E27FC236}">
                  <a16:creationId xmlns:a16="http://schemas.microsoft.com/office/drawing/2014/main" id="{97F83083-8578-DA27-7EC2-4ECA8D3B5476}"/>
                </a:ext>
              </a:extLst>
            </p:cNvPr>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bg1"/>
                  </a:solidFill>
                  <a:latin typeface="Open Sans"/>
                  <a:ea typeface="Open Sans"/>
                  <a:cs typeface="Open Sans"/>
                  <a:sym typeface="Open Sans"/>
                </a:rPr>
                <a:t>Research question</a:t>
              </a:r>
              <a:endParaRPr dirty="0">
                <a:solidFill>
                  <a:schemeClr val="bg1"/>
                </a:solidFill>
                <a:latin typeface="Open Sans"/>
                <a:ea typeface="Open Sans"/>
                <a:cs typeface="Open Sans"/>
                <a:sym typeface="Open Sans"/>
              </a:endParaRPr>
            </a:p>
          </p:txBody>
        </p:sp>
        <p:sp>
          <p:nvSpPr>
            <p:cNvPr id="6" name="Google Shape;155;p4">
              <a:extLst>
                <a:ext uri="{FF2B5EF4-FFF2-40B4-BE49-F238E27FC236}">
                  <a16:creationId xmlns:a16="http://schemas.microsoft.com/office/drawing/2014/main" id="{BC176DF2-0EC8-0132-4FAA-25DFE0384A94}"/>
                </a:ext>
              </a:extLst>
            </p:cNvPr>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156;p4">
              <a:extLst>
                <a:ext uri="{FF2B5EF4-FFF2-40B4-BE49-F238E27FC236}">
                  <a16:creationId xmlns:a16="http://schemas.microsoft.com/office/drawing/2014/main" id="{E52599D4-0ADF-0156-D4DC-F646C5A0730B}"/>
                </a:ext>
              </a:extLst>
            </p:cNvPr>
            <p:cNvSpPr/>
            <p:nvPr/>
          </p:nvSpPr>
          <p:spPr>
            <a:xfrm>
              <a:off x="3058" y="223010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Research design</a:t>
              </a:r>
              <a:endParaRPr b="1" dirty="0">
                <a:solidFill>
                  <a:srgbClr val="001C84"/>
                </a:solidFill>
                <a:latin typeface="Open Sans"/>
                <a:ea typeface="Open Sans"/>
                <a:cs typeface="Open Sans"/>
                <a:sym typeface="Open Sans"/>
              </a:endParaRPr>
            </a:p>
          </p:txBody>
        </p:sp>
        <p:sp>
          <p:nvSpPr>
            <p:cNvPr id="8" name="Google Shape;157;p4">
              <a:extLst>
                <a:ext uri="{FF2B5EF4-FFF2-40B4-BE49-F238E27FC236}">
                  <a16:creationId xmlns:a16="http://schemas.microsoft.com/office/drawing/2014/main" id="{7A2A9632-5084-B563-8C44-B58ED457BDAB}"/>
                </a:ext>
              </a:extLst>
            </p:cNvPr>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158;p4">
              <a:extLst>
                <a:ext uri="{FF2B5EF4-FFF2-40B4-BE49-F238E27FC236}">
                  <a16:creationId xmlns:a16="http://schemas.microsoft.com/office/drawing/2014/main" id="{ACFAD663-D3F9-DD37-872A-317FDA7783B4}"/>
                </a:ext>
              </a:extLst>
            </p:cNvPr>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Design of measures</a:t>
              </a:r>
              <a:endParaRPr dirty="0">
                <a:latin typeface="Open Sans"/>
                <a:ea typeface="Open Sans"/>
                <a:cs typeface="Open Sans"/>
                <a:sym typeface="Open Sans"/>
              </a:endParaRPr>
            </a:p>
          </p:txBody>
        </p:sp>
        <p:sp>
          <p:nvSpPr>
            <p:cNvPr id="10" name="Google Shape;159;p4">
              <a:extLst>
                <a:ext uri="{FF2B5EF4-FFF2-40B4-BE49-F238E27FC236}">
                  <a16:creationId xmlns:a16="http://schemas.microsoft.com/office/drawing/2014/main" id="{6B2C863C-4E00-48E4-A3B1-435C482FC9DD}"/>
                </a:ext>
              </a:extLst>
            </p:cNvPr>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60;p4">
              <a:extLst>
                <a:ext uri="{FF2B5EF4-FFF2-40B4-BE49-F238E27FC236}">
                  <a16:creationId xmlns:a16="http://schemas.microsoft.com/office/drawing/2014/main" id="{CA0F028D-B3E0-B6DB-E2D4-D56DE7715AAA}"/>
                </a:ext>
              </a:extLst>
            </p:cNvPr>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12" name="Google Shape;161;p4">
              <a:extLst>
                <a:ext uri="{FF2B5EF4-FFF2-40B4-BE49-F238E27FC236}">
                  <a16:creationId xmlns:a16="http://schemas.microsoft.com/office/drawing/2014/main" id="{E58EE30C-4F5A-6043-E14C-76D7DC41414B}"/>
                </a:ext>
              </a:extLst>
            </p:cNvPr>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62;p4">
              <a:extLst>
                <a:ext uri="{FF2B5EF4-FFF2-40B4-BE49-F238E27FC236}">
                  <a16:creationId xmlns:a16="http://schemas.microsoft.com/office/drawing/2014/main" id="{262F034F-40A7-4D3D-37B4-3C4EFEA9055F}"/>
                </a:ext>
              </a:extLst>
            </p:cNvPr>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4" name="Google Shape;163;p4">
              <a:extLst>
                <a:ext uri="{FF2B5EF4-FFF2-40B4-BE49-F238E27FC236}">
                  <a16:creationId xmlns:a16="http://schemas.microsoft.com/office/drawing/2014/main" id="{0A6B670C-EE4A-AB7B-82CA-A8C74F357DC8}"/>
                </a:ext>
              </a:extLst>
            </p:cNvPr>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64;p4">
              <a:extLst>
                <a:ext uri="{FF2B5EF4-FFF2-40B4-BE49-F238E27FC236}">
                  <a16:creationId xmlns:a16="http://schemas.microsoft.com/office/drawing/2014/main" id="{882D1D87-DA71-C0B1-8FC7-C6C057CB92FE}"/>
                </a:ext>
              </a:extLst>
            </p:cNvPr>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6" name="Google Shape;165;p4">
              <a:extLst>
                <a:ext uri="{FF2B5EF4-FFF2-40B4-BE49-F238E27FC236}">
                  <a16:creationId xmlns:a16="http://schemas.microsoft.com/office/drawing/2014/main" id="{BCB7B6DE-5649-0232-B7A7-80CD2579AB3C}"/>
                </a:ext>
              </a:extLst>
            </p:cNvPr>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66;p4">
              <a:extLst>
                <a:ext uri="{FF2B5EF4-FFF2-40B4-BE49-F238E27FC236}">
                  <a16:creationId xmlns:a16="http://schemas.microsoft.com/office/drawing/2014/main" id="{82DBD717-0299-51D8-4614-3E2B889F9F16}"/>
                </a:ext>
              </a:extLst>
            </p:cNvPr>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8" name="Google Shape;167;p4">
              <a:extLst>
                <a:ext uri="{FF2B5EF4-FFF2-40B4-BE49-F238E27FC236}">
                  <a16:creationId xmlns:a16="http://schemas.microsoft.com/office/drawing/2014/main" id="{3669D60E-AE00-0B0F-D459-9FDAB2B9ACF6}"/>
                </a:ext>
              </a:extLst>
            </p:cNvPr>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3"/>
        <p:cNvGrpSpPr/>
        <p:nvPr/>
      </p:nvGrpSpPr>
      <p:grpSpPr>
        <a:xfrm>
          <a:off x="0" y="0"/>
          <a:ext cx="0" cy="0"/>
          <a:chOff x="0" y="0"/>
          <a:chExt cx="0" cy="0"/>
        </a:xfrm>
      </p:grpSpPr>
      <p:sp>
        <p:nvSpPr>
          <p:cNvPr id="224" name="Google Shape;224;p7"/>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5" name="Google Shape;225;p7"/>
          <p:cNvSpPr txBox="1">
            <a:spLocks noGrp="1"/>
          </p:cNvSpPr>
          <p:nvPr>
            <p:ph type="title"/>
          </p:nvPr>
        </p:nvSpPr>
        <p:spPr>
          <a:xfrm>
            <a:off x="736190" y="884802"/>
            <a:ext cx="3796306" cy="466620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111111"/>
              <a:buNone/>
            </a:pPr>
            <a:br>
              <a:rPr lang="en-US" sz="2000">
                <a:highlight>
                  <a:srgbClr val="FFFF00"/>
                </a:highlight>
                <a:latin typeface="Open Sans"/>
                <a:ea typeface="Open Sans"/>
                <a:cs typeface="Open Sans"/>
                <a:sym typeface="Open Sans"/>
              </a:rPr>
            </a:br>
            <a:br>
              <a:rPr lang="en-US" sz="2000">
                <a:latin typeface="Open Sans"/>
                <a:ea typeface="Open Sans"/>
                <a:cs typeface="Open Sans"/>
                <a:sym typeface="Open Sans"/>
              </a:rPr>
            </a:br>
            <a:r>
              <a:rPr lang="en-US" sz="2000" b="1">
                <a:solidFill>
                  <a:srgbClr val="001C84"/>
                </a:solidFill>
                <a:latin typeface="Open Sans"/>
                <a:ea typeface="Open Sans"/>
                <a:cs typeface="Open Sans"/>
                <a:sym typeface="Open Sans"/>
              </a:rPr>
              <a:t>Tap into other sources of data as needed.</a:t>
            </a:r>
            <a:br>
              <a:rPr lang="en-US" sz="2000">
                <a:latin typeface="Open Sans"/>
                <a:ea typeface="Open Sans"/>
                <a:cs typeface="Open Sans"/>
                <a:sym typeface="Open Sans"/>
              </a:rPr>
            </a:br>
            <a:br>
              <a:rPr lang="en-US" sz="2000">
                <a:latin typeface="Open Sans"/>
                <a:ea typeface="Open Sans"/>
                <a:cs typeface="Open Sans"/>
                <a:sym typeface="Open Sans"/>
              </a:rPr>
            </a:br>
            <a:r>
              <a:rPr lang="en-US" sz="2200" u="sng">
                <a:latin typeface="Open Sans"/>
                <a:ea typeface="Open Sans"/>
                <a:cs typeface="Open Sans"/>
                <a:sym typeface="Open Sans"/>
              </a:rPr>
              <a:t>Instead of</a:t>
            </a:r>
            <a:r>
              <a:rPr lang="en-US" sz="2200">
                <a:latin typeface="Open Sans"/>
                <a:ea typeface="Open Sans"/>
                <a:cs typeface="Open Sans"/>
                <a:sym typeface="Open Sans"/>
              </a:rPr>
              <a:t>: </a:t>
            </a:r>
            <a:endParaRPr sz="2200">
              <a:latin typeface="Open Sans"/>
              <a:ea typeface="Open Sans"/>
              <a:cs typeface="Open Sans"/>
              <a:sym typeface="Open Sans"/>
            </a:endParaRPr>
          </a:p>
          <a:p>
            <a:pPr marL="457200" lvl="0" indent="0" algn="l" rtl="0">
              <a:lnSpc>
                <a:spcPct val="90000"/>
              </a:lnSpc>
              <a:spcBef>
                <a:spcPts val="0"/>
              </a:spcBef>
              <a:spcAft>
                <a:spcPts val="0"/>
              </a:spcAft>
              <a:buSzPct val="101010"/>
              <a:buNone/>
            </a:pPr>
            <a:r>
              <a:rPr lang="en-US" sz="2200" b="1">
                <a:solidFill>
                  <a:schemeClr val="accent4"/>
                </a:solidFill>
                <a:latin typeface="Open Sans"/>
                <a:ea typeface="Open Sans"/>
                <a:cs typeface="Open Sans"/>
                <a:sym typeface="Open Sans"/>
              </a:rPr>
              <a:t>Relying solely on one data source</a:t>
            </a:r>
            <a:r>
              <a:rPr lang="en-US" sz="2200">
                <a:latin typeface="Open Sans"/>
                <a:ea typeface="Open Sans"/>
                <a:cs typeface="Open Sans"/>
                <a:sym typeface="Open Sans"/>
              </a:rPr>
              <a:t> (HMIS) to reveal homelessness.</a:t>
            </a:r>
            <a:endParaRPr sz="2000">
              <a:latin typeface="Open Sans"/>
              <a:ea typeface="Open Sans"/>
              <a:cs typeface="Open Sans"/>
              <a:sym typeface="Open Sans"/>
            </a:endParaRPr>
          </a:p>
          <a:p>
            <a:pPr marL="457200" lvl="0" indent="0" algn="l" rtl="0">
              <a:lnSpc>
                <a:spcPct val="90000"/>
              </a:lnSpc>
              <a:spcBef>
                <a:spcPts val="0"/>
              </a:spcBef>
              <a:spcAft>
                <a:spcPts val="0"/>
              </a:spcAft>
              <a:buSzPct val="111111"/>
              <a:buNone/>
            </a:pPr>
            <a:endParaRPr sz="2000">
              <a:latin typeface="Open Sans"/>
              <a:ea typeface="Open Sans"/>
              <a:cs typeface="Open Sans"/>
              <a:sym typeface="Open Sans"/>
            </a:endParaRPr>
          </a:p>
          <a:p>
            <a:pPr marL="0" lvl="0" indent="0" algn="l" rtl="0">
              <a:lnSpc>
                <a:spcPct val="90000"/>
              </a:lnSpc>
              <a:spcBef>
                <a:spcPts val="0"/>
              </a:spcBef>
              <a:spcAft>
                <a:spcPts val="0"/>
              </a:spcAft>
              <a:buSzPct val="111111"/>
              <a:buNone/>
            </a:pPr>
            <a:r>
              <a:rPr lang="en-US" sz="2000" u="sng">
                <a:latin typeface="Open Sans"/>
                <a:ea typeface="Open Sans"/>
                <a:cs typeface="Open Sans"/>
                <a:sym typeface="Open Sans"/>
              </a:rPr>
              <a:t>Consider</a:t>
            </a:r>
            <a:r>
              <a:rPr lang="en-US" sz="2000">
                <a:latin typeface="Open Sans"/>
                <a:ea typeface="Open Sans"/>
                <a:cs typeface="Open Sans"/>
                <a:sym typeface="Open Sans"/>
              </a:rPr>
              <a:t>: </a:t>
            </a:r>
            <a:endParaRPr sz="2000">
              <a:latin typeface="Open Sans"/>
              <a:ea typeface="Open Sans"/>
              <a:cs typeface="Open Sans"/>
              <a:sym typeface="Open Sans"/>
            </a:endParaRPr>
          </a:p>
          <a:p>
            <a:pPr marL="457200" lvl="0" indent="0" algn="l" rtl="0">
              <a:lnSpc>
                <a:spcPct val="90000"/>
              </a:lnSpc>
              <a:spcBef>
                <a:spcPts val="0"/>
              </a:spcBef>
              <a:spcAft>
                <a:spcPts val="0"/>
              </a:spcAft>
              <a:buSzPct val="111111"/>
              <a:buNone/>
            </a:pPr>
            <a:r>
              <a:rPr lang="en-US" sz="2000" b="1">
                <a:solidFill>
                  <a:srgbClr val="D63D1F"/>
                </a:solidFill>
                <a:latin typeface="Open Sans"/>
                <a:ea typeface="Open Sans"/>
                <a:cs typeface="Open Sans"/>
                <a:sym typeface="Open Sans"/>
              </a:rPr>
              <a:t>Indicators</a:t>
            </a:r>
            <a:r>
              <a:rPr lang="en-US" sz="2000">
                <a:latin typeface="Open Sans"/>
                <a:ea typeface="Open Sans"/>
                <a:cs typeface="Open Sans"/>
                <a:sym typeface="Open Sans"/>
              </a:rPr>
              <a:t> within </a:t>
            </a:r>
            <a:r>
              <a:rPr lang="en-US" sz="2000" b="1">
                <a:solidFill>
                  <a:srgbClr val="D63D1F"/>
                </a:solidFill>
                <a:latin typeface="Open Sans"/>
                <a:ea typeface="Open Sans"/>
                <a:cs typeface="Open Sans"/>
                <a:sym typeface="Open Sans"/>
              </a:rPr>
              <a:t>other datasets</a:t>
            </a:r>
            <a:r>
              <a:rPr lang="en-US" sz="2000">
                <a:latin typeface="Open Sans"/>
                <a:ea typeface="Open Sans"/>
                <a:cs typeface="Open Sans"/>
                <a:sym typeface="Open Sans"/>
              </a:rPr>
              <a:t> that may uncover homelessness outside of shelter, such as address in food assistance data (SNAP) or school data.</a:t>
            </a:r>
            <a:br>
              <a:rPr lang="en-US" sz="2000">
                <a:latin typeface="Open Sans"/>
                <a:ea typeface="Open Sans"/>
                <a:cs typeface="Open Sans"/>
                <a:sym typeface="Open Sans"/>
              </a:rPr>
            </a:br>
            <a:br>
              <a:rPr lang="en-US" sz="2000">
                <a:latin typeface="Open Sans"/>
                <a:ea typeface="Open Sans"/>
                <a:cs typeface="Open Sans"/>
                <a:sym typeface="Open Sans"/>
              </a:rPr>
            </a:br>
            <a:br>
              <a:rPr lang="en-US" sz="2000">
                <a:latin typeface="Open Sans"/>
                <a:ea typeface="Open Sans"/>
                <a:cs typeface="Open Sans"/>
                <a:sym typeface="Open Sans"/>
              </a:rPr>
            </a:br>
            <a:br>
              <a:rPr lang="en-US" sz="1400">
                <a:latin typeface="Open Sans"/>
                <a:ea typeface="Open Sans"/>
                <a:cs typeface="Open Sans"/>
                <a:sym typeface="Open Sans"/>
              </a:rPr>
            </a:br>
            <a:endParaRPr sz="1400">
              <a:latin typeface="Open Sans"/>
              <a:ea typeface="Open Sans"/>
              <a:cs typeface="Open Sans"/>
              <a:sym typeface="Open Sans"/>
            </a:endParaRPr>
          </a:p>
        </p:txBody>
      </p:sp>
      <p:grpSp>
        <p:nvGrpSpPr>
          <p:cNvPr id="227" name="Google Shape;227;p7"/>
          <p:cNvGrpSpPr/>
          <p:nvPr/>
        </p:nvGrpSpPr>
        <p:grpSpPr>
          <a:xfrm>
            <a:off x="5271744" y="1475101"/>
            <a:ext cx="6075004" cy="3485721"/>
            <a:chOff x="3058" y="985244"/>
            <a:chExt cx="6075004" cy="3485721"/>
          </a:xfrm>
        </p:grpSpPr>
        <p:sp>
          <p:nvSpPr>
            <p:cNvPr id="228" name="Google Shape;228;p7"/>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7"/>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230" name="Google Shape;230;p7"/>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7"/>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232" name="Google Shape;232;p7"/>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7"/>
            <p:cNvSpPr/>
            <p:nvPr/>
          </p:nvSpPr>
          <p:spPr>
            <a:xfrm>
              <a:off x="3058" y="3474965"/>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Design of measures</a:t>
              </a:r>
              <a:endParaRPr b="1" dirty="0">
                <a:solidFill>
                  <a:srgbClr val="001C84"/>
                </a:solidFill>
                <a:latin typeface="Open Sans"/>
                <a:ea typeface="Open Sans"/>
                <a:cs typeface="Open Sans"/>
                <a:sym typeface="Open Sans"/>
              </a:endParaRPr>
            </a:p>
          </p:txBody>
        </p:sp>
        <p:sp>
          <p:nvSpPr>
            <p:cNvPr id="234" name="Google Shape;234;p7"/>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7"/>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236" name="Google Shape;236;p7"/>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7"/>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238" name="Google Shape;238;p7"/>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7"/>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240" name="Google Shape;240;p7"/>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7"/>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242" name="Google Shape;242;p7"/>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DBAF4A3D-C180-42D0-BA3B-A016621BF1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8</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6"/>
        <p:cNvGrpSpPr/>
        <p:nvPr/>
      </p:nvGrpSpPr>
      <p:grpSpPr>
        <a:xfrm>
          <a:off x="0" y="0"/>
          <a:ext cx="0" cy="0"/>
          <a:chOff x="0" y="0"/>
          <a:chExt cx="0" cy="0"/>
        </a:xfrm>
      </p:grpSpPr>
      <p:sp>
        <p:nvSpPr>
          <p:cNvPr id="247" name="Google Shape;247;p8"/>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8" name="Google Shape;248;p8"/>
          <p:cNvSpPr txBox="1">
            <a:spLocks noGrp="1"/>
          </p:cNvSpPr>
          <p:nvPr>
            <p:ph type="title"/>
          </p:nvPr>
        </p:nvSpPr>
        <p:spPr>
          <a:xfrm>
            <a:off x="673640" y="830580"/>
            <a:ext cx="4392241" cy="502815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00"/>
              <a:buNone/>
            </a:pPr>
            <a:r>
              <a:rPr lang="en-US" sz="2400" b="1" dirty="0">
                <a:solidFill>
                  <a:srgbClr val="001C84"/>
                </a:solidFill>
                <a:latin typeface="Open Sans"/>
                <a:ea typeface="Open Sans"/>
                <a:cs typeface="Open Sans"/>
                <a:sym typeface="Open Sans"/>
              </a:rPr>
              <a:t>To increase the transparency of the data, provide data labels that are descriptive and accurate</a:t>
            </a:r>
            <a:br>
              <a:rPr lang="en-US" sz="2400" dirty="0">
                <a:latin typeface="Open Sans"/>
                <a:ea typeface="Open Sans"/>
                <a:cs typeface="Open Sans"/>
                <a:sym typeface="Open Sans"/>
              </a:rPr>
            </a:br>
            <a:br>
              <a:rPr lang="en-US" sz="2400" dirty="0">
                <a:latin typeface="Open Sans"/>
                <a:ea typeface="Open Sans"/>
                <a:cs typeface="Open Sans"/>
                <a:sym typeface="Open Sans"/>
              </a:rPr>
            </a:br>
            <a:r>
              <a:rPr lang="en-US" sz="2400" u="sng" dirty="0">
                <a:latin typeface="Open Sans"/>
                <a:ea typeface="Open Sans"/>
                <a:cs typeface="Open Sans"/>
                <a:sym typeface="Open Sans"/>
              </a:rPr>
              <a:t>Instead of coding</a:t>
            </a:r>
            <a:r>
              <a:rPr lang="en-US" sz="2400" dirty="0">
                <a:latin typeface="Open Sans"/>
                <a:ea typeface="Open Sans"/>
                <a:cs typeface="Open Sans"/>
                <a:sym typeface="Open Sans"/>
              </a:rPr>
              <a:t>:</a:t>
            </a:r>
            <a:endParaRPr sz="2400" dirty="0">
              <a:latin typeface="Open Sans"/>
              <a:ea typeface="Open Sans"/>
              <a:cs typeface="Open Sans"/>
              <a:sym typeface="Open Sans"/>
            </a:endParaRPr>
          </a:p>
          <a:p>
            <a:pPr marL="0" lvl="0" indent="457200" algn="l" rtl="0">
              <a:lnSpc>
                <a:spcPct val="90000"/>
              </a:lnSpc>
              <a:spcBef>
                <a:spcPts val="0"/>
              </a:spcBef>
              <a:spcAft>
                <a:spcPts val="0"/>
              </a:spcAft>
              <a:buSzPts val="2000"/>
              <a:buNone/>
            </a:pPr>
            <a:r>
              <a:rPr lang="en-US" sz="2400" b="1" dirty="0">
                <a:solidFill>
                  <a:schemeClr val="accent4"/>
                </a:solidFill>
                <a:latin typeface="Open Sans"/>
                <a:ea typeface="Open Sans"/>
                <a:cs typeface="Open Sans"/>
                <a:sym typeface="Open Sans"/>
              </a:rPr>
              <a:t>Homeless status</a:t>
            </a:r>
            <a:br>
              <a:rPr lang="en-US" sz="2400" dirty="0">
                <a:latin typeface="Open Sans"/>
                <a:ea typeface="Open Sans"/>
                <a:cs typeface="Open Sans"/>
                <a:sym typeface="Open Sans"/>
              </a:rPr>
            </a:br>
            <a:br>
              <a:rPr lang="en-US" sz="2400" dirty="0">
                <a:latin typeface="Open Sans"/>
                <a:ea typeface="Open Sans"/>
                <a:cs typeface="Open Sans"/>
                <a:sym typeface="Open Sans"/>
              </a:rPr>
            </a:br>
            <a:r>
              <a:rPr lang="en-US" sz="2400" u="sng" dirty="0">
                <a:latin typeface="Open Sans"/>
                <a:ea typeface="Open Sans"/>
                <a:cs typeface="Open Sans"/>
                <a:sym typeface="Open Sans"/>
              </a:rPr>
              <a:t>Code</a:t>
            </a:r>
            <a:r>
              <a:rPr lang="en-US" sz="2400" dirty="0">
                <a:latin typeface="Open Sans"/>
                <a:ea typeface="Open Sans"/>
                <a:cs typeface="Open Sans"/>
                <a:sym typeface="Open Sans"/>
              </a:rPr>
              <a:t>:</a:t>
            </a:r>
            <a:endParaRPr sz="2400" dirty="0">
              <a:latin typeface="Open Sans"/>
              <a:ea typeface="Open Sans"/>
              <a:cs typeface="Open Sans"/>
              <a:sym typeface="Open Sans"/>
            </a:endParaRPr>
          </a:p>
          <a:p>
            <a:pPr marL="457200" lvl="0" indent="0" algn="l" rtl="0">
              <a:lnSpc>
                <a:spcPct val="90000"/>
              </a:lnSpc>
              <a:spcBef>
                <a:spcPts val="0"/>
              </a:spcBef>
              <a:spcAft>
                <a:spcPts val="0"/>
              </a:spcAft>
              <a:buSzPts val="2000"/>
              <a:buNone/>
            </a:pPr>
            <a:r>
              <a:rPr lang="en-US" sz="2400" b="1" dirty="0">
                <a:solidFill>
                  <a:srgbClr val="D63D1F"/>
                </a:solidFill>
                <a:latin typeface="Open Sans"/>
                <a:ea typeface="Open Sans"/>
                <a:cs typeface="Open Sans"/>
                <a:sym typeface="Open Sans"/>
              </a:rPr>
              <a:t>shelter use</a:t>
            </a:r>
            <a:br>
              <a:rPr lang="en-US" sz="2000" dirty="0">
                <a:latin typeface="Open Sans"/>
                <a:ea typeface="Open Sans"/>
                <a:cs typeface="Open Sans"/>
                <a:sym typeface="Open Sans"/>
              </a:rPr>
            </a:br>
            <a:br>
              <a:rPr lang="en-US" sz="2000" dirty="0">
                <a:latin typeface="Open Sans"/>
                <a:ea typeface="Open Sans"/>
                <a:cs typeface="Open Sans"/>
                <a:sym typeface="Open Sans"/>
              </a:rPr>
            </a:br>
            <a:endParaRPr sz="2000" dirty="0">
              <a:latin typeface="Open Sans"/>
              <a:ea typeface="Open Sans"/>
              <a:cs typeface="Open Sans"/>
              <a:sym typeface="Open Sans"/>
            </a:endParaRPr>
          </a:p>
        </p:txBody>
      </p:sp>
      <p:grpSp>
        <p:nvGrpSpPr>
          <p:cNvPr id="250" name="Google Shape;250;p8"/>
          <p:cNvGrpSpPr/>
          <p:nvPr/>
        </p:nvGrpSpPr>
        <p:grpSpPr>
          <a:xfrm>
            <a:off x="5271744" y="1475101"/>
            <a:ext cx="6075004" cy="3485721"/>
            <a:chOff x="3058" y="985244"/>
            <a:chExt cx="6075004" cy="3485721"/>
          </a:xfrm>
        </p:grpSpPr>
        <p:sp>
          <p:nvSpPr>
            <p:cNvPr id="251" name="Google Shape;251;p8"/>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8"/>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253" name="Google Shape;253;p8"/>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8"/>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255" name="Google Shape;255;p8"/>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8"/>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solidFill>
                  <a:schemeClr val="lt1"/>
                </a:solidFill>
                <a:latin typeface="Open Sans"/>
                <a:ea typeface="Open Sans"/>
                <a:cs typeface="Open Sans"/>
                <a:sym typeface="Open Sans"/>
              </a:endParaRPr>
            </a:p>
          </p:txBody>
        </p:sp>
        <p:sp>
          <p:nvSpPr>
            <p:cNvPr id="257" name="Google Shape;257;p8"/>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8"/>
            <p:cNvSpPr/>
            <p:nvPr/>
          </p:nvSpPr>
          <p:spPr>
            <a:xfrm>
              <a:off x="2210610" y="3474940"/>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Coding of data</a:t>
              </a:r>
              <a:endParaRPr b="1" dirty="0">
                <a:solidFill>
                  <a:srgbClr val="001C84"/>
                </a:solidFill>
                <a:latin typeface="Open Sans"/>
                <a:ea typeface="Open Sans"/>
                <a:cs typeface="Open Sans"/>
                <a:sym typeface="Open Sans"/>
              </a:endParaRPr>
            </a:p>
          </p:txBody>
        </p:sp>
        <p:sp>
          <p:nvSpPr>
            <p:cNvPr id="259" name="Google Shape;259;p8"/>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8"/>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261" name="Google Shape;261;p8"/>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8"/>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263" name="Google Shape;263;p8"/>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8"/>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265" name="Google Shape;265;p8"/>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ACB041BB-F523-2FBD-149C-8E9D66C7B4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9</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9"/>
          <p:cNvSpPr txBox="1">
            <a:spLocks noGrp="1"/>
          </p:cNvSpPr>
          <p:nvPr>
            <p:ph type="title"/>
          </p:nvPr>
        </p:nvSpPr>
        <p:spPr>
          <a:xfrm>
            <a:off x="645065" y="109728"/>
            <a:ext cx="4420816" cy="65087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11111"/>
              <a:buNone/>
            </a:pPr>
            <a:r>
              <a:rPr lang="en-US" sz="1600" b="1" dirty="0">
                <a:solidFill>
                  <a:srgbClr val="001C84"/>
                </a:solidFill>
                <a:latin typeface="Open Sans"/>
                <a:ea typeface="Open Sans"/>
                <a:cs typeface="Open Sans"/>
                <a:sym typeface="Open Sans"/>
              </a:rPr>
              <a:t>To increase accurate representation of people's identities in the data, keep an individual's different coding of gender and race documented across data systems.</a:t>
            </a:r>
            <a:endParaRPr sz="2000" b="1" dirty="0">
              <a:solidFill>
                <a:srgbClr val="001C84"/>
              </a:solidFill>
              <a:latin typeface="Open Sans"/>
              <a:ea typeface="Open Sans"/>
              <a:cs typeface="Open Sans"/>
              <a:sym typeface="Open Sans"/>
            </a:endParaRPr>
          </a:p>
          <a:p>
            <a:pPr marL="0" lvl="0" indent="0" algn="l" rtl="0">
              <a:lnSpc>
                <a:spcPct val="90000"/>
              </a:lnSpc>
              <a:spcBef>
                <a:spcPts val="0"/>
              </a:spcBef>
              <a:spcAft>
                <a:spcPts val="0"/>
              </a:spcAft>
              <a:buSzPct val="111111"/>
              <a:buNone/>
            </a:pPr>
            <a:br>
              <a:rPr lang="en-US" sz="1600" dirty="0">
                <a:latin typeface="Open Sans"/>
                <a:ea typeface="Open Sans"/>
                <a:cs typeface="Open Sans"/>
                <a:sym typeface="Open Sans"/>
              </a:rPr>
            </a:br>
            <a:r>
              <a:rPr lang="en-US" sz="1600" u="sng" dirty="0">
                <a:latin typeface="Open Sans"/>
                <a:ea typeface="Open Sans"/>
                <a:cs typeface="Open Sans"/>
                <a:sym typeface="Open Sans"/>
              </a:rPr>
              <a:t>Instead of coding</a:t>
            </a:r>
            <a:r>
              <a:rPr lang="en-US" sz="1600" dirty="0">
                <a:latin typeface="Open Sans"/>
                <a:ea typeface="Open Sans"/>
                <a:cs typeface="Open Sans"/>
                <a:sym typeface="Open Sans"/>
              </a:rPr>
              <a:t>:</a:t>
            </a:r>
            <a:endParaRPr sz="1600" dirty="0">
              <a:latin typeface="Open Sans"/>
              <a:ea typeface="Open Sans"/>
              <a:cs typeface="Open Sans"/>
              <a:sym typeface="Open Sans"/>
            </a:endParaRPr>
          </a:p>
          <a:p>
            <a:pPr marL="457200" lvl="0" indent="0" algn="l" rtl="0">
              <a:lnSpc>
                <a:spcPct val="90000"/>
              </a:lnSpc>
              <a:spcBef>
                <a:spcPts val="0"/>
              </a:spcBef>
              <a:spcAft>
                <a:spcPts val="0"/>
              </a:spcAft>
              <a:buSzPct val="111111"/>
              <a:buNone/>
            </a:pPr>
            <a:r>
              <a:rPr lang="en-US" sz="1600" b="1" dirty="0">
                <a:solidFill>
                  <a:schemeClr val="accent4"/>
                </a:solidFill>
                <a:latin typeface="Open Sans"/>
                <a:ea typeface="Open Sans"/>
                <a:cs typeface="Open Sans"/>
                <a:sym typeface="Open Sans"/>
              </a:rPr>
              <a:t>Gender = female</a:t>
            </a:r>
            <a:r>
              <a:rPr lang="en-US" sz="1600" dirty="0">
                <a:latin typeface="Open Sans"/>
                <a:ea typeface="Open Sans"/>
                <a:cs typeface="Open Sans"/>
                <a:sym typeface="Open Sans"/>
              </a:rPr>
              <a:t> for someone who has 5 records indicating female but 1 indicating nonbinary across 6 different timepoints (timepoints A-F) in different systems (i.e., homelessness system and food assistance system).</a:t>
            </a:r>
            <a:endParaRPr sz="1600" dirty="0">
              <a:latin typeface="Open Sans"/>
              <a:ea typeface="Open Sans"/>
              <a:cs typeface="Open Sans"/>
              <a:sym typeface="Open Sans"/>
            </a:endParaRPr>
          </a:p>
          <a:p>
            <a:pPr marL="0" lvl="0" indent="0" algn="l" rtl="0">
              <a:lnSpc>
                <a:spcPct val="90000"/>
              </a:lnSpc>
              <a:spcBef>
                <a:spcPts val="0"/>
              </a:spcBef>
              <a:spcAft>
                <a:spcPts val="0"/>
              </a:spcAft>
              <a:buSzPct val="111111"/>
              <a:buNone/>
            </a:pPr>
            <a:endParaRPr sz="1600" u="sng" dirty="0">
              <a:latin typeface="Open Sans"/>
              <a:ea typeface="Open Sans"/>
              <a:cs typeface="Open Sans"/>
              <a:sym typeface="Open Sans"/>
            </a:endParaRPr>
          </a:p>
          <a:p>
            <a:pPr marL="0" lvl="0" indent="0" algn="l" rtl="0">
              <a:lnSpc>
                <a:spcPct val="90000"/>
              </a:lnSpc>
              <a:spcBef>
                <a:spcPts val="0"/>
              </a:spcBef>
              <a:spcAft>
                <a:spcPts val="0"/>
              </a:spcAft>
              <a:buSzPct val="111111"/>
              <a:buNone/>
            </a:pPr>
            <a:r>
              <a:rPr lang="en-US" sz="1600" u="sng" dirty="0">
                <a:latin typeface="Open Sans"/>
                <a:ea typeface="Open Sans"/>
                <a:cs typeface="Open Sans"/>
                <a:sym typeface="Open Sans"/>
              </a:rPr>
              <a:t>Code</a:t>
            </a:r>
            <a:r>
              <a:rPr lang="en-US" sz="1600" dirty="0">
                <a:latin typeface="Open Sans"/>
                <a:ea typeface="Open Sans"/>
                <a:cs typeface="Open Sans"/>
                <a:sym typeface="Open Sans"/>
              </a:rPr>
              <a:t>:</a:t>
            </a:r>
            <a:endParaRPr sz="1600" dirty="0">
              <a:latin typeface="Open Sans"/>
              <a:ea typeface="Open Sans"/>
              <a:cs typeface="Open Sans"/>
              <a:sym typeface="Open Sans"/>
            </a:endParaRPr>
          </a:p>
          <a:p>
            <a:pPr marL="457200" lvl="0" indent="0" algn="l" rtl="0">
              <a:lnSpc>
                <a:spcPct val="90000"/>
              </a:lnSpc>
              <a:spcBef>
                <a:spcPts val="0"/>
              </a:spcBef>
              <a:spcAft>
                <a:spcPts val="0"/>
              </a:spcAft>
              <a:buSzPct val="111111"/>
              <a:buNone/>
            </a:pPr>
            <a:r>
              <a:rPr lang="en-US" sz="1600" b="1" dirty="0">
                <a:solidFill>
                  <a:srgbClr val="D63D1F"/>
                </a:solidFill>
                <a:latin typeface="Open Sans"/>
                <a:ea typeface="Open Sans"/>
                <a:cs typeface="Open Sans"/>
                <a:sym typeface="Open Sans"/>
              </a:rPr>
              <a:t>Gender = nonbinary </a:t>
            </a:r>
            <a:r>
              <a:rPr lang="en-US" sz="1600" dirty="0">
                <a:solidFill>
                  <a:schemeClr val="tx1"/>
                </a:solidFill>
                <a:latin typeface="Open Sans"/>
                <a:ea typeface="Open Sans"/>
                <a:cs typeface="Open Sans"/>
                <a:sym typeface="Open Sans"/>
              </a:rPr>
              <a:t>at timepoint F (homelessness system)</a:t>
            </a:r>
            <a:r>
              <a:rPr lang="en-US" sz="1600" b="1" dirty="0">
                <a:solidFill>
                  <a:srgbClr val="D63D1F"/>
                </a:solidFill>
                <a:latin typeface="Open Sans"/>
                <a:ea typeface="Open Sans"/>
                <a:cs typeface="Open Sans"/>
                <a:sym typeface="Open Sans"/>
              </a:rPr>
              <a:t> </a:t>
            </a:r>
            <a:endParaRPr sz="1600" b="1" dirty="0">
              <a:solidFill>
                <a:srgbClr val="D63D1F"/>
              </a:solidFill>
              <a:latin typeface="Open Sans"/>
              <a:ea typeface="Open Sans"/>
              <a:cs typeface="Open Sans"/>
              <a:sym typeface="Open Sans"/>
            </a:endParaRPr>
          </a:p>
          <a:p>
            <a:pPr marL="457200" lvl="0" indent="0" algn="l" rtl="0">
              <a:lnSpc>
                <a:spcPct val="90000"/>
              </a:lnSpc>
              <a:spcBef>
                <a:spcPts val="0"/>
              </a:spcBef>
              <a:spcAft>
                <a:spcPts val="0"/>
              </a:spcAft>
              <a:buSzPct val="111111"/>
              <a:buNone/>
            </a:pPr>
            <a:br>
              <a:rPr lang="en-US" sz="1600" b="1" dirty="0">
                <a:solidFill>
                  <a:srgbClr val="D63D1F"/>
                </a:solidFill>
                <a:latin typeface="Open Sans"/>
                <a:ea typeface="Open Sans"/>
                <a:cs typeface="Open Sans"/>
                <a:sym typeface="Open Sans"/>
              </a:rPr>
            </a:br>
            <a:r>
              <a:rPr lang="en-US" sz="1600" b="1" i="1" dirty="0">
                <a:solidFill>
                  <a:srgbClr val="D63D1F"/>
                </a:solidFill>
                <a:latin typeface="Open Sans"/>
                <a:ea typeface="Open Sans"/>
                <a:cs typeface="Open Sans"/>
                <a:sym typeface="Open Sans"/>
              </a:rPr>
              <a:t>AND</a:t>
            </a:r>
            <a:r>
              <a:rPr lang="en-US" sz="1600" b="1" dirty="0">
                <a:solidFill>
                  <a:srgbClr val="D63D1F"/>
                </a:solidFill>
                <a:latin typeface="Open Sans"/>
                <a:ea typeface="Open Sans"/>
                <a:cs typeface="Open Sans"/>
                <a:sym typeface="Open Sans"/>
              </a:rPr>
              <a:t> </a:t>
            </a:r>
            <a:endParaRPr sz="1600" b="1" dirty="0">
              <a:solidFill>
                <a:srgbClr val="D63D1F"/>
              </a:solidFill>
              <a:latin typeface="Open Sans"/>
              <a:ea typeface="Open Sans"/>
              <a:cs typeface="Open Sans"/>
              <a:sym typeface="Open Sans"/>
            </a:endParaRPr>
          </a:p>
          <a:p>
            <a:pPr marL="457200" lvl="0" indent="0" algn="l" rtl="0">
              <a:lnSpc>
                <a:spcPct val="90000"/>
              </a:lnSpc>
              <a:spcBef>
                <a:spcPts val="0"/>
              </a:spcBef>
              <a:spcAft>
                <a:spcPts val="0"/>
              </a:spcAft>
              <a:buSzPct val="111111"/>
              <a:buNone/>
            </a:pPr>
            <a:br>
              <a:rPr lang="en-US" sz="1600" b="1" dirty="0">
                <a:solidFill>
                  <a:srgbClr val="D63D1F"/>
                </a:solidFill>
                <a:latin typeface="Open Sans"/>
                <a:ea typeface="Open Sans"/>
                <a:cs typeface="Open Sans"/>
                <a:sym typeface="Open Sans"/>
              </a:rPr>
            </a:br>
            <a:r>
              <a:rPr lang="en-US" sz="1600" b="1" dirty="0">
                <a:solidFill>
                  <a:srgbClr val="D63D1F"/>
                </a:solidFill>
                <a:latin typeface="Open Sans"/>
                <a:ea typeface="Open Sans"/>
                <a:cs typeface="Open Sans"/>
                <a:sym typeface="Open Sans"/>
              </a:rPr>
              <a:t>Gender = female </a:t>
            </a:r>
            <a:r>
              <a:rPr lang="en-US" sz="1600" dirty="0">
                <a:solidFill>
                  <a:schemeClr val="tx1"/>
                </a:solidFill>
                <a:latin typeface="Open Sans"/>
                <a:ea typeface="Open Sans"/>
                <a:cs typeface="Open Sans"/>
                <a:sym typeface="Open Sans"/>
              </a:rPr>
              <a:t>at timepoints A-E (food assistance system)</a:t>
            </a:r>
            <a:br>
              <a:rPr lang="en-US" sz="1600" dirty="0">
                <a:latin typeface="Open Sans"/>
                <a:ea typeface="Open Sans"/>
                <a:cs typeface="Open Sans"/>
                <a:sym typeface="Open Sans"/>
              </a:rPr>
            </a:br>
            <a:endParaRPr sz="1600" dirty="0">
              <a:latin typeface="Open Sans"/>
              <a:ea typeface="Open Sans"/>
              <a:cs typeface="Open Sans"/>
              <a:sym typeface="Open Sans"/>
            </a:endParaRPr>
          </a:p>
          <a:p>
            <a:pPr marL="457200" lvl="0" indent="0" algn="l" rtl="0">
              <a:lnSpc>
                <a:spcPct val="90000"/>
              </a:lnSpc>
              <a:spcBef>
                <a:spcPts val="0"/>
              </a:spcBef>
              <a:spcAft>
                <a:spcPts val="0"/>
              </a:spcAft>
              <a:buSzPct val="111111"/>
              <a:buNone/>
            </a:pPr>
            <a:r>
              <a:rPr lang="en-US" sz="1600" dirty="0">
                <a:latin typeface="Open Sans"/>
                <a:ea typeface="Open Sans"/>
                <a:cs typeface="Open Sans"/>
                <a:sym typeface="Open Sans"/>
              </a:rPr>
              <a:t>That is, </a:t>
            </a:r>
            <a:r>
              <a:rPr lang="en-US" sz="1600" b="1" dirty="0">
                <a:solidFill>
                  <a:srgbClr val="D63D1F"/>
                </a:solidFill>
                <a:latin typeface="Open Sans"/>
                <a:ea typeface="Open Sans"/>
                <a:cs typeface="Open Sans"/>
                <a:sym typeface="Open Sans"/>
              </a:rPr>
              <a:t>keep both identities</a:t>
            </a:r>
            <a:r>
              <a:rPr lang="en-US" sz="1600" dirty="0">
                <a:solidFill>
                  <a:schemeClr val="tx1"/>
                </a:solidFill>
                <a:latin typeface="Open Sans"/>
                <a:ea typeface="Open Sans"/>
                <a:cs typeface="Open Sans"/>
                <a:sym typeface="Open Sans"/>
              </a:rPr>
              <a:t>.</a:t>
            </a:r>
            <a:endParaRPr sz="1600" dirty="0">
              <a:solidFill>
                <a:schemeClr val="tx1"/>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162F54D8-ED97-2468-94A4-60540DF3F2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10</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3" name="Google Shape;250;p8">
            <a:extLst>
              <a:ext uri="{FF2B5EF4-FFF2-40B4-BE49-F238E27FC236}">
                <a16:creationId xmlns:a16="http://schemas.microsoft.com/office/drawing/2014/main" id="{AD8A57C1-A887-2F6C-34B5-EC676AD273D7}"/>
              </a:ext>
            </a:extLst>
          </p:cNvPr>
          <p:cNvGrpSpPr/>
          <p:nvPr/>
        </p:nvGrpSpPr>
        <p:grpSpPr>
          <a:xfrm>
            <a:off x="5271744" y="1475101"/>
            <a:ext cx="6075004" cy="3485721"/>
            <a:chOff x="3058" y="985244"/>
            <a:chExt cx="6075004" cy="3485721"/>
          </a:xfrm>
        </p:grpSpPr>
        <p:sp>
          <p:nvSpPr>
            <p:cNvPr id="4" name="Google Shape;251;p8">
              <a:extLst>
                <a:ext uri="{FF2B5EF4-FFF2-40B4-BE49-F238E27FC236}">
                  <a16:creationId xmlns:a16="http://schemas.microsoft.com/office/drawing/2014/main" id="{E6A37645-6AD6-A59B-4A34-848FEACC0F73}"/>
                </a:ext>
              </a:extLst>
            </p:cNvPr>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252;p8">
              <a:extLst>
                <a:ext uri="{FF2B5EF4-FFF2-40B4-BE49-F238E27FC236}">
                  <a16:creationId xmlns:a16="http://schemas.microsoft.com/office/drawing/2014/main" id="{219C5F2C-772C-5F30-BE6D-FD8BCBF59C36}"/>
                </a:ext>
              </a:extLst>
            </p:cNvPr>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6" name="Google Shape;253;p8">
              <a:extLst>
                <a:ext uri="{FF2B5EF4-FFF2-40B4-BE49-F238E27FC236}">
                  <a16:creationId xmlns:a16="http://schemas.microsoft.com/office/drawing/2014/main" id="{D0F1D09A-B518-AEAF-6A43-51581052A945}"/>
                </a:ext>
              </a:extLst>
            </p:cNvPr>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254;p8">
              <a:extLst>
                <a:ext uri="{FF2B5EF4-FFF2-40B4-BE49-F238E27FC236}">
                  <a16:creationId xmlns:a16="http://schemas.microsoft.com/office/drawing/2014/main" id="{803DD57C-C224-7A01-D679-2A5FDDAE42AA}"/>
                </a:ext>
              </a:extLst>
            </p:cNvPr>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8" name="Google Shape;255;p8">
              <a:extLst>
                <a:ext uri="{FF2B5EF4-FFF2-40B4-BE49-F238E27FC236}">
                  <a16:creationId xmlns:a16="http://schemas.microsoft.com/office/drawing/2014/main" id="{6DF787C2-2B22-0E7C-A177-0D2EBF5B32CC}"/>
                </a:ext>
              </a:extLst>
            </p:cNvPr>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256;p8">
              <a:extLst>
                <a:ext uri="{FF2B5EF4-FFF2-40B4-BE49-F238E27FC236}">
                  <a16:creationId xmlns:a16="http://schemas.microsoft.com/office/drawing/2014/main" id="{55256879-EC4E-1D8D-E1F6-764C86DFD217}"/>
                </a:ext>
              </a:extLst>
            </p:cNvPr>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solidFill>
                  <a:schemeClr val="lt1"/>
                </a:solidFill>
                <a:latin typeface="Open Sans"/>
                <a:ea typeface="Open Sans"/>
                <a:cs typeface="Open Sans"/>
                <a:sym typeface="Open Sans"/>
              </a:endParaRPr>
            </a:p>
          </p:txBody>
        </p:sp>
        <p:sp>
          <p:nvSpPr>
            <p:cNvPr id="10" name="Google Shape;257;p8">
              <a:extLst>
                <a:ext uri="{FF2B5EF4-FFF2-40B4-BE49-F238E27FC236}">
                  <a16:creationId xmlns:a16="http://schemas.microsoft.com/office/drawing/2014/main" id="{9AFCE264-DF85-8E2B-E3C7-BECA0674C9C8}"/>
                </a:ext>
              </a:extLst>
            </p:cNvPr>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258;p8">
              <a:extLst>
                <a:ext uri="{FF2B5EF4-FFF2-40B4-BE49-F238E27FC236}">
                  <a16:creationId xmlns:a16="http://schemas.microsoft.com/office/drawing/2014/main" id="{48947575-8AFB-F78E-3735-EDA20EBACEDE}"/>
                </a:ext>
              </a:extLst>
            </p:cNvPr>
            <p:cNvSpPr/>
            <p:nvPr/>
          </p:nvSpPr>
          <p:spPr>
            <a:xfrm>
              <a:off x="2210610" y="3474940"/>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Coding of data</a:t>
              </a:r>
              <a:endParaRPr b="1" dirty="0">
                <a:solidFill>
                  <a:srgbClr val="001C84"/>
                </a:solidFill>
                <a:latin typeface="Open Sans"/>
                <a:ea typeface="Open Sans"/>
                <a:cs typeface="Open Sans"/>
                <a:sym typeface="Open Sans"/>
              </a:endParaRPr>
            </a:p>
          </p:txBody>
        </p:sp>
        <p:sp>
          <p:nvSpPr>
            <p:cNvPr id="12" name="Google Shape;259;p8">
              <a:extLst>
                <a:ext uri="{FF2B5EF4-FFF2-40B4-BE49-F238E27FC236}">
                  <a16:creationId xmlns:a16="http://schemas.microsoft.com/office/drawing/2014/main" id="{0B8CBB5F-1A95-9418-7544-0DD0565646E5}"/>
                </a:ext>
              </a:extLst>
            </p:cNvPr>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260;p8">
              <a:extLst>
                <a:ext uri="{FF2B5EF4-FFF2-40B4-BE49-F238E27FC236}">
                  <a16:creationId xmlns:a16="http://schemas.microsoft.com/office/drawing/2014/main" id="{31887909-5FEF-2F45-8009-27C44C06359F}"/>
                </a:ext>
              </a:extLst>
            </p:cNvPr>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4" name="Google Shape;261;p8">
              <a:extLst>
                <a:ext uri="{FF2B5EF4-FFF2-40B4-BE49-F238E27FC236}">
                  <a16:creationId xmlns:a16="http://schemas.microsoft.com/office/drawing/2014/main" id="{4F5FC9C8-57BD-1C3B-E34C-10666CA9D512}"/>
                </a:ext>
              </a:extLst>
            </p:cNvPr>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262;p8">
              <a:extLst>
                <a:ext uri="{FF2B5EF4-FFF2-40B4-BE49-F238E27FC236}">
                  <a16:creationId xmlns:a16="http://schemas.microsoft.com/office/drawing/2014/main" id="{2BE93C75-A3F7-348B-2FC1-0F9354BA3E1E}"/>
                </a:ext>
              </a:extLst>
            </p:cNvPr>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6" name="Google Shape;263;p8">
              <a:extLst>
                <a:ext uri="{FF2B5EF4-FFF2-40B4-BE49-F238E27FC236}">
                  <a16:creationId xmlns:a16="http://schemas.microsoft.com/office/drawing/2014/main" id="{6B360635-97A9-EC5D-FAAB-D3855CC48E5A}"/>
                </a:ext>
              </a:extLst>
            </p:cNvPr>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264;p8">
              <a:extLst>
                <a:ext uri="{FF2B5EF4-FFF2-40B4-BE49-F238E27FC236}">
                  <a16:creationId xmlns:a16="http://schemas.microsoft.com/office/drawing/2014/main" id="{B81F7B47-A552-AA14-36A5-E8E561E95AF3}"/>
                </a:ext>
              </a:extLst>
            </p:cNvPr>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8" name="Google Shape;265;p8">
              <a:extLst>
                <a:ext uri="{FF2B5EF4-FFF2-40B4-BE49-F238E27FC236}">
                  <a16:creationId xmlns:a16="http://schemas.microsoft.com/office/drawing/2014/main" id="{8CED4870-9D49-3128-9F14-A420F27ED47C}"/>
                </a:ext>
              </a:extLst>
            </p:cNvPr>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952C1DB3-66F3-1E08-D64E-582672DE63AF}"/>
            </a:ext>
          </a:extLst>
        </p:cNvPr>
        <p:cNvGrpSpPr/>
        <p:nvPr/>
      </p:nvGrpSpPr>
      <p:grpSpPr>
        <a:xfrm>
          <a:off x="0" y="0"/>
          <a:ext cx="0" cy="0"/>
          <a:chOff x="0" y="0"/>
          <a:chExt cx="0" cy="0"/>
        </a:xfrm>
      </p:grpSpPr>
      <p:sp>
        <p:nvSpPr>
          <p:cNvPr id="270" name="Google Shape;270;p9">
            <a:extLst>
              <a:ext uri="{FF2B5EF4-FFF2-40B4-BE49-F238E27FC236}">
                <a16:creationId xmlns:a16="http://schemas.microsoft.com/office/drawing/2014/main" id="{BB4B6308-79BC-4F59-E870-AF7EFB94B9F2}"/>
              </a:ext>
            </a:extLst>
          </p:cNvPr>
          <p:cNvSpPr txBox="1">
            <a:spLocks noGrp="1"/>
          </p:cNvSpPr>
          <p:nvPr>
            <p:ph type="title"/>
          </p:nvPr>
        </p:nvSpPr>
        <p:spPr>
          <a:xfrm>
            <a:off x="645064" y="256032"/>
            <a:ext cx="4809301" cy="63825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111111"/>
              <a:buNone/>
            </a:pPr>
            <a:r>
              <a:rPr lang="en-US" sz="2000" b="1" dirty="0">
                <a:solidFill>
                  <a:srgbClr val="001C84"/>
                </a:solidFill>
                <a:latin typeface="Open Sans"/>
                <a:ea typeface="Open Sans"/>
                <a:cs typeface="Open Sans"/>
                <a:sym typeface="Open Sans"/>
              </a:rPr>
              <a:t>After Articulating modeling assumptions using experiential knowledge, </a:t>
            </a:r>
            <a:r>
              <a:rPr lang="en-US" sz="2000" b="1" dirty="0">
                <a:solidFill>
                  <a:srgbClr val="C00000"/>
                </a:solidFill>
                <a:latin typeface="Open Sans"/>
                <a:ea typeface="Open Sans"/>
                <a:cs typeface="Open Sans"/>
                <a:sym typeface="Open Sans"/>
              </a:rPr>
              <a:t>Identify/screen </a:t>
            </a:r>
            <a:r>
              <a:rPr lang="en-US" sz="2000" b="1" dirty="0">
                <a:solidFill>
                  <a:srgbClr val="001C84"/>
                </a:solidFill>
                <a:latin typeface="Open Sans"/>
                <a:ea typeface="Open Sans"/>
                <a:cs typeface="Open Sans"/>
                <a:sym typeface="Open Sans"/>
              </a:rPr>
              <a:t>for bias in target population, outcome and input variables.</a:t>
            </a:r>
            <a:br>
              <a:rPr lang="en-US" sz="2000" b="1" dirty="0">
                <a:solidFill>
                  <a:srgbClr val="001C84"/>
                </a:solidFill>
                <a:latin typeface="Open Sans"/>
                <a:ea typeface="Open Sans"/>
                <a:cs typeface="Open Sans"/>
                <a:sym typeface="Open Sans"/>
              </a:rPr>
            </a:br>
            <a:br>
              <a:rPr lang="en-US" sz="2000" dirty="0">
                <a:latin typeface="Open Sans"/>
                <a:ea typeface="Open Sans"/>
                <a:cs typeface="Open Sans"/>
                <a:sym typeface="Open Sans"/>
              </a:rPr>
            </a:br>
            <a:r>
              <a:rPr lang="en-US" sz="2000" u="sng" dirty="0">
                <a:latin typeface="Open Sans"/>
                <a:ea typeface="Open Sans"/>
                <a:cs typeface="Open Sans"/>
                <a:sym typeface="Open Sans"/>
              </a:rPr>
              <a:t>Instead of</a:t>
            </a:r>
            <a:r>
              <a:rPr lang="en-US" sz="2000" dirty="0">
                <a:latin typeface="Open Sans"/>
                <a:ea typeface="Open Sans"/>
                <a:cs typeface="Open Sans"/>
                <a:sym typeface="Open Sans"/>
              </a:rPr>
              <a:t>:</a:t>
            </a:r>
            <a:endParaRPr sz="2000" dirty="0">
              <a:latin typeface="Open Sans"/>
              <a:ea typeface="Open Sans"/>
              <a:cs typeface="Open Sans"/>
              <a:sym typeface="Open Sans"/>
            </a:endParaRPr>
          </a:p>
          <a:p>
            <a:pPr marL="457200" lvl="0" indent="0" algn="l" rtl="0">
              <a:lnSpc>
                <a:spcPct val="90000"/>
              </a:lnSpc>
              <a:spcBef>
                <a:spcPts val="0"/>
              </a:spcBef>
              <a:spcAft>
                <a:spcPts val="0"/>
              </a:spcAft>
              <a:buSzPct val="111111"/>
              <a:buNone/>
            </a:pPr>
            <a:r>
              <a:rPr lang="en-US" sz="2000" b="1" dirty="0">
                <a:solidFill>
                  <a:schemeClr val="accent4"/>
                </a:solidFill>
                <a:latin typeface="Open Sans"/>
                <a:ea typeface="Open Sans"/>
                <a:cs typeface="Open Sans"/>
                <a:sym typeface="Open Sans"/>
              </a:rPr>
              <a:t>Only running a regression </a:t>
            </a:r>
            <a:r>
              <a:rPr lang="en-US" sz="2000" dirty="0">
                <a:solidFill>
                  <a:schemeClr val="tx1"/>
                </a:solidFill>
                <a:latin typeface="Open Sans"/>
                <a:ea typeface="Open Sans"/>
                <a:cs typeface="Open Sans"/>
                <a:sym typeface="Open Sans"/>
              </a:rPr>
              <a:t>to estimate shelter- use risk that includes demographics and other variables found in HMIS data.</a:t>
            </a:r>
            <a:br>
              <a:rPr lang="en-US" sz="2000" b="1" dirty="0">
                <a:solidFill>
                  <a:schemeClr val="accent4"/>
                </a:solidFill>
                <a:latin typeface="Open Sans"/>
                <a:ea typeface="Open Sans"/>
                <a:cs typeface="Open Sans"/>
                <a:sym typeface="Open Sans"/>
              </a:rPr>
            </a:br>
            <a:endParaRPr sz="2000" u="sng" dirty="0">
              <a:latin typeface="Open Sans"/>
              <a:ea typeface="Open Sans"/>
              <a:cs typeface="Open Sans"/>
              <a:sym typeface="Open Sans"/>
            </a:endParaRPr>
          </a:p>
          <a:p>
            <a:pPr marL="0" lvl="0" indent="0" algn="l" rtl="0">
              <a:lnSpc>
                <a:spcPct val="90000"/>
              </a:lnSpc>
              <a:spcBef>
                <a:spcPts val="0"/>
              </a:spcBef>
              <a:spcAft>
                <a:spcPts val="0"/>
              </a:spcAft>
              <a:buSzPct val="111111"/>
              <a:buNone/>
            </a:pPr>
            <a:r>
              <a:rPr lang="en-US" sz="2000" u="sng" dirty="0">
                <a:latin typeface="Open Sans"/>
                <a:ea typeface="Open Sans"/>
                <a:cs typeface="Open Sans"/>
                <a:sym typeface="Open Sans"/>
              </a:rPr>
              <a:t>Consider</a:t>
            </a:r>
            <a:r>
              <a:rPr lang="en-US" sz="2000" dirty="0">
                <a:latin typeface="Open Sans"/>
                <a:ea typeface="Open Sans"/>
                <a:cs typeface="Open Sans"/>
                <a:sym typeface="Open Sans"/>
              </a:rPr>
              <a:t>:</a:t>
            </a:r>
            <a:endParaRPr sz="2000" dirty="0">
              <a:latin typeface="Open Sans"/>
              <a:ea typeface="Open Sans"/>
              <a:cs typeface="Open Sans"/>
              <a:sym typeface="Open Sans"/>
            </a:endParaRPr>
          </a:p>
          <a:p>
            <a:pPr marL="457200" lvl="0" indent="0" algn="l" rtl="0">
              <a:lnSpc>
                <a:spcPct val="90000"/>
              </a:lnSpc>
              <a:spcBef>
                <a:spcPts val="0"/>
              </a:spcBef>
              <a:spcAft>
                <a:spcPts val="0"/>
              </a:spcAft>
              <a:buSzPct val="111111"/>
              <a:buNone/>
            </a:pPr>
            <a:r>
              <a:rPr lang="en-US" sz="2000" dirty="0">
                <a:latin typeface="Open Sans"/>
                <a:ea typeface="Open Sans"/>
                <a:cs typeface="Open Sans"/>
                <a:sym typeface="Open Sans"/>
              </a:rPr>
              <a:t>Can we learn from </a:t>
            </a:r>
            <a:r>
              <a:rPr lang="en-US" sz="2000" b="1" dirty="0">
                <a:solidFill>
                  <a:srgbClr val="D63D1F"/>
                </a:solidFill>
                <a:latin typeface="Open Sans"/>
                <a:ea typeface="Open Sans"/>
                <a:cs typeface="Open Sans"/>
                <a:sym typeface="Open Sans"/>
              </a:rPr>
              <a:t>other data </a:t>
            </a:r>
            <a:r>
              <a:rPr lang="en-US" sz="2000" dirty="0">
                <a:latin typeface="Open Sans"/>
                <a:ea typeface="Open Sans"/>
                <a:cs typeface="Open Sans"/>
                <a:sym typeface="Open Sans"/>
              </a:rPr>
              <a:t>(emergency room visits, food pantry data) about who is likely to experience homelessness outside of shelter?</a:t>
            </a:r>
            <a:br>
              <a:rPr lang="en-US" sz="2000" dirty="0">
                <a:latin typeface="Open Sans"/>
                <a:ea typeface="Open Sans"/>
                <a:cs typeface="Open Sans"/>
                <a:sym typeface="Open Sans"/>
              </a:rPr>
            </a:br>
            <a:br>
              <a:rPr lang="en-US" sz="2000" dirty="0">
                <a:latin typeface="Open Sans"/>
                <a:ea typeface="Open Sans"/>
                <a:cs typeface="Open Sans"/>
                <a:sym typeface="Open Sans"/>
              </a:rPr>
            </a:br>
            <a:r>
              <a:rPr lang="en-US" sz="2000" dirty="0">
                <a:latin typeface="Open Sans"/>
                <a:ea typeface="Open Sans"/>
                <a:cs typeface="Open Sans"/>
                <a:sym typeface="Open Sans"/>
              </a:rPr>
              <a:t>What is behind the </a:t>
            </a:r>
            <a:r>
              <a:rPr lang="en-US" sz="2000" b="1" dirty="0">
                <a:solidFill>
                  <a:srgbClr val="D63D1F"/>
                </a:solidFill>
                <a:latin typeface="Open Sans"/>
                <a:ea typeface="Open Sans"/>
                <a:cs typeface="Open Sans"/>
                <a:sym typeface="Open Sans"/>
              </a:rPr>
              <a:t>causal pathways </a:t>
            </a:r>
            <a:r>
              <a:rPr lang="en-US" sz="2000" dirty="0">
                <a:latin typeface="Open Sans"/>
                <a:ea typeface="Open Sans"/>
                <a:cs typeface="Open Sans"/>
                <a:sym typeface="Open Sans"/>
              </a:rPr>
              <a:t>connecting demographic with homelessness? Stigma?</a:t>
            </a:r>
            <a:br>
              <a:rPr lang="en-US" sz="2000" dirty="0">
                <a:latin typeface="Open Sans"/>
                <a:ea typeface="Open Sans"/>
                <a:cs typeface="Open Sans"/>
                <a:sym typeface="Open Sans"/>
              </a:rPr>
            </a:br>
            <a:br>
              <a:rPr lang="en-US" sz="2000" dirty="0">
                <a:latin typeface="Open Sans"/>
                <a:ea typeface="Open Sans"/>
                <a:cs typeface="Open Sans"/>
                <a:sym typeface="Open Sans"/>
              </a:rPr>
            </a:br>
            <a:r>
              <a:rPr lang="en-US" sz="2000" dirty="0">
                <a:latin typeface="Open Sans"/>
                <a:ea typeface="Open Sans"/>
                <a:cs typeface="Open Sans"/>
                <a:sym typeface="Open Sans"/>
              </a:rPr>
              <a:t>Are </a:t>
            </a:r>
            <a:r>
              <a:rPr lang="en-US" sz="2000" b="1" dirty="0">
                <a:solidFill>
                  <a:srgbClr val="D63D1F"/>
                </a:solidFill>
                <a:latin typeface="Open Sans"/>
                <a:ea typeface="Open Sans"/>
                <a:cs typeface="Open Sans"/>
                <a:sym typeface="Open Sans"/>
              </a:rPr>
              <a:t>label bias </a:t>
            </a:r>
            <a:r>
              <a:rPr lang="en-US" sz="2000" dirty="0">
                <a:latin typeface="Open Sans"/>
                <a:ea typeface="Open Sans"/>
                <a:cs typeface="Open Sans"/>
                <a:sym typeface="Open Sans"/>
              </a:rPr>
              <a:t>and </a:t>
            </a:r>
            <a:r>
              <a:rPr lang="en-US" sz="2000" b="1" dirty="0">
                <a:solidFill>
                  <a:srgbClr val="D63D1F"/>
                </a:solidFill>
                <a:latin typeface="Open Sans"/>
                <a:ea typeface="Open Sans"/>
                <a:cs typeface="Open Sans"/>
                <a:sym typeface="Open Sans"/>
              </a:rPr>
              <a:t>collider bias </a:t>
            </a:r>
            <a:r>
              <a:rPr lang="en-US" sz="2000" dirty="0">
                <a:latin typeface="Open Sans"/>
                <a:ea typeface="Open Sans"/>
                <a:cs typeface="Open Sans"/>
                <a:sym typeface="Open Sans"/>
              </a:rPr>
              <a:t>present in your model? (reviewed in modules 3 and 4).</a:t>
            </a:r>
            <a:endParaRPr sz="2000" dirty="0">
              <a:latin typeface="Open Sans"/>
              <a:ea typeface="Open Sans"/>
              <a:cs typeface="Open Sans"/>
              <a:sym typeface="Open Sans"/>
            </a:endParaRPr>
          </a:p>
        </p:txBody>
      </p:sp>
      <p:grpSp>
        <p:nvGrpSpPr>
          <p:cNvPr id="272" name="Google Shape;272;p9">
            <a:extLst>
              <a:ext uri="{FF2B5EF4-FFF2-40B4-BE49-F238E27FC236}">
                <a16:creationId xmlns:a16="http://schemas.microsoft.com/office/drawing/2014/main" id="{CA8E2EC3-1601-75EE-A1BF-D84AA243F098}"/>
              </a:ext>
            </a:extLst>
          </p:cNvPr>
          <p:cNvGrpSpPr/>
          <p:nvPr/>
        </p:nvGrpSpPr>
        <p:grpSpPr>
          <a:xfrm>
            <a:off x="5271744" y="1475101"/>
            <a:ext cx="6075004" cy="3485721"/>
            <a:chOff x="3058" y="985244"/>
            <a:chExt cx="6075004" cy="3485721"/>
          </a:xfrm>
        </p:grpSpPr>
        <p:sp>
          <p:nvSpPr>
            <p:cNvPr id="273" name="Google Shape;273;p9">
              <a:extLst>
                <a:ext uri="{FF2B5EF4-FFF2-40B4-BE49-F238E27FC236}">
                  <a16:creationId xmlns:a16="http://schemas.microsoft.com/office/drawing/2014/main" id="{A3FFBCD1-52A3-C327-C210-B5678F8F6D02}"/>
                </a:ext>
              </a:extLst>
            </p:cNvPr>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9">
              <a:extLst>
                <a:ext uri="{FF2B5EF4-FFF2-40B4-BE49-F238E27FC236}">
                  <a16:creationId xmlns:a16="http://schemas.microsoft.com/office/drawing/2014/main" id="{8CE42F19-80BE-50D6-AE23-0EDACF029424}"/>
                </a:ext>
              </a:extLst>
            </p:cNvPr>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275" name="Google Shape;275;p9">
              <a:extLst>
                <a:ext uri="{FF2B5EF4-FFF2-40B4-BE49-F238E27FC236}">
                  <a16:creationId xmlns:a16="http://schemas.microsoft.com/office/drawing/2014/main" id="{9816B6F1-650B-5B9B-4639-2DDE50F63DF1}"/>
                </a:ext>
              </a:extLst>
            </p:cNvPr>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9">
              <a:extLst>
                <a:ext uri="{FF2B5EF4-FFF2-40B4-BE49-F238E27FC236}">
                  <a16:creationId xmlns:a16="http://schemas.microsoft.com/office/drawing/2014/main" id="{59DDC3D6-06D9-D848-3732-9FAD69026B7F}"/>
                </a:ext>
              </a:extLst>
            </p:cNvPr>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277" name="Google Shape;277;p9">
              <a:extLst>
                <a:ext uri="{FF2B5EF4-FFF2-40B4-BE49-F238E27FC236}">
                  <a16:creationId xmlns:a16="http://schemas.microsoft.com/office/drawing/2014/main" id="{B6E13BE5-C2DA-66CC-0B00-C7AC9881F8F9}"/>
                </a:ext>
              </a:extLst>
            </p:cNvPr>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9">
              <a:extLst>
                <a:ext uri="{FF2B5EF4-FFF2-40B4-BE49-F238E27FC236}">
                  <a16:creationId xmlns:a16="http://schemas.microsoft.com/office/drawing/2014/main" id="{49DD9B17-060D-E607-ED6A-0D8C4FFDA3B3}"/>
                </a:ext>
              </a:extLst>
            </p:cNvPr>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solidFill>
                  <a:schemeClr val="lt1"/>
                </a:solidFill>
                <a:latin typeface="Open Sans"/>
                <a:ea typeface="Open Sans"/>
                <a:cs typeface="Open Sans"/>
                <a:sym typeface="Open Sans"/>
              </a:endParaRPr>
            </a:p>
          </p:txBody>
        </p:sp>
        <p:sp>
          <p:nvSpPr>
            <p:cNvPr id="279" name="Google Shape;279;p9">
              <a:extLst>
                <a:ext uri="{FF2B5EF4-FFF2-40B4-BE49-F238E27FC236}">
                  <a16:creationId xmlns:a16="http://schemas.microsoft.com/office/drawing/2014/main" id="{3B04D895-428D-5E5A-1F3F-D92B521C762F}"/>
                </a:ext>
              </a:extLst>
            </p:cNvPr>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9">
              <a:extLst>
                <a:ext uri="{FF2B5EF4-FFF2-40B4-BE49-F238E27FC236}">
                  <a16:creationId xmlns:a16="http://schemas.microsoft.com/office/drawing/2014/main" id="{92F7D22C-CC04-1F6B-B279-AECC30BDE8E5}"/>
                </a:ext>
              </a:extLst>
            </p:cNvPr>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bg1"/>
                  </a:solidFill>
                  <a:latin typeface="Open Sans"/>
                  <a:ea typeface="Open Sans"/>
                  <a:cs typeface="Open Sans"/>
                  <a:sym typeface="Open Sans"/>
                </a:rPr>
                <a:t>Coding of data</a:t>
              </a:r>
              <a:endParaRPr dirty="0">
                <a:solidFill>
                  <a:schemeClr val="bg1"/>
                </a:solidFill>
                <a:latin typeface="Open Sans"/>
                <a:ea typeface="Open Sans"/>
                <a:cs typeface="Open Sans"/>
                <a:sym typeface="Open Sans"/>
              </a:endParaRPr>
            </a:p>
          </p:txBody>
        </p:sp>
        <p:sp>
          <p:nvSpPr>
            <p:cNvPr id="281" name="Google Shape;281;p9">
              <a:extLst>
                <a:ext uri="{FF2B5EF4-FFF2-40B4-BE49-F238E27FC236}">
                  <a16:creationId xmlns:a16="http://schemas.microsoft.com/office/drawing/2014/main" id="{534C1E70-CA26-9495-3A62-9A835F35E2AF}"/>
                </a:ext>
              </a:extLst>
            </p:cNvPr>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9">
              <a:extLst>
                <a:ext uri="{FF2B5EF4-FFF2-40B4-BE49-F238E27FC236}">
                  <a16:creationId xmlns:a16="http://schemas.microsoft.com/office/drawing/2014/main" id="{FA4E647B-260D-DEBB-89BE-E48E19577680}"/>
                </a:ext>
              </a:extLst>
            </p:cNvPr>
            <p:cNvSpPr/>
            <p:nvPr/>
          </p:nvSpPr>
          <p:spPr>
            <a:xfrm>
              <a:off x="2210610" y="223010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rPr>
                <a:t>Data analysis</a:t>
              </a:r>
              <a:endParaRPr b="1" dirty="0">
                <a:solidFill>
                  <a:srgbClr val="001C84"/>
                </a:solidFill>
              </a:endParaRPr>
            </a:p>
          </p:txBody>
        </p:sp>
        <p:sp>
          <p:nvSpPr>
            <p:cNvPr id="283" name="Google Shape;283;p9">
              <a:extLst>
                <a:ext uri="{FF2B5EF4-FFF2-40B4-BE49-F238E27FC236}">
                  <a16:creationId xmlns:a16="http://schemas.microsoft.com/office/drawing/2014/main" id="{BD83ABA1-1E99-01C1-D422-12CDF1C57F82}"/>
                </a:ext>
              </a:extLst>
            </p:cNvPr>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9">
              <a:extLst>
                <a:ext uri="{FF2B5EF4-FFF2-40B4-BE49-F238E27FC236}">
                  <a16:creationId xmlns:a16="http://schemas.microsoft.com/office/drawing/2014/main" id="{47DD05BA-7486-0B49-CADF-3C4252294EF0}"/>
                </a:ext>
              </a:extLst>
            </p:cNvPr>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285" name="Google Shape;285;p9">
              <a:extLst>
                <a:ext uri="{FF2B5EF4-FFF2-40B4-BE49-F238E27FC236}">
                  <a16:creationId xmlns:a16="http://schemas.microsoft.com/office/drawing/2014/main" id="{CBD71AFA-83F0-8E02-9F66-29DE09D05EF2}"/>
                </a:ext>
              </a:extLst>
            </p:cNvPr>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9">
              <a:extLst>
                <a:ext uri="{FF2B5EF4-FFF2-40B4-BE49-F238E27FC236}">
                  <a16:creationId xmlns:a16="http://schemas.microsoft.com/office/drawing/2014/main" id="{FA48415E-E0FB-A856-652D-C5C05197B290}"/>
                </a:ext>
              </a:extLst>
            </p:cNvPr>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287" name="Google Shape;287;p9">
              <a:extLst>
                <a:ext uri="{FF2B5EF4-FFF2-40B4-BE49-F238E27FC236}">
                  <a16:creationId xmlns:a16="http://schemas.microsoft.com/office/drawing/2014/main" id="{5882719C-6CE1-787E-0B1B-93AF55B56462}"/>
                </a:ext>
              </a:extLst>
            </p:cNvPr>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2D4C495D-9E65-D427-ED1C-ABD18A7BDD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11</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0314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7"/>
        <p:cNvGrpSpPr/>
        <p:nvPr/>
      </p:nvGrpSpPr>
      <p:grpSpPr>
        <a:xfrm>
          <a:off x="0" y="0"/>
          <a:ext cx="0" cy="0"/>
          <a:chOff x="0" y="0"/>
          <a:chExt cx="0" cy="0"/>
        </a:xfrm>
      </p:grpSpPr>
      <p:sp>
        <p:nvSpPr>
          <p:cNvPr id="298" name="Google Shape;298;p10"/>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9" name="Google Shape;299;p10"/>
          <p:cNvSpPr txBox="1">
            <a:spLocks noGrp="1"/>
          </p:cNvSpPr>
          <p:nvPr>
            <p:ph type="title"/>
          </p:nvPr>
        </p:nvSpPr>
        <p:spPr>
          <a:xfrm>
            <a:off x="519100" y="377775"/>
            <a:ext cx="4537200" cy="6199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980"/>
              <a:buNone/>
            </a:pPr>
            <a:r>
              <a:rPr lang="en-US" sz="1779" b="1" dirty="0">
                <a:solidFill>
                  <a:srgbClr val="001C84"/>
                </a:solidFill>
                <a:latin typeface="Open Sans"/>
                <a:ea typeface="Open Sans"/>
                <a:cs typeface="Open Sans"/>
                <a:sym typeface="Open Sans"/>
              </a:rPr>
              <a:t>Call attention to any known discrepancy between the target variable and the construct measured.</a:t>
            </a:r>
            <a:br>
              <a:rPr lang="en-US" sz="1779" dirty="0">
                <a:latin typeface="Open Sans"/>
                <a:ea typeface="Open Sans"/>
                <a:cs typeface="Open Sans"/>
                <a:sym typeface="Open Sans"/>
              </a:rPr>
            </a:br>
            <a:br>
              <a:rPr lang="en-US" sz="1779" dirty="0">
                <a:latin typeface="Open Sans"/>
                <a:ea typeface="Open Sans"/>
                <a:cs typeface="Open Sans"/>
                <a:sym typeface="Open Sans"/>
              </a:rPr>
            </a:br>
            <a:r>
              <a:rPr lang="en-US" sz="1779" u="sng" dirty="0">
                <a:latin typeface="Open Sans"/>
                <a:ea typeface="Open Sans"/>
                <a:cs typeface="Open Sans"/>
                <a:sym typeface="Open Sans"/>
              </a:rPr>
              <a:t>Instead of</a:t>
            </a:r>
            <a:r>
              <a:rPr lang="en-US" sz="1779" dirty="0">
                <a:latin typeface="Open Sans"/>
                <a:ea typeface="Open Sans"/>
                <a:cs typeface="Open Sans"/>
                <a:sym typeface="Open Sans"/>
              </a:rPr>
              <a:t>:</a:t>
            </a:r>
            <a:endParaRPr sz="1779" dirty="0">
              <a:latin typeface="Open Sans"/>
              <a:ea typeface="Open Sans"/>
              <a:cs typeface="Open Sans"/>
              <a:sym typeface="Open Sans"/>
            </a:endParaRPr>
          </a:p>
          <a:p>
            <a:pPr marL="457200" lvl="0" indent="0" algn="l" rtl="0">
              <a:lnSpc>
                <a:spcPct val="90000"/>
              </a:lnSpc>
              <a:spcBef>
                <a:spcPts val="0"/>
              </a:spcBef>
              <a:spcAft>
                <a:spcPts val="0"/>
              </a:spcAft>
              <a:buSzPts val="1980"/>
              <a:buNone/>
            </a:pPr>
            <a:r>
              <a:rPr lang="en-US" sz="1779" dirty="0">
                <a:latin typeface="Open Sans"/>
                <a:ea typeface="Open Sans"/>
                <a:cs typeface="Open Sans"/>
                <a:sym typeface="Open Sans"/>
              </a:rPr>
              <a:t>Concluding “</a:t>
            </a:r>
            <a:r>
              <a:rPr lang="en-US" sz="1779" b="1" dirty="0">
                <a:solidFill>
                  <a:schemeClr val="accent4"/>
                </a:solidFill>
                <a:latin typeface="Open Sans"/>
                <a:ea typeface="Open Sans"/>
                <a:cs typeface="Open Sans"/>
                <a:sym typeface="Open Sans"/>
              </a:rPr>
              <a:t>Health status is negatively related to homelessness</a:t>
            </a:r>
            <a:r>
              <a:rPr lang="en-US" sz="1779" dirty="0">
                <a:solidFill>
                  <a:schemeClr val="tx1"/>
                </a:solidFill>
                <a:latin typeface="Open Sans"/>
                <a:ea typeface="Open Sans"/>
                <a:cs typeface="Open Sans"/>
                <a:sym typeface="Open Sans"/>
              </a:rPr>
              <a:t>.</a:t>
            </a:r>
            <a:r>
              <a:rPr lang="en-US" sz="1779" dirty="0">
                <a:latin typeface="Open Sans"/>
                <a:ea typeface="Open Sans"/>
                <a:cs typeface="Open Sans"/>
                <a:sym typeface="Open Sans"/>
              </a:rPr>
              <a:t>”</a:t>
            </a:r>
            <a:endParaRPr sz="1779" dirty="0">
              <a:latin typeface="Open Sans"/>
              <a:ea typeface="Open Sans"/>
              <a:cs typeface="Open Sans"/>
              <a:sym typeface="Open Sans"/>
            </a:endParaRPr>
          </a:p>
          <a:p>
            <a:pPr marL="457200" lvl="0" indent="0" algn="l" rtl="0">
              <a:lnSpc>
                <a:spcPct val="90000"/>
              </a:lnSpc>
              <a:spcBef>
                <a:spcPts val="0"/>
              </a:spcBef>
              <a:spcAft>
                <a:spcPts val="0"/>
              </a:spcAft>
              <a:buSzPts val="1980"/>
              <a:buNone/>
            </a:pPr>
            <a:endParaRPr sz="1779" dirty="0">
              <a:latin typeface="Open Sans"/>
              <a:ea typeface="Open Sans"/>
              <a:cs typeface="Open Sans"/>
              <a:sym typeface="Open Sans"/>
            </a:endParaRPr>
          </a:p>
          <a:p>
            <a:pPr marL="0" lvl="0" indent="0" algn="l" rtl="0">
              <a:lnSpc>
                <a:spcPct val="90000"/>
              </a:lnSpc>
              <a:spcBef>
                <a:spcPts val="0"/>
              </a:spcBef>
              <a:spcAft>
                <a:spcPts val="0"/>
              </a:spcAft>
              <a:buSzPts val="1980"/>
              <a:buNone/>
            </a:pPr>
            <a:r>
              <a:rPr lang="en-US" sz="1779" u="sng" dirty="0">
                <a:latin typeface="Open Sans"/>
                <a:ea typeface="Open Sans"/>
                <a:cs typeface="Open Sans"/>
                <a:sym typeface="Open Sans"/>
              </a:rPr>
              <a:t>Be specific in interpretation</a:t>
            </a:r>
            <a:r>
              <a:rPr lang="en-US" sz="1779" dirty="0">
                <a:latin typeface="Open Sans"/>
                <a:ea typeface="Open Sans"/>
                <a:cs typeface="Open Sans"/>
                <a:sym typeface="Open Sans"/>
              </a:rPr>
              <a:t>: </a:t>
            </a:r>
            <a:endParaRPr sz="1779" dirty="0">
              <a:latin typeface="Open Sans"/>
              <a:ea typeface="Open Sans"/>
              <a:cs typeface="Open Sans"/>
              <a:sym typeface="Open Sans"/>
            </a:endParaRPr>
          </a:p>
          <a:p>
            <a:pPr marL="457200" lvl="0" indent="0" algn="l" rtl="0">
              <a:lnSpc>
                <a:spcPct val="90000"/>
              </a:lnSpc>
              <a:spcBef>
                <a:spcPts val="0"/>
              </a:spcBef>
              <a:spcAft>
                <a:spcPts val="0"/>
              </a:spcAft>
              <a:buSzPts val="1980"/>
              <a:buNone/>
            </a:pPr>
            <a:r>
              <a:rPr lang="en-US" sz="1779" dirty="0">
                <a:latin typeface="Open Sans"/>
                <a:ea typeface="Open Sans"/>
                <a:cs typeface="Open Sans"/>
                <a:sym typeface="Open Sans"/>
              </a:rPr>
              <a:t>“In an effort to measure the relationship between health and homelessness, we examine a </a:t>
            </a:r>
            <a:r>
              <a:rPr lang="en-US" sz="1779" b="1" dirty="0">
                <a:solidFill>
                  <a:srgbClr val="D63D1F"/>
                </a:solidFill>
                <a:latin typeface="Open Sans"/>
                <a:ea typeface="Open Sans"/>
                <a:cs typeface="Open Sans"/>
                <a:sym typeface="Open Sans"/>
              </a:rPr>
              <a:t>proxy for homelessness, shelter use</a:t>
            </a:r>
            <a:r>
              <a:rPr lang="en-US" sz="1779" dirty="0">
                <a:latin typeface="Open Sans"/>
                <a:ea typeface="Open Sans"/>
                <a:cs typeface="Open Sans"/>
                <a:sym typeface="Open Sans"/>
              </a:rPr>
              <a:t>, which </a:t>
            </a:r>
            <a:r>
              <a:rPr lang="en-US" sz="1779" b="1" dirty="0">
                <a:solidFill>
                  <a:srgbClr val="D63D1F"/>
                </a:solidFill>
                <a:latin typeface="Open Sans"/>
                <a:ea typeface="Open Sans"/>
                <a:cs typeface="Open Sans"/>
                <a:sym typeface="Open Sans"/>
              </a:rPr>
              <a:t>does not fully capture all people</a:t>
            </a:r>
            <a:r>
              <a:rPr lang="en-US" sz="1779" dirty="0">
                <a:latin typeface="Open Sans"/>
                <a:ea typeface="Open Sans"/>
                <a:cs typeface="Open Sans"/>
                <a:sym typeface="Open Sans"/>
              </a:rPr>
              <a:t> experiencing homelessness and may underrepresent the experiences of those who have the most significant health problems.”</a:t>
            </a:r>
            <a:endParaRPr sz="1779" dirty="0">
              <a:latin typeface="Open Sans"/>
              <a:ea typeface="Open Sans"/>
              <a:cs typeface="Open Sans"/>
              <a:sym typeface="Open Sans"/>
            </a:endParaRPr>
          </a:p>
          <a:p>
            <a:pPr marL="457200" lvl="0" indent="0" algn="l" rtl="0">
              <a:lnSpc>
                <a:spcPct val="90000"/>
              </a:lnSpc>
              <a:spcBef>
                <a:spcPts val="0"/>
              </a:spcBef>
              <a:spcAft>
                <a:spcPts val="0"/>
              </a:spcAft>
              <a:buSzPts val="1980"/>
              <a:buNone/>
            </a:pPr>
            <a:endParaRPr sz="1779" dirty="0">
              <a:latin typeface="Open Sans"/>
              <a:ea typeface="Open Sans"/>
              <a:cs typeface="Open Sans"/>
              <a:sym typeface="Open Sans"/>
            </a:endParaRPr>
          </a:p>
          <a:p>
            <a:pPr marL="457200" lvl="0" indent="0" algn="l" rtl="0">
              <a:lnSpc>
                <a:spcPct val="90000"/>
              </a:lnSpc>
              <a:spcBef>
                <a:spcPts val="0"/>
              </a:spcBef>
              <a:spcAft>
                <a:spcPts val="0"/>
              </a:spcAft>
              <a:buSzPts val="1980"/>
              <a:buNone/>
            </a:pPr>
            <a:r>
              <a:rPr lang="en-US" sz="1779" dirty="0">
                <a:latin typeface="Open Sans"/>
                <a:ea typeface="Open Sans"/>
                <a:cs typeface="Open Sans"/>
                <a:sym typeface="Open Sans"/>
              </a:rPr>
              <a:t>Be </a:t>
            </a:r>
            <a:r>
              <a:rPr lang="en-US" sz="1779" b="1" dirty="0">
                <a:solidFill>
                  <a:srgbClr val="D63D1F"/>
                </a:solidFill>
                <a:latin typeface="Open Sans"/>
                <a:ea typeface="Open Sans"/>
                <a:cs typeface="Open Sans"/>
                <a:sym typeface="Open Sans"/>
              </a:rPr>
              <a:t>transparent about limitations</a:t>
            </a:r>
            <a:r>
              <a:rPr lang="en-US" sz="1779" dirty="0">
                <a:latin typeface="Open Sans"/>
                <a:ea typeface="Open Sans"/>
                <a:cs typeface="Open Sans"/>
                <a:sym typeface="Open Sans"/>
              </a:rPr>
              <a:t> of research.</a:t>
            </a:r>
            <a:br>
              <a:rPr lang="en-US" sz="1779" dirty="0">
                <a:latin typeface="Open Sans"/>
                <a:ea typeface="Open Sans"/>
                <a:cs typeface="Open Sans"/>
                <a:sym typeface="Open Sans"/>
              </a:rPr>
            </a:br>
            <a:br>
              <a:rPr lang="en-US" sz="1779" dirty="0">
                <a:latin typeface="Open Sans"/>
                <a:ea typeface="Open Sans"/>
                <a:cs typeface="Open Sans"/>
                <a:sym typeface="Open Sans"/>
              </a:rPr>
            </a:br>
            <a:r>
              <a:rPr lang="en-US" sz="1779" dirty="0">
                <a:latin typeface="Open Sans"/>
                <a:ea typeface="Open Sans"/>
                <a:cs typeface="Open Sans"/>
                <a:sym typeface="Open Sans"/>
              </a:rPr>
              <a:t>Report findings to </a:t>
            </a:r>
            <a:r>
              <a:rPr lang="en-US" sz="1779" b="1" dirty="0">
                <a:solidFill>
                  <a:srgbClr val="D63D1F"/>
                </a:solidFill>
                <a:latin typeface="Open Sans"/>
                <a:ea typeface="Open Sans"/>
                <a:cs typeface="Open Sans"/>
                <a:sym typeface="Open Sans"/>
              </a:rPr>
              <a:t>community stakeholders</a:t>
            </a:r>
            <a:r>
              <a:rPr lang="en-US" sz="1779" dirty="0">
                <a:latin typeface="Open Sans"/>
                <a:ea typeface="Open Sans"/>
                <a:cs typeface="Open Sans"/>
                <a:sym typeface="Open Sans"/>
              </a:rPr>
              <a:t> and </a:t>
            </a:r>
            <a:r>
              <a:rPr lang="en-US" sz="1779" b="1" dirty="0">
                <a:solidFill>
                  <a:srgbClr val="D63D1F"/>
                </a:solidFill>
                <a:latin typeface="Open Sans"/>
                <a:ea typeface="Open Sans"/>
                <a:cs typeface="Open Sans"/>
                <a:sym typeface="Open Sans"/>
              </a:rPr>
              <a:t>seek feedback</a:t>
            </a:r>
            <a:r>
              <a:rPr lang="en-US" sz="1779" dirty="0">
                <a:solidFill>
                  <a:schemeClr val="tx1"/>
                </a:solidFill>
                <a:latin typeface="Open Sans"/>
                <a:ea typeface="Open Sans"/>
                <a:cs typeface="Open Sans"/>
                <a:sym typeface="Open Sans"/>
              </a:rPr>
              <a:t>.</a:t>
            </a:r>
            <a:endParaRPr sz="4120" dirty="0">
              <a:solidFill>
                <a:schemeClr val="tx1"/>
              </a:solidFill>
              <a:latin typeface="Open Sans"/>
              <a:ea typeface="Open Sans"/>
              <a:cs typeface="Open Sans"/>
              <a:sym typeface="Open Sans"/>
            </a:endParaRPr>
          </a:p>
        </p:txBody>
      </p:sp>
      <p:grpSp>
        <p:nvGrpSpPr>
          <p:cNvPr id="301" name="Google Shape;301;p10"/>
          <p:cNvGrpSpPr/>
          <p:nvPr/>
        </p:nvGrpSpPr>
        <p:grpSpPr>
          <a:xfrm>
            <a:off x="5271744" y="1475101"/>
            <a:ext cx="6075004" cy="3485721"/>
            <a:chOff x="3058" y="985244"/>
            <a:chExt cx="6075004" cy="3485721"/>
          </a:xfrm>
        </p:grpSpPr>
        <p:sp>
          <p:nvSpPr>
            <p:cNvPr id="302" name="Google Shape;302;p10"/>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0"/>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304" name="Google Shape;304;p10"/>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10"/>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306" name="Google Shape;306;p10"/>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0"/>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solidFill>
                  <a:schemeClr val="lt1"/>
                </a:solidFill>
                <a:latin typeface="Open Sans"/>
                <a:ea typeface="Open Sans"/>
                <a:cs typeface="Open Sans"/>
                <a:sym typeface="Open Sans"/>
              </a:endParaRPr>
            </a:p>
          </p:txBody>
        </p:sp>
        <p:sp>
          <p:nvSpPr>
            <p:cNvPr id="308" name="Google Shape;308;p10"/>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10"/>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solidFill>
                  <a:schemeClr val="lt1"/>
                </a:solidFill>
                <a:latin typeface="Open Sans"/>
                <a:ea typeface="Open Sans"/>
                <a:cs typeface="Open Sans"/>
                <a:sym typeface="Open Sans"/>
              </a:endParaRPr>
            </a:p>
          </p:txBody>
        </p:sp>
        <p:sp>
          <p:nvSpPr>
            <p:cNvPr id="310" name="Google Shape;310;p10"/>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10"/>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312" name="Google Shape;312;p10"/>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10"/>
            <p:cNvSpPr/>
            <p:nvPr/>
          </p:nvSpPr>
          <p:spPr>
            <a:xfrm>
              <a:off x="2210610" y="98524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Interpretation and reporting of data</a:t>
              </a:r>
              <a:endParaRPr sz="1500" b="1" dirty="0">
                <a:solidFill>
                  <a:srgbClr val="001C84"/>
                </a:solidFill>
                <a:latin typeface="Open Sans"/>
                <a:ea typeface="Open Sans"/>
                <a:cs typeface="Open Sans"/>
                <a:sym typeface="Open Sans"/>
              </a:endParaRPr>
            </a:p>
          </p:txBody>
        </p:sp>
        <p:sp>
          <p:nvSpPr>
            <p:cNvPr id="314" name="Google Shape;314;p10"/>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10"/>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316" name="Google Shape;316;p10"/>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174A66E3-2A6E-D8BC-D873-77BB291E0B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12</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0"/>
        <p:cNvGrpSpPr/>
        <p:nvPr/>
      </p:nvGrpSpPr>
      <p:grpSpPr>
        <a:xfrm>
          <a:off x="0" y="0"/>
          <a:ext cx="0" cy="0"/>
          <a:chOff x="0" y="0"/>
          <a:chExt cx="0" cy="0"/>
        </a:xfrm>
      </p:grpSpPr>
      <p:sp>
        <p:nvSpPr>
          <p:cNvPr id="321" name="Google Shape;321;p11"/>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2" name="Google Shape;322;p11"/>
          <p:cNvSpPr txBox="1">
            <a:spLocks noGrp="1"/>
          </p:cNvSpPr>
          <p:nvPr>
            <p:ph type="title"/>
          </p:nvPr>
        </p:nvSpPr>
        <p:spPr>
          <a:xfrm>
            <a:off x="645065" y="1097280"/>
            <a:ext cx="3796306" cy="4666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Play"/>
              <a:buNone/>
            </a:pPr>
            <a:r>
              <a:rPr lang="en-US" sz="2000" b="1">
                <a:solidFill>
                  <a:srgbClr val="001C84"/>
                </a:solidFill>
                <a:latin typeface="Open Sans"/>
                <a:ea typeface="Open Sans"/>
                <a:cs typeface="Open Sans"/>
                <a:sym typeface="Open Sans"/>
              </a:rPr>
              <a:t>Be mindful when applying data to practice.</a:t>
            </a:r>
            <a:br>
              <a:rPr lang="en-US" sz="2000">
                <a:latin typeface="Open Sans"/>
                <a:ea typeface="Open Sans"/>
                <a:cs typeface="Open Sans"/>
                <a:sym typeface="Open Sans"/>
              </a:rPr>
            </a:br>
            <a:br>
              <a:rPr lang="en-US" sz="2000">
                <a:latin typeface="Open Sans"/>
                <a:ea typeface="Open Sans"/>
                <a:cs typeface="Open Sans"/>
                <a:sym typeface="Open Sans"/>
              </a:rPr>
            </a:br>
            <a:r>
              <a:rPr lang="en-US" sz="2000" u="sng">
                <a:latin typeface="Open Sans"/>
                <a:ea typeface="Open Sans"/>
                <a:cs typeface="Open Sans"/>
                <a:sym typeface="Open Sans"/>
              </a:rPr>
              <a:t>Instead of</a:t>
            </a:r>
            <a:r>
              <a:rPr lang="en-US" sz="2000">
                <a:latin typeface="Open Sans"/>
                <a:ea typeface="Open Sans"/>
                <a:cs typeface="Open Sans"/>
                <a:sym typeface="Open Sans"/>
              </a:rPr>
              <a:t>:</a:t>
            </a:r>
            <a:r>
              <a:rPr lang="en-US" sz="2000" u="sng">
                <a:latin typeface="Open Sans"/>
                <a:ea typeface="Open Sans"/>
                <a:cs typeface="Open Sans"/>
                <a:sym typeface="Open Sans"/>
              </a:rPr>
              <a:t> </a:t>
            </a:r>
            <a:endParaRPr sz="2000">
              <a:latin typeface="Open Sans"/>
              <a:ea typeface="Open Sans"/>
              <a:cs typeface="Open Sans"/>
              <a:sym typeface="Open Sans"/>
            </a:endParaRPr>
          </a:p>
          <a:p>
            <a:pPr marL="457200" lvl="0" indent="0" algn="l" rtl="0">
              <a:lnSpc>
                <a:spcPct val="90000"/>
              </a:lnSpc>
              <a:spcBef>
                <a:spcPts val="0"/>
              </a:spcBef>
              <a:spcAft>
                <a:spcPts val="0"/>
              </a:spcAft>
              <a:buClr>
                <a:schemeClr val="dk1"/>
              </a:buClr>
              <a:buSzPts val="2000"/>
              <a:buFont typeface="Play"/>
              <a:buNone/>
            </a:pPr>
            <a:r>
              <a:rPr lang="en-US" sz="2000">
                <a:latin typeface="Open Sans"/>
                <a:ea typeface="Open Sans"/>
                <a:cs typeface="Open Sans"/>
                <a:sym typeface="Open Sans"/>
              </a:rPr>
              <a:t>Focusing interventions </a:t>
            </a:r>
            <a:r>
              <a:rPr lang="en-US" sz="2000" b="1">
                <a:solidFill>
                  <a:schemeClr val="accent4"/>
                </a:solidFill>
                <a:latin typeface="Open Sans"/>
                <a:ea typeface="Open Sans"/>
                <a:cs typeface="Open Sans"/>
                <a:sym typeface="Open Sans"/>
              </a:rPr>
              <a:t>only on shelter users</a:t>
            </a:r>
            <a:endParaRPr sz="2000" b="1">
              <a:solidFill>
                <a:schemeClr val="accent4"/>
              </a:solidFill>
              <a:latin typeface="Open Sans"/>
              <a:ea typeface="Open Sans"/>
              <a:cs typeface="Open Sans"/>
              <a:sym typeface="Open Sans"/>
            </a:endParaRPr>
          </a:p>
          <a:p>
            <a:pPr marL="457200" lvl="0" indent="0" algn="l" rtl="0">
              <a:lnSpc>
                <a:spcPct val="90000"/>
              </a:lnSpc>
              <a:spcBef>
                <a:spcPts val="0"/>
              </a:spcBef>
              <a:spcAft>
                <a:spcPts val="0"/>
              </a:spcAft>
              <a:buClr>
                <a:schemeClr val="dk1"/>
              </a:buClr>
              <a:buSzPts val="2000"/>
              <a:buFont typeface="Play"/>
              <a:buNone/>
            </a:pPr>
            <a:endParaRPr sz="2000">
              <a:latin typeface="Open Sans"/>
              <a:ea typeface="Open Sans"/>
              <a:cs typeface="Open Sans"/>
              <a:sym typeface="Open Sans"/>
            </a:endParaRPr>
          </a:p>
          <a:p>
            <a:pPr marL="0" lvl="0" indent="0" algn="l" rtl="0">
              <a:lnSpc>
                <a:spcPct val="90000"/>
              </a:lnSpc>
              <a:spcBef>
                <a:spcPts val="0"/>
              </a:spcBef>
              <a:spcAft>
                <a:spcPts val="0"/>
              </a:spcAft>
              <a:buClr>
                <a:schemeClr val="dk1"/>
              </a:buClr>
              <a:buSzPts val="2000"/>
              <a:buFont typeface="Play"/>
              <a:buNone/>
            </a:pPr>
            <a:r>
              <a:rPr lang="en-US" sz="2000" u="sng">
                <a:latin typeface="Open Sans"/>
                <a:ea typeface="Open Sans"/>
                <a:cs typeface="Open Sans"/>
                <a:sym typeface="Open Sans"/>
              </a:rPr>
              <a:t>Find alternative ways to</a:t>
            </a:r>
            <a:r>
              <a:rPr lang="en-US" sz="2000">
                <a:latin typeface="Open Sans"/>
                <a:ea typeface="Open Sans"/>
                <a:cs typeface="Open Sans"/>
                <a:sym typeface="Open Sans"/>
              </a:rPr>
              <a:t>:</a:t>
            </a:r>
            <a:endParaRPr sz="2000">
              <a:latin typeface="Open Sans"/>
              <a:ea typeface="Open Sans"/>
              <a:cs typeface="Open Sans"/>
              <a:sym typeface="Open Sans"/>
            </a:endParaRPr>
          </a:p>
          <a:p>
            <a:pPr marL="457200" lvl="0" indent="0" algn="l" rtl="0">
              <a:lnSpc>
                <a:spcPct val="90000"/>
              </a:lnSpc>
              <a:spcBef>
                <a:spcPts val="0"/>
              </a:spcBef>
              <a:spcAft>
                <a:spcPts val="0"/>
              </a:spcAft>
              <a:buClr>
                <a:schemeClr val="dk1"/>
              </a:buClr>
              <a:buSzPts val="2000"/>
              <a:buFont typeface="Play"/>
              <a:buNone/>
            </a:pPr>
            <a:r>
              <a:rPr lang="en-US" sz="2000">
                <a:latin typeface="Open Sans"/>
                <a:ea typeface="Open Sans"/>
                <a:cs typeface="Open Sans"/>
                <a:sym typeface="Open Sans"/>
              </a:rPr>
              <a:t>Identify and serve </a:t>
            </a:r>
            <a:r>
              <a:rPr lang="en-US" sz="2000" b="1">
                <a:solidFill>
                  <a:srgbClr val="D63D1F"/>
                </a:solidFill>
                <a:latin typeface="Open Sans"/>
                <a:ea typeface="Open Sans"/>
                <a:cs typeface="Open Sans"/>
                <a:sym typeface="Open Sans"/>
              </a:rPr>
              <a:t>populations that are underrepresented in the data</a:t>
            </a:r>
            <a:endParaRPr sz="2000" b="1">
              <a:solidFill>
                <a:srgbClr val="D63D1F"/>
              </a:solidFill>
              <a:latin typeface="Open Sans"/>
              <a:ea typeface="Open Sans"/>
              <a:cs typeface="Open Sans"/>
              <a:sym typeface="Open Sans"/>
            </a:endParaRPr>
          </a:p>
        </p:txBody>
      </p:sp>
      <p:grpSp>
        <p:nvGrpSpPr>
          <p:cNvPr id="324" name="Google Shape;324;p11"/>
          <p:cNvGrpSpPr/>
          <p:nvPr/>
        </p:nvGrpSpPr>
        <p:grpSpPr>
          <a:xfrm>
            <a:off x="5271744" y="1475101"/>
            <a:ext cx="6075004" cy="3485721"/>
            <a:chOff x="3058" y="985244"/>
            <a:chExt cx="6075004" cy="3485721"/>
          </a:xfrm>
        </p:grpSpPr>
        <p:sp>
          <p:nvSpPr>
            <p:cNvPr id="325" name="Google Shape;325;p11"/>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11"/>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327" name="Google Shape;327;p11"/>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11"/>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329" name="Google Shape;329;p11"/>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11"/>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solidFill>
                  <a:schemeClr val="lt1"/>
                </a:solidFill>
                <a:latin typeface="Open Sans"/>
                <a:ea typeface="Open Sans"/>
                <a:cs typeface="Open Sans"/>
                <a:sym typeface="Open Sans"/>
              </a:endParaRPr>
            </a:p>
          </p:txBody>
        </p:sp>
        <p:sp>
          <p:nvSpPr>
            <p:cNvPr id="331" name="Google Shape;331;p11"/>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11"/>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solidFill>
                  <a:schemeClr val="lt1"/>
                </a:solidFill>
                <a:latin typeface="Open Sans"/>
                <a:ea typeface="Open Sans"/>
                <a:cs typeface="Open Sans"/>
                <a:sym typeface="Open Sans"/>
              </a:endParaRPr>
            </a:p>
          </p:txBody>
        </p:sp>
        <p:sp>
          <p:nvSpPr>
            <p:cNvPr id="333" name="Google Shape;333;p11"/>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11"/>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335" name="Google Shape;335;p11"/>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11"/>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solidFill>
                  <a:schemeClr val="lt1"/>
                </a:solidFill>
                <a:latin typeface="Open Sans"/>
                <a:ea typeface="Open Sans"/>
                <a:cs typeface="Open Sans"/>
                <a:sym typeface="Open Sans"/>
              </a:endParaRPr>
            </a:p>
          </p:txBody>
        </p:sp>
        <p:sp>
          <p:nvSpPr>
            <p:cNvPr id="337" name="Google Shape;337;p11"/>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11"/>
            <p:cNvSpPr/>
            <p:nvPr/>
          </p:nvSpPr>
          <p:spPr>
            <a:xfrm>
              <a:off x="4418162" y="98524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Application of data </a:t>
              </a:r>
              <a:endParaRPr b="1" dirty="0">
                <a:solidFill>
                  <a:srgbClr val="001C84"/>
                </a:solidFill>
                <a:latin typeface="Open Sans"/>
                <a:ea typeface="Open Sans"/>
                <a:cs typeface="Open Sans"/>
                <a:sym typeface="Open Sans"/>
              </a:endParaRPr>
            </a:p>
          </p:txBody>
        </p:sp>
        <p:sp>
          <p:nvSpPr>
            <p:cNvPr id="339" name="Google Shape;339;p11"/>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8387B7A0-D5FD-B605-2E46-E6F63935E4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13</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p:cNvGrpSpPr/>
        <p:nvPr/>
      </p:nvGrpSpPr>
      <p:grpSpPr>
        <a:xfrm>
          <a:off x="0" y="0"/>
          <a:ext cx="0" cy="0"/>
          <a:chOff x="0" y="0"/>
          <a:chExt cx="0" cy="0"/>
        </a:xfrm>
      </p:grpSpPr>
      <p:sp>
        <p:nvSpPr>
          <p:cNvPr id="344" name="Google Shape;344;p12"/>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5" name="Google Shape;345;p12"/>
          <p:cNvSpPr txBox="1">
            <a:spLocks noGrp="1"/>
          </p:cNvSpPr>
          <p:nvPr>
            <p:ph type="title"/>
          </p:nvPr>
        </p:nvSpPr>
        <p:spPr>
          <a:xfrm>
            <a:off x="645065" y="1097280"/>
            <a:ext cx="3796306" cy="4666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Play"/>
              <a:buNone/>
            </a:pPr>
            <a:br>
              <a:rPr lang="en-US" sz="2000"/>
            </a:br>
            <a:endParaRPr sz="2000"/>
          </a:p>
        </p:txBody>
      </p:sp>
      <p:sp>
        <p:nvSpPr>
          <p:cNvPr id="346" name="Google Shape;346;p12"/>
          <p:cNvSpPr txBox="1"/>
          <p:nvPr/>
        </p:nvSpPr>
        <p:spPr>
          <a:xfrm>
            <a:off x="461989" y="312999"/>
            <a:ext cx="4209600" cy="61554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1C84"/>
                </a:solidFill>
                <a:latin typeface="Open Sans"/>
                <a:ea typeface="Open Sans"/>
                <a:cs typeface="Open Sans"/>
                <a:sym typeface="Open Sans"/>
              </a:rPr>
              <a:t>In every stage, remember social workers are advocates and change makers.</a:t>
            </a:r>
            <a:endParaRPr sz="1400" b="1" i="0" u="none" strike="noStrike" cap="none" dirty="0">
              <a:solidFill>
                <a:srgbClr val="001C84"/>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001C84"/>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1C84"/>
                </a:solidFill>
                <a:latin typeface="Open Sans"/>
                <a:ea typeface="Open Sans"/>
                <a:cs typeface="Open Sans"/>
                <a:sym typeface="Open Sans"/>
              </a:rPr>
              <a:t>If a systemic barrier impacts client care, work to overcome it!</a:t>
            </a:r>
            <a:endParaRPr sz="1400" b="1" i="0" u="none" strike="noStrike" cap="none" dirty="0">
              <a:solidFill>
                <a:srgbClr val="001C84"/>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endParaRPr sz="200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r>
              <a:rPr lang="en-US" sz="1800" i="0" u="sng" strike="noStrike" cap="none" dirty="0">
                <a:solidFill>
                  <a:schemeClr val="dk1"/>
                </a:solidFill>
                <a:latin typeface="Open Sans"/>
                <a:ea typeface="Open Sans"/>
                <a:cs typeface="Open Sans"/>
                <a:sym typeface="Open Sans"/>
              </a:rPr>
              <a:t>Instead of</a:t>
            </a:r>
            <a:r>
              <a:rPr lang="en-US" sz="1800" i="0" u="none" strike="noStrike" cap="none" dirty="0">
                <a:solidFill>
                  <a:schemeClr val="dk1"/>
                </a:solidFill>
                <a:latin typeface="Open Sans"/>
                <a:ea typeface="Open Sans"/>
                <a:cs typeface="Open Sans"/>
                <a:sym typeface="Open Sans"/>
              </a:rPr>
              <a:t>:</a:t>
            </a:r>
            <a:endParaRPr sz="1800" dirty="0">
              <a:solidFill>
                <a:schemeClr val="dk1"/>
              </a:solidFill>
              <a:latin typeface="Open Sans"/>
              <a:ea typeface="Open Sans"/>
              <a:cs typeface="Open Sans"/>
              <a:sym typeface="Open Sans"/>
            </a:endParaRPr>
          </a:p>
          <a:p>
            <a:pPr marL="457200" marR="0" lvl="0" indent="0" algn="l" rtl="0">
              <a:lnSpc>
                <a:spcPct val="100000"/>
              </a:lnSpc>
              <a:spcBef>
                <a:spcPts val="0"/>
              </a:spcBef>
              <a:spcAft>
                <a:spcPts val="0"/>
              </a:spcAft>
              <a:buClr>
                <a:srgbClr val="000000"/>
              </a:buClr>
              <a:buSzPts val="2000"/>
              <a:buFont typeface="Arial"/>
              <a:buNone/>
            </a:pPr>
            <a:r>
              <a:rPr lang="en-US" sz="1800" i="0" u="none" strike="noStrike" cap="none" dirty="0">
                <a:solidFill>
                  <a:schemeClr val="dk1"/>
                </a:solidFill>
                <a:latin typeface="Open Sans"/>
                <a:ea typeface="Open Sans"/>
                <a:cs typeface="Open Sans"/>
                <a:sym typeface="Open Sans"/>
              </a:rPr>
              <a:t>Feeling </a:t>
            </a:r>
            <a:r>
              <a:rPr lang="en-US" sz="1800" b="1" i="0" u="none" strike="noStrike" cap="none" dirty="0">
                <a:solidFill>
                  <a:schemeClr val="accent4"/>
                </a:solidFill>
                <a:latin typeface="Open Sans"/>
                <a:ea typeface="Open Sans"/>
                <a:cs typeface="Open Sans"/>
                <a:sym typeface="Open Sans"/>
              </a:rPr>
              <a:t>defeated</a:t>
            </a:r>
            <a:r>
              <a:rPr lang="en-US" sz="1800" i="0" u="none" strike="noStrike" cap="none" dirty="0">
                <a:solidFill>
                  <a:schemeClr val="dk1"/>
                </a:solidFill>
                <a:latin typeface="Open Sans"/>
                <a:ea typeface="Open Sans"/>
                <a:cs typeface="Open Sans"/>
                <a:sym typeface="Open Sans"/>
              </a:rPr>
              <a:t> about existing data categories in an integrated data system and </a:t>
            </a:r>
            <a:r>
              <a:rPr lang="en-US" sz="1800" b="1" i="0" u="none" strike="noStrike" cap="none" dirty="0">
                <a:solidFill>
                  <a:schemeClr val="accent4"/>
                </a:solidFill>
                <a:latin typeface="Open Sans"/>
                <a:ea typeface="Open Sans"/>
                <a:cs typeface="Open Sans"/>
                <a:sym typeface="Open Sans"/>
              </a:rPr>
              <a:t>powerless </a:t>
            </a:r>
            <a:r>
              <a:rPr lang="en-US" sz="1800" i="0" u="none" strike="noStrike" cap="none" dirty="0">
                <a:solidFill>
                  <a:schemeClr val="dk1"/>
                </a:solidFill>
                <a:latin typeface="Open Sans"/>
                <a:ea typeface="Open Sans"/>
                <a:cs typeface="Open Sans"/>
                <a:sym typeface="Open Sans"/>
              </a:rPr>
              <a:t>to change them</a:t>
            </a:r>
            <a:r>
              <a:rPr lang="en-US" sz="1800" dirty="0">
                <a:solidFill>
                  <a:schemeClr val="dk1"/>
                </a:solidFill>
                <a:latin typeface="Open Sans"/>
                <a:ea typeface="Open Sans"/>
                <a:cs typeface="Open Sans"/>
                <a:sym typeface="Open Sans"/>
              </a:rPr>
              <a:t>.</a:t>
            </a:r>
            <a:endParaRPr sz="180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endParaRPr sz="180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r>
              <a:rPr lang="en-US" sz="1800" i="0" u="sng" strike="noStrike" cap="none" dirty="0">
                <a:solidFill>
                  <a:schemeClr val="dk1"/>
                </a:solidFill>
                <a:latin typeface="Open Sans"/>
                <a:ea typeface="Open Sans"/>
                <a:cs typeface="Open Sans"/>
                <a:sym typeface="Open Sans"/>
              </a:rPr>
              <a:t>Advocate</a:t>
            </a:r>
            <a:r>
              <a:rPr lang="en-US" sz="1800" i="0" strike="noStrike" cap="none" dirty="0">
                <a:solidFill>
                  <a:schemeClr val="dk1"/>
                </a:solidFill>
                <a:latin typeface="Open Sans"/>
                <a:ea typeface="Open Sans"/>
                <a:cs typeface="Open Sans"/>
                <a:sym typeface="Open Sans"/>
              </a:rPr>
              <a:t>:</a:t>
            </a:r>
            <a:endParaRPr sz="1800" dirty="0">
              <a:solidFill>
                <a:schemeClr val="dk1"/>
              </a:solidFill>
              <a:latin typeface="Open Sans"/>
              <a:ea typeface="Open Sans"/>
              <a:cs typeface="Open Sans"/>
              <a:sym typeface="Open Sans"/>
            </a:endParaRPr>
          </a:p>
          <a:p>
            <a:pPr marL="457200" marR="0" lvl="0" indent="0" algn="l" rtl="0">
              <a:lnSpc>
                <a:spcPct val="100000"/>
              </a:lnSpc>
              <a:spcBef>
                <a:spcPts val="0"/>
              </a:spcBef>
              <a:spcAft>
                <a:spcPts val="0"/>
              </a:spcAft>
              <a:buClr>
                <a:srgbClr val="000000"/>
              </a:buClr>
              <a:buSzPts val="2000"/>
              <a:buFont typeface="Arial"/>
              <a:buNone/>
            </a:pPr>
            <a:r>
              <a:rPr lang="en-US" sz="1800" i="0" u="none" strike="noStrike" cap="none" dirty="0">
                <a:solidFill>
                  <a:schemeClr val="dk1"/>
                </a:solidFill>
                <a:latin typeface="Open Sans"/>
                <a:ea typeface="Open Sans"/>
                <a:cs typeface="Open Sans"/>
                <a:sym typeface="Open Sans"/>
              </a:rPr>
              <a:t>Identify the changes that would </a:t>
            </a:r>
            <a:r>
              <a:rPr lang="en-US" sz="1800" b="1" i="0" u="none" strike="noStrike" cap="none" dirty="0">
                <a:solidFill>
                  <a:srgbClr val="D63D1F"/>
                </a:solidFill>
                <a:latin typeface="Open Sans"/>
                <a:ea typeface="Open Sans"/>
                <a:cs typeface="Open Sans"/>
                <a:sym typeface="Open Sans"/>
              </a:rPr>
              <a:t>improve client care</a:t>
            </a:r>
            <a:r>
              <a:rPr lang="en-US" sz="1800" i="0" u="none" strike="noStrike" cap="none" dirty="0">
                <a:solidFill>
                  <a:schemeClr val="dk1"/>
                </a:solidFill>
                <a:latin typeface="Open Sans"/>
                <a:ea typeface="Open Sans"/>
                <a:cs typeface="Open Sans"/>
                <a:sym typeface="Open Sans"/>
              </a:rPr>
              <a:t> and work to implement those changes; </a:t>
            </a:r>
            <a:r>
              <a:rPr lang="en-US" sz="1800" b="1" i="0" u="none" strike="noStrike" cap="none" dirty="0">
                <a:solidFill>
                  <a:srgbClr val="D63D1F"/>
                </a:solidFill>
                <a:latin typeface="Open Sans"/>
                <a:ea typeface="Open Sans"/>
                <a:cs typeface="Open Sans"/>
                <a:sym typeface="Open Sans"/>
              </a:rPr>
              <a:t>promote  accessibility and safety </a:t>
            </a:r>
            <a:r>
              <a:rPr lang="en-US" sz="1800" i="0" u="none" strike="noStrike" cap="none" dirty="0">
                <a:solidFill>
                  <a:schemeClr val="dk1"/>
                </a:solidFill>
                <a:latin typeface="Open Sans"/>
                <a:ea typeface="Open Sans"/>
                <a:cs typeface="Open Sans"/>
                <a:sym typeface="Open Sans"/>
              </a:rPr>
              <a:t>as standards in service and data intake.</a:t>
            </a:r>
            <a:endParaRPr sz="1800" i="0" u="none" strike="noStrike" cap="none" dirty="0">
              <a:solidFill>
                <a:schemeClr val="dk1"/>
              </a:solidFill>
              <a:latin typeface="Open Sans"/>
              <a:ea typeface="Open Sans"/>
              <a:cs typeface="Open Sans"/>
              <a:sym typeface="Open Sans"/>
            </a:endParaRPr>
          </a:p>
        </p:txBody>
      </p:sp>
      <p:grpSp>
        <p:nvGrpSpPr>
          <p:cNvPr id="348" name="Google Shape;348;p12"/>
          <p:cNvGrpSpPr/>
          <p:nvPr/>
        </p:nvGrpSpPr>
        <p:grpSpPr>
          <a:xfrm>
            <a:off x="5271744" y="1475101"/>
            <a:ext cx="6075004" cy="3485721"/>
            <a:chOff x="3058" y="985244"/>
            <a:chExt cx="6075004" cy="3485721"/>
          </a:xfrm>
        </p:grpSpPr>
        <p:sp>
          <p:nvSpPr>
            <p:cNvPr id="349" name="Google Shape;349;p12"/>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12"/>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question</a:t>
              </a:r>
              <a:endParaRPr>
                <a:solidFill>
                  <a:schemeClr val="lt1"/>
                </a:solidFill>
                <a:latin typeface="Open Sans"/>
                <a:ea typeface="Open Sans"/>
                <a:cs typeface="Open Sans"/>
                <a:sym typeface="Open Sans"/>
              </a:endParaRPr>
            </a:p>
          </p:txBody>
        </p:sp>
        <p:sp>
          <p:nvSpPr>
            <p:cNvPr id="351" name="Google Shape;351;p12"/>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12"/>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solidFill>
                  <a:schemeClr val="lt1"/>
                </a:solidFill>
                <a:latin typeface="Open Sans"/>
                <a:ea typeface="Open Sans"/>
                <a:cs typeface="Open Sans"/>
                <a:sym typeface="Open Sans"/>
              </a:endParaRPr>
            </a:p>
          </p:txBody>
        </p:sp>
        <p:sp>
          <p:nvSpPr>
            <p:cNvPr id="353" name="Google Shape;353;p12"/>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12"/>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solidFill>
                  <a:schemeClr val="lt1"/>
                </a:solidFill>
                <a:latin typeface="Open Sans"/>
                <a:ea typeface="Open Sans"/>
                <a:cs typeface="Open Sans"/>
                <a:sym typeface="Open Sans"/>
              </a:endParaRPr>
            </a:p>
          </p:txBody>
        </p:sp>
        <p:sp>
          <p:nvSpPr>
            <p:cNvPr id="355" name="Google Shape;355;p12"/>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12"/>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solidFill>
                  <a:schemeClr val="lt1"/>
                </a:solidFill>
                <a:latin typeface="Open Sans"/>
                <a:ea typeface="Open Sans"/>
                <a:cs typeface="Open Sans"/>
                <a:sym typeface="Open Sans"/>
              </a:endParaRPr>
            </a:p>
          </p:txBody>
        </p:sp>
        <p:sp>
          <p:nvSpPr>
            <p:cNvPr id="357" name="Google Shape;357;p12"/>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12"/>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359" name="Google Shape;359;p12"/>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2"/>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solidFill>
                  <a:schemeClr val="lt1"/>
                </a:solidFill>
                <a:latin typeface="Open Sans"/>
                <a:ea typeface="Open Sans"/>
                <a:cs typeface="Open Sans"/>
                <a:sym typeface="Open Sans"/>
              </a:endParaRPr>
            </a:p>
          </p:txBody>
        </p:sp>
        <p:sp>
          <p:nvSpPr>
            <p:cNvPr id="361" name="Google Shape;361;p12"/>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12"/>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solidFill>
                  <a:schemeClr val="lt1"/>
                </a:solidFill>
                <a:latin typeface="Open Sans"/>
                <a:ea typeface="Open Sans"/>
                <a:cs typeface="Open Sans"/>
                <a:sym typeface="Open Sans"/>
              </a:endParaRPr>
            </a:p>
          </p:txBody>
        </p:sp>
        <p:sp>
          <p:nvSpPr>
            <p:cNvPr id="363" name="Google Shape;363;p12"/>
            <p:cNvSpPr/>
            <p:nvPr/>
          </p:nvSpPr>
          <p:spPr>
            <a:xfrm>
              <a:off x="4418162" y="2230104"/>
              <a:ext cx="1659900" cy="996000"/>
            </a:xfrm>
            <a:prstGeom prst="roundRect">
              <a:avLst>
                <a:gd name="adj" fmla="val 10000"/>
              </a:avLst>
            </a:prstGeom>
            <a:solidFill>
              <a:srgbClr val="FFDC5D"/>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b="1" dirty="0">
                  <a:solidFill>
                    <a:srgbClr val="001C84"/>
                  </a:solidFill>
                  <a:latin typeface="Open Sans"/>
                  <a:ea typeface="Open Sans"/>
                  <a:cs typeface="Open Sans"/>
                  <a:sym typeface="Open Sans"/>
                </a:rPr>
                <a:t>Evaluation</a:t>
              </a:r>
              <a:endParaRPr sz="1400" b="1" i="0" u="none" strike="noStrike" cap="none" dirty="0">
                <a:solidFill>
                  <a:srgbClr val="001C84"/>
                </a:solidFill>
                <a:latin typeface="Open Sans"/>
                <a:ea typeface="Open Sans"/>
                <a:cs typeface="Open Sans"/>
                <a:sym typeface="Open Sans"/>
              </a:endParaRPr>
            </a:p>
          </p:txBody>
        </p:sp>
      </p:grpSp>
      <p:sp>
        <p:nvSpPr>
          <p:cNvPr id="2" name="Slide Number Placeholder 1">
            <a:extLst>
              <a:ext uri="{FF2B5EF4-FFF2-40B4-BE49-F238E27FC236}">
                <a16:creationId xmlns:a16="http://schemas.microsoft.com/office/drawing/2014/main" id="{95F1E5C4-F4B0-6946-1D3A-197BF26788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14</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a:extLst>
            <a:ext uri="{FF2B5EF4-FFF2-40B4-BE49-F238E27FC236}">
              <a16:creationId xmlns:a16="http://schemas.microsoft.com/office/drawing/2014/main" id="{876938C0-A0DA-CE5A-305D-D73FB711E744}"/>
            </a:ext>
          </a:extLst>
        </p:cNvPr>
        <p:cNvGrpSpPr/>
        <p:nvPr/>
      </p:nvGrpSpPr>
      <p:grpSpPr>
        <a:xfrm>
          <a:off x="0" y="0"/>
          <a:ext cx="0" cy="0"/>
          <a:chOff x="0" y="0"/>
          <a:chExt cx="0" cy="0"/>
        </a:xfrm>
      </p:grpSpPr>
      <p:sp>
        <p:nvSpPr>
          <p:cNvPr id="345" name="Google Shape;345;p12">
            <a:extLst>
              <a:ext uri="{FF2B5EF4-FFF2-40B4-BE49-F238E27FC236}">
                <a16:creationId xmlns:a16="http://schemas.microsoft.com/office/drawing/2014/main" id="{AF356B5D-0971-C5BF-36BC-38167C35317C}"/>
              </a:ext>
            </a:extLst>
          </p:cNvPr>
          <p:cNvSpPr txBox="1">
            <a:spLocks noGrp="1"/>
          </p:cNvSpPr>
          <p:nvPr>
            <p:ph type="title"/>
          </p:nvPr>
        </p:nvSpPr>
        <p:spPr>
          <a:xfrm>
            <a:off x="645065" y="1097280"/>
            <a:ext cx="3796306" cy="4666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Play"/>
              <a:buNone/>
            </a:pPr>
            <a:br>
              <a:rPr lang="en-US" sz="2000" dirty="0"/>
            </a:br>
            <a:endParaRPr sz="2000" dirty="0"/>
          </a:p>
        </p:txBody>
      </p:sp>
      <p:sp>
        <p:nvSpPr>
          <p:cNvPr id="2" name="Slide Number Placeholder 1">
            <a:extLst>
              <a:ext uri="{FF2B5EF4-FFF2-40B4-BE49-F238E27FC236}">
                <a16:creationId xmlns:a16="http://schemas.microsoft.com/office/drawing/2014/main" id="{795E5012-7761-8C87-443D-00736ABD22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15</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3" name="Google Shape;130;p3">
            <a:extLst>
              <a:ext uri="{FF2B5EF4-FFF2-40B4-BE49-F238E27FC236}">
                <a16:creationId xmlns:a16="http://schemas.microsoft.com/office/drawing/2014/main" id="{81FA347E-E691-3535-6F12-673BFCBB0300}"/>
              </a:ext>
            </a:extLst>
          </p:cNvPr>
          <p:cNvGrpSpPr/>
          <p:nvPr/>
        </p:nvGrpSpPr>
        <p:grpSpPr>
          <a:xfrm>
            <a:off x="5271744" y="1475101"/>
            <a:ext cx="6075004" cy="3485721"/>
            <a:chOff x="3058" y="985244"/>
            <a:chExt cx="6075004" cy="3485721"/>
          </a:xfrm>
        </p:grpSpPr>
        <p:sp>
          <p:nvSpPr>
            <p:cNvPr id="4" name="Google Shape;131;p3">
              <a:extLst>
                <a:ext uri="{FF2B5EF4-FFF2-40B4-BE49-F238E27FC236}">
                  <a16:creationId xmlns:a16="http://schemas.microsoft.com/office/drawing/2014/main" id="{43EB4419-3CE9-3A89-3960-8F4D47565BC1}"/>
                </a:ext>
              </a:extLst>
            </p:cNvPr>
            <p:cNvSpPr/>
            <p:nvPr/>
          </p:nvSpPr>
          <p:spPr>
            <a:xfrm rot="5400000">
              <a:off x="-277624"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132;p3">
              <a:extLst>
                <a:ext uri="{FF2B5EF4-FFF2-40B4-BE49-F238E27FC236}">
                  <a16:creationId xmlns:a16="http://schemas.microsoft.com/office/drawing/2014/main" id="{FC4EBA51-2048-C140-4ADE-4E2C6F978A46}"/>
                </a:ext>
              </a:extLst>
            </p:cNvPr>
            <p:cNvSpPr/>
            <p:nvPr/>
          </p:nvSpPr>
          <p:spPr>
            <a:xfrm>
              <a:off x="3058"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bg1"/>
                  </a:solidFill>
                  <a:latin typeface="Open Sans"/>
                  <a:ea typeface="Open Sans"/>
                  <a:cs typeface="Open Sans"/>
                  <a:sym typeface="Open Sans"/>
                </a:rPr>
                <a:t>Research question</a:t>
              </a:r>
              <a:endParaRPr dirty="0">
                <a:solidFill>
                  <a:schemeClr val="bg1"/>
                </a:solidFill>
                <a:latin typeface="Open Sans"/>
                <a:ea typeface="Open Sans"/>
                <a:cs typeface="Open Sans"/>
                <a:sym typeface="Open Sans"/>
              </a:endParaRPr>
            </a:p>
          </p:txBody>
        </p:sp>
        <p:sp>
          <p:nvSpPr>
            <p:cNvPr id="6" name="Google Shape;133;p3">
              <a:extLst>
                <a:ext uri="{FF2B5EF4-FFF2-40B4-BE49-F238E27FC236}">
                  <a16:creationId xmlns:a16="http://schemas.microsoft.com/office/drawing/2014/main" id="{2A60BEBA-5FDF-F553-F27D-6BDB0CB6AC91}"/>
                </a:ext>
              </a:extLst>
            </p:cNvPr>
            <p:cNvSpPr/>
            <p:nvPr/>
          </p:nvSpPr>
          <p:spPr>
            <a:xfrm rot="5400000">
              <a:off x="-277624" y="302345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134;p3">
              <a:extLst>
                <a:ext uri="{FF2B5EF4-FFF2-40B4-BE49-F238E27FC236}">
                  <a16:creationId xmlns:a16="http://schemas.microsoft.com/office/drawing/2014/main" id="{E8A727A6-9CCB-B695-696F-ECE980819913}"/>
                </a:ext>
              </a:extLst>
            </p:cNvPr>
            <p:cNvSpPr/>
            <p:nvPr/>
          </p:nvSpPr>
          <p:spPr>
            <a:xfrm>
              <a:off x="3058"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Research design</a:t>
              </a:r>
              <a:endParaRPr>
                <a:latin typeface="Open Sans"/>
                <a:ea typeface="Open Sans"/>
                <a:cs typeface="Open Sans"/>
                <a:sym typeface="Open Sans"/>
              </a:endParaRPr>
            </a:p>
          </p:txBody>
        </p:sp>
        <p:sp>
          <p:nvSpPr>
            <p:cNvPr id="8" name="Google Shape;135;p3">
              <a:extLst>
                <a:ext uri="{FF2B5EF4-FFF2-40B4-BE49-F238E27FC236}">
                  <a16:creationId xmlns:a16="http://schemas.microsoft.com/office/drawing/2014/main" id="{302F8641-B3B5-4DC3-F4E8-17F2F09556A3}"/>
                </a:ext>
              </a:extLst>
            </p:cNvPr>
            <p:cNvSpPr/>
            <p:nvPr/>
          </p:nvSpPr>
          <p:spPr>
            <a:xfrm>
              <a:off x="344847" y="364585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136;p3">
              <a:extLst>
                <a:ext uri="{FF2B5EF4-FFF2-40B4-BE49-F238E27FC236}">
                  <a16:creationId xmlns:a16="http://schemas.microsoft.com/office/drawing/2014/main" id="{9CC9AB9E-F50B-EADE-9712-0BD95D014A0F}"/>
                </a:ext>
              </a:extLst>
            </p:cNvPr>
            <p:cNvSpPr/>
            <p:nvPr/>
          </p:nvSpPr>
          <p:spPr>
            <a:xfrm>
              <a:off x="3058" y="3474965"/>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Design of measures</a:t>
              </a:r>
              <a:endParaRPr>
                <a:latin typeface="Open Sans"/>
                <a:ea typeface="Open Sans"/>
                <a:cs typeface="Open Sans"/>
                <a:sym typeface="Open Sans"/>
              </a:endParaRPr>
            </a:p>
          </p:txBody>
        </p:sp>
        <p:sp>
          <p:nvSpPr>
            <p:cNvPr id="10" name="Google Shape;137;p3">
              <a:extLst>
                <a:ext uri="{FF2B5EF4-FFF2-40B4-BE49-F238E27FC236}">
                  <a16:creationId xmlns:a16="http://schemas.microsoft.com/office/drawing/2014/main" id="{2E1007BE-BED4-4134-1F06-508934C8FA49}"/>
                </a:ext>
              </a:extLst>
            </p:cNvPr>
            <p:cNvSpPr/>
            <p:nvPr/>
          </p:nvSpPr>
          <p:spPr>
            <a:xfrm rot="-5400000">
              <a:off x="1929944" y="302338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38;p3">
              <a:extLst>
                <a:ext uri="{FF2B5EF4-FFF2-40B4-BE49-F238E27FC236}">
                  <a16:creationId xmlns:a16="http://schemas.microsoft.com/office/drawing/2014/main" id="{DEC8ED24-24C7-92AC-88B5-19B745954B9E}"/>
                </a:ext>
              </a:extLst>
            </p:cNvPr>
            <p:cNvSpPr/>
            <p:nvPr/>
          </p:nvSpPr>
          <p:spPr>
            <a:xfrm>
              <a:off x="2210610" y="3474940"/>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Coding of data</a:t>
              </a:r>
              <a:endParaRPr>
                <a:latin typeface="Open Sans"/>
                <a:ea typeface="Open Sans"/>
                <a:cs typeface="Open Sans"/>
                <a:sym typeface="Open Sans"/>
              </a:endParaRPr>
            </a:p>
          </p:txBody>
        </p:sp>
        <p:sp>
          <p:nvSpPr>
            <p:cNvPr id="12" name="Google Shape;139;p3">
              <a:extLst>
                <a:ext uri="{FF2B5EF4-FFF2-40B4-BE49-F238E27FC236}">
                  <a16:creationId xmlns:a16="http://schemas.microsoft.com/office/drawing/2014/main" id="{44F051EB-D0C9-7D80-A8A1-582F8917C586}"/>
                </a:ext>
              </a:extLst>
            </p:cNvPr>
            <p:cNvSpPr/>
            <p:nvPr/>
          </p:nvSpPr>
          <p:spPr>
            <a:xfrm rot="-5400000">
              <a:off x="1929944" y="1778527"/>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40;p3">
              <a:extLst>
                <a:ext uri="{FF2B5EF4-FFF2-40B4-BE49-F238E27FC236}">
                  <a16:creationId xmlns:a16="http://schemas.microsoft.com/office/drawing/2014/main" id="{723D681F-90A1-E680-05CA-0679EF9F0756}"/>
                </a:ext>
              </a:extLst>
            </p:cNvPr>
            <p:cNvSpPr/>
            <p:nvPr/>
          </p:nvSpPr>
          <p:spPr>
            <a:xfrm>
              <a:off x="2210610"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rPr>
                <a:t>Data analysis</a:t>
              </a:r>
              <a:endParaRPr/>
            </a:p>
          </p:txBody>
        </p:sp>
        <p:sp>
          <p:nvSpPr>
            <p:cNvPr id="14" name="Google Shape;141;p3">
              <a:extLst>
                <a:ext uri="{FF2B5EF4-FFF2-40B4-BE49-F238E27FC236}">
                  <a16:creationId xmlns:a16="http://schemas.microsoft.com/office/drawing/2014/main" id="{732F432B-6DEE-2234-3878-7698EB7D93C7}"/>
                </a:ext>
              </a:extLst>
            </p:cNvPr>
            <p:cNvSpPr/>
            <p:nvPr/>
          </p:nvSpPr>
          <p:spPr>
            <a:xfrm>
              <a:off x="2552399" y="1156139"/>
              <a:ext cx="21978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42;p3">
              <a:extLst>
                <a:ext uri="{FF2B5EF4-FFF2-40B4-BE49-F238E27FC236}">
                  <a16:creationId xmlns:a16="http://schemas.microsoft.com/office/drawing/2014/main" id="{445632E2-4E02-4D76-C01E-173D7FCDF5A9}"/>
                </a:ext>
              </a:extLst>
            </p:cNvPr>
            <p:cNvSpPr/>
            <p:nvPr/>
          </p:nvSpPr>
          <p:spPr>
            <a:xfrm>
              <a:off x="2210610"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dirty="0">
                  <a:solidFill>
                    <a:schemeClr val="lt1"/>
                  </a:solidFill>
                  <a:latin typeface="Open Sans"/>
                  <a:ea typeface="Open Sans"/>
                  <a:cs typeface="Open Sans"/>
                  <a:sym typeface="Open Sans"/>
                </a:rPr>
                <a:t>Interpretation and reporting of data</a:t>
              </a:r>
              <a:endParaRPr sz="1500" dirty="0">
                <a:latin typeface="Open Sans"/>
                <a:ea typeface="Open Sans"/>
                <a:cs typeface="Open Sans"/>
                <a:sym typeface="Open Sans"/>
              </a:endParaRPr>
            </a:p>
          </p:txBody>
        </p:sp>
        <p:sp>
          <p:nvSpPr>
            <p:cNvPr id="16" name="Google Shape;143;p3">
              <a:extLst>
                <a:ext uri="{FF2B5EF4-FFF2-40B4-BE49-F238E27FC236}">
                  <a16:creationId xmlns:a16="http://schemas.microsoft.com/office/drawing/2014/main" id="{89B446AF-1226-B295-7E8B-071EC550E320}"/>
                </a:ext>
              </a:extLst>
            </p:cNvPr>
            <p:cNvSpPr/>
            <p:nvPr/>
          </p:nvSpPr>
          <p:spPr>
            <a:xfrm rot="5400000">
              <a:off x="4137479" y="1778594"/>
              <a:ext cx="1235100" cy="149400"/>
            </a:xfrm>
            <a:prstGeom prst="rect">
              <a:avLst/>
            </a:prstGeom>
            <a:solidFill>
              <a:schemeClr val="accent4"/>
            </a:solidFill>
            <a:ln w="9525" cap="flat" cmpd="sng">
              <a:solidFill>
                <a:srgbClr val="001C8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44;p3">
              <a:extLst>
                <a:ext uri="{FF2B5EF4-FFF2-40B4-BE49-F238E27FC236}">
                  <a16:creationId xmlns:a16="http://schemas.microsoft.com/office/drawing/2014/main" id="{8908B281-B10D-11BA-3E59-7B37051FD5FD}"/>
                </a:ext>
              </a:extLst>
            </p:cNvPr>
            <p:cNvSpPr/>
            <p:nvPr/>
          </p:nvSpPr>
          <p:spPr>
            <a:xfrm>
              <a:off x="4418162" y="98524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Application of data</a:t>
              </a:r>
              <a:endParaRPr>
                <a:latin typeface="Open Sans"/>
                <a:ea typeface="Open Sans"/>
                <a:cs typeface="Open Sans"/>
                <a:sym typeface="Open Sans"/>
              </a:endParaRPr>
            </a:p>
          </p:txBody>
        </p:sp>
        <p:sp>
          <p:nvSpPr>
            <p:cNvPr id="18" name="Google Shape;145;p3">
              <a:extLst>
                <a:ext uri="{FF2B5EF4-FFF2-40B4-BE49-F238E27FC236}">
                  <a16:creationId xmlns:a16="http://schemas.microsoft.com/office/drawing/2014/main" id="{A3A6362A-D4CB-C2F6-5B20-2F7C20BF1AB7}"/>
                </a:ext>
              </a:extLst>
            </p:cNvPr>
            <p:cNvSpPr/>
            <p:nvPr/>
          </p:nvSpPr>
          <p:spPr>
            <a:xfrm>
              <a:off x="4418162" y="2230104"/>
              <a:ext cx="1659900" cy="996000"/>
            </a:xfrm>
            <a:prstGeom prst="roundRect">
              <a:avLst>
                <a:gd name="adj" fmla="val 10000"/>
              </a:avLst>
            </a:prstGeom>
            <a:solidFill>
              <a:srgbClr val="001C84"/>
            </a:solidFill>
            <a:ln w="19050" cap="flat" cmpd="sng">
              <a:solidFill>
                <a:srgbClr val="001C8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1500"/>
                <a:buFont typeface="Arial"/>
                <a:buNone/>
              </a:pPr>
              <a:r>
                <a:rPr lang="en-US" sz="1500">
                  <a:solidFill>
                    <a:schemeClr val="lt1"/>
                  </a:solidFill>
                  <a:latin typeface="Open Sans"/>
                  <a:ea typeface="Open Sans"/>
                  <a:cs typeface="Open Sans"/>
                  <a:sym typeface="Open Sans"/>
                </a:rPr>
                <a:t>Evaluation</a:t>
              </a:r>
              <a:endParaRPr sz="1400" i="0" u="none" strike="noStrike" cap="none">
                <a:solidFill>
                  <a:srgbClr val="000000"/>
                </a:solidFill>
                <a:latin typeface="Open Sans"/>
                <a:ea typeface="Open Sans"/>
                <a:cs typeface="Open Sans"/>
                <a:sym typeface="Open Sans"/>
              </a:endParaRPr>
            </a:p>
          </p:txBody>
        </p:sp>
      </p:grpSp>
      <p:sp>
        <p:nvSpPr>
          <p:cNvPr id="20" name="Google Shape;346;p12">
            <a:extLst>
              <a:ext uri="{FF2B5EF4-FFF2-40B4-BE49-F238E27FC236}">
                <a16:creationId xmlns:a16="http://schemas.microsoft.com/office/drawing/2014/main" id="{50EB452F-5E8D-1D2B-B887-CF32F0781A5A}"/>
              </a:ext>
            </a:extLst>
          </p:cNvPr>
          <p:cNvSpPr txBox="1"/>
          <p:nvPr/>
        </p:nvSpPr>
        <p:spPr>
          <a:xfrm>
            <a:off x="477618" y="760052"/>
            <a:ext cx="4209600" cy="4401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1C84"/>
                </a:solidFill>
                <a:latin typeface="Open Sans"/>
                <a:ea typeface="Open Sans"/>
                <a:cs typeface="Open Sans"/>
                <a:sym typeface="Open Sans"/>
              </a:rPr>
              <a:t>In every stage</a:t>
            </a:r>
            <a:r>
              <a:rPr lang="en-US" sz="2000" b="1" dirty="0">
                <a:solidFill>
                  <a:srgbClr val="001C84"/>
                </a:solidFill>
                <a:latin typeface="Open Sans"/>
                <a:ea typeface="Open Sans"/>
                <a:cs typeface="Open Sans"/>
                <a:sym typeface="Open Sans"/>
              </a:rPr>
              <a:t> of the research process there are opportunities to identify and address bias.</a:t>
            </a:r>
            <a:endParaRPr sz="1400" b="1" i="0" u="none" strike="noStrike" cap="none" dirty="0">
              <a:solidFill>
                <a:srgbClr val="001C84"/>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endParaRPr lang="en-US" sz="200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dirty="0">
                <a:solidFill>
                  <a:schemeClr val="dk1"/>
                </a:solidFill>
                <a:latin typeface="Open Sans"/>
                <a:ea typeface="Open Sans"/>
                <a:cs typeface="Open Sans"/>
                <a:sym typeface="Open Sans"/>
              </a:rPr>
              <a:t>As you work </a:t>
            </a:r>
            <a:r>
              <a:rPr lang="en-US" sz="2000" dirty="0">
                <a:solidFill>
                  <a:schemeClr val="dk1"/>
                </a:solidFill>
                <a:latin typeface="Open Sans"/>
                <a:ea typeface="Open Sans"/>
                <a:cs typeface="Open Sans"/>
                <a:sym typeface="Open Sans"/>
              </a:rPr>
              <a:t>through research projects, leverage interdisciplinary teams to address bias at every step of the way. </a:t>
            </a:r>
          </a:p>
          <a:p>
            <a:pPr marL="0" marR="0" lvl="0" indent="0" algn="l" rtl="0">
              <a:lnSpc>
                <a:spcPct val="100000"/>
              </a:lnSpc>
              <a:spcBef>
                <a:spcPts val="0"/>
              </a:spcBef>
              <a:spcAft>
                <a:spcPts val="0"/>
              </a:spcAft>
              <a:buClr>
                <a:srgbClr val="000000"/>
              </a:buClr>
              <a:buSzPts val="2000"/>
              <a:buFont typeface="Arial"/>
              <a:buNone/>
            </a:pPr>
            <a:endParaRPr lang="en-US" sz="200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2000"/>
              <a:buFont typeface="Arial"/>
              <a:buNone/>
            </a:pPr>
            <a:r>
              <a:rPr lang="en-US" sz="2000" dirty="0">
                <a:solidFill>
                  <a:schemeClr val="dk1"/>
                </a:solidFill>
                <a:latin typeface="Open Sans"/>
                <a:ea typeface="Open Sans"/>
                <a:cs typeface="Open Sans"/>
                <a:sym typeface="Open Sans"/>
              </a:rPr>
              <a:t>Advocate for positive social change no matter which stage or how many stages you are involved in – there is always room to advocate for a better world!</a:t>
            </a:r>
            <a:endParaRPr lang="en-US" sz="2000" i="0" u="none" strike="noStrike" cap="none" dirty="0">
              <a:solidFill>
                <a:schemeClr val="dk1"/>
              </a:solidFill>
              <a:latin typeface="Open Sans"/>
              <a:ea typeface="Open Sans"/>
              <a:cs typeface="Open Sans"/>
              <a:sym typeface="Open Sans"/>
            </a:endParaRPr>
          </a:p>
        </p:txBody>
      </p:sp>
      <p:grpSp>
        <p:nvGrpSpPr>
          <p:cNvPr id="34" name="Group 33">
            <a:extLst>
              <a:ext uri="{FF2B5EF4-FFF2-40B4-BE49-F238E27FC236}">
                <a16:creationId xmlns:a16="http://schemas.microsoft.com/office/drawing/2014/main" id="{60BFEA88-AD8C-6567-74D6-2D55730EFA5A}"/>
              </a:ext>
            </a:extLst>
          </p:cNvPr>
          <p:cNvGrpSpPr/>
          <p:nvPr/>
        </p:nvGrpSpPr>
        <p:grpSpPr>
          <a:xfrm>
            <a:off x="5062381" y="2525859"/>
            <a:ext cx="1076990" cy="541648"/>
            <a:chOff x="155729" y="2213168"/>
            <a:chExt cx="3636309" cy="1828801"/>
          </a:xfrm>
        </p:grpSpPr>
        <p:grpSp>
          <p:nvGrpSpPr>
            <p:cNvPr id="28" name="Group 27">
              <a:extLst>
                <a:ext uri="{FF2B5EF4-FFF2-40B4-BE49-F238E27FC236}">
                  <a16:creationId xmlns:a16="http://schemas.microsoft.com/office/drawing/2014/main" id="{32B8169B-A0F4-0D7C-4C9F-1ED3880A5F49}"/>
                </a:ext>
              </a:extLst>
            </p:cNvPr>
            <p:cNvGrpSpPr/>
            <p:nvPr/>
          </p:nvGrpSpPr>
          <p:grpSpPr>
            <a:xfrm>
              <a:off x="662660" y="2509930"/>
              <a:ext cx="3129378" cy="1235276"/>
              <a:chOff x="860675" y="2439143"/>
              <a:chExt cx="3129378" cy="1235276"/>
            </a:xfrm>
          </p:grpSpPr>
          <p:sp>
            <p:nvSpPr>
              <p:cNvPr id="29" name="Parallelogram 28">
                <a:extLst>
                  <a:ext uri="{FF2B5EF4-FFF2-40B4-BE49-F238E27FC236}">
                    <a16:creationId xmlns:a16="http://schemas.microsoft.com/office/drawing/2014/main" id="{BB8C5F79-56B2-3B8B-E1D7-D53427D54E28}"/>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30" name="TextBox 29">
                <a:extLst>
                  <a:ext uri="{FF2B5EF4-FFF2-40B4-BE49-F238E27FC236}">
                    <a16:creationId xmlns:a16="http://schemas.microsoft.com/office/drawing/2014/main" id="{7FD48BE0-C8C1-B739-2431-83DB6433A993}"/>
                  </a:ext>
                </a:extLst>
              </p:cNvPr>
              <p:cNvSpPr txBox="1"/>
              <p:nvPr/>
            </p:nvSpPr>
            <p:spPr>
              <a:xfrm>
                <a:off x="2002894" y="2439144"/>
                <a:ext cx="1747582" cy="1235275"/>
              </a:xfrm>
              <a:prstGeom prst="rect">
                <a:avLst/>
              </a:prstGeom>
              <a:noFill/>
            </p:spPr>
            <p:txBody>
              <a:bodyPr wrap="square" rtlCol="0" anchor="ctr" anchorCtr="0">
                <a:noAutofit/>
              </a:bodyPr>
              <a:lstStyle/>
              <a:p>
                <a:pPr lvl="0" algn="r">
                  <a:buClr>
                    <a:schemeClr val="dk1"/>
                  </a:buClr>
                  <a:buSzPct val="297213"/>
                </a:pPr>
                <a:r>
                  <a:rPr lang="en-US" sz="5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1</a:t>
                </a:r>
                <a:endParaRPr lang="en-US" sz="1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1" name="Group 30">
              <a:extLst>
                <a:ext uri="{FF2B5EF4-FFF2-40B4-BE49-F238E27FC236}">
                  <a16:creationId xmlns:a16="http://schemas.microsoft.com/office/drawing/2014/main" id="{214C734F-4609-4718-8F91-ADC9C9D9B73B}"/>
                </a:ext>
              </a:extLst>
            </p:cNvPr>
            <p:cNvGrpSpPr/>
            <p:nvPr/>
          </p:nvGrpSpPr>
          <p:grpSpPr>
            <a:xfrm>
              <a:off x="155729" y="2213168"/>
              <a:ext cx="1828800" cy="1828801"/>
              <a:chOff x="201778" y="2142381"/>
              <a:chExt cx="1828800" cy="1828801"/>
            </a:xfrm>
          </p:grpSpPr>
          <p:sp>
            <p:nvSpPr>
              <p:cNvPr id="32" name="Google Shape;120;p2">
                <a:extLst>
                  <a:ext uri="{FF2B5EF4-FFF2-40B4-BE49-F238E27FC236}">
                    <a16:creationId xmlns:a16="http://schemas.microsoft.com/office/drawing/2014/main" id="{B00194FA-967D-164A-2404-F185F1AF6B78}"/>
                  </a:ext>
                </a:extLst>
              </p:cNvPr>
              <p:cNvSpPr/>
              <p:nvPr/>
            </p:nvSpPr>
            <p:spPr>
              <a:xfrm rot="13500000" flipH="1">
                <a:off x="201777" y="2142382"/>
                <a:ext cx="1828801" cy="1828800"/>
              </a:xfrm>
              <a:prstGeom prst="teardrop">
                <a:avLst>
                  <a:gd name="adj" fmla="val 131496"/>
                </a:avLst>
              </a:prstGeom>
              <a:solidFill>
                <a:schemeClr val="bg2">
                  <a:lumMod val="10000"/>
                  <a:lumOff val="90000"/>
                </a:schemeClr>
              </a:solidFill>
              <a:ln w="28575"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algn="ctr"/>
                <a:endParaRPr lang="en-US" dirty="0">
                  <a:solidFill>
                    <a:schemeClr val="lt1"/>
                  </a:solidFill>
                </a:endParaRPr>
              </a:p>
            </p:txBody>
          </p:sp>
          <p:pic>
            <p:nvPicPr>
              <p:cNvPr id="33" name="Google Shape;121;p2" title="fair2.png">
                <a:extLst>
                  <a:ext uri="{FF2B5EF4-FFF2-40B4-BE49-F238E27FC236}">
                    <a16:creationId xmlns:a16="http://schemas.microsoft.com/office/drawing/2014/main" id="{4A1ECF3C-DDA7-FFCC-5FF8-81B5CB1AB431}"/>
                  </a:ext>
                </a:extLst>
              </p:cNvPr>
              <p:cNvPicPr preferRelativeResize="0"/>
              <p:nvPr/>
            </p:nvPicPr>
            <p:blipFill rotWithShape="1">
              <a:blip r:embed="rId3">
                <a:alphaModFix/>
              </a:blip>
              <a:srcRect/>
              <a:stretch/>
            </p:blipFill>
            <p:spPr>
              <a:xfrm>
                <a:off x="430646" y="2393607"/>
                <a:ext cx="1368680" cy="1376137"/>
              </a:xfrm>
              <a:prstGeom prst="rect">
                <a:avLst/>
              </a:prstGeom>
              <a:noFill/>
              <a:ln>
                <a:noFill/>
              </a:ln>
            </p:spPr>
          </p:pic>
        </p:grpSp>
      </p:grpSp>
      <p:grpSp>
        <p:nvGrpSpPr>
          <p:cNvPr id="41" name="Group 40">
            <a:extLst>
              <a:ext uri="{FF2B5EF4-FFF2-40B4-BE49-F238E27FC236}">
                <a16:creationId xmlns:a16="http://schemas.microsoft.com/office/drawing/2014/main" id="{3C54110C-8AEF-79F8-3544-A2ACF28A5F0A}"/>
              </a:ext>
            </a:extLst>
          </p:cNvPr>
          <p:cNvGrpSpPr/>
          <p:nvPr/>
        </p:nvGrpSpPr>
        <p:grpSpPr>
          <a:xfrm>
            <a:off x="6021776" y="3399317"/>
            <a:ext cx="1119039" cy="526522"/>
            <a:chOff x="818818" y="4613685"/>
            <a:chExt cx="3929937" cy="1849086"/>
          </a:xfrm>
        </p:grpSpPr>
        <p:grpSp>
          <p:nvGrpSpPr>
            <p:cNvPr id="35" name="Group 34">
              <a:extLst>
                <a:ext uri="{FF2B5EF4-FFF2-40B4-BE49-F238E27FC236}">
                  <a16:creationId xmlns:a16="http://schemas.microsoft.com/office/drawing/2014/main" id="{EE52A5D4-87D7-4CE9-E9B0-D92D775AC2A2}"/>
                </a:ext>
              </a:extLst>
            </p:cNvPr>
            <p:cNvGrpSpPr/>
            <p:nvPr/>
          </p:nvGrpSpPr>
          <p:grpSpPr>
            <a:xfrm>
              <a:off x="818818" y="4925408"/>
              <a:ext cx="3129378" cy="1235277"/>
              <a:chOff x="860675" y="2439143"/>
              <a:chExt cx="3129378" cy="1235277"/>
            </a:xfrm>
          </p:grpSpPr>
          <p:sp>
            <p:nvSpPr>
              <p:cNvPr id="36" name="Parallelogram 35">
                <a:extLst>
                  <a:ext uri="{FF2B5EF4-FFF2-40B4-BE49-F238E27FC236}">
                    <a16:creationId xmlns:a16="http://schemas.microsoft.com/office/drawing/2014/main" id="{816D4120-5AE1-F898-185B-492137A4D9B7}"/>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37" name="TextBox 36">
                <a:extLst>
                  <a:ext uri="{FF2B5EF4-FFF2-40B4-BE49-F238E27FC236}">
                    <a16:creationId xmlns:a16="http://schemas.microsoft.com/office/drawing/2014/main" id="{63276949-6B0B-FE53-F7A3-48749AD06358}"/>
                  </a:ext>
                </a:extLst>
              </p:cNvPr>
              <p:cNvSpPr txBox="1"/>
              <p:nvPr/>
            </p:nvSpPr>
            <p:spPr>
              <a:xfrm>
                <a:off x="1236834" y="2439143"/>
                <a:ext cx="1747582" cy="1235277"/>
              </a:xfrm>
              <a:prstGeom prst="rect">
                <a:avLst/>
              </a:prstGeom>
              <a:noFill/>
            </p:spPr>
            <p:txBody>
              <a:bodyPr wrap="square" rtlCol="0" anchor="ctr" anchorCtr="0">
                <a:noAutofit/>
              </a:bodyPr>
              <a:lstStyle/>
              <a:p>
                <a:pPr lvl="0">
                  <a:buClr>
                    <a:schemeClr val="dk1"/>
                  </a:buClr>
                  <a:buSzPct val="297213"/>
                </a:pPr>
                <a:r>
                  <a:rPr lang="en-US" sz="5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2</a:t>
                </a:r>
                <a:endParaRPr lang="en-US" sz="1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8" name="Group 37">
              <a:extLst>
                <a:ext uri="{FF2B5EF4-FFF2-40B4-BE49-F238E27FC236}">
                  <a16:creationId xmlns:a16="http://schemas.microsoft.com/office/drawing/2014/main" id="{7C961FC8-2B26-8CC2-2454-42ED6186A4E1}"/>
                </a:ext>
              </a:extLst>
            </p:cNvPr>
            <p:cNvGrpSpPr/>
            <p:nvPr/>
          </p:nvGrpSpPr>
          <p:grpSpPr>
            <a:xfrm>
              <a:off x="2919955" y="4613685"/>
              <a:ext cx="1828800" cy="1849086"/>
              <a:chOff x="3057427" y="4589179"/>
              <a:chExt cx="1828800" cy="1849086"/>
            </a:xfrm>
          </p:grpSpPr>
          <p:sp>
            <p:nvSpPr>
              <p:cNvPr id="39" name="Google Shape;120;p2">
                <a:extLst>
                  <a:ext uri="{FF2B5EF4-FFF2-40B4-BE49-F238E27FC236}">
                    <a16:creationId xmlns:a16="http://schemas.microsoft.com/office/drawing/2014/main" id="{BB72AB10-2487-07CF-AF42-9B4853DF24BE}"/>
                  </a:ext>
                </a:extLst>
              </p:cNvPr>
              <p:cNvSpPr/>
              <p:nvPr/>
            </p:nvSpPr>
            <p:spPr>
              <a:xfrm rot="2700000" flipH="1">
                <a:off x="3057427" y="4609465"/>
                <a:ext cx="1828800" cy="1828800"/>
              </a:xfrm>
              <a:prstGeom prst="teardrop">
                <a:avLst>
                  <a:gd name="adj" fmla="val 131496"/>
                </a:avLst>
              </a:prstGeom>
              <a:solidFill>
                <a:schemeClr val="bg2">
                  <a:lumMod val="10000"/>
                  <a:lumOff val="90000"/>
                </a:schemeClr>
              </a:solidFill>
              <a:ln w="28575"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pic>
            <p:nvPicPr>
              <p:cNvPr id="40" name="Picture 39" descr="A person wearing a white shirt and blue jeans&#10;&#10;AI-generated content may be incorrect.">
                <a:extLst>
                  <a:ext uri="{FF2B5EF4-FFF2-40B4-BE49-F238E27FC236}">
                    <a16:creationId xmlns:a16="http://schemas.microsoft.com/office/drawing/2014/main" id="{21AB3A46-1EAC-86C4-51FF-C97A92EE69F9}"/>
                  </a:ext>
                </a:extLst>
              </p:cNvPr>
              <p:cNvPicPr>
                <a:picLocks noChangeAspect="1"/>
              </p:cNvPicPr>
              <p:nvPr/>
            </p:nvPicPr>
            <p:blipFill>
              <a:blip r:embed="rId4"/>
              <a:srcRect l="4657" t="2322" r="-4831" b="57726"/>
              <a:stretch>
                <a:fillRect/>
              </a:stretch>
            </p:blipFill>
            <p:spPr>
              <a:xfrm>
                <a:off x="3103056" y="4589179"/>
                <a:ext cx="1737542" cy="1736762"/>
              </a:xfrm>
              <a:prstGeom prst="ellipse">
                <a:avLst/>
              </a:prstGeom>
            </p:spPr>
          </p:pic>
        </p:grpSp>
      </p:grpSp>
      <p:grpSp>
        <p:nvGrpSpPr>
          <p:cNvPr id="48" name="Group 47">
            <a:extLst>
              <a:ext uri="{FF2B5EF4-FFF2-40B4-BE49-F238E27FC236}">
                <a16:creationId xmlns:a16="http://schemas.microsoft.com/office/drawing/2014/main" id="{95B0EB4B-FAE5-BF6D-3D7D-DA208176A64A}"/>
              </a:ext>
            </a:extLst>
          </p:cNvPr>
          <p:cNvGrpSpPr/>
          <p:nvPr/>
        </p:nvGrpSpPr>
        <p:grpSpPr>
          <a:xfrm>
            <a:off x="7322830" y="4721310"/>
            <a:ext cx="1136100" cy="640750"/>
            <a:chOff x="4360937" y="459399"/>
            <a:chExt cx="3388144" cy="1910885"/>
          </a:xfrm>
        </p:grpSpPr>
        <p:grpSp>
          <p:nvGrpSpPr>
            <p:cNvPr id="42" name="Group 41">
              <a:extLst>
                <a:ext uri="{FF2B5EF4-FFF2-40B4-BE49-F238E27FC236}">
                  <a16:creationId xmlns:a16="http://schemas.microsoft.com/office/drawing/2014/main" id="{DDEB90AD-2002-2D1D-1B3D-4544703D7D96}"/>
                </a:ext>
              </a:extLst>
            </p:cNvPr>
            <p:cNvGrpSpPr/>
            <p:nvPr/>
          </p:nvGrpSpPr>
          <p:grpSpPr>
            <a:xfrm>
              <a:off x="4619703" y="850769"/>
              <a:ext cx="3129378" cy="1235276"/>
              <a:chOff x="860675" y="2439143"/>
              <a:chExt cx="3129378" cy="1235276"/>
            </a:xfrm>
          </p:grpSpPr>
          <p:sp>
            <p:nvSpPr>
              <p:cNvPr id="43" name="Parallelogram 42">
                <a:extLst>
                  <a:ext uri="{FF2B5EF4-FFF2-40B4-BE49-F238E27FC236}">
                    <a16:creationId xmlns:a16="http://schemas.microsoft.com/office/drawing/2014/main" id="{95F2F3A3-4EE5-A70F-234C-A16468C792C8}"/>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44" name="TextBox 43">
                <a:extLst>
                  <a:ext uri="{FF2B5EF4-FFF2-40B4-BE49-F238E27FC236}">
                    <a16:creationId xmlns:a16="http://schemas.microsoft.com/office/drawing/2014/main" id="{44652317-6EB2-FBC1-21B0-AE562F5BFF8F}"/>
                  </a:ext>
                </a:extLst>
              </p:cNvPr>
              <p:cNvSpPr txBox="1"/>
              <p:nvPr/>
            </p:nvSpPr>
            <p:spPr>
              <a:xfrm>
                <a:off x="2260542" y="2439144"/>
                <a:ext cx="1489933" cy="1235275"/>
              </a:xfrm>
              <a:prstGeom prst="rect">
                <a:avLst/>
              </a:prstGeom>
              <a:noFill/>
            </p:spPr>
            <p:txBody>
              <a:bodyPr wrap="square" rtlCol="0" anchor="ctr" anchorCtr="0">
                <a:normAutofit/>
              </a:bodyPr>
              <a:lstStyle/>
              <a:p>
                <a:pPr lvl="0" algn="r">
                  <a:buClr>
                    <a:schemeClr val="dk1"/>
                  </a:buClr>
                  <a:buSzPct val="297213"/>
                </a:pPr>
                <a:r>
                  <a:rPr lang="en-US" sz="5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3</a:t>
                </a:r>
                <a:endParaRPr lang="en-US" sz="5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45" name="Group 44">
              <a:extLst>
                <a:ext uri="{FF2B5EF4-FFF2-40B4-BE49-F238E27FC236}">
                  <a16:creationId xmlns:a16="http://schemas.microsoft.com/office/drawing/2014/main" id="{7C374A34-45D0-2021-8D78-8718B2025D67}"/>
                </a:ext>
              </a:extLst>
            </p:cNvPr>
            <p:cNvGrpSpPr/>
            <p:nvPr/>
          </p:nvGrpSpPr>
          <p:grpSpPr>
            <a:xfrm>
              <a:off x="4360937" y="459399"/>
              <a:ext cx="1828800" cy="1910885"/>
              <a:chOff x="4360937" y="459399"/>
              <a:chExt cx="1828800" cy="1910885"/>
            </a:xfrm>
          </p:grpSpPr>
          <p:sp>
            <p:nvSpPr>
              <p:cNvPr id="46" name="Google Shape;120;p2">
                <a:extLst>
                  <a:ext uri="{FF2B5EF4-FFF2-40B4-BE49-F238E27FC236}">
                    <a16:creationId xmlns:a16="http://schemas.microsoft.com/office/drawing/2014/main" id="{5161F801-6AF7-590B-7F77-4F8354D04020}"/>
                  </a:ext>
                </a:extLst>
              </p:cNvPr>
              <p:cNvSpPr/>
              <p:nvPr/>
            </p:nvSpPr>
            <p:spPr>
              <a:xfrm rot="2700000" flipH="1">
                <a:off x="4360937" y="541485"/>
                <a:ext cx="1828799" cy="1828800"/>
              </a:xfrm>
              <a:prstGeom prst="teardrop">
                <a:avLst>
                  <a:gd name="adj" fmla="val 131496"/>
                </a:avLst>
              </a:prstGeom>
              <a:solidFill>
                <a:schemeClr val="bg2">
                  <a:lumMod val="10000"/>
                  <a:lumOff val="90000"/>
                </a:schemeClr>
              </a:solidFill>
              <a:ln w="28575"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a:solidFill>
                    <a:schemeClr val="lt1"/>
                  </a:solidFill>
                  <a:latin typeface="Arial"/>
                  <a:ea typeface="Arial"/>
                  <a:cs typeface="Arial"/>
                  <a:sym typeface="Arial"/>
                </a:endParaRPr>
              </a:p>
            </p:txBody>
          </p:sp>
          <p:pic>
            <p:nvPicPr>
              <p:cNvPr id="47" name="Picture 46" descr="A group of people in different colors&#10;&#10;AI-generated content may be incorrect.">
                <a:extLst>
                  <a:ext uri="{FF2B5EF4-FFF2-40B4-BE49-F238E27FC236}">
                    <a16:creationId xmlns:a16="http://schemas.microsoft.com/office/drawing/2014/main" id="{AC80BC14-0227-B44A-3988-3CB75E1F3FAB}"/>
                  </a:ext>
                </a:extLst>
              </p:cNvPr>
              <p:cNvPicPr>
                <a:picLocks noChangeAspect="1"/>
              </p:cNvPicPr>
              <p:nvPr/>
            </p:nvPicPr>
            <p:blipFill>
              <a:blip r:embed="rId5"/>
              <a:srcRect l="62973" t="17640" r="8598" b="27183"/>
              <a:stretch>
                <a:fillRect/>
              </a:stretch>
            </p:blipFill>
            <p:spPr>
              <a:xfrm>
                <a:off x="4465200" y="459399"/>
                <a:ext cx="1630799" cy="1779772"/>
              </a:xfrm>
              <a:prstGeom prst="ellipse">
                <a:avLst/>
              </a:prstGeom>
            </p:spPr>
          </p:pic>
        </p:grpSp>
      </p:grpSp>
      <p:grpSp>
        <p:nvGrpSpPr>
          <p:cNvPr id="57" name="Group 56">
            <a:extLst>
              <a:ext uri="{FF2B5EF4-FFF2-40B4-BE49-F238E27FC236}">
                <a16:creationId xmlns:a16="http://schemas.microsoft.com/office/drawing/2014/main" id="{16A60B00-A0EC-4097-AC19-ECE5B0432081}"/>
              </a:ext>
            </a:extLst>
          </p:cNvPr>
          <p:cNvGrpSpPr/>
          <p:nvPr/>
        </p:nvGrpSpPr>
        <p:grpSpPr>
          <a:xfrm>
            <a:off x="8307196" y="2188361"/>
            <a:ext cx="1083392" cy="565480"/>
            <a:chOff x="5416048" y="4221659"/>
            <a:chExt cx="3503762" cy="1828800"/>
          </a:xfrm>
        </p:grpSpPr>
        <p:grpSp>
          <p:nvGrpSpPr>
            <p:cNvPr id="49" name="Group 48">
              <a:extLst>
                <a:ext uri="{FF2B5EF4-FFF2-40B4-BE49-F238E27FC236}">
                  <a16:creationId xmlns:a16="http://schemas.microsoft.com/office/drawing/2014/main" id="{4516AF91-3C9F-3D96-002D-F2AB80020D17}"/>
                </a:ext>
              </a:extLst>
            </p:cNvPr>
            <p:cNvGrpSpPr/>
            <p:nvPr/>
          </p:nvGrpSpPr>
          <p:grpSpPr>
            <a:xfrm>
              <a:off x="5416048" y="4504017"/>
              <a:ext cx="3129378" cy="1270818"/>
              <a:chOff x="860675" y="2439143"/>
              <a:chExt cx="3129378" cy="1270818"/>
            </a:xfrm>
          </p:grpSpPr>
          <p:sp>
            <p:nvSpPr>
              <p:cNvPr id="50" name="Parallelogram 49">
                <a:extLst>
                  <a:ext uri="{FF2B5EF4-FFF2-40B4-BE49-F238E27FC236}">
                    <a16:creationId xmlns:a16="http://schemas.microsoft.com/office/drawing/2014/main" id="{97998595-3F08-0DDE-DB5F-84C19672F2B9}"/>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51" name="TextBox 50">
                <a:extLst>
                  <a:ext uri="{FF2B5EF4-FFF2-40B4-BE49-F238E27FC236}">
                    <a16:creationId xmlns:a16="http://schemas.microsoft.com/office/drawing/2014/main" id="{34994F05-3B80-761F-1FAE-F46A37B066DD}"/>
                  </a:ext>
                </a:extLst>
              </p:cNvPr>
              <p:cNvSpPr txBox="1"/>
              <p:nvPr/>
            </p:nvSpPr>
            <p:spPr>
              <a:xfrm>
                <a:off x="1025173" y="2474685"/>
                <a:ext cx="1747580" cy="1235276"/>
              </a:xfrm>
              <a:prstGeom prst="rect">
                <a:avLst/>
              </a:prstGeom>
              <a:noFill/>
            </p:spPr>
            <p:txBody>
              <a:bodyPr wrap="square" rtlCol="0" anchor="ctr" anchorCtr="0">
                <a:normAutofit/>
              </a:bodyPr>
              <a:lstStyle/>
              <a:p>
                <a:pPr lvl="0">
                  <a:buClr>
                    <a:schemeClr val="dk1"/>
                  </a:buClr>
                  <a:buSzPct val="297213"/>
                </a:pPr>
                <a:r>
                  <a:rPr lang="en-US" sz="5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4</a:t>
                </a:r>
                <a:endParaRPr lang="en-US" sz="5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2" name="Group 51">
              <a:extLst>
                <a:ext uri="{FF2B5EF4-FFF2-40B4-BE49-F238E27FC236}">
                  <a16:creationId xmlns:a16="http://schemas.microsoft.com/office/drawing/2014/main" id="{7A249C77-E515-DCE7-EB98-67EC94CAA1E4}"/>
                </a:ext>
              </a:extLst>
            </p:cNvPr>
            <p:cNvGrpSpPr/>
            <p:nvPr/>
          </p:nvGrpSpPr>
          <p:grpSpPr>
            <a:xfrm>
              <a:off x="7091011" y="4221659"/>
              <a:ext cx="1828799" cy="1828800"/>
              <a:chOff x="7091011" y="4221659"/>
              <a:chExt cx="1828799" cy="1828800"/>
            </a:xfrm>
          </p:grpSpPr>
          <p:sp>
            <p:nvSpPr>
              <p:cNvPr id="53" name="Google Shape;120;p2">
                <a:extLst>
                  <a:ext uri="{FF2B5EF4-FFF2-40B4-BE49-F238E27FC236}">
                    <a16:creationId xmlns:a16="http://schemas.microsoft.com/office/drawing/2014/main" id="{3E994C38-7756-D9DE-FB89-153A3B5889A8}"/>
                  </a:ext>
                </a:extLst>
              </p:cNvPr>
              <p:cNvSpPr/>
              <p:nvPr/>
            </p:nvSpPr>
            <p:spPr>
              <a:xfrm rot="2700000" flipH="1">
                <a:off x="7091011" y="4221659"/>
                <a:ext cx="1828800" cy="1828799"/>
              </a:xfrm>
              <a:prstGeom prst="teardrop">
                <a:avLst>
                  <a:gd name="adj" fmla="val 131496"/>
                </a:avLst>
              </a:prstGeom>
              <a:solidFill>
                <a:schemeClr val="bg2">
                  <a:lumMod val="10000"/>
                  <a:lumOff val="90000"/>
                </a:schemeClr>
              </a:solidFill>
              <a:ln w="28575"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grpSp>
            <p:nvGrpSpPr>
              <p:cNvPr id="54" name="Group 53">
                <a:extLst>
                  <a:ext uri="{FF2B5EF4-FFF2-40B4-BE49-F238E27FC236}">
                    <a16:creationId xmlns:a16="http://schemas.microsoft.com/office/drawing/2014/main" id="{12BA9928-FD3E-C040-3EC6-9B2C4FA9FC03}"/>
                  </a:ext>
                </a:extLst>
              </p:cNvPr>
              <p:cNvGrpSpPr/>
              <p:nvPr/>
            </p:nvGrpSpPr>
            <p:grpSpPr>
              <a:xfrm>
                <a:off x="7229347" y="4409020"/>
                <a:ext cx="1564364" cy="1465506"/>
                <a:chOff x="3501616" y="1534157"/>
                <a:chExt cx="2328314" cy="2181179"/>
              </a:xfrm>
            </p:grpSpPr>
            <p:pic>
              <p:nvPicPr>
                <p:cNvPr id="55" name="Picture 54" descr="A group of people in different colors&#10;&#10;AI-generated content may be incorrect.">
                  <a:extLst>
                    <a:ext uri="{FF2B5EF4-FFF2-40B4-BE49-F238E27FC236}">
                      <a16:creationId xmlns:a16="http://schemas.microsoft.com/office/drawing/2014/main" id="{654F7AE2-BDA8-7DDC-B9C8-A38FEC23D5E6}"/>
                    </a:ext>
                  </a:extLst>
                </p:cNvPr>
                <p:cNvPicPr>
                  <a:picLocks noChangeAspect="1"/>
                </p:cNvPicPr>
                <p:nvPr/>
              </p:nvPicPr>
              <p:blipFill>
                <a:blip r:embed="rId5"/>
                <a:srcRect l="14593" t="14370" r="55902" b="26199"/>
                <a:stretch>
                  <a:fillRect/>
                </a:stretch>
              </p:blipFill>
              <p:spPr>
                <a:xfrm>
                  <a:off x="3501616" y="1652038"/>
                  <a:ext cx="1821602" cy="2063298"/>
                </a:xfrm>
                <a:prstGeom prst="ellipse">
                  <a:avLst/>
                </a:prstGeom>
              </p:spPr>
            </p:pic>
            <p:pic>
              <p:nvPicPr>
                <p:cNvPr id="56" name="Picture 55" descr="A group of people in different colors&#10;&#10;AI-generated content may be incorrect.">
                  <a:extLst>
                    <a:ext uri="{FF2B5EF4-FFF2-40B4-BE49-F238E27FC236}">
                      <a16:creationId xmlns:a16="http://schemas.microsoft.com/office/drawing/2014/main" id="{5125321D-43B3-3422-F584-ED934733E317}"/>
                    </a:ext>
                  </a:extLst>
                </p:cNvPr>
                <p:cNvPicPr>
                  <a:picLocks noChangeAspect="1"/>
                </p:cNvPicPr>
                <p:nvPr/>
              </p:nvPicPr>
              <p:blipFill>
                <a:blip r:embed="rId5"/>
                <a:srcRect l="33568" t="12909" r="39362" b="27097"/>
                <a:stretch>
                  <a:fillRect/>
                </a:stretch>
              </p:blipFill>
              <p:spPr>
                <a:xfrm>
                  <a:off x="4079780" y="1534157"/>
                  <a:ext cx="1750150" cy="2181179"/>
                </a:xfrm>
                <a:prstGeom prst="ellipse">
                  <a:avLst/>
                </a:prstGeom>
              </p:spPr>
            </p:pic>
          </p:grpSp>
        </p:grpSp>
      </p:grpSp>
    </p:spTree>
    <p:extLst>
      <p:ext uri="{BB962C8B-B14F-4D97-AF65-F5344CB8AC3E}">
        <p14:creationId xmlns:p14="http://schemas.microsoft.com/office/powerpoint/2010/main" val="425642920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TotalTime>
  <Words>1265</Words>
  <Application>Microsoft Office PowerPoint</Application>
  <PresentationFormat>Widescreen</PresentationFormat>
  <Paragraphs>209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Open Sans</vt:lpstr>
      <vt:lpstr>Play</vt:lpstr>
      <vt:lpstr>Arial</vt:lpstr>
      <vt:lpstr>Office Theme</vt:lpstr>
      <vt:lpstr>Recommendations to address constraints and bias in Integrated Data Analytics</vt:lpstr>
      <vt:lpstr>PowerPoint Presentation</vt:lpstr>
      <vt:lpstr>Consider possible mitigation strategies at various stages</vt:lpstr>
      <vt:lpstr>Adjust the research question to be more specific and reflective of the actual data available. If we only have access to shelter data,  Instead of saying: The research question is to estimate the risk of homelessness.   Say:  The research question is to estimate the risk of shelter use.</vt:lpstr>
      <vt:lpstr>Adjust the research question to be more specific and reflective of the actual data collected  Instead of saying: The research question is how the experience of homelessness differs by gender.  Say:  The research question is how shelter use differs by gender, specifically the most recent self-reported binary gender.</vt:lpstr>
      <vt:lpstr>Use FAIR2 as a guide Frame – Articulate – Identify – Report  FAIR2…  Frames (meta)data with experiential knowledge,  Articulates assumptions about data relationships with causal graphs,  Identifies sources of bias in the data, and  Reports back to those represented in the data  ….leading to a more ethical use of data and analytics for the public interest.</vt:lpstr>
      <vt:lpstr>Frame and Articulate the research design: Learn about the data-generating process and metadata; make explicit your assumptions in a graphical model.  Knowledge is experiential, scientific, and historical.  Instead of:  Assuming data is always an accurate and objective reflection of reality,  Consider:  Under what social interactions were the data generated?  Ask people represented in the data what factors might influence their data intake answers. Use a graphical model to transparently state modeling assumptions.  </vt:lpstr>
      <vt:lpstr>  Tap into other sources of data as needed.  Instead of:  Relying solely on one data source (HMIS) to reveal homelessness.  Consider:  Indicators within other datasets that may uncover homelessness outside of shelter, such as address in food assistance data (SNAP) or school data.    </vt:lpstr>
      <vt:lpstr>To increase the transparency of the data, provide data labels that are descriptive and accurate  Instead of coding: Homeless status  Code: shelter use  </vt:lpstr>
      <vt:lpstr>To increase accurate representation of people's identities in the data, keep an individual's different coding of gender and race documented across data systems.  Instead of coding: Gender = female for someone who has 5 records indicating female but 1 indicating nonbinary across 6 different timepoints (timepoints A-F) in different systems (i.e., homelessness system and food assistance system).  Code: Gender = nonbinary at timepoint F (homelessness system)   AND   Gender = female at timepoints A-E (food assistance system)  That is, keep both identities.</vt:lpstr>
      <vt:lpstr>After Articulating modeling assumptions using experiential knowledge, Identify/screen for bias in target population, outcome and input variables.  Instead of: Only running a regression to estimate shelter- use risk that includes demographics and other variables found in HMIS data.  Consider: Can we learn from other data (emergency room visits, food pantry data) about who is likely to experience homelessness outside of shelter?  What is behind the causal pathways connecting demographic with homelessness? Stigma?  Are label bias and collider bias present in your model? (reviewed in modules 3 and 4).</vt:lpstr>
      <vt:lpstr>Call attention to any known discrepancy between the target variable and the construct measured.  Instead of: Concluding “Health status is negatively related to homelessness.”  Be specific in interpretation:  “In an effort to measure the relationship between health and homelessness, we examine a proxy for homelessness, shelter use, which does not fully capture all people experiencing homelessness and may underrepresent the experiences of those who have the most significant health problems.”  Be transparent about limitations of research.  Report findings to community stakeholders and seek feedback.</vt:lpstr>
      <vt:lpstr>Be mindful when applying data to practice.  Instead of:  Focusing interventions only on shelter users  Find alternative ways to: Identify and serve populations that are underrepresented in the data</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Patty A Stoddard Dare</dc:creator>
  <cp:lastModifiedBy>Christine Marlow</cp:lastModifiedBy>
  <cp:revision>22</cp:revision>
  <dcterms:created xsi:type="dcterms:W3CDTF">2025-10-16T16:27:46Z</dcterms:created>
  <dcterms:modified xsi:type="dcterms:W3CDTF">2026-02-03T15:23:37Z</dcterms:modified>
</cp:coreProperties>
</file>