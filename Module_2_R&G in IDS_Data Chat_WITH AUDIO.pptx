
<file path=[Content_Types].xml><?xml version="1.0" encoding="utf-8"?>
<Types xmlns="http://schemas.openxmlformats.org/package/2006/content-types">
  <Default Extension="fntdata" ContentType="application/x-fontdata"/>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3" r:id="rId1"/>
    <p:sldMasterId id="2147483736" r:id="rId2"/>
  </p:sldMasterIdLst>
  <p:notesMasterIdLst>
    <p:notesMasterId r:id="rId40"/>
  </p:notesMasterIdLst>
  <p:sldIdLst>
    <p:sldId id="256" r:id="rId3"/>
    <p:sldId id="299" r:id="rId4"/>
    <p:sldId id="258" r:id="rId5"/>
    <p:sldId id="294" r:id="rId6"/>
    <p:sldId id="295" r:id="rId7"/>
    <p:sldId id="296" r:id="rId8"/>
    <p:sldId id="297" r:id="rId9"/>
    <p:sldId id="298" r:id="rId10"/>
    <p:sldId id="293" r:id="rId11"/>
    <p:sldId id="292"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Lst>
  <p:sldSz cx="18288000" cy="10287000"/>
  <p:notesSz cx="6858000" cy="9144000"/>
  <p:embeddedFontLst>
    <p:embeddedFont>
      <p:font typeface="Cambria Math" panose="02040503050406030204" pitchFamily="18" charset="0"/>
      <p:regular r:id="rId41"/>
    </p:embeddedFont>
    <p:embeddedFont>
      <p:font typeface="Open Sans" panose="020B0606030504020204" pitchFamily="34" charset="0"/>
      <p:regular r:id="rId42"/>
      <p:bold r:id="rId43"/>
      <p:italic r:id="rId44"/>
      <p:boldItalic r:id="rId45"/>
    </p:embeddedFont>
    <p:embeddedFont>
      <p:font typeface="Play" panose="020B0604020202020204" charset="0"/>
      <p:regular r:id="rId46"/>
      <p:bold r:id="rId4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iXLV7/y7kEh00YT4gJdEQYoQUh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B83"/>
    <a:srgbClr val="D63D1F"/>
    <a:srgbClr val="F23B00"/>
    <a:srgbClr val="1C459C"/>
    <a:srgbClr val="263AC5"/>
    <a:srgbClr val="FFB72A"/>
    <a:srgbClr val="FFCB28"/>
    <a:srgbClr val="FFDC5D"/>
    <a:srgbClr val="F2CF68"/>
    <a:srgbClr val="E6AE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01"/>
    <p:restoredTop sz="93595" autoAdjust="0"/>
  </p:normalViewPr>
  <p:slideViewPr>
    <p:cSldViewPr snapToGrid="0">
      <p:cViewPr varScale="1">
        <p:scale>
          <a:sx n="101" d="100"/>
          <a:sy n="101" d="100"/>
        </p:scale>
        <p:origin x="972" y="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2.fntdata"/><Relationship Id="rId47" Type="http://schemas.openxmlformats.org/officeDocument/2006/relationships/font" Target="fonts/font7.fntdata"/><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font" Target="fonts/font5.fntdata"/><Relationship Id="rId53"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4.fntdata"/><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3.fntdata"/><Relationship Id="rId8" Type="http://schemas.openxmlformats.org/officeDocument/2006/relationships/slide" Target="slides/slide6.xml"/><Relationship Id="rId51" Type="http://customschemas.google.com/relationships/presentationmetadata" Target="meta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6.fntdata"/><Relationship Id="rId20" Type="http://schemas.openxmlformats.org/officeDocument/2006/relationships/slide" Target="slides/slide18.xml"/><Relationship Id="rId41" Type="http://schemas.openxmlformats.org/officeDocument/2006/relationships/font" Target="fonts/font1.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730fe60eb7_1_1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I’m excited to talk to you today about an important and impactful facet of data collection. What do we do when the data we collect </a:t>
            </a:r>
            <a:r>
              <a:rPr lang="en-US" sz="1100" b="0" i="0" u="none" strike="noStrike" cap="none" dirty="0" err="1">
                <a:solidFill>
                  <a:srgbClr val="000000"/>
                </a:solidFill>
                <a:effectLst/>
                <a:latin typeface="Arial"/>
                <a:ea typeface="Arial"/>
                <a:cs typeface="Arial"/>
                <a:sym typeface="Arial"/>
              </a:rPr>
              <a:t>ccontradicteach</a:t>
            </a:r>
            <a:r>
              <a:rPr lang="en-US" sz="1100" b="0" i="0" u="none" strike="noStrike" cap="none" dirty="0">
                <a:solidFill>
                  <a:srgbClr val="000000"/>
                </a:solidFill>
                <a:effectLst/>
                <a:latin typeface="Arial"/>
                <a:ea typeface="Arial"/>
                <a:cs typeface="Arial"/>
                <a:sym typeface="Arial"/>
              </a:rPr>
              <a:t> other?</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Today we are going to talk about administrative data.</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Administrative data is collected to run social programs, such as homeless services, food assistance, and others. When administrative data (from housing services, food assistance and schools) is linked, people’s interactions across systems and over time can be traced. This linked data can be used to implement better programs and address social needs more effectively.  </a:t>
            </a:r>
          </a:p>
          <a:p>
            <a:endParaRPr lang="en-US" sz="1100" b="0" i="0" u="none" strike="noStrike" cap="none" dirty="0">
              <a:solidFill>
                <a:srgbClr val="000000"/>
              </a:solidFill>
              <a:effectLst/>
              <a:latin typeface="Arial"/>
              <a:ea typeface="Arial"/>
              <a:cs typeface="Arial"/>
              <a:sym typeface="Arial"/>
            </a:endParaRPr>
          </a:p>
          <a:p>
            <a:r>
              <a:rPr lang="en-US" sz="1100" b="0" i="0" u="none" strike="noStrike" cap="none" dirty="0">
                <a:solidFill>
                  <a:srgbClr val="000000"/>
                </a:solidFill>
                <a:effectLst/>
                <a:latin typeface="Arial"/>
                <a:ea typeface="Arial"/>
                <a:cs typeface="Arial"/>
                <a:sym typeface="Arial"/>
              </a:rPr>
              <a:t>Today we’ll focus on how administrative data is linked across systems and how demographic information like race and gender is represented in the data. We’ll also see how experiential knowledge of people represented in these systems can help us better interpret the data and use it to advance social good.</a:t>
            </a:r>
          </a:p>
          <a:p>
            <a:pPr marL="0" lvl="0" indent="0" algn="l" rtl="0">
              <a:lnSpc>
                <a:spcPct val="100000"/>
              </a:lnSpc>
              <a:spcBef>
                <a:spcPts val="0"/>
              </a:spcBef>
              <a:spcAft>
                <a:spcPts val="0"/>
              </a:spcAft>
              <a:buSzPts val="1100"/>
              <a:buNone/>
            </a:pPr>
            <a:endParaRPr dirty="0"/>
          </a:p>
        </p:txBody>
      </p:sp>
      <p:sp>
        <p:nvSpPr>
          <p:cNvPr id="184" name="Google Shape;184;g3730fe60eb7_1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BED82002-C959-E6F2-3E00-09D1A74EB056}"/>
            </a:ext>
          </a:extLst>
        </p:cNvPr>
        <p:cNvGrpSpPr/>
        <p:nvPr/>
      </p:nvGrpSpPr>
      <p:grpSpPr>
        <a:xfrm>
          <a:off x="0" y="0"/>
          <a:ext cx="0" cy="0"/>
          <a:chOff x="0" y="0"/>
          <a:chExt cx="0" cy="0"/>
        </a:xfrm>
      </p:grpSpPr>
      <p:sp>
        <p:nvSpPr>
          <p:cNvPr id="113" name="Google Shape;113;p2:notes">
            <a:extLst>
              <a:ext uri="{FF2B5EF4-FFF2-40B4-BE49-F238E27FC236}">
                <a16:creationId xmlns:a16="http://schemas.microsoft.com/office/drawing/2014/main" id="{93D4BDB5-99BF-E30F-FD22-C38397AB329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p>
        </p:txBody>
      </p:sp>
      <p:sp>
        <p:nvSpPr>
          <p:cNvPr id="114" name="Google Shape;114;p2:notes">
            <a:extLst>
              <a:ext uri="{FF2B5EF4-FFF2-40B4-BE49-F238E27FC236}">
                <a16:creationId xmlns:a16="http://schemas.microsoft.com/office/drawing/2014/main" id="{8211BE7E-FAEC-1990-7F7F-C7A9CAE829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7929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a335ef999a_0_9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To illustrate administrative data, let’s first talk about Aaron.</a:t>
            </a:r>
          </a:p>
          <a:p>
            <a:pPr marL="0" lvl="0" indent="0" algn="l" rtl="0">
              <a:lnSpc>
                <a:spcPct val="100000"/>
              </a:lnSpc>
              <a:spcBef>
                <a:spcPts val="0"/>
              </a:spcBef>
              <a:spcAft>
                <a:spcPts val="0"/>
              </a:spcAft>
              <a:buSzPts val="1100"/>
              <a:buNone/>
            </a:pPr>
            <a:endParaRPr dirty="0"/>
          </a:p>
        </p:txBody>
      </p:sp>
      <p:sp>
        <p:nvSpPr>
          <p:cNvPr id="195" name="Google Shape;195;g3a335ef999a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9324CB29-A763-21FA-13EB-BC0AF5079E41}"/>
            </a:ext>
          </a:extLst>
        </p:cNvPr>
        <p:cNvGrpSpPr/>
        <p:nvPr/>
      </p:nvGrpSpPr>
      <p:grpSpPr>
        <a:xfrm>
          <a:off x="0" y="0"/>
          <a:ext cx="0" cy="0"/>
          <a:chOff x="0" y="0"/>
          <a:chExt cx="0" cy="0"/>
        </a:xfrm>
      </p:grpSpPr>
      <p:sp>
        <p:nvSpPr>
          <p:cNvPr id="200" name="Google Shape;200;g3a335ef999a_0_187:notes">
            <a:extLst>
              <a:ext uri="{FF2B5EF4-FFF2-40B4-BE49-F238E27FC236}">
                <a16:creationId xmlns:a16="http://schemas.microsoft.com/office/drawing/2014/main" id="{1D9A32C9-0E74-4702-9C45-5A4645D92EC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Aaron was born 2006, but Aaron doesn’t know much about their early years, though they know their parents had them very young and struggled to make ends meet. Neither of Aaron’s parents had any family that lived nearby, so Aaron knows that they sometimes got help from local food pantries and federal programs, like SNAP.</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On the left side of the slide, we can see how Aaron’s demographic information was recorded each time their family received any type of federal benefit. We can also see that Aaron’s family interacted with the homelessness management information system HMIS, perhaps receiving housing assistance, though it sounds like Aaron may not have known about this. We can also see that it looks like Aaron’s race was recorded slightly different, sometimes as Black, sometimes as Multi-racial.</a:t>
            </a:r>
          </a:p>
          <a:p>
            <a:endParaRPr lang="en-US" sz="1100" b="0" i="0" u="none" strike="noStrike" cap="none" dirty="0">
              <a:solidFill>
                <a:srgbClr val="000000"/>
              </a:solidFill>
              <a:effectLst/>
              <a:latin typeface="Arial"/>
              <a:ea typeface="Arial"/>
              <a:cs typeface="Arial"/>
              <a:sym typeface="Arial"/>
            </a:endParaRP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We can also see that data was recorded about AARON’S family’s via SNAP which is Supplemental nutrition program or food assistance data.</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So here we are looking at data about Aaron collected by housing and food assistance programs over the years.</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endParaRPr lang="en-US" sz="1100" b="0" i="0" u="none" strike="noStrike" cap="none" dirty="0">
              <a:solidFill>
                <a:srgbClr val="000000"/>
              </a:solidFill>
              <a:effectLst/>
              <a:latin typeface="Arial"/>
              <a:ea typeface="Arial"/>
              <a:cs typeface="Arial"/>
              <a:sym typeface="Arial"/>
            </a:endParaRPr>
          </a:p>
        </p:txBody>
      </p:sp>
      <p:sp>
        <p:nvSpPr>
          <p:cNvPr id="201" name="Google Shape;201;g3a335ef999a_0_187:notes">
            <a:extLst>
              <a:ext uri="{FF2B5EF4-FFF2-40B4-BE49-F238E27FC236}">
                <a16:creationId xmlns:a16="http://schemas.microsoft.com/office/drawing/2014/main" id="{A5AF973C-6945-17C9-6272-92EF3413FD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7529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05867A3C-0A18-219C-8162-2852F2905DF4}"/>
            </a:ext>
          </a:extLst>
        </p:cNvPr>
        <p:cNvGrpSpPr/>
        <p:nvPr/>
      </p:nvGrpSpPr>
      <p:grpSpPr>
        <a:xfrm>
          <a:off x="0" y="0"/>
          <a:ext cx="0" cy="0"/>
          <a:chOff x="0" y="0"/>
          <a:chExt cx="0" cy="0"/>
        </a:xfrm>
      </p:grpSpPr>
      <p:sp>
        <p:nvSpPr>
          <p:cNvPr id="200" name="Google Shape;200;g3a335ef999a_0_187:notes">
            <a:extLst>
              <a:ext uri="{FF2B5EF4-FFF2-40B4-BE49-F238E27FC236}">
                <a16:creationId xmlns:a16="http://schemas.microsoft.com/office/drawing/2014/main" id="{B2B4B682-F626-FF34-665F-9C3BED7BAA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 Throughout elementary school and middle school, Aaron’s family moved around a lot based on where their parents could find work. Aaron remembers that sometimes money would get tight around the end of the month, but their parents always found a way to get by.</a:t>
            </a:r>
          </a:p>
          <a:p>
            <a:r>
              <a:rPr lang="en-US" sz="1100" b="0" i="0" u="none" strike="noStrike" cap="none" dirty="0">
                <a:solidFill>
                  <a:srgbClr val="000000"/>
                </a:solidFill>
                <a:effectLst/>
                <a:latin typeface="Arial"/>
                <a:ea typeface="Arial"/>
                <a:cs typeface="Arial"/>
                <a:sym typeface="Arial"/>
              </a:rPr>
              <a:t>Now that Aaron has entered school, we see how their demographic information was also recorded in the school system. Note that the school only has one code that encompasses both race and ethnicity, where other systems record race and ethnicity separately.</a:t>
            </a:r>
          </a:p>
          <a:p>
            <a:r>
              <a:rPr lang="en-US" sz="1100" b="0" i="0" u="none" strike="noStrike" cap="none" dirty="0">
                <a:solidFill>
                  <a:srgbClr val="000000"/>
                </a:solidFill>
                <a:effectLst/>
                <a:latin typeface="Arial"/>
                <a:ea typeface="Arial"/>
                <a:cs typeface="Arial"/>
                <a:sym typeface="Arial"/>
              </a:rPr>
              <a:t>We we see there are three different administrative databases that contain information about Aaron, but the information recorded about Aaron’s race is not the same.</a:t>
            </a:r>
          </a:p>
          <a:p>
            <a:endParaRPr lang="en-US" sz="1100" b="0" i="0" u="none" strike="noStrike" cap="none" dirty="0">
              <a:solidFill>
                <a:srgbClr val="000000"/>
              </a:solidFill>
              <a:effectLst/>
              <a:latin typeface="Arial"/>
              <a:ea typeface="Arial"/>
              <a:cs typeface="Arial"/>
              <a:sym typeface="Arial"/>
            </a:endParaRPr>
          </a:p>
        </p:txBody>
      </p:sp>
      <p:sp>
        <p:nvSpPr>
          <p:cNvPr id="201" name="Google Shape;201;g3a335ef999a_0_187:notes">
            <a:extLst>
              <a:ext uri="{FF2B5EF4-FFF2-40B4-BE49-F238E27FC236}">
                <a16:creationId xmlns:a16="http://schemas.microsoft.com/office/drawing/2014/main" id="{EA8CE8AF-4B7C-D6DA-62D2-55D203CC7C5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2195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1A62D9F7-D41B-1A3F-A9F4-B74BE70D8124}"/>
            </a:ext>
          </a:extLst>
        </p:cNvPr>
        <p:cNvGrpSpPr/>
        <p:nvPr/>
      </p:nvGrpSpPr>
      <p:grpSpPr>
        <a:xfrm>
          <a:off x="0" y="0"/>
          <a:ext cx="0" cy="0"/>
          <a:chOff x="0" y="0"/>
          <a:chExt cx="0" cy="0"/>
        </a:xfrm>
      </p:grpSpPr>
      <p:sp>
        <p:nvSpPr>
          <p:cNvPr id="200" name="Google Shape;200;g3a335ef999a_0_187:notes">
            <a:extLst>
              <a:ext uri="{FF2B5EF4-FFF2-40B4-BE49-F238E27FC236}">
                <a16:creationId xmlns:a16="http://schemas.microsoft.com/office/drawing/2014/main" id="{B3E96797-0655-D094-5583-D9BF1666D8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Aaron is very happy that their family was able to spend all four years of high school in the same city, though. They finally felt like they fit in after making friends with a group of other LGBTQ+ students and started to explore both their gender identity and racial identity. Having parents from two different racial backgrounds, Aaron was never quite sure where they fit in. Aaron’s high school friends helped them form their own understanding of their identities. After high school, Aaron’s parents moved again, but Aaron decided to stay in the same city that they now called home.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This is the first time that we see Aaron reporting their own demographic information on the left side of the slide – We see that they self-reported their race/ethnicity and gender identities to the school system starting in high school. Note how their gender identity changed to “Other gender” when they self-reported it as they were going through developmental stages of identity development.</a:t>
            </a:r>
          </a:p>
        </p:txBody>
      </p:sp>
      <p:sp>
        <p:nvSpPr>
          <p:cNvPr id="201" name="Google Shape;201;g3a335ef999a_0_187:notes">
            <a:extLst>
              <a:ext uri="{FF2B5EF4-FFF2-40B4-BE49-F238E27FC236}">
                <a16:creationId xmlns:a16="http://schemas.microsoft.com/office/drawing/2014/main" id="{0D16D2E9-2D07-011E-B865-CFADE3A798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6132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A1C4D3F4-0714-E3F6-CFF2-006060483515}"/>
            </a:ext>
          </a:extLst>
        </p:cNvPr>
        <p:cNvGrpSpPr/>
        <p:nvPr/>
      </p:nvGrpSpPr>
      <p:grpSpPr>
        <a:xfrm>
          <a:off x="0" y="0"/>
          <a:ext cx="0" cy="0"/>
          <a:chOff x="0" y="0"/>
          <a:chExt cx="0" cy="0"/>
        </a:xfrm>
      </p:grpSpPr>
      <p:sp>
        <p:nvSpPr>
          <p:cNvPr id="200" name="Google Shape;200;g3a335ef999a_0_187:notes">
            <a:extLst>
              <a:ext uri="{FF2B5EF4-FFF2-40B4-BE49-F238E27FC236}">
                <a16:creationId xmlns:a16="http://schemas.microsoft.com/office/drawing/2014/main" id="{8522960E-9541-331E-9CCE-1582051F7C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Aaron knew they wanted to get a college education but wanted to earn some income as well. So, they immediately started a part-time job at a local restaurant while applying for college. It wasn’t enough money to make ends meet, so Aaron found themselves applying for Supplemental Nutrition Assistance Program (SNAP) services. With SNAP and their part-time job, Aaron was able to rent a small apartment and take a couple college classes up until a few weeks ago. Aaron had been growing more confident in their gender expression and identity, but unfortunately that brought on multiple ongoing customer complaints at the restaurant they worked at. Unfortunately, Aaron’s manager thought it would be easier to let Aaron go and appease the customers, so Aaron suddenly became unemployed with no way to pay next month’s rent.</a:t>
            </a:r>
          </a:p>
          <a:p>
            <a:endParaRPr lang="en-US" sz="1100" b="0" i="0" u="none" strike="noStrike" cap="none" dirty="0">
              <a:solidFill>
                <a:srgbClr val="000000"/>
              </a:solidFill>
              <a:effectLst/>
              <a:latin typeface="Arial"/>
              <a:ea typeface="Arial"/>
              <a:cs typeface="Arial"/>
              <a:sym typeface="Arial"/>
            </a:endParaRPr>
          </a:p>
        </p:txBody>
      </p:sp>
      <p:sp>
        <p:nvSpPr>
          <p:cNvPr id="201" name="Google Shape;201;g3a335ef999a_0_187:notes">
            <a:extLst>
              <a:ext uri="{FF2B5EF4-FFF2-40B4-BE49-F238E27FC236}">
                <a16:creationId xmlns:a16="http://schemas.microsoft.com/office/drawing/2014/main" id="{1500635F-9CEA-4DB5-28D5-77BF17ACC4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725918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id="{8A6A3B6B-7C44-997A-9782-C497BBEB0439}"/>
            </a:ext>
          </a:extLst>
        </p:cNvPr>
        <p:cNvGrpSpPr/>
        <p:nvPr/>
      </p:nvGrpSpPr>
      <p:grpSpPr>
        <a:xfrm>
          <a:off x="0" y="0"/>
          <a:ext cx="0" cy="0"/>
          <a:chOff x="0" y="0"/>
          <a:chExt cx="0" cy="0"/>
        </a:xfrm>
      </p:grpSpPr>
      <p:sp>
        <p:nvSpPr>
          <p:cNvPr id="200" name="Google Shape;200;g3a335ef999a_0_187:notes">
            <a:extLst>
              <a:ext uri="{FF2B5EF4-FFF2-40B4-BE49-F238E27FC236}">
                <a16:creationId xmlns:a16="http://schemas.microsoft.com/office/drawing/2014/main" id="{75325FCB-604A-8753-4BE1-D795B7A844C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Now that Aaron is an adult, we see that all of their information from high school graduation onward is self-reported. We also see that Aaron’s gender differs based on the system they are in: Unknown for SNAP, Nonbinary then Male for HMIS.</a:t>
            </a:r>
          </a:p>
          <a:p>
            <a:r>
              <a:rPr lang="en-US" sz="1100" b="0" i="0" u="none" strike="noStrike" cap="none" dirty="0">
                <a:solidFill>
                  <a:srgbClr val="000000"/>
                </a:solidFill>
                <a:effectLst/>
                <a:latin typeface="Arial"/>
                <a:ea typeface="Arial"/>
                <a:cs typeface="Arial"/>
                <a:sym typeface="Arial"/>
              </a:rPr>
              <a:t>Aaron has applied for some housing assistance programs but will soon lose the apartment. Aaron has been looking into homeless shelters in the area but is concerned they won’t feel safe at the men’s shelter and won’t be allowed in the women’s shelter. On top of all of that, Aaron never got around to changing their ID and documents from “male” and isn’t sure what to do about all the forms they now have to fill out for housing assistance.</a:t>
            </a:r>
          </a:p>
        </p:txBody>
      </p:sp>
      <p:sp>
        <p:nvSpPr>
          <p:cNvPr id="201" name="Google Shape;201;g3a335ef999a_0_187:notes">
            <a:extLst>
              <a:ext uri="{FF2B5EF4-FFF2-40B4-BE49-F238E27FC236}">
                <a16:creationId xmlns:a16="http://schemas.microsoft.com/office/drawing/2014/main" id="{218D0C7D-82AA-6384-5F20-2628EB7F30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2061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a:extLst>
            <a:ext uri="{FF2B5EF4-FFF2-40B4-BE49-F238E27FC236}">
              <a16:creationId xmlns:a16="http://schemas.microsoft.com/office/drawing/2014/main" id="{6B7E5448-20D8-61B0-24DB-5E9F3CE696D3}"/>
            </a:ext>
          </a:extLst>
        </p:cNvPr>
        <p:cNvGrpSpPr/>
        <p:nvPr/>
      </p:nvGrpSpPr>
      <p:grpSpPr>
        <a:xfrm>
          <a:off x="0" y="0"/>
          <a:ext cx="0" cy="0"/>
          <a:chOff x="0" y="0"/>
          <a:chExt cx="0" cy="0"/>
        </a:xfrm>
      </p:grpSpPr>
      <p:sp>
        <p:nvSpPr>
          <p:cNvPr id="294" name="Google Shape;294;p1:notes">
            <a:extLst>
              <a:ext uri="{FF2B5EF4-FFF2-40B4-BE49-F238E27FC236}">
                <a16:creationId xmlns:a16="http://schemas.microsoft.com/office/drawing/2014/main" id="{9A8505EB-AECB-2A4D-C374-5F756F973B0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Now, we want to keep Aaron in mind, as we learn about how we can use linked administrative data AND people’s stories – their experiential knowledge. First, what is integrated administrative data? Linked administrative data is created when information about the same person from different public systems, like HMIS and SNAP and schools, is (1) cleaned, (2) matched using shared info like name and date of birth, and (3) connected via a unique ID. The schematic here shows three data sources: HMIS, SNAP, and school data. We see that they have some similarities; they each contain name, date of birth, a system-specific ID, and some types of demographic information. Then, they have some other data that is specific to the system; for example, HMIS has the date of service (such as the date entered into a homeless shelter), whereas SNAP has the month of enrollment, and school systems have the year and grade someone was in. Now, we take all that info and first, we clean it. Next, we link on name and date of birth because we can see that all three of our individual systems have those two variables. Finally, we create a unique ID — like a set of random, de-identified numbers — that is matched to that particular individual and matched to the specific systems they are in. This way, if we get another record from one of the individual systems for that person, we can immediately link them to their integrated record in the integrated data system. All this together, creates a larger, integrated system, where we can look across all these smaller systems.</a:t>
            </a:r>
          </a:p>
          <a:p>
            <a:pPr marL="0" lvl="0" indent="0" algn="l" rtl="0">
              <a:lnSpc>
                <a:spcPct val="100000"/>
              </a:lnSpc>
              <a:spcBef>
                <a:spcPts val="0"/>
              </a:spcBef>
              <a:spcAft>
                <a:spcPts val="0"/>
              </a:spcAft>
              <a:buSzPts val="1100"/>
              <a:buNone/>
            </a:pPr>
            <a:endParaRPr dirty="0"/>
          </a:p>
        </p:txBody>
      </p:sp>
      <p:sp>
        <p:nvSpPr>
          <p:cNvPr id="295" name="Google Shape;295;p1:notes">
            <a:extLst>
              <a:ext uri="{FF2B5EF4-FFF2-40B4-BE49-F238E27FC236}">
                <a16:creationId xmlns:a16="http://schemas.microsoft.com/office/drawing/2014/main" id="{09026754-6D21-F674-AE37-282276E98B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28490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a:extLst>
            <a:ext uri="{FF2B5EF4-FFF2-40B4-BE49-F238E27FC236}">
              <a16:creationId xmlns:a16="http://schemas.microsoft.com/office/drawing/2014/main" id="{DFC7740B-3497-8896-4EFB-103C27B17074}"/>
            </a:ext>
          </a:extLst>
        </p:cNvPr>
        <p:cNvGrpSpPr/>
        <p:nvPr/>
      </p:nvGrpSpPr>
      <p:grpSpPr>
        <a:xfrm>
          <a:off x="0" y="0"/>
          <a:ext cx="0" cy="0"/>
          <a:chOff x="0" y="0"/>
          <a:chExt cx="0" cy="0"/>
        </a:xfrm>
      </p:grpSpPr>
      <p:sp>
        <p:nvSpPr>
          <p:cNvPr id="294" name="Google Shape;294;p1:notes">
            <a:extLst>
              <a:ext uri="{FF2B5EF4-FFF2-40B4-BE49-F238E27FC236}">
                <a16:creationId xmlns:a16="http://schemas.microsoft.com/office/drawing/2014/main" id="{7598A21F-A469-C0A3-0354-3035195D10B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These integrated data systems allow us to see how individuals interact with multiple programs over time. Whenever we use data systems for research purposes like this, we do so in a protected, secure environment, in order to keep everyone’s information safe and confidential. What we have to be aware of, and what we will talk about in this presentation, is that data do not speak for themselves. These data represent people with real, lived experiences, and we have to make sure that we are tapping on their expertise and insight so that we can make best use of their data.</a:t>
            </a:r>
          </a:p>
          <a:p>
            <a:pPr marL="0" lvl="0" indent="0" algn="l" rtl="0">
              <a:lnSpc>
                <a:spcPct val="100000"/>
              </a:lnSpc>
              <a:spcBef>
                <a:spcPts val="0"/>
              </a:spcBef>
              <a:spcAft>
                <a:spcPts val="0"/>
              </a:spcAft>
              <a:buSzPts val="1100"/>
              <a:buNone/>
            </a:pPr>
            <a:endParaRPr dirty="0"/>
          </a:p>
        </p:txBody>
      </p:sp>
      <p:sp>
        <p:nvSpPr>
          <p:cNvPr id="295" name="Google Shape;295;p1:notes">
            <a:extLst>
              <a:ext uri="{FF2B5EF4-FFF2-40B4-BE49-F238E27FC236}">
                <a16:creationId xmlns:a16="http://schemas.microsoft.com/office/drawing/2014/main" id="{D6D31F00-D494-30E9-0297-7380DCDF2D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327236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38c1a336e4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g38c1a336e4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Here is an example of what an integrated data system might look like. We get integrated data systems by linking together multiple administrative data systems. Thinking about Aaron, we know that their family sought housing services early on in Aaron’s life. We also know that Aaron’s family intermittently received SNAP during Aaron’s school-age years, and we know that Aaron, as an adult, received SNAP. So, Aaron appears in these different administrative data systems: school data, SNAP data, and homelessness data. In a way, Aaron is representing the populations on the left: people experiencing homelessness, students, and people experiencing food insecurity. Remember how Aaron felt uncomfortable with the idea of seeking homeless shelter services? Keep in mind that not everyone in these different populations will end up in their respective databases. That is what the dotted lines represent. So, even if Aaron loses their apartment, they may not end up seeking homeless shelter. Regardless, we know that throughout Aaron’s life, there are records in each of these systems with Aaron’s name on them. What we can do is link all these different records together based on Aaron’s name and date of birth. Names and birthdays don’t usually change, so we can confidently say that Aaron in one data system is the same Aaron in another data system. This linking is what creates our integrated data system. </a:t>
            </a:r>
          </a:p>
          <a:p>
            <a:r>
              <a:rPr lang="en-US" sz="1100" b="0" i="0" u="none" strike="noStrike" cap="none" dirty="0">
                <a:solidFill>
                  <a:srgbClr val="000000"/>
                </a:solidFill>
                <a:effectLst/>
                <a:latin typeface="Arial"/>
                <a:ea typeface="Arial"/>
                <a:cs typeface="Arial"/>
                <a:sym typeface="Arial"/>
              </a:rPr>
              <a:t> From there, we can do all sorts of cleaning and coding to look at variables of interest. Here, we focus on race, ethnicity, and gender.</a:t>
            </a:r>
            <a:r>
              <a:rPr lang="en-US" dirty="0">
                <a:effectLst/>
              </a:rPr>
              <a:t> </a:t>
            </a:r>
          </a:p>
          <a:p>
            <a:r>
              <a:rPr lang="en-US" sz="1100" b="0" i="0" u="none" strike="noStrike" cap="none" dirty="0">
                <a:solidFill>
                  <a:srgbClr val="000000"/>
                </a:solidFill>
                <a:effectLst/>
                <a:latin typeface="Arial"/>
                <a:ea typeface="Arial"/>
                <a:cs typeface="Arial"/>
                <a:sym typeface="Arial"/>
              </a:rPr>
              <a:t>One big challenge with linked administrative data is how race and gender get recorded. Different systems collect this information in different ways, so when we link data on the same person across programs, we can end up with multiple versions of their race or gender. There’s no clear rule about how to combine this information in a way that both supports equity and recognizes that race and gender are social constructs—not fixed traits.</a:t>
            </a:r>
            <a:r>
              <a:rPr lang="en-US" dirty="0">
                <a:effectLst/>
              </a:rPr>
              <a:t> </a:t>
            </a:r>
          </a:p>
          <a:p>
            <a:endParaRPr lang="en-US" sz="1100" b="0" i="0" u="none" strike="noStrike" cap="none" dirty="0">
              <a:solidFill>
                <a:srgbClr val="000000"/>
              </a:solidFill>
              <a:effectLst/>
              <a:latin typeface="Arial"/>
              <a:ea typeface="Arial"/>
              <a:cs typeface="Arial"/>
              <a:sym typeface="Arial"/>
            </a:endParaRP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458c59eaca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 name="Google Shape;337;g3458c59eaca_0_10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One way to tap on the expertise of people represented in data systems is to conduct a Data Chat. A Data Chat is a method of leveraging experiential knowledge where researchers and people with lived experience share and discuss data. Data Chats are rooted in the FAIR2 framework for identifying bias in social data science. To learn more about how demographic data is collected in social service provision, we held two Data Chats in Cleveland, OH. We recruited participants from the Greater Cleveland community using the flyers on the right, and we encouraged young adults with lived experience of homelessness and identifying as racial, ethnic, and gender minorities to participate. In the following slides, we will share some examples of data that we presented to participants, as well as some of the insights that were gathered from their knowledge.</a:t>
            </a:r>
          </a:p>
          <a:p>
            <a:pPr marL="457200" lvl="0" indent="-298450" algn="l" rtl="0">
              <a:lnSpc>
                <a:spcPct val="100000"/>
              </a:lnSpc>
              <a:spcBef>
                <a:spcPts val="0"/>
              </a:spcBef>
              <a:spcAft>
                <a:spcPts val="0"/>
              </a:spcAft>
              <a:buSzPts val="1100"/>
              <a:buChar char="●"/>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Some information that we shared with Data Chat participants included summary statistics of data linked across the three systems that Aaron is in: HMIS, SNAP, school system data. We focused on young adults, like Aaron, aged 18-25. When we linked individuals, we wanted to focus on how we cope with different classifications of race and gender identity across different agencies and across time.</a:t>
            </a:r>
          </a:p>
          <a:p>
            <a:pPr marL="0" lvl="0" indent="0" algn="l" rtl="0">
              <a:lnSpc>
                <a:spcPct val="100000"/>
              </a:lnSpc>
              <a:spcBef>
                <a:spcPts val="0"/>
              </a:spcBef>
              <a:spcAft>
                <a:spcPts val="0"/>
              </a:spcAft>
              <a:buSzPts val="1100"/>
              <a:buNone/>
            </a:pPr>
            <a:endParaRPr dirty="0"/>
          </a:p>
        </p:txBody>
      </p:sp>
      <p:sp>
        <p:nvSpPr>
          <p:cNvPr id="345" name="Google Shape;34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452e97c1f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1" name="Google Shape;351;g3452e97c1f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Among different agencies, we see that demographic data is collected in different ways. There may be different options available for someone to identify themselves as in the different systems.</a:t>
            </a:r>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3452e97c1f4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9" name="Google Shape;359;g3452e97c1f4_0_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We also see that those options can change across time in the same system. So here, we see that in HMIS, the options for gender changed from 2017 to 2021. For example, in 2021, there is an option to identify outside of the gender binary, whereas in 2017 all of the options were either female/male or trans female/trans male.</a:t>
            </a:r>
            <a:r>
              <a:rPr lang="en-US" dirty="0">
                <a:effectLst/>
              </a:rPr>
              <a:t> </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So, when we linked individuals together, the goal is to map each agency’s classification into a standardized common categorization that minimizes the loss of inclusive options in the linked data and maximizes diverse identities.</a:t>
            </a:r>
            <a:r>
              <a:rPr lang="en-US" dirty="0">
                <a:effectLst/>
              </a:rPr>
              <a:t> </a:t>
            </a:r>
            <a:endParaRPr dirty="0"/>
          </a:p>
        </p:txBody>
      </p:sp>
      <p:sp>
        <p:nvSpPr>
          <p:cNvPr id="365" name="Google Shape;36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452e97c1f4_0_6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However, even after we do our very best to do this, we see that there are individuals that have mismatches in demographic data over time. Aaron would be one of these individuals. One the left, we see a small percentage of people that had a mismatch in their race category over time. On the right, we see a small percentage of people that had a mismatch in their gender category over time. For both, we see that an increasing number of records, as well as an increasing number of different agencies that one is involved with, increases the likelihood that we may see these mismatches.</a:t>
            </a:r>
          </a:p>
          <a:p>
            <a:pPr marL="0" lvl="0" indent="0" algn="l" rtl="0">
              <a:lnSpc>
                <a:spcPct val="100000"/>
              </a:lnSpc>
              <a:spcBef>
                <a:spcPts val="0"/>
              </a:spcBef>
              <a:spcAft>
                <a:spcPts val="0"/>
              </a:spcAft>
              <a:buSzPts val="1100"/>
              <a:buNone/>
            </a:pPr>
            <a:endParaRPr dirty="0"/>
          </a:p>
        </p:txBody>
      </p:sp>
      <p:sp>
        <p:nvSpPr>
          <p:cNvPr id="378" name="Google Shape;378;g3452e97c1f4_0_6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7a5118f112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9" name="Google Shape;389;g37a5118f112_0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dirty="0">
              <a:solidFill>
                <a:schemeClr val="dk1"/>
              </a:solidFill>
            </a:endParaRPr>
          </a:p>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Our Data Chat participants—people like Aaron—helped us contextualize why we might see these mismatches and what to do about it. Our first finding was around agency-defined demographic categories. Agencies like homeless shelters, schools, and SNAP, have their own options for how a person can identify themselves. We see that these options are not fixed either, meaning that within the same agency, we see that these options may change over time. This is because agency-defined classifications are rooted in social norms and largely reflect the society in which they were defined. Our second finding was around people who change their name. Our Data Chat participants identified two groups of people who may be more likely to change their name: transgender individuals and individuals who age out of foster care or get adopted. If you remember earlier, we said that we link individuals’ records by their name and date of birth, thinking that these categories are objective. Here, we see that is someone changes their name, we may not be able to link them. Therefore, they may actually appear as two different people in the integrated data system. For trans or gender diverse folks, this likely creates an undercount of that population, while possibly also inflating other categories.</a:t>
            </a:r>
            <a:r>
              <a:rPr lang="en-US" dirty="0">
                <a:effectLst/>
              </a:rPr>
              <a:t> </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Our third finding was around the data intake process itself. Data Chat participants helped us realize that there are many factors that influence that process and what data ends up getting reported. We know that people seeking services, who are already in a vulnerable situation, are going to navigate these social service agencies in ways that feel the most safe and least stigmatizing, while also trying to meet their basic needs. Remember how Aaron was grappling with the idea of feeling unsafe at a men’s homeless shelter? This is an example of how Aaron is thinking about how they will get their housing needs met but in the safest way possible. Data Chat participants also highlighted the burden of the data collection process itself. They emphasized that collecting all this additional information is burdensome when people are in such vulnerable situations.</a:t>
            </a:r>
            <a:r>
              <a:rPr lang="en-US" dirty="0">
                <a:effectLst/>
              </a:rPr>
              <a:t> </a:t>
            </a:r>
            <a:endParaRPr dirty="0"/>
          </a:p>
        </p:txBody>
      </p:sp>
      <p:sp>
        <p:nvSpPr>
          <p:cNvPr id="398" name="Google Shape;39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3a335ef999a_0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05" name="Google Shape;405;g3a335ef999a_0_2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Revisiting this schematic, we see two areas that are ripe for social bias. The first area is in the administrative data systems themselves as agencies define categories on their own forms. The second area is when researchers make decisions on how to clean and standardize all that administrative data as they link records across multiple systems.</a:t>
            </a:r>
            <a:r>
              <a:rPr lang="en-US" dirty="0">
                <a:effectLst/>
              </a:rPr>
              <a:t> </a:t>
            </a: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452e97c1f4_0_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3" name="Google Shape;443;g3452e97c1f4_0_7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b="0" i="0" u="none" strike="noStrike" cap="none" dirty="0">
                <a:solidFill>
                  <a:srgbClr val="000000"/>
                </a:solidFill>
                <a:effectLst/>
                <a:latin typeface="Arial"/>
                <a:ea typeface="Arial"/>
                <a:cs typeface="Arial"/>
                <a:sym typeface="Arial"/>
              </a:rPr>
              <a:t>Now, we’re going to talk a little bit more in depth about what our Data Chat participants shared with us and how that shapes our understanding of integrated data systems. First, we asked participants what they would suggest to improve the data collection process itself.</a:t>
            </a:r>
            <a:r>
              <a:rPr lang="en-US" dirty="0">
                <a:effectLst/>
              </a:rPr>
              <a:t> </a:t>
            </a: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3730fe60eb7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2" name="Google Shape;452;g3730fe60eb7_1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Participants called for the need for inclusive and standardized options. They pointed out that some forms can even be confusing, such as only asking for “sex” versus only asking for “gender.” And, participants didn’t always see their identities represented in the options — so how do you answer the questions? Participants also called for a standardized data collection process, noting how some forms were self-reported and some forms were filled out by a provider who asked them questions. Furthermore, sometimes these forms were online, while others were on paper or in-person. Finally, participants emphasized the need for providers to have adequate training on how to ask sensitive questions in the hopes of reducing implicit bias.</a:t>
            </a:r>
            <a:r>
              <a:rPr lang="en-US" dirty="0">
                <a:effectLst/>
              </a:rPr>
              <a:t> </a:t>
            </a: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452e97c1f4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3" name="Google Shape;463;g3452e97c1f4_0_2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b="0" i="0" u="none" strike="noStrike" cap="none" dirty="0">
                <a:solidFill>
                  <a:srgbClr val="000000"/>
                </a:solidFill>
                <a:effectLst/>
                <a:latin typeface="Arial"/>
                <a:ea typeface="Arial"/>
                <a:cs typeface="Arial"/>
                <a:sym typeface="Arial"/>
              </a:rPr>
              <a:t>Next, we asked Data Chat participants if there were any situations in the data intake process that may cause them to NOT want to answer questions about their social identities? Were there any situations that made them uncomfortable disclosing personal information?</a:t>
            </a:r>
            <a:r>
              <a:rPr lang="en-US" dirty="0">
                <a:effectLst/>
              </a:rPr>
              <a:t> </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3730fe60eb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72" name="Google Shape;472;g3730fe60eb7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b="0" i="0" u="none" strike="noStrike" cap="none" dirty="0">
                <a:solidFill>
                  <a:srgbClr val="000000"/>
                </a:solidFill>
                <a:effectLst/>
                <a:latin typeface="Arial"/>
                <a:ea typeface="Arial"/>
                <a:cs typeface="Arial"/>
                <a:sym typeface="Arial"/>
              </a:rPr>
              <a:t>We learned that the disclosure of personal information is influenced by safety, stigma, the concern for receiving services, and the level and urgency of someone’s needs. First, Data Chat participants explained that they navigate social agencies in ways that feel safest and least stigmatizing to them. For some folks, that may mean choosing not to disclose certain information about their identities. In fact, it may be a lot safer to choose not to disclose personal information. One of our participants even said, “If you’re not a cisgender person, you are looked at as the most dangerous person, but in my eyes, a cisgender person is the most dangerous person to me.” Next, participants pointed out that disclosing information may depend on what services they are trying to receive, and they may choose what to disclose or not disclose based on what may get their needs met. An important consideration for transgender folks is that their documents must match—remember how Aaron was thinking that their gender marker still said “Male” on all their documents? This may impact how Aaron decides to report their gender identity for fear of their documents not matching their self-report and the impact this has on receiving services. Finally, someone’s level and urgency of need may impact what they disclose—</a:t>
            </a:r>
            <a:r>
              <a:rPr lang="en-US" sz="1100" b="0" i="0" u="none" strike="noStrike" cap="none" dirty="0" err="1">
                <a:solidFill>
                  <a:srgbClr val="000000"/>
                </a:solidFill>
                <a:effectLst/>
                <a:latin typeface="Arial"/>
                <a:ea typeface="Arial"/>
                <a:cs typeface="Arial"/>
                <a:sym typeface="Arial"/>
              </a:rPr>
              <a:t>afterall</a:t>
            </a:r>
            <a:r>
              <a:rPr lang="en-US" sz="1100" b="0" i="0" u="none" strike="noStrike" cap="none" dirty="0">
                <a:solidFill>
                  <a:srgbClr val="000000"/>
                </a:solidFill>
                <a:effectLst/>
                <a:latin typeface="Arial"/>
                <a:ea typeface="Arial"/>
                <a:cs typeface="Arial"/>
                <a:sym typeface="Arial"/>
              </a:rPr>
              <a:t>, they are trying to get their basic needs met, things like housing, food, etc.</a:t>
            </a:r>
            <a:r>
              <a:rPr lang="en-US" dirty="0">
                <a:effectLst/>
              </a:rPr>
              <a:t> </a:t>
            </a: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452e97c1f4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3" name="Google Shape;483;g3452e97c1f4_0_1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b="0" i="0" u="none" strike="noStrike" cap="none" dirty="0">
                <a:solidFill>
                  <a:srgbClr val="000000"/>
                </a:solidFill>
                <a:effectLst/>
                <a:latin typeface="Arial"/>
                <a:ea typeface="Arial"/>
                <a:cs typeface="Arial"/>
                <a:sym typeface="Arial"/>
              </a:rPr>
              <a:t>Next, we asked Data Chat participants about the importance of collecting demographic variables. Is it important to collect race, ethnicity, and gender? If so, why? And how does the data intake experience address your needs? Or fall short?</a:t>
            </a:r>
            <a:r>
              <a:rPr lang="en-US" dirty="0">
                <a:effectLst/>
              </a:rPr>
              <a:t> </a:t>
            </a: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373518e3478_0_2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2" name="Google Shape;492;g373518e3478_0_2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b="0" i="0" u="none" strike="noStrike" cap="none" dirty="0">
                <a:solidFill>
                  <a:srgbClr val="000000"/>
                </a:solidFill>
                <a:effectLst/>
                <a:latin typeface="Arial"/>
                <a:ea typeface="Arial"/>
                <a:cs typeface="Arial"/>
                <a:sym typeface="Arial"/>
              </a:rPr>
              <a:t>Data Chat participants highlighted two areas where data collection may be important: for funding purposes and for identifying gaps in case. For funding, participants noted that sometimes funding sources themselves require this information. But also, funding is sometimes available for certain populations, so it’s important to know which populations are being serviced. In a similar way, collecting demographic data can help identify gaps in care and identify which populations are not serviced equally and equitably. One of our participants said, “Race still plays a huge part. History definitely ties into that because if you were given less from the beginning and then there’s other people that were given more, then you’re constantly trying to play catch up in a system that wants you to stay down.”</a:t>
            </a:r>
            <a:r>
              <a:rPr lang="en-US" dirty="0">
                <a:effectLst/>
              </a:rPr>
              <a:t> </a:t>
            </a: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3730fe60eb7_1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1" name="Google Shape;501;g3730fe60eb7_1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b="0" i="0" u="none" strike="noStrike" cap="none" dirty="0">
                <a:solidFill>
                  <a:srgbClr val="000000"/>
                </a:solidFill>
                <a:effectLst/>
                <a:latin typeface="Arial"/>
                <a:ea typeface="Arial"/>
                <a:cs typeface="Arial"/>
                <a:sym typeface="Arial"/>
              </a:rPr>
              <a:t>Data Chat participants also noted that the purpose behind collecting this type of information is important. Some participants had positive experiences with collecting information on their LGBTQ+ identities. For example, if the agency if collecting this information to make sure you’re in a safe environment, like LGBTQ+ inclusive housing, then participants found this beneficial. However, if participants did not know why they were being asked these questions, they noted that it could be a safety concern, which we know would lead them to maybe disclose less accurate information. They also noted that other metrics, like current social supports or resources, could be more beneficial than collecting demographics. Ultimately, participants emphasized that the needs are the bottom line. Like one participant said, “Race shouldn’t really be a factor in someone needing shelter or food in their mouth.” Another participant who aged out of the foster care system pointed out the burden that this data can put on children and young adults. They said, “When I aged out of foster care, they have all these statistics about foster kids who complete college, who do not complete college, and how many of us are going to end up homeless, right? What is the point of putting that burden on someone at 18 who is about to venture off? Saying that these are the statistics of someone who is like you, who looks like you…”</a:t>
            </a:r>
            <a:r>
              <a:rPr lang="en-US" dirty="0">
                <a:effectLst/>
              </a:rPr>
              <a:t> </a:t>
            </a:r>
            <a:endParaRPr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452e97c1f4_0_2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8" name="Google Shape;508;g3452e97c1f4_0_2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Next, we asked participants for their advice—what could help reduce discrepancies in data for people facing homelessness?</a:t>
            </a:r>
          </a:p>
          <a:p>
            <a:pPr marL="457200" lvl="0" indent="-228600" algn="l" rtl="0">
              <a:lnSpc>
                <a:spcPct val="100000"/>
              </a:lnSpc>
              <a:spcBef>
                <a:spcPts val="0"/>
              </a:spcBef>
              <a:spcAft>
                <a:spcPts val="0"/>
              </a:spcAft>
              <a:buSzPts val="1100"/>
              <a:buNone/>
            </a:pP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3730fe60eb7_1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5" name="Google Shape;515;g3730fe60eb7_1_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b="0" i="0" u="none" strike="noStrike" cap="none" dirty="0">
                <a:solidFill>
                  <a:srgbClr val="000000"/>
                </a:solidFill>
                <a:effectLst/>
                <a:latin typeface="Arial"/>
                <a:ea typeface="Arial"/>
                <a:cs typeface="Arial"/>
                <a:sym typeface="Arial"/>
              </a:rPr>
              <a:t>First, participants noted a need for increased safety. Safety changes across time and place and for different populations. Participants emphasized that for some groups, like undocumented immigrants, nearly every place can be dangerous. Social norms also play a part in discrepancies in data. One of the participants said, “Until very recently, the option to be gender inclusive was not a thing because our society wasn’t ready for that.” Social norms change over time and can therefore influence data collection, creating the discrepancies that we sometimes see. Another consideration is that trans folks are a nuanced population — they may not have their documents changed (like Aaron), they may be binary trans (trans male or trans female), they may be nonbinary, they may medically transition, or they may not medically transition. It’s difficult to fit trans folks in a box, like agency forms try to do, so it’s important to note that this population is inherently difficult to capture with the way systems currently collect this type of information. One example that our participants pointed out is that binary trans folks may not even mark “transgender” as an option, especially if they are further along in their medical transition.</a:t>
            </a:r>
            <a:r>
              <a:rPr lang="en-US" dirty="0">
                <a:effectLst/>
              </a:rPr>
              <a:t> </a:t>
            </a:r>
            <a:endParaRPr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373518e3478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4" name="Google Shape;524;g373518e3478_0_2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sz="1100" b="0" i="0" u="none" strike="noStrike" cap="none" dirty="0">
                <a:solidFill>
                  <a:srgbClr val="000000"/>
                </a:solidFill>
                <a:effectLst/>
                <a:latin typeface="Arial"/>
                <a:ea typeface="Arial"/>
                <a:cs typeface="Arial"/>
                <a:sym typeface="Arial"/>
              </a:rPr>
              <a:t>Next, participants pointed out a need for administrative consistency. Records are not always updated by providers—even if they know that someone’s information has changed. As noted earlier, name changes may lead to an undercount or an overcount of populations when researchers are unable to link records. And finally, some records may be parent- or family-reported when someone is a child, but that same person may show up later in the system as an adult having self-reported information. We saw this with Aaron when their family received some housing assistance and SNAP benefits throughout Aaron’s childhood, but then Aaron also received SNAP benefits as an adult. So for Aaron, we have self-reported information, but we also have parent-reported information. </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3a321bad408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3" name="Google Shape;533;g3a321bad408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Next, we asked Data Chat participants for their advice on what could help reduce the burden of data intake.</a:t>
            </a:r>
          </a:p>
          <a:p>
            <a:pPr marL="457200" lvl="0" indent="-228600" algn="l" rtl="0">
              <a:lnSpc>
                <a:spcPct val="100000"/>
              </a:lnSpc>
              <a:spcBef>
                <a:spcPts val="0"/>
              </a:spcBef>
              <a:spcAft>
                <a:spcPts val="0"/>
              </a:spcAft>
              <a:buSzPts val="1100"/>
              <a:buNone/>
            </a:pP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38c6f03614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0" name="Google Shape;540;g38c6f036145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b="0" i="0" u="none" strike="noStrike" cap="none" dirty="0">
                <a:solidFill>
                  <a:srgbClr val="000000"/>
                </a:solidFill>
                <a:effectLst/>
                <a:latin typeface="Arial"/>
                <a:ea typeface="Arial"/>
                <a:cs typeface="Arial"/>
                <a:sym typeface="Arial"/>
              </a:rPr>
              <a:t>Overall, data is inherently burdensome. People seeking services are already in vulnerable situations where their basic human needs are not met in some way. In this way, going through data intake is always going to impart some level of burden, especially for marginalized folks. One of our participants said, “I’m conflicted because I think my job would want me to believe that it is necessary to get this information. I couldn’t really give two F’s about data.” Participants also said the timing of data collection is important. If possible, ask these questions when people are in safer places, like a rehab facility or shelter. If possible, provide resources, compensation, food, transportation and anything else to meet the needs of these folks.</a:t>
            </a:r>
            <a:r>
              <a:rPr lang="en-US" dirty="0">
                <a:effectLst/>
              </a:rPr>
              <a:t> </a:t>
            </a:r>
            <a:endParaRPr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3730fe60eb7_1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1" name="Google Shape;551;g3730fe60eb7_1_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b="0" i="0" u="none" strike="noStrike" cap="none" dirty="0">
                <a:solidFill>
                  <a:srgbClr val="000000"/>
                </a:solidFill>
                <a:effectLst/>
                <a:latin typeface="Arial"/>
                <a:ea typeface="Arial"/>
                <a:cs typeface="Arial"/>
                <a:sym typeface="Arial"/>
              </a:rPr>
              <a:t>Another important aspect is involving people with lived experience and shared identities. One participant said, “Maybe in the future, as youth and young adults lead more of this type of work, my hope is that it does become a lot less burdensome.” Participants also noted that accessibility is important. For example, consider the literacy of folks and meet them where they are at in providing accommodations. Finally, remember that data represents people and their experiences. Oftentimes, a relational component is lacking—service users are just pushed through systems and feel like numbers on a screen. To this end, one participant said, “Providing food or transient support on the frontlines does provide a certain warmth that there is still someone out there that cares, but at the same time, it’s kind of cruel because you know in the back of your head ‘I need more than this. But thank you.’”</a:t>
            </a:r>
            <a:r>
              <a:rPr lang="en-US" dirty="0">
                <a:effectLst/>
              </a:rPr>
              <a:t> </a:t>
            </a:r>
            <a:endParaRPr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373518e347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2" name="Google Shape;562;g373518e347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b="0" i="0" u="none" strike="noStrike" cap="none" dirty="0">
                <a:solidFill>
                  <a:srgbClr val="000000"/>
                </a:solidFill>
                <a:effectLst/>
                <a:latin typeface="Arial"/>
                <a:ea typeface="Arial"/>
                <a:cs typeface="Arial"/>
                <a:sym typeface="Arial"/>
              </a:rPr>
              <a:t>To summarize, when working with administrative data systems, it’s important to advocate for inclusive and standard documentation of people’s identities, provider training so that data intake is sensitive to people in vulnerable situations, and accessibility and safety as standards in service and data intake. When we are linking administrative data together to inform positive social change, we want to maximize inclusivity when standardizing categorizations of race and gender identities, consider the role of society in generating the data we analyze, and consider the historical context of the data we are using. The bottom line is that behind data are people, and we must remember those who are represented in the data. Seek to contextualize numbers with experiences. Remember that data tells someone’s story. Seek the input and insight of these individuals and foster a collaborative relationship that benefits them.</a:t>
            </a:r>
            <a:r>
              <a:rPr lang="en-US" dirty="0">
                <a:effectLst/>
              </a:rPr>
              <a:t> </a:t>
            </a: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3a335ef999a_0_1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lang="en-US" sz="1100" b="0" i="0" u="none" strike="noStrike" cap="none" dirty="0">
                <a:solidFill>
                  <a:srgbClr val="000000"/>
                </a:solidFill>
                <a:effectLst/>
                <a:latin typeface="Arial"/>
                <a:ea typeface="Arial"/>
                <a:cs typeface="Arial"/>
                <a:sym typeface="Arial"/>
              </a:rPr>
              <a:t>Let’s reflect on Aaron’s story. Considering what we’ve talked about today, think about these questions. </a:t>
            </a:r>
          </a:p>
          <a:p>
            <a:pPr lvl="0"/>
            <a:r>
              <a:rPr lang="en-US" sz="1100" b="0" i="0" u="none" strike="noStrike" cap="none" dirty="0">
                <a:solidFill>
                  <a:srgbClr val="000000"/>
                </a:solidFill>
                <a:effectLst/>
                <a:latin typeface="Arial"/>
                <a:ea typeface="Arial"/>
                <a:cs typeface="Arial"/>
                <a:sym typeface="Arial"/>
              </a:rPr>
              <a:t>What parts of Aaron’s story would have been lost if we only had the administrative data?</a:t>
            </a:r>
          </a:p>
          <a:p>
            <a:pPr lvl="0"/>
            <a:r>
              <a:rPr lang="en-US" sz="1100" b="0" i="0" u="none" strike="noStrike" cap="none" dirty="0">
                <a:solidFill>
                  <a:srgbClr val="000000"/>
                </a:solidFill>
                <a:effectLst/>
                <a:latin typeface="Arial"/>
                <a:ea typeface="Arial"/>
                <a:cs typeface="Arial"/>
                <a:sym typeface="Arial"/>
              </a:rPr>
              <a:t>How can systems work together in ways that would have better supported Aaron?</a:t>
            </a:r>
          </a:p>
          <a:p>
            <a:pPr lvl="1"/>
            <a:r>
              <a:rPr lang="en-US" sz="1100" b="0" i="0" u="none" strike="noStrike" cap="none" dirty="0">
                <a:solidFill>
                  <a:srgbClr val="000000"/>
                </a:solidFill>
                <a:effectLst/>
                <a:latin typeface="Arial"/>
                <a:ea typeface="Arial"/>
                <a:cs typeface="Arial"/>
                <a:sym typeface="Arial"/>
              </a:rPr>
              <a:t>Remember how Aaron was worried about going to a men’s shelter versus a women’s shelter? More inclusive shelter spaces, or spaces designed for gender diverse folks may have benefited Aaron.</a:t>
            </a:r>
          </a:p>
          <a:p>
            <a:pPr lvl="0"/>
            <a:r>
              <a:rPr lang="en-US" sz="1100" b="0" i="0" u="none" strike="noStrike" cap="none" dirty="0">
                <a:solidFill>
                  <a:srgbClr val="000000"/>
                </a:solidFill>
                <a:effectLst/>
                <a:latin typeface="Arial"/>
                <a:ea typeface="Arial"/>
                <a:cs typeface="Arial"/>
                <a:sym typeface="Arial"/>
              </a:rPr>
              <a:t>How would Aaron be represented if…</a:t>
            </a:r>
          </a:p>
          <a:p>
            <a:pPr lvl="1"/>
            <a:r>
              <a:rPr lang="en-US" sz="1100" b="0" i="0" u="none" strike="noStrike" cap="none" dirty="0">
                <a:solidFill>
                  <a:srgbClr val="000000"/>
                </a:solidFill>
                <a:effectLst/>
                <a:latin typeface="Arial"/>
                <a:ea typeface="Arial"/>
                <a:cs typeface="Arial"/>
                <a:sym typeface="Arial"/>
              </a:rPr>
              <a:t>We only had access to the SNAP data system?</a:t>
            </a:r>
          </a:p>
          <a:p>
            <a:pPr lvl="1"/>
            <a:r>
              <a:rPr lang="en-US" sz="1100" b="0" i="0" u="none" strike="noStrike" cap="none" dirty="0">
                <a:solidFill>
                  <a:srgbClr val="000000"/>
                </a:solidFill>
                <a:effectLst/>
                <a:latin typeface="Arial"/>
                <a:ea typeface="Arial"/>
                <a:cs typeface="Arial"/>
                <a:sym typeface="Arial"/>
              </a:rPr>
              <a:t>We only had access to the HMIS data system?</a:t>
            </a:r>
          </a:p>
          <a:p>
            <a:pPr lvl="1"/>
            <a:r>
              <a:rPr lang="en-US" sz="1100" b="0" i="0" u="none" strike="noStrike" cap="none" dirty="0">
                <a:solidFill>
                  <a:srgbClr val="000000"/>
                </a:solidFill>
                <a:effectLst/>
                <a:latin typeface="Arial"/>
                <a:ea typeface="Arial"/>
                <a:cs typeface="Arial"/>
                <a:sym typeface="Arial"/>
              </a:rPr>
              <a:t>We only had used the information their family reported about Aaron when they were a child versus the information Aaron reported about themselves as an adult?</a:t>
            </a:r>
          </a:p>
        </p:txBody>
      </p:sp>
      <p:sp>
        <p:nvSpPr>
          <p:cNvPr id="570" name="Google Shape;570;g3a335ef999a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3730fe60eb7_1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dirty="0">
                <a:solidFill>
                  <a:srgbClr val="000000"/>
                </a:solidFill>
                <a:effectLst/>
                <a:latin typeface="Arial"/>
                <a:ea typeface="Arial"/>
                <a:cs typeface="Arial"/>
                <a:sym typeface="Arial"/>
              </a:rPr>
              <a:t>As you reflect on Aaron’s story, remember that part of your responsibility as a social worker, a researcher, or anyone part of a team that uses social data is to best represent the people and experiences in the data. As one of our Data Chat participants said, “I feel like people are eager to share their experience if people are willing to listen.”</a:t>
            </a:r>
          </a:p>
          <a:p>
            <a:pPr marL="0" lvl="0" indent="0" algn="l" rtl="0">
              <a:lnSpc>
                <a:spcPct val="100000"/>
              </a:lnSpc>
              <a:spcBef>
                <a:spcPts val="0"/>
              </a:spcBef>
              <a:spcAft>
                <a:spcPts val="0"/>
              </a:spcAft>
              <a:buSzPts val="1100"/>
              <a:buNone/>
            </a:pPr>
            <a:endParaRPr dirty="0"/>
          </a:p>
        </p:txBody>
      </p:sp>
      <p:sp>
        <p:nvSpPr>
          <p:cNvPr id="576" name="Google Shape;576;g3730fe60eb7_1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3a321bad408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4" name="Google Shape;584;g3a321bad408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a:t>Create graphic with four boxes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4"/>
            <a:ext cx="13716000" cy="3581400"/>
          </a:xfrm>
        </p:spPr>
        <p:txBody>
          <a:bodyPr anchor="b"/>
          <a:lstStyle>
            <a:lvl1pPr algn="ctr">
              <a:defRPr sz="9000"/>
            </a:lvl1pPr>
          </a:lstStyle>
          <a:p>
            <a:r>
              <a:rPr lang="en-US"/>
              <a:t>Click to edit Master title style</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99068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21012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7"/>
            <a:ext cx="15773400" cy="4279106"/>
          </a:xfrm>
        </p:spPr>
        <p:txBody>
          <a:bodyPr anchor="b"/>
          <a:lstStyle>
            <a:lvl1pPr>
              <a:defRPr sz="9000"/>
            </a:lvl1pPr>
          </a:lstStyle>
          <a:p>
            <a:r>
              <a:rPr lang="en-US"/>
              <a:t>Click to edit Master title style</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457853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738437"/>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2738437"/>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3938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88164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24425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8392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20064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36181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98252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7"/>
            <a:ext cx="3943350" cy="871775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547687"/>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60313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78"/>
        <p:cNvGrpSpPr/>
        <p:nvPr/>
      </p:nvGrpSpPr>
      <p:grpSpPr>
        <a:xfrm>
          <a:off x="0" y="0"/>
          <a:ext cx="0" cy="0"/>
          <a:chOff x="0" y="0"/>
          <a:chExt cx="0" cy="0"/>
        </a:xfrm>
      </p:grpSpPr>
      <p:sp>
        <p:nvSpPr>
          <p:cNvPr id="79" name="Google Shape;79;g3452e97c1f4_0_529"/>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80" name="Google Shape;80;g3452e97c1f4_0_529"/>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81" name="Google Shape;81;g3452e97c1f4_0_529"/>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29190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2286000" y="1683545"/>
            <a:ext cx="13716000" cy="35814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9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5"/>
          <p:cNvSpPr txBox="1">
            <a:spLocks noGrp="1"/>
          </p:cNvSpPr>
          <p:nvPr>
            <p:ph type="subTitle" idx="1"/>
          </p:nvPr>
        </p:nvSpPr>
        <p:spPr>
          <a:xfrm>
            <a:off x="2286000" y="5403057"/>
            <a:ext cx="13716000" cy="248364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500"/>
              </a:spcBef>
              <a:spcAft>
                <a:spcPts val="0"/>
              </a:spcAft>
              <a:buClr>
                <a:schemeClr val="dk1"/>
              </a:buClr>
              <a:buSzPts val="2400"/>
              <a:buNone/>
              <a:defRPr sz="3600"/>
            </a:lvl1pPr>
            <a:lvl2pPr lvl="1" algn="ctr">
              <a:lnSpc>
                <a:spcPct val="90000"/>
              </a:lnSpc>
              <a:spcBef>
                <a:spcPts val="750"/>
              </a:spcBef>
              <a:spcAft>
                <a:spcPts val="0"/>
              </a:spcAft>
              <a:buClr>
                <a:schemeClr val="dk1"/>
              </a:buClr>
              <a:buSzPts val="2000"/>
              <a:buNone/>
              <a:defRPr sz="3000"/>
            </a:lvl2pPr>
            <a:lvl3pPr lvl="2" algn="ctr">
              <a:lnSpc>
                <a:spcPct val="90000"/>
              </a:lnSpc>
              <a:spcBef>
                <a:spcPts val="750"/>
              </a:spcBef>
              <a:spcAft>
                <a:spcPts val="0"/>
              </a:spcAft>
              <a:buClr>
                <a:schemeClr val="dk1"/>
              </a:buClr>
              <a:buSzPts val="1800"/>
              <a:buNone/>
              <a:defRPr sz="2700"/>
            </a:lvl3pPr>
            <a:lvl4pPr lvl="3" algn="ctr">
              <a:lnSpc>
                <a:spcPct val="90000"/>
              </a:lnSpc>
              <a:spcBef>
                <a:spcPts val="750"/>
              </a:spcBef>
              <a:spcAft>
                <a:spcPts val="0"/>
              </a:spcAft>
              <a:buClr>
                <a:schemeClr val="dk1"/>
              </a:buClr>
              <a:buSzPts val="1600"/>
              <a:buNone/>
              <a:defRPr sz="2400"/>
            </a:lvl4pPr>
            <a:lvl5pPr lvl="4" algn="ctr">
              <a:lnSpc>
                <a:spcPct val="90000"/>
              </a:lnSpc>
              <a:spcBef>
                <a:spcPts val="750"/>
              </a:spcBef>
              <a:spcAft>
                <a:spcPts val="0"/>
              </a:spcAft>
              <a:buClr>
                <a:schemeClr val="dk1"/>
              </a:buClr>
              <a:buSzPts val="1600"/>
              <a:buNone/>
              <a:defRPr sz="2400"/>
            </a:lvl5pPr>
            <a:lvl6pPr lvl="5" algn="ctr">
              <a:lnSpc>
                <a:spcPct val="90000"/>
              </a:lnSpc>
              <a:spcBef>
                <a:spcPts val="750"/>
              </a:spcBef>
              <a:spcAft>
                <a:spcPts val="0"/>
              </a:spcAft>
              <a:buClr>
                <a:schemeClr val="dk1"/>
              </a:buClr>
              <a:buSzPts val="1600"/>
              <a:buNone/>
              <a:defRPr sz="2400"/>
            </a:lvl6pPr>
            <a:lvl7pPr lvl="6" algn="ctr">
              <a:lnSpc>
                <a:spcPct val="90000"/>
              </a:lnSpc>
              <a:spcBef>
                <a:spcPts val="750"/>
              </a:spcBef>
              <a:spcAft>
                <a:spcPts val="0"/>
              </a:spcAft>
              <a:buClr>
                <a:schemeClr val="dk1"/>
              </a:buClr>
              <a:buSzPts val="1600"/>
              <a:buNone/>
              <a:defRPr sz="2400"/>
            </a:lvl7pPr>
            <a:lvl8pPr lvl="7" algn="ctr">
              <a:lnSpc>
                <a:spcPct val="90000"/>
              </a:lnSpc>
              <a:spcBef>
                <a:spcPts val="750"/>
              </a:spcBef>
              <a:spcAft>
                <a:spcPts val="0"/>
              </a:spcAft>
              <a:buClr>
                <a:schemeClr val="dk1"/>
              </a:buClr>
              <a:buSzPts val="1600"/>
              <a:buNone/>
              <a:defRPr sz="2400"/>
            </a:lvl8pPr>
            <a:lvl9pPr lvl="8" algn="ctr">
              <a:lnSpc>
                <a:spcPct val="90000"/>
              </a:lnSpc>
              <a:spcBef>
                <a:spcPts val="750"/>
              </a:spcBef>
              <a:spcAft>
                <a:spcPts val="0"/>
              </a:spcAft>
              <a:buClr>
                <a:schemeClr val="dk1"/>
              </a:buClr>
              <a:buSzPts val="1600"/>
              <a:buNone/>
              <a:defRPr sz="2400"/>
            </a:lvl9pPr>
          </a:lstStyle>
          <a:p>
            <a:endParaRPr/>
          </a:p>
        </p:txBody>
      </p:sp>
      <p:sp>
        <p:nvSpPr>
          <p:cNvPr id="14" name="Google Shape;14;p15"/>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199468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7"/>
        <p:cNvGrpSpPr/>
        <p:nvPr/>
      </p:nvGrpSpPr>
      <p:grpSpPr>
        <a:xfrm>
          <a:off x="0" y="0"/>
          <a:ext cx="0" cy="0"/>
          <a:chOff x="0" y="0"/>
          <a:chExt cx="0" cy="0"/>
        </a:xfrm>
      </p:grpSpPr>
      <p:sp>
        <p:nvSpPr>
          <p:cNvPr id="18" name="Google Shape;18;p16"/>
          <p:cNvSpPr txBox="1">
            <a:spLocks noGrp="1"/>
          </p:cNvSpPr>
          <p:nvPr>
            <p:ph type="title"/>
          </p:nvPr>
        </p:nvSpPr>
        <p:spPr>
          <a:xfrm>
            <a:off x="1257300" y="547688"/>
            <a:ext cx="15773400" cy="1988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6"/>
          <p:cNvSpPr txBox="1">
            <a:spLocks noGrp="1"/>
          </p:cNvSpPr>
          <p:nvPr>
            <p:ph type="body" idx="1"/>
          </p:nvPr>
        </p:nvSpPr>
        <p:spPr>
          <a:xfrm>
            <a:off x="1257300" y="2738438"/>
            <a:ext cx="15773400" cy="6527007"/>
          </a:xfrm>
          <a:prstGeom prst="rect">
            <a:avLst/>
          </a:prstGeom>
          <a:noFill/>
          <a:ln>
            <a:noFill/>
          </a:ln>
        </p:spPr>
        <p:txBody>
          <a:bodyPr spcFirstLastPara="1" wrap="square" lIns="91425" tIns="45700" rIns="91425" bIns="45700" anchor="t" anchorCtr="0">
            <a:normAutofit/>
          </a:bodyPr>
          <a:lstStyle>
            <a:lvl1pPr marL="685800" lvl="0" indent="-514350" algn="l">
              <a:lnSpc>
                <a:spcPct val="90000"/>
              </a:lnSpc>
              <a:spcBef>
                <a:spcPts val="1500"/>
              </a:spcBef>
              <a:spcAft>
                <a:spcPts val="0"/>
              </a:spcAft>
              <a:buClr>
                <a:schemeClr val="dk1"/>
              </a:buClr>
              <a:buSzPts val="1800"/>
              <a:buChar char="•"/>
              <a:defRPr/>
            </a:lvl1pPr>
            <a:lvl2pPr marL="1371600" lvl="1" indent="-514350" algn="l">
              <a:lnSpc>
                <a:spcPct val="90000"/>
              </a:lnSpc>
              <a:spcBef>
                <a:spcPts val="750"/>
              </a:spcBef>
              <a:spcAft>
                <a:spcPts val="0"/>
              </a:spcAft>
              <a:buClr>
                <a:schemeClr val="dk1"/>
              </a:buClr>
              <a:buSzPts val="1800"/>
              <a:buChar char="•"/>
              <a:defRPr/>
            </a:lvl2pPr>
            <a:lvl3pPr marL="2057400" lvl="2" indent="-514350" algn="l">
              <a:lnSpc>
                <a:spcPct val="90000"/>
              </a:lnSpc>
              <a:spcBef>
                <a:spcPts val="750"/>
              </a:spcBef>
              <a:spcAft>
                <a:spcPts val="0"/>
              </a:spcAft>
              <a:buClr>
                <a:schemeClr val="dk1"/>
              </a:buClr>
              <a:buSzPts val="1800"/>
              <a:buChar char="•"/>
              <a:defRPr/>
            </a:lvl3pPr>
            <a:lvl4pPr marL="2743200" lvl="3" indent="-514350" algn="l">
              <a:lnSpc>
                <a:spcPct val="90000"/>
              </a:lnSpc>
              <a:spcBef>
                <a:spcPts val="750"/>
              </a:spcBef>
              <a:spcAft>
                <a:spcPts val="0"/>
              </a:spcAft>
              <a:buClr>
                <a:schemeClr val="dk1"/>
              </a:buClr>
              <a:buSzPts val="1800"/>
              <a:buChar char="•"/>
              <a:defRPr/>
            </a:lvl4pPr>
            <a:lvl5pPr marL="3429000" lvl="4" indent="-514350" algn="l">
              <a:lnSpc>
                <a:spcPct val="90000"/>
              </a:lnSpc>
              <a:spcBef>
                <a:spcPts val="750"/>
              </a:spcBef>
              <a:spcAft>
                <a:spcPts val="0"/>
              </a:spcAft>
              <a:buClr>
                <a:schemeClr val="dk1"/>
              </a:buClr>
              <a:buSzPts val="1800"/>
              <a:buChar char="•"/>
              <a:defRPr/>
            </a:lvl5pPr>
            <a:lvl6pPr marL="4114800" lvl="5" indent="-514350" algn="l">
              <a:lnSpc>
                <a:spcPct val="90000"/>
              </a:lnSpc>
              <a:spcBef>
                <a:spcPts val="750"/>
              </a:spcBef>
              <a:spcAft>
                <a:spcPts val="0"/>
              </a:spcAft>
              <a:buClr>
                <a:schemeClr val="dk1"/>
              </a:buClr>
              <a:buSzPts val="1800"/>
              <a:buChar char="•"/>
              <a:defRPr/>
            </a:lvl6pPr>
            <a:lvl7pPr marL="4800600" lvl="6" indent="-514350" algn="l">
              <a:lnSpc>
                <a:spcPct val="90000"/>
              </a:lnSpc>
              <a:spcBef>
                <a:spcPts val="750"/>
              </a:spcBef>
              <a:spcAft>
                <a:spcPts val="0"/>
              </a:spcAft>
              <a:buClr>
                <a:schemeClr val="dk1"/>
              </a:buClr>
              <a:buSzPts val="1800"/>
              <a:buChar char="•"/>
              <a:defRPr/>
            </a:lvl7pPr>
            <a:lvl8pPr marL="5486400" lvl="7" indent="-514350" algn="l">
              <a:lnSpc>
                <a:spcPct val="90000"/>
              </a:lnSpc>
              <a:spcBef>
                <a:spcPts val="750"/>
              </a:spcBef>
              <a:spcAft>
                <a:spcPts val="0"/>
              </a:spcAft>
              <a:buClr>
                <a:schemeClr val="dk1"/>
              </a:buClr>
              <a:buSzPts val="1800"/>
              <a:buChar char="•"/>
              <a:defRPr/>
            </a:lvl8pPr>
            <a:lvl9pPr marL="6172200" lvl="8" indent="-514350" algn="l">
              <a:lnSpc>
                <a:spcPct val="90000"/>
              </a:lnSpc>
              <a:spcBef>
                <a:spcPts val="750"/>
              </a:spcBef>
              <a:spcAft>
                <a:spcPts val="0"/>
              </a:spcAft>
              <a:buClr>
                <a:schemeClr val="dk1"/>
              </a:buClr>
              <a:buSzPts val="1800"/>
              <a:buChar char="•"/>
              <a:defRPr/>
            </a:lvl9pPr>
          </a:lstStyle>
          <a:p>
            <a:endParaRPr/>
          </a:p>
        </p:txBody>
      </p:sp>
      <p:sp>
        <p:nvSpPr>
          <p:cNvPr id="20" name="Google Shape;20;p16"/>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6"/>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7718820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3"/>
        <p:cNvGrpSpPr/>
        <p:nvPr/>
      </p:nvGrpSpPr>
      <p:grpSpPr>
        <a:xfrm>
          <a:off x="0" y="0"/>
          <a:ext cx="0" cy="0"/>
          <a:chOff x="0" y="0"/>
          <a:chExt cx="0" cy="0"/>
        </a:xfrm>
      </p:grpSpPr>
      <p:sp>
        <p:nvSpPr>
          <p:cNvPr id="24" name="Google Shape;24;p17"/>
          <p:cNvSpPr txBox="1">
            <a:spLocks noGrp="1"/>
          </p:cNvSpPr>
          <p:nvPr>
            <p:ph type="title"/>
          </p:nvPr>
        </p:nvSpPr>
        <p:spPr>
          <a:xfrm>
            <a:off x="1247775" y="2564608"/>
            <a:ext cx="15773400" cy="427910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9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7"/>
          <p:cNvSpPr txBox="1">
            <a:spLocks noGrp="1"/>
          </p:cNvSpPr>
          <p:nvPr>
            <p:ph type="body" idx="1"/>
          </p:nvPr>
        </p:nvSpPr>
        <p:spPr>
          <a:xfrm>
            <a:off x="1247775" y="6884195"/>
            <a:ext cx="15773400" cy="2250281"/>
          </a:xfrm>
          <a:prstGeom prst="rect">
            <a:avLst/>
          </a:prstGeom>
          <a:noFill/>
          <a:ln>
            <a:noFill/>
          </a:ln>
        </p:spPr>
        <p:txBody>
          <a:bodyPr spcFirstLastPara="1" wrap="square" lIns="91425" tIns="45700" rIns="91425" bIns="45700" anchor="t" anchorCtr="0">
            <a:normAutofit/>
          </a:bodyPr>
          <a:lstStyle>
            <a:lvl1pPr marL="685800" lvl="0" indent="-342900" algn="l">
              <a:lnSpc>
                <a:spcPct val="90000"/>
              </a:lnSpc>
              <a:spcBef>
                <a:spcPts val="1500"/>
              </a:spcBef>
              <a:spcAft>
                <a:spcPts val="0"/>
              </a:spcAft>
              <a:buClr>
                <a:srgbClr val="757575"/>
              </a:buClr>
              <a:buSzPts val="2400"/>
              <a:buNone/>
              <a:defRPr sz="3600">
                <a:solidFill>
                  <a:srgbClr val="757575"/>
                </a:solidFill>
              </a:defRPr>
            </a:lvl1pPr>
            <a:lvl2pPr marL="1371600" lvl="1" indent="-342900" algn="l">
              <a:lnSpc>
                <a:spcPct val="90000"/>
              </a:lnSpc>
              <a:spcBef>
                <a:spcPts val="750"/>
              </a:spcBef>
              <a:spcAft>
                <a:spcPts val="0"/>
              </a:spcAft>
              <a:buClr>
                <a:srgbClr val="757575"/>
              </a:buClr>
              <a:buSzPts val="2000"/>
              <a:buNone/>
              <a:defRPr sz="3000">
                <a:solidFill>
                  <a:srgbClr val="757575"/>
                </a:solidFill>
              </a:defRPr>
            </a:lvl2pPr>
            <a:lvl3pPr marL="2057400" lvl="2" indent="-342900" algn="l">
              <a:lnSpc>
                <a:spcPct val="90000"/>
              </a:lnSpc>
              <a:spcBef>
                <a:spcPts val="750"/>
              </a:spcBef>
              <a:spcAft>
                <a:spcPts val="0"/>
              </a:spcAft>
              <a:buClr>
                <a:srgbClr val="757575"/>
              </a:buClr>
              <a:buSzPts val="1800"/>
              <a:buNone/>
              <a:defRPr sz="2700">
                <a:solidFill>
                  <a:srgbClr val="757575"/>
                </a:solidFill>
              </a:defRPr>
            </a:lvl3pPr>
            <a:lvl4pPr marL="2743200" lvl="3" indent="-342900" algn="l">
              <a:lnSpc>
                <a:spcPct val="90000"/>
              </a:lnSpc>
              <a:spcBef>
                <a:spcPts val="750"/>
              </a:spcBef>
              <a:spcAft>
                <a:spcPts val="0"/>
              </a:spcAft>
              <a:buClr>
                <a:srgbClr val="757575"/>
              </a:buClr>
              <a:buSzPts val="1600"/>
              <a:buNone/>
              <a:defRPr sz="2400">
                <a:solidFill>
                  <a:srgbClr val="757575"/>
                </a:solidFill>
              </a:defRPr>
            </a:lvl4pPr>
            <a:lvl5pPr marL="3429000" lvl="4" indent="-342900" algn="l">
              <a:lnSpc>
                <a:spcPct val="90000"/>
              </a:lnSpc>
              <a:spcBef>
                <a:spcPts val="750"/>
              </a:spcBef>
              <a:spcAft>
                <a:spcPts val="0"/>
              </a:spcAft>
              <a:buClr>
                <a:srgbClr val="757575"/>
              </a:buClr>
              <a:buSzPts val="1600"/>
              <a:buNone/>
              <a:defRPr sz="2400">
                <a:solidFill>
                  <a:srgbClr val="757575"/>
                </a:solidFill>
              </a:defRPr>
            </a:lvl5pPr>
            <a:lvl6pPr marL="4114800" lvl="5" indent="-342900" algn="l">
              <a:lnSpc>
                <a:spcPct val="90000"/>
              </a:lnSpc>
              <a:spcBef>
                <a:spcPts val="750"/>
              </a:spcBef>
              <a:spcAft>
                <a:spcPts val="0"/>
              </a:spcAft>
              <a:buClr>
                <a:srgbClr val="757575"/>
              </a:buClr>
              <a:buSzPts val="1600"/>
              <a:buNone/>
              <a:defRPr sz="2400">
                <a:solidFill>
                  <a:srgbClr val="757575"/>
                </a:solidFill>
              </a:defRPr>
            </a:lvl6pPr>
            <a:lvl7pPr marL="4800600" lvl="6" indent="-342900" algn="l">
              <a:lnSpc>
                <a:spcPct val="90000"/>
              </a:lnSpc>
              <a:spcBef>
                <a:spcPts val="750"/>
              </a:spcBef>
              <a:spcAft>
                <a:spcPts val="0"/>
              </a:spcAft>
              <a:buClr>
                <a:srgbClr val="757575"/>
              </a:buClr>
              <a:buSzPts val="1600"/>
              <a:buNone/>
              <a:defRPr sz="2400">
                <a:solidFill>
                  <a:srgbClr val="757575"/>
                </a:solidFill>
              </a:defRPr>
            </a:lvl7pPr>
            <a:lvl8pPr marL="5486400" lvl="7" indent="-342900" algn="l">
              <a:lnSpc>
                <a:spcPct val="90000"/>
              </a:lnSpc>
              <a:spcBef>
                <a:spcPts val="750"/>
              </a:spcBef>
              <a:spcAft>
                <a:spcPts val="0"/>
              </a:spcAft>
              <a:buClr>
                <a:srgbClr val="757575"/>
              </a:buClr>
              <a:buSzPts val="1600"/>
              <a:buNone/>
              <a:defRPr sz="2400">
                <a:solidFill>
                  <a:srgbClr val="757575"/>
                </a:solidFill>
              </a:defRPr>
            </a:lvl8pPr>
            <a:lvl9pPr marL="6172200" lvl="8" indent="-342900" algn="l">
              <a:lnSpc>
                <a:spcPct val="90000"/>
              </a:lnSpc>
              <a:spcBef>
                <a:spcPts val="750"/>
              </a:spcBef>
              <a:spcAft>
                <a:spcPts val="0"/>
              </a:spcAft>
              <a:buClr>
                <a:srgbClr val="757575"/>
              </a:buClr>
              <a:buSzPts val="1600"/>
              <a:buNone/>
              <a:defRPr sz="2400">
                <a:solidFill>
                  <a:srgbClr val="757575"/>
                </a:solidFill>
              </a:defRPr>
            </a:lvl9pPr>
          </a:lstStyle>
          <a:p>
            <a:endParaRPr/>
          </a:p>
        </p:txBody>
      </p:sp>
      <p:sp>
        <p:nvSpPr>
          <p:cNvPr id="26" name="Google Shape;26;p17"/>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9192622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29"/>
        <p:cNvGrpSpPr/>
        <p:nvPr/>
      </p:nvGrpSpPr>
      <p:grpSpPr>
        <a:xfrm>
          <a:off x="0" y="0"/>
          <a:ext cx="0" cy="0"/>
          <a:chOff x="0" y="0"/>
          <a:chExt cx="0" cy="0"/>
        </a:xfrm>
      </p:grpSpPr>
      <p:sp>
        <p:nvSpPr>
          <p:cNvPr id="30" name="Google Shape;30;p18"/>
          <p:cNvSpPr txBox="1">
            <a:spLocks noGrp="1"/>
          </p:cNvSpPr>
          <p:nvPr>
            <p:ph type="title"/>
          </p:nvPr>
        </p:nvSpPr>
        <p:spPr>
          <a:xfrm>
            <a:off x="1257300" y="547688"/>
            <a:ext cx="15773400" cy="1988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body" idx="1"/>
          </p:nvPr>
        </p:nvSpPr>
        <p:spPr>
          <a:xfrm>
            <a:off x="1257300" y="2738438"/>
            <a:ext cx="7772400" cy="6527007"/>
          </a:xfrm>
          <a:prstGeom prst="rect">
            <a:avLst/>
          </a:prstGeom>
          <a:noFill/>
          <a:ln>
            <a:noFill/>
          </a:ln>
        </p:spPr>
        <p:txBody>
          <a:bodyPr spcFirstLastPara="1" wrap="square" lIns="91425" tIns="45700" rIns="91425" bIns="45700" anchor="t" anchorCtr="0">
            <a:normAutofit/>
          </a:bodyPr>
          <a:lstStyle>
            <a:lvl1pPr marL="685800" lvl="0" indent="-514350" algn="l">
              <a:lnSpc>
                <a:spcPct val="90000"/>
              </a:lnSpc>
              <a:spcBef>
                <a:spcPts val="1500"/>
              </a:spcBef>
              <a:spcAft>
                <a:spcPts val="0"/>
              </a:spcAft>
              <a:buClr>
                <a:schemeClr val="dk1"/>
              </a:buClr>
              <a:buSzPts val="1800"/>
              <a:buChar char="•"/>
              <a:defRPr/>
            </a:lvl1pPr>
            <a:lvl2pPr marL="1371600" lvl="1" indent="-514350" algn="l">
              <a:lnSpc>
                <a:spcPct val="90000"/>
              </a:lnSpc>
              <a:spcBef>
                <a:spcPts val="750"/>
              </a:spcBef>
              <a:spcAft>
                <a:spcPts val="0"/>
              </a:spcAft>
              <a:buClr>
                <a:schemeClr val="dk1"/>
              </a:buClr>
              <a:buSzPts val="1800"/>
              <a:buChar char="•"/>
              <a:defRPr/>
            </a:lvl2pPr>
            <a:lvl3pPr marL="2057400" lvl="2" indent="-514350" algn="l">
              <a:lnSpc>
                <a:spcPct val="90000"/>
              </a:lnSpc>
              <a:spcBef>
                <a:spcPts val="750"/>
              </a:spcBef>
              <a:spcAft>
                <a:spcPts val="0"/>
              </a:spcAft>
              <a:buClr>
                <a:schemeClr val="dk1"/>
              </a:buClr>
              <a:buSzPts val="1800"/>
              <a:buChar char="•"/>
              <a:defRPr/>
            </a:lvl3pPr>
            <a:lvl4pPr marL="2743200" lvl="3" indent="-514350" algn="l">
              <a:lnSpc>
                <a:spcPct val="90000"/>
              </a:lnSpc>
              <a:spcBef>
                <a:spcPts val="750"/>
              </a:spcBef>
              <a:spcAft>
                <a:spcPts val="0"/>
              </a:spcAft>
              <a:buClr>
                <a:schemeClr val="dk1"/>
              </a:buClr>
              <a:buSzPts val="1800"/>
              <a:buChar char="•"/>
              <a:defRPr/>
            </a:lvl4pPr>
            <a:lvl5pPr marL="3429000" lvl="4" indent="-514350" algn="l">
              <a:lnSpc>
                <a:spcPct val="90000"/>
              </a:lnSpc>
              <a:spcBef>
                <a:spcPts val="750"/>
              </a:spcBef>
              <a:spcAft>
                <a:spcPts val="0"/>
              </a:spcAft>
              <a:buClr>
                <a:schemeClr val="dk1"/>
              </a:buClr>
              <a:buSzPts val="1800"/>
              <a:buChar char="•"/>
              <a:defRPr/>
            </a:lvl5pPr>
            <a:lvl6pPr marL="4114800" lvl="5" indent="-514350" algn="l">
              <a:lnSpc>
                <a:spcPct val="90000"/>
              </a:lnSpc>
              <a:spcBef>
                <a:spcPts val="750"/>
              </a:spcBef>
              <a:spcAft>
                <a:spcPts val="0"/>
              </a:spcAft>
              <a:buClr>
                <a:schemeClr val="dk1"/>
              </a:buClr>
              <a:buSzPts val="1800"/>
              <a:buChar char="•"/>
              <a:defRPr/>
            </a:lvl6pPr>
            <a:lvl7pPr marL="4800600" lvl="6" indent="-514350" algn="l">
              <a:lnSpc>
                <a:spcPct val="90000"/>
              </a:lnSpc>
              <a:spcBef>
                <a:spcPts val="750"/>
              </a:spcBef>
              <a:spcAft>
                <a:spcPts val="0"/>
              </a:spcAft>
              <a:buClr>
                <a:schemeClr val="dk1"/>
              </a:buClr>
              <a:buSzPts val="1800"/>
              <a:buChar char="•"/>
              <a:defRPr/>
            </a:lvl7pPr>
            <a:lvl8pPr marL="5486400" lvl="7" indent="-514350" algn="l">
              <a:lnSpc>
                <a:spcPct val="90000"/>
              </a:lnSpc>
              <a:spcBef>
                <a:spcPts val="750"/>
              </a:spcBef>
              <a:spcAft>
                <a:spcPts val="0"/>
              </a:spcAft>
              <a:buClr>
                <a:schemeClr val="dk1"/>
              </a:buClr>
              <a:buSzPts val="1800"/>
              <a:buChar char="•"/>
              <a:defRPr/>
            </a:lvl8pPr>
            <a:lvl9pPr marL="6172200" lvl="8" indent="-514350" algn="l">
              <a:lnSpc>
                <a:spcPct val="90000"/>
              </a:lnSpc>
              <a:spcBef>
                <a:spcPts val="750"/>
              </a:spcBef>
              <a:spcAft>
                <a:spcPts val="0"/>
              </a:spcAft>
              <a:buClr>
                <a:schemeClr val="dk1"/>
              </a:buClr>
              <a:buSzPts val="1800"/>
              <a:buChar char="•"/>
              <a:defRPr/>
            </a:lvl9pPr>
          </a:lstStyle>
          <a:p>
            <a:endParaRPr/>
          </a:p>
        </p:txBody>
      </p:sp>
      <p:sp>
        <p:nvSpPr>
          <p:cNvPr id="32" name="Google Shape;32;p18"/>
          <p:cNvSpPr txBox="1">
            <a:spLocks noGrp="1"/>
          </p:cNvSpPr>
          <p:nvPr>
            <p:ph type="body" idx="2"/>
          </p:nvPr>
        </p:nvSpPr>
        <p:spPr>
          <a:xfrm>
            <a:off x="9258300" y="2738438"/>
            <a:ext cx="7772400" cy="6527007"/>
          </a:xfrm>
          <a:prstGeom prst="rect">
            <a:avLst/>
          </a:prstGeom>
          <a:noFill/>
          <a:ln>
            <a:noFill/>
          </a:ln>
        </p:spPr>
        <p:txBody>
          <a:bodyPr spcFirstLastPara="1" wrap="square" lIns="91425" tIns="45700" rIns="91425" bIns="45700" anchor="t" anchorCtr="0">
            <a:normAutofit/>
          </a:bodyPr>
          <a:lstStyle>
            <a:lvl1pPr marL="685800" lvl="0" indent="-514350" algn="l">
              <a:lnSpc>
                <a:spcPct val="90000"/>
              </a:lnSpc>
              <a:spcBef>
                <a:spcPts val="1500"/>
              </a:spcBef>
              <a:spcAft>
                <a:spcPts val="0"/>
              </a:spcAft>
              <a:buClr>
                <a:schemeClr val="dk1"/>
              </a:buClr>
              <a:buSzPts val="1800"/>
              <a:buChar char="•"/>
              <a:defRPr/>
            </a:lvl1pPr>
            <a:lvl2pPr marL="1371600" lvl="1" indent="-514350" algn="l">
              <a:lnSpc>
                <a:spcPct val="90000"/>
              </a:lnSpc>
              <a:spcBef>
                <a:spcPts val="750"/>
              </a:spcBef>
              <a:spcAft>
                <a:spcPts val="0"/>
              </a:spcAft>
              <a:buClr>
                <a:schemeClr val="dk1"/>
              </a:buClr>
              <a:buSzPts val="1800"/>
              <a:buChar char="•"/>
              <a:defRPr/>
            </a:lvl2pPr>
            <a:lvl3pPr marL="2057400" lvl="2" indent="-514350" algn="l">
              <a:lnSpc>
                <a:spcPct val="90000"/>
              </a:lnSpc>
              <a:spcBef>
                <a:spcPts val="750"/>
              </a:spcBef>
              <a:spcAft>
                <a:spcPts val="0"/>
              </a:spcAft>
              <a:buClr>
                <a:schemeClr val="dk1"/>
              </a:buClr>
              <a:buSzPts val="1800"/>
              <a:buChar char="•"/>
              <a:defRPr/>
            </a:lvl3pPr>
            <a:lvl4pPr marL="2743200" lvl="3" indent="-514350" algn="l">
              <a:lnSpc>
                <a:spcPct val="90000"/>
              </a:lnSpc>
              <a:spcBef>
                <a:spcPts val="750"/>
              </a:spcBef>
              <a:spcAft>
                <a:spcPts val="0"/>
              </a:spcAft>
              <a:buClr>
                <a:schemeClr val="dk1"/>
              </a:buClr>
              <a:buSzPts val="1800"/>
              <a:buChar char="•"/>
              <a:defRPr/>
            </a:lvl4pPr>
            <a:lvl5pPr marL="3429000" lvl="4" indent="-514350" algn="l">
              <a:lnSpc>
                <a:spcPct val="90000"/>
              </a:lnSpc>
              <a:spcBef>
                <a:spcPts val="750"/>
              </a:spcBef>
              <a:spcAft>
                <a:spcPts val="0"/>
              </a:spcAft>
              <a:buClr>
                <a:schemeClr val="dk1"/>
              </a:buClr>
              <a:buSzPts val="1800"/>
              <a:buChar char="•"/>
              <a:defRPr/>
            </a:lvl5pPr>
            <a:lvl6pPr marL="4114800" lvl="5" indent="-514350" algn="l">
              <a:lnSpc>
                <a:spcPct val="90000"/>
              </a:lnSpc>
              <a:spcBef>
                <a:spcPts val="750"/>
              </a:spcBef>
              <a:spcAft>
                <a:spcPts val="0"/>
              </a:spcAft>
              <a:buClr>
                <a:schemeClr val="dk1"/>
              </a:buClr>
              <a:buSzPts val="1800"/>
              <a:buChar char="•"/>
              <a:defRPr/>
            </a:lvl6pPr>
            <a:lvl7pPr marL="4800600" lvl="6" indent="-514350" algn="l">
              <a:lnSpc>
                <a:spcPct val="90000"/>
              </a:lnSpc>
              <a:spcBef>
                <a:spcPts val="750"/>
              </a:spcBef>
              <a:spcAft>
                <a:spcPts val="0"/>
              </a:spcAft>
              <a:buClr>
                <a:schemeClr val="dk1"/>
              </a:buClr>
              <a:buSzPts val="1800"/>
              <a:buChar char="•"/>
              <a:defRPr/>
            </a:lvl7pPr>
            <a:lvl8pPr marL="5486400" lvl="7" indent="-514350" algn="l">
              <a:lnSpc>
                <a:spcPct val="90000"/>
              </a:lnSpc>
              <a:spcBef>
                <a:spcPts val="750"/>
              </a:spcBef>
              <a:spcAft>
                <a:spcPts val="0"/>
              </a:spcAft>
              <a:buClr>
                <a:schemeClr val="dk1"/>
              </a:buClr>
              <a:buSzPts val="1800"/>
              <a:buChar char="•"/>
              <a:defRPr/>
            </a:lvl8pPr>
            <a:lvl9pPr marL="6172200" lvl="8" indent="-514350" algn="l">
              <a:lnSpc>
                <a:spcPct val="90000"/>
              </a:lnSpc>
              <a:spcBef>
                <a:spcPts val="750"/>
              </a:spcBef>
              <a:spcAft>
                <a:spcPts val="0"/>
              </a:spcAft>
              <a:buClr>
                <a:schemeClr val="dk1"/>
              </a:buClr>
              <a:buSzPts val="1800"/>
              <a:buChar char="•"/>
              <a:defRPr/>
            </a:lvl9pPr>
          </a:lstStyle>
          <a:p>
            <a:endParaRPr/>
          </a:p>
        </p:txBody>
      </p:sp>
      <p:sp>
        <p:nvSpPr>
          <p:cNvPr id="33" name="Google Shape;33;p18"/>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8"/>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8"/>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4056458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36"/>
        <p:cNvGrpSpPr/>
        <p:nvPr/>
      </p:nvGrpSpPr>
      <p:grpSpPr>
        <a:xfrm>
          <a:off x="0" y="0"/>
          <a:ext cx="0" cy="0"/>
          <a:chOff x="0" y="0"/>
          <a:chExt cx="0" cy="0"/>
        </a:xfrm>
      </p:grpSpPr>
      <p:sp>
        <p:nvSpPr>
          <p:cNvPr id="37" name="Google Shape;37;p19"/>
          <p:cNvSpPr txBox="1">
            <a:spLocks noGrp="1"/>
          </p:cNvSpPr>
          <p:nvPr>
            <p:ph type="title"/>
          </p:nvPr>
        </p:nvSpPr>
        <p:spPr>
          <a:xfrm>
            <a:off x="1259682" y="547688"/>
            <a:ext cx="15773400" cy="1988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body" idx="1"/>
          </p:nvPr>
        </p:nvSpPr>
        <p:spPr>
          <a:xfrm>
            <a:off x="1259683" y="2521745"/>
            <a:ext cx="7736681" cy="1235868"/>
          </a:xfrm>
          <a:prstGeom prst="rect">
            <a:avLst/>
          </a:prstGeom>
          <a:noFill/>
          <a:ln>
            <a:noFill/>
          </a:ln>
        </p:spPr>
        <p:txBody>
          <a:bodyPr spcFirstLastPara="1" wrap="square" lIns="91425" tIns="45700" rIns="91425" bIns="45700" anchor="b" anchorCtr="0">
            <a:normAutofit/>
          </a:bodyPr>
          <a:lstStyle>
            <a:lvl1pPr marL="685800" lvl="0" indent="-342900" algn="l">
              <a:lnSpc>
                <a:spcPct val="90000"/>
              </a:lnSpc>
              <a:spcBef>
                <a:spcPts val="1500"/>
              </a:spcBef>
              <a:spcAft>
                <a:spcPts val="0"/>
              </a:spcAft>
              <a:buClr>
                <a:schemeClr val="dk1"/>
              </a:buClr>
              <a:buSzPts val="2400"/>
              <a:buNone/>
              <a:defRPr sz="3600" b="1"/>
            </a:lvl1pPr>
            <a:lvl2pPr marL="1371600" lvl="1" indent="-342900" algn="l">
              <a:lnSpc>
                <a:spcPct val="90000"/>
              </a:lnSpc>
              <a:spcBef>
                <a:spcPts val="750"/>
              </a:spcBef>
              <a:spcAft>
                <a:spcPts val="0"/>
              </a:spcAft>
              <a:buClr>
                <a:schemeClr val="dk1"/>
              </a:buClr>
              <a:buSzPts val="2000"/>
              <a:buNone/>
              <a:defRPr sz="3000" b="1"/>
            </a:lvl2pPr>
            <a:lvl3pPr marL="2057400" lvl="2" indent="-342900" algn="l">
              <a:lnSpc>
                <a:spcPct val="90000"/>
              </a:lnSpc>
              <a:spcBef>
                <a:spcPts val="750"/>
              </a:spcBef>
              <a:spcAft>
                <a:spcPts val="0"/>
              </a:spcAft>
              <a:buClr>
                <a:schemeClr val="dk1"/>
              </a:buClr>
              <a:buSzPts val="1800"/>
              <a:buNone/>
              <a:defRPr sz="2700" b="1"/>
            </a:lvl3pPr>
            <a:lvl4pPr marL="2743200" lvl="3" indent="-342900" algn="l">
              <a:lnSpc>
                <a:spcPct val="90000"/>
              </a:lnSpc>
              <a:spcBef>
                <a:spcPts val="750"/>
              </a:spcBef>
              <a:spcAft>
                <a:spcPts val="0"/>
              </a:spcAft>
              <a:buClr>
                <a:schemeClr val="dk1"/>
              </a:buClr>
              <a:buSzPts val="1600"/>
              <a:buNone/>
              <a:defRPr sz="2400" b="1"/>
            </a:lvl4pPr>
            <a:lvl5pPr marL="3429000" lvl="4" indent="-342900" algn="l">
              <a:lnSpc>
                <a:spcPct val="90000"/>
              </a:lnSpc>
              <a:spcBef>
                <a:spcPts val="750"/>
              </a:spcBef>
              <a:spcAft>
                <a:spcPts val="0"/>
              </a:spcAft>
              <a:buClr>
                <a:schemeClr val="dk1"/>
              </a:buClr>
              <a:buSzPts val="1600"/>
              <a:buNone/>
              <a:defRPr sz="2400" b="1"/>
            </a:lvl5pPr>
            <a:lvl6pPr marL="4114800" lvl="5" indent="-342900" algn="l">
              <a:lnSpc>
                <a:spcPct val="90000"/>
              </a:lnSpc>
              <a:spcBef>
                <a:spcPts val="750"/>
              </a:spcBef>
              <a:spcAft>
                <a:spcPts val="0"/>
              </a:spcAft>
              <a:buClr>
                <a:schemeClr val="dk1"/>
              </a:buClr>
              <a:buSzPts val="1600"/>
              <a:buNone/>
              <a:defRPr sz="2400" b="1"/>
            </a:lvl6pPr>
            <a:lvl7pPr marL="4800600" lvl="6" indent="-342900" algn="l">
              <a:lnSpc>
                <a:spcPct val="90000"/>
              </a:lnSpc>
              <a:spcBef>
                <a:spcPts val="750"/>
              </a:spcBef>
              <a:spcAft>
                <a:spcPts val="0"/>
              </a:spcAft>
              <a:buClr>
                <a:schemeClr val="dk1"/>
              </a:buClr>
              <a:buSzPts val="1600"/>
              <a:buNone/>
              <a:defRPr sz="2400" b="1"/>
            </a:lvl7pPr>
            <a:lvl8pPr marL="5486400" lvl="7" indent="-342900" algn="l">
              <a:lnSpc>
                <a:spcPct val="90000"/>
              </a:lnSpc>
              <a:spcBef>
                <a:spcPts val="750"/>
              </a:spcBef>
              <a:spcAft>
                <a:spcPts val="0"/>
              </a:spcAft>
              <a:buClr>
                <a:schemeClr val="dk1"/>
              </a:buClr>
              <a:buSzPts val="1600"/>
              <a:buNone/>
              <a:defRPr sz="2400" b="1"/>
            </a:lvl8pPr>
            <a:lvl9pPr marL="6172200" lvl="8" indent="-342900" algn="l">
              <a:lnSpc>
                <a:spcPct val="90000"/>
              </a:lnSpc>
              <a:spcBef>
                <a:spcPts val="750"/>
              </a:spcBef>
              <a:spcAft>
                <a:spcPts val="0"/>
              </a:spcAft>
              <a:buClr>
                <a:schemeClr val="dk1"/>
              </a:buClr>
              <a:buSzPts val="1600"/>
              <a:buNone/>
              <a:defRPr sz="2400" b="1"/>
            </a:lvl9pPr>
          </a:lstStyle>
          <a:p>
            <a:endParaRPr/>
          </a:p>
        </p:txBody>
      </p:sp>
      <p:sp>
        <p:nvSpPr>
          <p:cNvPr id="39" name="Google Shape;39;p19"/>
          <p:cNvSpPr txBox="1">
            <a:spLocks noGrp="1"/>
          </p:cNvSpPr>
          <p:nvPr>
            <p:ph type="body" idx="2"/>
          </p:nvPr>
        </p:nvSpPr>
        <p:spPr>
          <a:xfrm>
            <a:off x="1259683" y="3757613"/>
            <a:ext cx="7736681" cy="5526882"/>
          </a:xfrm>
          <a:prstGeom prst="rect">
            <a:avLst/>
          </a:prstGeom>
          <a:noFill/>
          <a:ln>
            <a:noFill/>
          </a:ln>
        </p:spPr>
        <p:txBody>
          <a:bodyPr spcFirstLastPara="1" wrap="square" lIns="91425" tIns="45700" rIns="91425" bIns="45700" anchor="t" anchorCtr="0">
            <a:normAutofit/>
          </a:bodyPr>
          <a:lstStyle>
            <a:lvl1pPr marL="685800" lvl="0" indent="-514350" algn="l">
              <a:lnSpc>
                <a:spcPct val="90000"/>
              </a:lnSpc>
              <a:spcBef>
                <a:spcPts val="1500"/>
              </a:spcBef>
              <a:spcAft>
                <a:spcPts val="0"/>
              </a:spcAft>
              <a:buClr>
                <a:schemeClr val="dk1"/>
              </a:buClr>
              <a:buSzPts val="1800"/>
              <a:buChar char="•"/>
              <a:defRPr/>
            </a:lvl1pPr>
            <a:lvl2pPr marL="1371600" lvl="1" indent="-514350" algn="l">
              <a:lnSpc>
                <a:spcPct val="90000"/>
              </a:lnSpc>
              <a:spcBef>
                <a:spcPts val="750"/>
              </a:spcBef>
              <a:spcAft>
                <a:spcPts val="0"/>
              </a:spcAft>
              <a:buClr>
                <a:schemeClr val="dk1"/>
              </a:buClr>
              <a:buSzPts val="1800"/>
              <a:buChar char="•"/>
              <a:defRPr/>
            </a:lvl2pPr>
            <a:lvl3pPr marL="2057400" lvl="2" indent="-514350" algn="l">
              <a:lnSpc>
                <a:spcPct val="90000"/>
              </a:lnSpc>
              <a:spcBef>
                <a:spcPts val="750"/>
              </a:spcBef>
              <a:spcAft>
                <a:spcPts val="0"/>
              </a:spcAft>
              <a:buClr>
                <a:schemeClr val="dk1"/>
              </a:buClr>
              <a:buSzPts val="1800"/>
              <a:buChar char="•"/>
              <a:defRPr/>
            </a:lvl3pPr>
            <a:lvl4pPr marL="2743200" lvl="3" indent="-514350" algn="l">
              <a:lnSpc>
                <a:spcPct val="90000"/>
              </a:lnSpc>
              <a:spcBef>
                <a:spcPts val="750"/>
              </a:spcBef>
              <a:spcAft>
                <a:spcPts val="0"/>
              </a:spcAft>
              <a:buClr>
                <a:schemeClr val="dk1"/>
              </a:buClr>
              <a:buSzPts val="1800"/>
              <a:buChar char="•"/>
              <a:defRPr/>
            </a:lvl4pPr>
            <a:lvl5pPr marL="3429000" lvl="4" indent="-514350" algn="l">
              <a:lnSpc>
                <a:spcPct val="90000"/>
              </a:lnSpc>
              <a:spcBef>
                <a:spcPts val="750"/>
              </a:spcBef>
              <a:spcAft>
                <a:spcPts val="0"/>
              </a:spcAft>
              <a:buClr>
                <a:schemeClr val="dk1"/>
              </a:buClr>
              <a:buSzPts val="1800"/>
              <a:buChar char="•"/>
              <a:defRPr/>
            </a:lvl5pPr>
            <a:lvl6pPr marL="4114800" lvl="5" indent="-514350" algn="l">
              <a:lnSpc>
                <a:spcPct val="90000"/>
              </a:lnSpc>
              <a:spcBef>
                <a:spcPts val="750"/>
              </a:spcBef>
              <a:spcAft>
                <a:spcPts val="0"/>
              </a:spcAft>
              <a:buClr>
                <a:schemeClr val="dk1"/>
              </a:buClr>
              <a:buSzPts val="1800"/>
              <a:buChar char="•"/>
              <a:defRPr/>
            </a:lvl6pPr>
            <a:lvl7pPr marL="4800600" lvl="6" indent="-514350" algn="l">
              <a:lnSpc>
                <a:spcPct val="90000"/>
              </a:lnSpc>
              <a:spcBef>
                <a:spcPts val="750"/>
              </a:spcBef>
              <a:spcAft>
                <a:spcPts val="0"/>
              </a:spcAft>
              <a:buClr>
                <a:schemeClr val="dk1"/>
              </a:buClr>
              <a:buSzPts val="1800"/>
              <a:buChar char="•"/>
              <a:defRPr/>
            </a:lvl7pPr>
            <a:lvl8pPr marL="5486400" lvl="7" indent="-514350" algn="l">
              <a:lnSpc>
                <a:spcPct val="90000"/>
              </a:lnSpc>
              <a:spcBef>
                <a:spcPts val="750"/>
              </a:spcBef>
              <a:spcAft>
                <a:spcPts val="0"/>
              </a:spcAft>
              <a:buClr>
                <a:schemeClr val="dk1"/>
              </a:buClr>
              <a:buSzPts val="1800"/>
              <a:buChar char="•"/>
              <a:defRPr/>
            </a:lvl8pPr>
            <a:lvl9pPr marL="6172200" lvl="8" indent="-514350" algn="l">
              <a:lnSpc>
                <a:spcPct val="90000"/>
              </a:lnSpc>
              <a:spcBef>
                <a:spcPts val="750"/>
              </a:spcBef>
              <a:spcAft>
                <a:spcPts val="0"/>
              </a:spcAft>
              <a:buClr>
                <a:schemeClr val="dk1"/>
              </a:buClr>
              <a:buSzPts val="1800"/>
              <a:buChar char="•"/>
              <a:defRPr/>
            </a:lvl9pPr>
          </a:lstStyle>
          <a:p>
            <a:endParaRPr/>
          </a:p>
        </p:txBody>
      </p:sp>
      <p:sp>
        <p:nvSpPr>
          <p:cNvPr id="40" name="Google Shape;40;p19"/>
          <p:cNvSpPr txBox="1">
            <a:spLocks noGrp="1"/>
          </p:cNvSpPr>
          <p:nvPr>
            <p:ph type="body" idx="3"/>
          </p:nvPr>
        </p:nvSpPr>
        <p:spPr>
          <a:xfrm>
            <a:off x="9258300" y="2521745"/>
            <a:ext cx="7774782" cy="1235868"/>
          </a:xfrm>
          <a:prstGeom prst="rect">
            <a:avLst/>
          </a:prstGeom>
          <a:noFill/>
          <a:ln>
            <a:noFill/>
          </a:ln>
        </p:spPr>
        <p:txBody>
          <a:bodyPr spcFirstLastPara="1" wrap="square" lIns="91425" tIns="45700" rIns="91425" bIns="45700" anchor="b" anchorCtr="0">
            <a:normAutofit/>
          </a:bodyPr>
          <a:lstStyle>
            <a:lvl1pPr marL="685800" lvl="0" indent="-342900" algn="l">
              <a:lnSpc>
                <a:spcPct val="90000"/>
              </a:lnSpc>
              <a:spcBef>
                <a:spcPts val="1500"/>
              </a:spcBef>
              <a:spcAft>
                <a:spcPts val="0"/>
              </a:spcAft>
              <a:buClr>
                <a:schemeClr val="dk1"/>
              </a:buClr>
              <a:buSzPts val="2400"/>
              <a:buNone/>
              <a:defRPr sz="3600" b="1"/>
            </a:lvl1pPr>
            <a:lvl2pPr marL="1371600" lvl="1" indent="-342900" algn="l">
              <a:lnSpc>
                <a:spcPct val="90000"/>
              </a:lnSpc>
              <a:spcBef>
                <a:spcPts val="750"/>
              </a:spcBef>
              <a:spcAft>
                <a:spcPts val="0"/>
              </a:spcAft>
              <a:buClr>
                <a:schemeClr val="dk1"/>
              </a:buClr>
              <a:buSzPts val="2000"/>
              <a:buNone/>
              <a:defRPr sz="3000" b="1"/>
            </a:lvl2pPr>
            <a:lvl3pPr marL="2057400" lvl="2" indent="-342900" algn="l">
              <a:lnSpc>
                <a:spcPct val="90000"/>
              </a:lnSpc>
              <a:spcBef>
                <a:spcPts val="750"/>
              </a:spcBef>
              <a:spcAft>
                <a:spcPts val="0"/>
              </a:spcAft>
              <a:buClr>
                <a:schemeClr val="dk1"/>
              </a:buClr>
              <a:buSzPts val="1800"/>
              <a:buNone/>
              <a:defRPr sz="2700" b="1"/>
            </a:lvl3pPr>
            <a:lvl4pPr marL="2743200" lvl="3" indent="-342900" algn="l">
              <a:lnSpc>
                <a:spcPct val="90000"/>
              </a:lnSpc>
              <a:spcBef>
                <a:spcPts val="750"/>
              </a:spcBef>
              <a:spcAft>
                <a:spcPts val="0"/>
              </a:spcAft>
              <a:buClr>
                <a:schemeClr val="dk1"/>
              </a:buClr>
              <a:buSzPts val="1600"/>
              <a:buNone/>
              <a:defRPr sz="2400" b="1"/>
            </a:lvl4pPr>
            <a:lvl5pPr marL="3429000" lvl="4" indent="-342900" algn="l">
              <a:lnSpc>
                <a:spcPct val="90000"/>
              </a:lnSpc>
              <a:spcBef>
                <a:spcPts val="750"/>
              </a:spcBef>
              <a:spcAft>
                <a:spcPts val="0"/>
              </a:spcAft>
              <a:buClr>
                <a:schemeClr val="dk1"/>
              </a:buClr>
              <a:buSzPts val="1600"/>
              <a:buNone/>
              <a:defRPr sz="2400" b="1"/>
            </a:lvl5pPr>
            <a:lvl6pPr marL="4114800" lvl="5" indent="-342900" algn="l">
              <a:lnSpc>
                <a:spcPct val="90000"/>
              </a:lnSpc>
              <a:spcBef>
                <a:spcPts val="750"/>
              </a:spcBef>
              <a:spcAft>
                <a:spcPts val="0"/>
              </a:spcAft>
              <a:buClr>
                <a:schemeClr val="dk1"/>
              </a:buClr>
              <a:buSzPts val="1600"/>
              <a:buNone/>
              <a:defRPr sz="2400" b="1"/>
            </a:lvl6pPr>
            <a:lvl7pPr marL="4800600" lvl="6" indent="-342900" algn="l">
              <a:lnSpc>
                <a:spcPct val="90000"/>
              </a:lnSpc>
              <a:spcBef>
                <a:spcPts val="750"/>
              </a:spcBef>
              <a:spcAft>
                <a:spcPts val="0"/>
              </a:spcAft>
              <a:buClr>
                <a:schemeClr val="dk1"/>
              </a:buClr>
              <a:buSzPts val="1600"/>
              <a:buNone/>
              <a:defRPr sz="2400" b="1"/>
            </a:lvl7pPr>
            <a:lvl8pPr marL="5486400" lvl="7" indent="-342900" algn="l">
              <a:lnSpc>
                <a:spcPct val="90000"/>
              </a:lnSpc>
              <a:spcBef>
                <a:spcPts val="750"/>
              </a:spcBef>
              <a:spcAft>
                <a:spcPts val="0"/>
              </a:spcAft>
              <a:buClr>
                <a:schemeClr val="dk1"/>
              </a:buClr>
              <a:buSzPts val="1600"/>
              <a:buNone/>
              <a:defRPr sz="2400" b="1"/>
            </a:lvl8pPr>
            <a:lvl9pPr marL="6172200" lvl="8" indent="-342900" algn="l">
              <a:lnSpc>
                <a:spcPct val="90000"/>
              </a:lnSpc>
              <a:spcBef>
                <a:spcPts val="750"/>
              </a:spcBef>
              <a:spcAft>
                <a:spcPts val="0"/>
              </a:spcAft>
              <a:buClr>
                <a:schemeClr val="dk1"/>
              </a:buClr>
              <a:buSzPts val="1600"/>
              <a:buNone/>
              <a:defRPr sz="2400" b="1"/>
            </a:lvl9pPr>
          </a:lstStyle>
          <a:p>
            <a:endParaRPr/>
          </a:p>
        </p:txBody>
      </p:sp>
      <p:sp>
        <p:nvSpPr>
          <p:cNvPr id="41" name="Google Shape;41;p19"/>
          <p:cNvSpPr txBox="1">
            <a:spLocks noGrp="1"/>
          </p:cNvSpPr>
          <p:nvPr>
            <p:ph type="body" idx="4"/>
          </p:nvPr>
        </p:nvSpPr>
        <p:spPr>
          <a:xfrm>
            <a:off x="9258300" y="3757613"/>
            <a:ext cx="7774782" cy="5526882"/>
          </a:xfrm>
          <a:prstGeom prst="rect">
            <a:avLst/>
          </a:prstGeom>
          <a:noFill/>
          <a:ln>
            <a:noFill/>
          </a:ln>
        </p:spPr>
        <p:txBody>
          <a:bodyPr spcFirstLastPara="1" wrap="square" lIns="91425" tIns="45700" rIns="91425" bIns="45700" anchor="t" anchorCtr="0">
            <a:normAutofit/>
          </a:bodyPr>
          <a:lstStyle>
            <a:lvl1pPr marL="685800" lvl="0" indent="-514350" algn="l">
              <a:lnSpc>
                <a:spcPct val="90000"/>
              </a:lnSpc>
              <a:spcBef>
                <a:spcPts val="1500"/>
              </a:spcBef>
              <a:spcAft>
                <a:spcPts val="0"/>
              </a:spcAft>
              <a:buClr>
                <a:schemeClr val="dk1"/>
              </a:buClr>
              <a:buSzPts val="1800"/>
              <a:buChar char="•"/>
              <a:defRPr/>
            </a:lvl1pPr>
            <a:lvl2pPr marL="1371600" lvl="1" indent="-514350" algn="l">
              <a:lnSpc>
                <a:spcPct val="90000"/>
              </a:lnSpc>
              <a:spcBef>
                <a:spcPts val="750"/>
              </a:spcBef>
              <a:spcAft>
                <a:spcPts val="0"/>
              </a:spcAft>
              <a:buClr>
                <a:schemeClr val="dk1"/>
              </a:buClr>
              <a:buSzPts val="1800"/>
              <a:buChar char="•"/>
              <a:defRPr/>
            </a:lvl2pPr>
            <a:lvl3pPr marL="2057400" lvl="2" indent="-514350" algn="l">
              <a:lnSpc>
                <a:spcPct val="90000"/>
              </a:lnSpc>
              <a:spcBef>
                <a:spcPts val="750"/>
              </a:spcBef>
              <a:spcAft>
                <a:spcPts val="0"/>
              </a:spcAft>
              <a:buClr>
                <a:schemeClr val="dk1"/>
              </a:buClr>
              <a:buSzPts val="1800"/>
              <a:buChar char="•"/>
              <a:defRPr/>
            </a:lvl3pPr>
            <a:lvl4pPr marL="2743200" lvl="3" indent="-514350" algn="l">
              <a:lnSpc>
                <a:spcPct val="90000"/>
              </a:lnSpc>
              <a:spcBef>
                <a:spcPts val="750"/>
              </a:spcBef>
              <a:spcAft>
                <a:spcPts val="0"/>
              </a:spcAft>
              <a:buClr>
                <a:schemeClr val="dk1"/>
              </a:buClr>
              <a:buSzPts val="1800"/>
              <a:buChar char="•"/>
              <a:defRPr/>
            </a:lvl4pPr>
            <a:lvl5pPr marL="3429000" lvl="4" indent="-514350" algn="l">
              <a:lnSpc>
                <a:spcPct val="90000"/>
              </a:lnSpc>
              <a:spcBef>
                <a:spcPts val="750"/>
              </a:spcBef>
              <a:spcAft>
                <a:spcPts val="0"/>
              </a:spcAft>
              <a:buClr>
                <a:schemeClr val="dk1"/>
              </a:buClr>
              <a:buSzPts val="1800"/>
              <a:buChar char="•"/>
              <a:defRPr/>
            </a:lvl5pPr>
            <a:lvl6pPr marL="4114800" lvl="5" indent="-514350" algn="l">
              <a:lnSpc>
                <a:spcPct val="90000"/>
              </a:lnSpc>
              <a:spcBef>
                <a:spcPts val="750"/>
              </a:spcBef>
              <a:spcAft>
                <a:spcPts val="0"/>
              </a:spcAft>
              <a:buClr>
                <a:schemeClr val="dk1"/>
              </a:buClr>
              <a:buSzPts val="1800"/>
              <a:buChar char="•"/>
              <a:defRPr/>
            </a:lvl6pPr>
            <a:lvl7pPr marL="4800600" lvl="6" indent="-514350" algn="l">
              <a:lnSpc>
                <a:spcPct val="90000"/>
              </a:lnSpc>
              <a:spcBef>
                <a:spcPts val="750"/>
              </a:spcBef>
              <a:spcAft>
                <a:spcPts val="0"/>
              </a:spcAft>
              <a:buClr>
                <a:schemeClr val="dk1"/>
              </a:buClr>
              <a:buSzPts val="1800"/>
              <a:buChar char="•"/>
              <a:defRPr/>
            </a:lvl7pPr>
            <a:lvl8pPr marL="5486400" lvl="7" indent="-514350" algn="l">
              <a:lnSpc>
                <a:spcPct val="90000"/>
              </a:lnSpc>
              <a:spcBef>
                <a:spcPts val="750"/>
              </a:spcBef>
              <a:spcAft>
                <a:spcPts val="0"/>
              </a:spcAft>
              <a:buClr>
                <a:schemeClr val="dk1"/>
              </a:buClr>
              <a:buSzPts val="1800"/>
              <a:buChar char="•"/>
              <a:defRPr/>
            </a:lvl8pPr>
            <a:lvl9pPr marL="6172200" lvl="8" indent="-514350" algn="l">
              <a:lnSpc>
                <a:spcPct val="90000"/>
              </a:lnSpc>
              <a:spcBef>
                <a:spcPts val="750"/>
              </a:spcBef>
              <a:spcAft>
                <a:spcPts val="0"/>
              </a:spcAft>
              <a:buClr>
                <a:schemeClr val="dk1"/>
              </a:buClr>
              <a:buSzPts val="1800"/>
              <a:buChar char="•"/>
              <a:defRPr/>
            </a:lvl9pPr>
          </a:lstStyle>
          <a:p>
            <a:endParaRPr/>
          </a:p>
        </p:txBody>
      </p:sp>
      <p:sp>
        <p:nvSpPr>
          <p:cNvPr id="42" name="Google Shape;42;p19"/>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7972105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5"/>
        <p:cNvGrpSpPr/>
        <p:nvPr/>
      </p:nvGrpSpPr>
      <p:grpSpPr>
        <a:xfrm>
          <a:off x="0" y="0"/>
          <a:ext cx="0" cy="0"/>
          <a:chOff x="0" y="0"/>
          <a:chExt cx="0" cy="0"/>
        </a:xfrm>
      </p:grpSpPr>
      <p:sp>
        <p:nvSpPr>
          <p:cNvPr id="46" name="Google Shape;46;p20"/>
          <p:cNvSpPr txBox="1">
            <a:spLocks noGrp="1"/>
          </p:cNvSpPr>
          <p:nvPr>
            <p:ph type="title"/>
          </p:nvPr>
        </p:nvSpPr>
        <p:spPr>
          <a:xfrm>
            <a:off x="1257300" y="547688"/>
            <a:ext cx="15773400" cy="1988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0"/>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0673559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1"/>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6060319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22"/>
          <p:cNvSpPr txBox="1">
            <a:spLocks noGrp="1"/>
          </p:cNvSpPr>
          <p:nvPr>
            <p:ph type="title"/>
          </p:nvPr>
        </p:nvSpPr>
        <p:spPr>
          <a:xfrm>
            <a:off x="1259683" y="685800"/>
            <a:ext cx="5898356" cy="24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body" idx="1"/>
          </p:nvPr>
        </p:nvSpPr>
        <p:spPr>
          <a:xfrm>
            <a:off x="7774782" y="1481138"/>
            <a:ext cx="9258300" cy="7310438"/>
          </a:xfrm>
          <a:prstGeom prst="rect">
            <a:avLst/>
          </a:prstGeom>
          <a:noFill/>
          <a:ln>
            <a:noFill/>
          </a:ln>
        </p:spPr>
        <p:txBody>
          <a:bodyPr spcFirstLastPara="1" wrap="square" lIns="91425" tIns="45700" rIns="91425" bIns="45700" anchor="t" anchorCtr="0">
            <a:normAutofit/>
          </a:bodyPr>
          <a:lstStyle>
            <a:lvl1pPr marL="685800" lvl="0" indent="-647700" algn="l">
              <a:lnSpc>
                <a:spcPct val="90000"/>
              </a:lnSpc>
              <a:spcBef>
                <a:spcPts val="1500"/>
              </a:spcBef>
              <a:spcAft>
                <a:spcPts val="0"/>
              </a:spcAft>
              <a:buClr>
                <a:schemeClr val="dk1"/>
              </a:buClr>
              <a:buSzPts val="3200"/>
              <a:buChar char="•"/>
              <a:defRPr sz="4800"/>
            </a:lvl1pPr>
            <a:lvl2pPr marL="1371600" lvl="1" indent="-609600" algn="l">
              <a:lnSpc>
                <a:spcPct val="90000"/>
              </a:lnSpc>
              <a:spcBef>
                <a:spcPts val="750"/>
              </a:spcBef>
              <a:spcAft>
                <a:spcPts val="0"/>
              </a:spcAft>
              <a:buClr>
                <a:schemeClr val="dk1"/>
              </a:buClr>
              <a:buSzPts val="2800"/>
              <a:buChar char="•"/>
              <a:defRPr sz="4200"/>
            </a:lvl2pPr>
            <a:lvl3pPr marL="2057400" lvl="2" indent="-571500" algn="l">
              <a:lnSpc>
                <a:spcPct val="90000"/>
              </a:lnSpc>
              <a:spcBef>
                <a:spcPts val="750"/>
              </a:spcBef>
              <a:spcAft>
                <a:spcPts val="0"/>
              </a:spcAft>
              <a:buClr>
                <a:schemeClr val="dk1"/>
              </a:buClr>
              <a:buSzPts val="2400"/>
              <a:buChar char="•"/>
              <a:defRPr sz="3600"/>
            </a:lvl3pPr>
            <a:lvl4pPr marL="2743200" lvl="3" indent="-533400" algn="l">
              <a:lnSpc>
                <a:spcPct val="90000"/>
              </a:lnSpc>
              <a:spcBef>
                <a:spcPts val="750"/>
              </a:spcBef>
              <a:spcAft>
                <a:spcPts val="0"/>
              </a:spcAft>
              <a:buClr>
                <a:schemeClr val="dk1"/>
              </a:buClr>
              <a:buSzPts val="2000"/>
              <a:buChar char="•"/>
              <a:defRPr sz="3000"/>
            </a:lvl4pPr>
            <a:lvl5pPr marL="3429000" lvl="4" indent="-533400" algn="l">
              <a:lnSpc>
                <a:spcPct val="90000"/>
              </a:lnSpc>
              <a:spcBef>
                <a:spcPts val="750"/>
              </a:spcBef>
              <a:spcAft>
                <a:spcPts val="0"/>
              </a:spcAft>
              <a:buClr>
                <a:schemeClr val="dk1"/>
              </a:buClr>
              <a:buSzPts val="2000"/>
              <a:buChar char="•"/>
              <a:defRPr sz="3000"/>
            </a:lvl5pPr>
            <a:lvl6pPr marL="4114800" lvl="5" indent="-533400" algn="l">
              <a:lnSpc>
                <a:spcPct val="90000"/>
              </a:lnSpc>
              <a:spcBef>
                <a:spcPts val="750"/>
              </a:spcBef>
              <a:spcAft>
                <a:spcPts val="0"/>
              </a:spcAft>
              <a:buClr>
                <a:schemeClr val="dk1"/>
              </a:buClr>
              <a:buSzPts val="2000"/>
              <a:buChar char="•"/>
              <a:defRPr sz="3000"/>
            </a:lvl6pPr>
            <a:lvl7pPr marL="4800600" lvl="6" indent="-533400" algn="l">
              <a:lnSpc>
                <a:spcPct val="90000"/>
              </a:lnSpc>
              <a:spcBef>
                <a:spcPts val="750"/>
              </a:spcBef>
              <a:spcAft>
                <a:spcPts val="0"/>
              </a:spcAft>
              <a:buClr>
                <a:schemeClr val="dk1"/>
              </a:buClr>
              <a:buSzPts val="2000"/>
              <a:buChar char="•"/>
              <a:defRPr sz="3000"/>
            </a:lvl7pPr>
            <a:lvl8pPr marL="5486400" lvl="7" indent="-533400" algn="l">
              <a:lnSpc>
                <a:spcPct val="90000"/>
              </a:lnSpc>
              <a:spcBef>
                <a:spcPts val="750"/>
              </a:spcBef>
              <a:spcAft>
                <a:spcPts val="0"/>
              </a:spcAft>
              <a:buClr>
                <a:schemeClr val="dk1"/>
              </a:buClr>
              <a:buSzPts val="2000"/>
              <a:buChar char="•"/>
              <a:defRPr sz="3000"/>
            </a:lvl8pPr>
            <a:lvl9pPr marL="6172200" lvl="8" indent="-533400" algn="l">
              <a:lnSpc>
                <a:spcPct val="90000"/>
              </a:lnSpc>
              <a:spcBef>
                <a:spcPts val="750"/>
              </a:spcBef>
              <a:spcAft>
                <a:spcPts val="0"/>
              </a:spcAft>
              <a:buClr>
                <a:schemeClr val="dk1"/>
              </a:buClr>
              <a:buSzPts val="2000"/>
              <a:buChar char="•"/>
              <a:defRPr sz="3000"/>
            </a:lvl9pPr>
          </a:lstStyle>
          <a:p>
            <a:endParaRPr/>
          </a:p>
        </p:txBody>
      </p:sp>
      <p:sp>
        <p:nvSpPr>
          <p:cNvPr id="57" name="Google Shape;57;p22"/>
          <p:cNvSpPr txBox="1">
            <a:spLocks noGrp="1"/>
          </p:cNvSpPr>
          <p:nvPr>
            <p:ph type="body" idx="2"/>
          </p:nvPr>
        </p:nvSpPr>
        <p:spPr>
          <a:xfrm>
            <a:off x="1259683" y="3086100"/>
            <a:ext cx="5898356" cy="5717382"/>
          </a:xfrm>
          <a:prstGeom prst="rect">
            <a:avLst/>
          </a:prstGeom>
          <a:noFill/>
          <a:ln>
            <a:noFill/>
          </a:ln>
        </p:spPr>
        <p:txBody>
          <a:bodyPr spcFirstLastPara="1" wrap="square" lIns="91425" tIns="45700" rIns="91425" bIns="45700" anchor="t" anchorCtr="0">
            <a:normAutofit/>
          </a:bodyPr>
          <a:lstStyle>
            <a:lvl1pPr marL="685800" lvl="0" indent="-342900" algn="l">
              <a:lnSpc>
                <a:spcPct val="90000"/>
              </a:lnSpc>
              <a:spcBef>
                <a:spcPts val="1500"/>
              </a:spcBef>
              <a:spcAft>
                <a:spcPts val="0"/>
              </a:spcAft>
              <a:buClr>
                <a:schemeClr val="dk1"/>
              </a:buClr>
              <a:buSzPts val="1600"/>
              <a:buNone/>
              <a:defRPr sz="2400"/>
            </a:lvl1pPr>
            <a:lvl2pPr marL="1371600" lvl="1" indent="-342900" algn="l">
              <a:lnSpc>
                <a:spcPct val="90000"/>
              </a:lnSpc>
              <a:spcBef>
                <a:spcPts val="750"/>
              </a:spcBef>
              <a:spcAft>
                <a:spcPts val="0"/>
              </a:spcAft>
              <a:buClr>
                <a:schemeClr val="dk1"/>
              </a:buClr>
              <a:buSzPts val="1400"/>
              <a:buNone/>
              <a:defRPr sz="2100"/>
            </a:lvl2pPr>
            <a:lvl3pPr marL="2057400" lvl="2" indent="-342900" algn="l">
              <a:lnSpc>
                <a:spcPct val="90000"/>
              </a:lnSpc>
              <a:spcBef>
                <a:spcPts val="750"/>
              </a:spcBef>
              <a:spcAft>
                <a:spcPts val="0"/>
              </a:spcAft>
              <a:buClr>
                <a:schemeClr val="dk1"/>
              </a:buClr>
              <a:buSzPts val="1200"/>
              <a:buNone/>
              <a:defRPr sz="1800"/>
            </a:lvl3pPr>
            <a:lvl4pPr marL="2743200" lvl="3" indent="-342900" algn="l">
              <a:lnSpc>
                <a:spcPct val="90000"/>
              </a:lnSpc>
              <a:spcBef>
                <a:spcPts val="750"/>
              </a:spcBef>
              <a:spcAft>
                <a:spcPts val="0"/>
              </a:spcAft>
              <a:buClr>
                <a:schemeClr val="dk1"/>
              </a:buClr>
              <a:buSzPts val="1000"/>
              <a:buNone/>
              <a:defRPr sz="1500"/>
            </a:lvl4pPr>
            <a:lvl5pPr marL="3429000" lvl="4" indent="-342900" algn="l">
              <a:lnSpc>
                <a:spcPct val="90000"/>
              </a:lnSpc>
              <a:spcBef>
                <a:spcPts val="750"/>
              </a:spcBef>
              <a:spcAft>
                <a:spcPts val="0"/>
              </a:spcAft>
              <a:buClr>
                <a:schemeClr val="dk1"/>
              </a:buClr>
              <a:buSzPts val="1000"/>
              <a:buNone/>
              <a:defRPr sz="1500"/>
            </a:lvl5pPr>
            <a:lvl6pPr marL="4114800" lvl="5" indent="-342900" algn="l">
              <a:lnSpc>
                <a:spcPct val="90000"/>
              </a:lnSpc>
              <a:spcBef>
                <a:spcPts val="750"/>
              </a:spcBef>
              <a:spcAft>
                <a:spcPts val="0"/>
              </a:spcAft>
              <a:buClr>
                <a:schemeClr val="dk1"/>
              </a:buClr>
              <a:buSzPts val="1000"/>
              <a:buNone/>
              <a:defRPr sz="1500"/>
            </a:lvl6pPr>
            <a:lvl7pPr marL="4800600" lvl="6" indent="-342900" algn="l">
              <a:lnSpc>
                <a:spcPct val="90000"/>
              </a:lnSpc>
              <a:spcBef>
                <a:spcPts val="750"/>
              </a:spcBef>
              <a:spcAft>
                <a:spcPts val="0"/>
              </a:spcAft>
              <a:buClr>
                <a:schemeClr val="dk1"/>
              </a:buClr>
              <a:buSzPts val="1000"/>
              <a:buNone/>
              <a:defRPr sz="1500"/>
            </a:lvl7pPr>
            <a:lvl8pPr marL="5486400" lvl="7" indent="-342900" algn="l">
              <a:lnSpc>
                <a:spcPct val="90000"/>
              </a:lnSpc>
              <a:spcBef>
                <a:spcPts val="750"/>
              </a:spcBef>
              <a:spcAft>
                <a:spcPts val="0"/>
              </a:spcAft>
              <a:buClr>
                <a:schemeClr val="dk1"/>
              </a:buClr>
              <a:buSzPts val="1000"/>
              <a:buNone/>
              <a:defRPr sz="1500"/>
            </a:lvl8pPr>
            <a:lvl9pPr marL="6172200" lvl="8" indent="-342900" algn="l">
              <a:lnSpc>
                <a:spcPct val="90000"/>
              </a:lnSpc>
              <a:spcBef>
                <a:spcPts val="750"/>
              </a:spcBef>
              <a:spcAft>
                <a:spcPts val="0"/>
              </a:spcAft>
              <a:buClr>
                <a:schemeClr val="dk1"/>
              </a:buClr>
              <a:buSzPts val="1000"/>
              <a:buNone/>
              <a:defRPr sz="1500"/>
            </a:lvl9pPr>
          </a:lstStyle>
          <a:p>
            <a:endParaRPr/>
          </a:p>
        </p:txBody>
      </p:sp>
      <p:sp>
        <p:nvSpPr>
          <p:cNvPr id="58" name="Google Shape;58;p22"/>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130801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1259683" y="685800"/>
            <a:ext cx="5898356" cy="24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a:spLocks noGrp="1"/>
          </p:cNvSpPr>
          <p:nvPr>
            <p:ph type="pic" idx="2"/>
          </p:nvPr>
        </p:nvSpPr>
        <p:spPr>
          <a:xfrm>
            <a:off x="7774782" y="1481138"/>
            <a:ext cx="9258300" cy="7310438"/>
          </a:xfrm>
          <a:prstGeom prst="rect">
            <a:avLst/>
          </a:prstGeom>
          <a:noFill/>
          <a:ln>
            <a:noFill/>
          </a:ln>
        </p:spPr>
      </p:sp>
      <p:sp>
        <p:nvSpPr>
          <p:cNvPr id="64" name="Google Shape;64;p23"/>
          <p:cNvSpPr txBox="1">
            <a:spLocks noGrp="1"/>
          </p:cNvSpPr>
          <p:nvPr>
            <p:ph type="body" idx="1"/>
          </p:nvPr>
        </p:nvSpPr>
        <p:spPr>
          <a:xfrm>
            <a:off x="1259683" y="3086100"/>
            <a:ext cx="5898356" cy="5717382"/>
          </a:xfrm>
          <a:prstGeom prst="rect">
            <a:avLst/>
          </a:prstGeom>
          <a:noFill/>
          <a:ln>
            <a:noFill/>
          </a:ln>
        </p:spPr>
        <p:txBody>
          <a:bodyPr spcFirstLastPara="1" wrap="square" lIns="91425" tIns="45700" rIns="91425" bIns="45700" anchor="t" anchorCtr="0">
            <a:normAutofit/>
          </a:bodyPr>
          <a:lstStyle>
            <a:lvl1pPr marL="685800" lvl="0" indent="-342900" algn="l">
              <a:lnSpc>
                <a:spcPct val="90000"/>
              </a:lnSpc>
              <a:spcBef>
                <a:spcPts val="1500"/>
              </a:spcBef>
              <a:spcAft>
                <a:spcPts val="0"/>
              </a:spcAft>
              <a:buClr>
                <a:schemeClr val="dk1"/>
              </a:buClr>
              <a:buSzPts val="1600"/>
              <a:buNone/>
              <a:defRPr sz="2400"/>
            </a:lvl1pPr>
            <a:lvl2pPr marL="1371600" lvl="1" indent="-342900" algn="l">
              <a:lnSpc>
                <a:spcPct val="90000"/>
              </a:lnSpc>
              <a:spcBef>
                <a:spcPts val="750"/>
              </a:spcBef>
              <a:spcAft>
                <a:spcPts val="0"/>
              </a:spcAft>
              <a:buClr>
                <a:schemeClr val="dk1"/>
              </a:buClr>
              <a:buSzPts val="1400"/>
              <a:buNone/>
              <a:defRPr sz="2100"/>
            </a:lvl2pPr>
            <a:lvl3pPr marL="2057400" lvl="2" indent="-342900" algn="l">
              <a:lnSpc>
                <a:spcPct val="90000"/>
              </a:lnSpc>
              <a:spcBef>
                <a:spcPts val="750"/>
              </a:spcBef>
              <a:spcAft>
                <a:spcPts val="0"/>
              </a:spcAft>
              <a:buClr>
                <a:schemeClr val="dk1"/>
              </a:buClr>
              <a:buSzPts val="1200"/>
              <a:buNone/>
              <a:defRPr sz="1800"/>
            </a:lvl3pPr>
            <a:lvl4pPr marL="2743200" lvl="3" indent="-342900" algn="l">
              <a:lnSpc>
                <a:spcPct val="90000"/>
              </a:lnSpc>
              <a:spcBef>
                <a:spcPts val="750"/>
              </a:spcBef>
              <a:spcAft>
                <a:spcPts val="0"/>
              </a:spcAft>
              <a:buClr>
                <a:schemeClr val="dk1"/>
              </a:buClr>
              <a:buSzPts val="1000"/>
              <a:buNone/>
              <a:defRPr sz="1500"/>
            </a:lvl4pPr>
            <a:lvl5pPr marL="3429000" lvl="4" indent="-342900" algn="l">
              <a:lnSpc>
                <a:spcPct val="90000"/>
              </a:lnSpc>
              <a:spcBef>
                <a:spcPts val="750"/>
              </a:spcBef>
              <a:spcAft>
                <a:spcPts val="0"/>
              </a:spcAft>
              <a:buClr>
                <a:schemeClr val="dk1"/>
              </a:buClr>
              <a:buSzPts val="1000"/>
              <a:buNone/>
              <a:defRPr sz="1500"/>
            </a:lvl5pPr>
            <a:lvl6pPr marL="4114800" lvl="5" indent="-342900" algn="l">
              <a:lnSpc>
                <a:spcPct val="90000"/>
              </a:lnSpc>
              <a:spcBef>
                <a:spcPts val="750"/>
              </a:spcBef>
              <a:spcAft>
                <a:spcPts val="0"/>
              </a:spcAft>
              <a:buClr>
                <a:schemeClr val="dk1"/>
              </a:buClr>
              <a:buSzPts val="1000"/>
              <a:buNone/>
              <a:defRPr sz="1500"/>
            </a:lvl6pPr>
            <a:lvl7pPr marL="4800600" lvl="6" indent="-342900" algn="l">
              <a:lnSpc>
                <a:spcPct val="90000"/>
              </a:lnSpc>
              <a:spcBef>
                <a:spcPts val="750"/>
              </a:spcBef>
              <a:spcAft>
                <a:spcPts val="0"/>
              </a:spcAft>
              <a:buClr>
                <a:schemeClr val="dk1"/>
              </a:buClr>
              <a:buSzPts val="1000"/>
              <a:buNone/>
              <a:defRPr sz="1500"/>
            </a:lvl7pPr>
            <a:lvl8pPr marL="5486400" lvl="7" indent="-342900" algn="l">
              <a:lnSpc>
                <a:spcPct val="90000"/>
              </a:lnSpc>
              <a:spcBef>
                <a:spcPts val="750"/>
              </a:spcBef>
              <a:spcAft>
                <a:spcPts val="0"/>
              </a:spcAft>
              <a:buClr>
                <a:schemeClr val="dk1"/>
              </a:buClr>
              <a:buSzPts val="1000"/>
              <a:buNone/>
              <a:defRPr sz="1500"/>
            </a:lvl8pPr>
            <a:lvl9pPr marL="6172200" lvl="8" indent="-342900" algn="l">
              <a:lnSpc>
                <a:spcPct val="90000"/>
              </a:lnSpc>
              <a:spcBef>
                <a:spcPts val="750"/>
              </a:spcBef>
              <a:spcAft>
                <a:spcPts val="0"/>
              </a:spcAft>
              <a:buClr>
                <a:schemeClr val="dk1"/>
              </a:buClr>
              <a:buSzPts val="1000"/>
              <a:buNone/>
              <a:defRPr sz="1500"/>
            </a:lvl9pPr>
          </a:lstStyle>
          <a:p>
            <a:endParaRPr/>
          </a:p>
        </p:txBody>
      </p:sp>
      <p:sp>
        <p:nvSpPr>
          <p:cNvPr id="65" name="Google Shape;65;p23"/>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8836703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1257300" y="547688"/>
            <a:ext cx="15773400" cy="198834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5880497" y="-1884759"/>
            <a:ext cx="6527007" cy="15773400"/>
          </a:xfrm>
          <a:prstGeom prst="rect">
            <a:avLst/>
          </a:prstGeom>
          <a:noFill/>
          <a:ln>
            <a:noFill/>
          </a:ln>
        </p:spPr>
        <p:txBody>
          <a:bodyPr spcFirstLastPara="1" wrap="square" lIns="91425" tIns="45700" rIns="91425" bIns="45700" anchor="t" anchorCtr="0">
            <a:normAutofit/>
          </a:bodyPr>
          <a:lstStyle>
            <a:lvl1pPr marL="685800" lvl="0" indent="-514350" algn="l">
              <a:lnSpc>
                <a:spcPct val="90000"/>
              </a:lnSpc>
              <a:spcBef>
                <a:spcPts val="1500"/>
              </a:spcBef>
              <a:spcAft>
                <a:spcPts val="0"/>
              </a:spcAft>
              <a:buClr>
                <a:schemeClr val="dk1"/>
              </a:buClr>
              <a:buSzPts val="1800"/>
              <a:buChar char="•"/>
              <a:defRPr/>
            </a:lvl1pPr>
            <a:lvl2pPr marL="1371600" lvl="1" indent="-514350" algn="l">
              <a:lnSpc>
                <a:spcPct val="90000"/>
              </a:lnSpc>
              <a:spcBef>
                <a:spcPts val="750"/>
              </a:spcBef>
              <a:spcAft>
                <a:spcPts val="0"/>
              </a:spcAft>
              <a:buClr>
                <a:schemeClr val="dk1"/>
              </a:buClr>
              <a:buSzPts val="1800"/>
              <a:buChar char="•"/>
              <a:defRPr/>
            </a:lvl2pPr>
            <a:lvl3pPr marL="2057400" lvl="2" indent="-514350" algn="l">
              <a:lnSpc>
                <a:spcPct val="90000"/>
              </a:lnSpc>
              <a:spcBef>
                <a:spcPts val="750"/>
              </a:spcBef>
              <a:spcAft>
                <a:spcPts val="0"/>
              </a:spcAft>
              <a:buClr>
                <a:schemeClr val="dk1"/>
              </a:buClr>
              <a:buSzPts val="1800"/>
              <a:buChar char="•"/>
              <a:defRPr/>
            </a:lvl3pPr>
            <a:lvl4pPr marL="2743200" lvl="3" indent="-514350" algn="l">
              <a:lnSpc>
                <a:spcPct val="90000"/>
              </a:lnSpc>
              <a:spcBef>
                <a:spcPts val="750"/>
              </a:spcBef>
              <a:spcAft>
                <a:spcPts val="0"/>
              </a:spcAft>
              <a:buClr>
                <a:schemeClr val="dk1"/>
              </a:buClr>
              <a:buSzPts val="1800"/>
              <a:buChar char="•"/>
              <a:defRPr/>
            </a:lvl4pPr>
            <a:lvl5pPr marL="3429000" lvl="4" indent="-514350" algn="l">
              <a:lnSpc>
                <a:spcPct val="90000"/>
              </a:lnSpc>
              <a:spcBef>
                <a:spcPts val="750"/>
              </a:spcBef>
              <a:spcAft>
                <a:spcPts val="0"/>
              </a:spcAft>
              <a:buClr>
                <a:schemeClr val="dk1"/>
              </a:buClr>
              <a:buSzPts val="1800"/>
              <a:buChar char="•"/>
              <a:defRPr/>
            </a:lvl5pPr>
            <a:lvl6pPr marL="4114800" lvl="5" indent="-514350" algn="l">
              <a:lnSpc>
                <a:spcPct val="90000"/>
              </a:lnSpc>
              <a:spcBef>
                <a:spcPts val="750"/>
              </a:spcBef>
              <a:spcAft>
                <a:spcPts val="0"/>
              </a:spcAft>
              <a:buClr>
                <a:schemeClr val="dk1"/>
              </a:buClr>
              <a:buSzPts val="1800"/>
              <a:buChar char="•"/>
              <a:defRPr/>
            </a:lvl6pPr>
            <a:lvl7pPr marL="4800600" lvl="6" indent="-514350" algn="l">
              <a:lnSpc>
                <a:spcPct val="90000"/>
              </a:lnSpc>
              <a:spcBef>
                <a:spcPts val="750"/>
              </a:spcBef>
              <a:spcAft>
                <a:spcPts val="0"/>
              </a:spcAft>
              <a:buClr>
                <a:schemeClr val="dk1"/>
              </a:buClr>
              <a:buSzPts val="1800"/>
              <a:buChar char="•"/>
              <a:defRPr/>
            </a:lvl7pPr>
            <a:lvl8pPr marL="5486400" lvl="7" indent="-514350" algn="l">
              <a:lnSpc>
                <a:spcPct val="90000"/>
              </a:lnSpc>
              <a:spcBef>
                <a:spcPts val="750"/>
              </a:spcBef>
              <a:spcAft>
                <a:spcPts val="0"/>
              </a:spcAft>
              <a:buClr>
                <a:schemeClr val="dk1"/>
              </a:buClr>
              <a:buSzPts val="1800"/>
              <a:buChar char="•"/>
              <a:defRPr/>
            </a:lvl8pPr>
            <a:lvl9pPr marL="6172200" lvl="8" indent="-514350" algn="l">
              <a:lnSpc>
                <a:spcPct val="90000"/>
              </a:lnSpc>
              <a:spcBef>
                <a:spcPts val="75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60148435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10700147" y="2934891"/>
            <a:ext cx="8717757" cy="394335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2699147" y="-894159"/>
            <a:ext cx="8717757" cy="11601450"/>
          </a:xfrm>
          <a:prstGeom prst="rect">
            <a:avLst/>
          </a:prstGeom>
          <a:noFill/>
          <a:ln>
            <a:noFill/>
          </a:ln>
        </p:spPr>
        <p:txBody>
          <a:bodyPr spcFirstLastPara="1" wrap="square" lIns="91425" tIns="45700" rIns="91425" bIns="45700" anchor="t" anchorCtr="0">
            <a:normAutofit/>
          </a:bodyPr>
          <a:lstStyle>
            <a:lvl1pPr marL="685800" lvl="0" indent="-514350" algn="l">
              <a:lnSpc>
                <a:spcPct val="90000"/>
              </a:lnSpc>
              <a:spcBef>
                <a:spcPts val="1500"/>
              </a:spcBef>
              <a:spcAft>
                <a:spcPts val="0"/>
              </a:spcAft>
              <a:buClr>
                <a:schemeClr val="dk1"/>
              </a:buClr>
              <a:buSzPts val="1800"/>
              <a:buChar char="•"/>
              <a:defRPr/>
            </a:lvl1pPr>
            <a:lvl2pPr marL="1371600" lvl="1" indent="-514350" algn="l">
              <a:lnSpc>
                <a:spcPct val="90000"/>
              </a:lnSpc>
              <a:spcBef>
                <a:spcPts val="750"/>
              </a:spcBef>
              <a:spcAft>
                <a:spcPts val="0"/>
              </a:spcAft>
              <a:buClr>
                <a:schemeClr val="dk1"/>
              </a:buClr>
              <a:buSzPts val="1800"/>
              <a:buChar char="•"/>
              <a:defRPr/>
            </a:lvl2pPr>
            <a:lvl3pPr marL="2057400" lvl="2" indent="-514350" algn="l">
              <a:lnSpc>
                <a:spcPct val="90000"/>
              </a:lnSpc>
              <a:spcBef>
                <a:spcPts val="750"/>
              </a:spcBef>
              <a:spcAft>
                <a:spcPts val="0"/>
              </a:spcAft>
              <a:buClr>
                <a:schemeClr val="dk1"/>
              </a:buClr>
              <a:buSzPts val="1800"/>
              <a:buChar char="•"/>
              <a:defRPr/>
            </a:lvl3pPr>
            <a:lvl4pPr marL="2743200" lvl="3" indent="-514350" algn="l">
              <a:lnSpc>
                <a:spcPct val="90000"/>
              </a:lnSpc>
              <a:spcBef>
                <a:spcPts val="750"/>
              </a:spcBef>
              <a:spcAft>
                <a:spcPts val="0"/>
              </a:spcAft>
              <a:buClr>
                <a:schemeClr val="dk1"/>
              </a:buClr>
              <a:buSzPts val="1800"/>
              <a:buChar char="•"/>
              <a:defRPr/>
            </a:lvl4pPr>
            <a:lvl5pPr marL="3429000" lvl="4" indent="-514350" algn="l">
              <a:lnSpc>
                <a:spcPct val="90000"/>
              </a:lnSpc>
              <a:spcBef>
                <a:spcPts val="750"/>
              </a:spcBef>
              <a:spcAft>
                <a:spcPts val="0"/>
              </a:spcAft>
              <a:buClr>
                <a:schemeClr val="dk1"/>
              </a:buClr>
              <a:buSzPts val="1800"/>
              <a:buChar char="•"/>
              <a:defRPr/>
            </a:lvl5pPr>
            <a:lvl6pPr marL="4114800" lvl="5" indent="-514350" algn="l">
              <a:lnSpc>
                <a:spcPct val="90000"/>
              </a:lnSpc>
              <a:spcBef>
                <a:spcPts val="750"/>
              </a:spcBef>
              <a:spcAft>
                <a:spcPts val="0"/>
              </a:spcAft>
              <a:buClr>
                <a:schemeClr val="dk1"/>
              </a:buClr>
              <a:buSzPts val="1800"/>
              <a:buChar char="•"/>
              <a:defRPr/>
            </a:lvl6pPr>
            <a:lvl7pPr marL="4800600" lvl="6" indent="-514350" algn="l">
              <a:lnSpc>
                <a:spcPct val="90000"/>
              </a:lnSpc>
              <a:spcBef>
                <a:spcPts val="750"/>
              </a:spcBef>
              <a:spcAft>
                <a:spcPts val="0"/>
              </a:spcAft>
              <a:buClr>
                <a:schemeClr val="dk1"/>
              </a:buClr>
              <a:buSzPts val="1800"/>
              <a:buChar char="•"/>
              <a:defRPr/>
            </a:lvl7pPr>
            <a:lvl8pPr marL="5486400" lvl="7" indent="-514350" algn="l">
              <a:lnSpc>
                <a:spcPct val="90000"/>
              </a:lnSpc>
              <a:spcBef>
                <a:spcPts val="750"/>
              </a:spcBef>
              <a:spcAft>
                <a:spcPts val="0"/>
              </a:spcAft>
              <a:buClr>
                <a:schemeClr val="dk1"/>
              </a:buClr>
              <a:buSzPts val="1800"/>
              <a:buChar char="•"/>
              <a:defRPr/>
            </a:lvl8pPr>
            <a:lvl9pPr marL="6172200" lvl="8" indent="-514350" algn="l">
              <a:lnSpc>
                <a:spcPct val="90000"/>
              </a:lnSpc>
              <a:spcBef>
                <a:spcPts val="75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339127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57300" y="2738437"/>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04456281"/>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Lst>
  <p:hf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1257300" y="547688"/>
            <a:ext cx="15773400" cy="1988345"/>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4"/>
          <p:cNvSpPr txBox="1">
            <a:spLocks noGrp="1"/>
          </p:cNvSpPr>
          <p:nvPr>
            <p:ph type="body" idx="1"/>
          </p:nvPr>
        </p:nvSpPr>
        <p:spPr>
          <a:xfrm>
            <a:off x="1257300" y="2738438"/>
            <a:ext cx="15773400" cy="6527007"/>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4"/>
          <p:cNvSpPr txBox="1">
            <a:spLocks noGrp="1"/>
          </p:cNvSpPr>
          <p:nvPr>
            <p:ph type="dt" idx="10"/>
          </p:nvPr>
        </p:nvSpPr>
        <p:spPr>
          <a:xfrm>
            <a:off x="1257300" y="9534526"/>
            <a:ext cx="4114800" cy="54768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9pPr>
          </a:lstStyle>
          <a:p>
            <a:endParaRPr/>
          </a:p>
        </p:txBody>
      </p:sp>
      <p:sp>
        <p:nvSpPr>
          <p:cNvPr id="9" name="Google Shape;9;p14"/>
          <p:cNvSpPr txBox="1">
            <a:spLocks noGrp="1"/>
          </p:cNvSpPr>
          <p:nvPr>
            <p:ph type="ftr" idx="11"/>
          </p:nvPr>
        </p:nvSpPr>
        <p:spPr>
          <a:xfrm>
            <a:off x="6057900" y="9534526"/>
            <a:ext cx="6172200" cy="547688"/>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8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700" b="0" i="0" u="none" strike="noStrike" cap="none">
                <a:solidFill>
                  <a:schemeClr val="dk1"/>
                </a:solidFill>
                <a:latin typeface="Arial"/>
                <a:ea typeface="Arial"/>
                <a:cs typeface="Arial"/>
                <a:sym typeface="Arial"/>
              </a:defRPr>
            </a:lvl9pPr>
          </a:lstStyle>
          <a:p>
            <a:endParaRPr/>
          </a:p>
        </p:txBody>
      </p:sp>
      <p:sp>
        <p:nvSpPr>
          <p:cNvPr id="10" name="Google Shape;10;p14"/>
          <p:cNvSpPr txBox="1">
            <a:spLocks noGrp="1"/>
          </p:cNvSpPr>
          <p:nvPr>
            <p:ph type="sldNum" idx="12"/>
          </p:nvPr>
        </p:nvSpPr>
        <p:spPr>
          <a:xfrm>
            <a:off x="12915900" y="9534526"/>
            <a:ext cx="4114800" cy="547688"/>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800" b="0" i="0" u="none" strike="noStrike" cap="none">
                <a:solidFill>
                  <a:srgbClr val="757575"/>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853165838"/>
      </p:ext>
    </p:extLst>
  </p:cSld>
  <p:clrMap bg1="lt1" tx1="dk1" bg2="dk2" tx2="lt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1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1.png"/><Relationship Id="rId5" Type="http://schemas.openxmlformats.org/officeDocument/2006/relationships/image" Target="../media/image6.jp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png"/><Relationship Id="rId5" Type="http://schemas.openxmlformats.org/officeDocument/2006/relationships/image" Target="../media/image8.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1.png"/><Relationship Id="rId5" Type="http://schemas.openxmlformats.org/officeDocument/2006/relationships/image" Target="../media/image8.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1.png"/><Relationship Id="rId5" Type="http://schemas.openxmlformats.org/officeDocument/2006/relationships/image" Target="../media/image40.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0.m4a"/><Relationship Id="rId1" Type="http://schemas.microsoft.com/office/2007/relationships/media" Target="../media/media10.m4a"/><Relationship Id="rId5"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png"/><Relationship Id="rId2" Type="http://schemas.openxmlformats.org/officeDocument/2006/relationships/audio" Target="../media/media11.m4a"/><Relationship Id="rId1" Type="http://schemas.microsoft.com/office/2007/relationships/media" Target="../media/media11.m4a"/><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2.m4a"/><Relationship Id="rId1" Type="http://schemas.microsoft.com/office/2007/relationships/media" Target="../media/media12.m4a"/><Relationship Id="rId5"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7.xml"/><Relationship Id="rId7" Type="http://schemas.openxmlformats.org/officeDocument/2006/relationships/image" Target="../media/image13.png"/><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4.m4a"/><Relationship Id="rId1" Type="http://schemas.microsoft.com/office/2007/relationships/media" Target="../media/media14.m4a"/><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12.xml"/><Relationship Id="rId7" Type="http://schemas.openxmlformats.org/officeDocument/2006/relationships/image" Target="../media/image17.png"/><Relationship Id="rId2" Type="http://schemas.openxmlformats.org/officeDocument/2006/relationships/audio" Target="../media/media15.m4a"/><Relationship Id="rId1" Type="http://schemas.microsoft.com/office/2007/relationships/media" Target="../media/media15.m4a"/><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16.xml"/><Relationship Id="rId9"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png"/><Relationship Id="rId2" Type="http://schemas.openxmlformats.org/officeDocument/2006/relationships/audio" Target="../media/media16.m4a"/><Relationship Id="rId1" Type="http://schemas.microsoft.com/office/2007/relationships/media" Target="../media/media16.m4a"/><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7.m4a"/><Relationship Id="rId1" Type="http://schemas.microsoft.com/office/2007/relationships/media" Target="../media/media17.m4a"/><Relationship Id="rId5" Type="http://schemas.openxmlformats.org/officeDocument/2006/relationships/image" Target="../media/image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8.m4a"/><Relationship Id="rId1" Type="http://schemas.microsoft.com/office/2007/relationships/media" Target="../media/media18.m4a"/><Relationship Id="rId5" Type="http://schemas.openxmlformats.org/officeDocument/2006/relationships/image" Target="../media/image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9.m4a"/><Relationship Id="rId1" Type="http://schemas.microsoft.com/office/2007/relationships/media" Target="../media/media19.m4a"/><Relationship Id="rId5" Type="http://schemas.openxmlformats.org/officeDocument/2006/relationships/image" Target="../media/image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0.m4a"/><Relationship Id="rId1" Type="http://schemas.microsoft.com/office/2007/relationships/media" Target="../media/media20.m4a"/><Relationship Id="rId6" Type="http://schemas.openxmlformats.org/officeDocument/2006/relationships/image" Target="../media/image1.png"/><Relationship Id="rId5" Type="http://schemas.openxmlformats.org/officeDocument/2006/relationships/image" Target="../media/image2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1.m4a"/><Relationship Id="rId1" Type="http://schemas.microsoft.com/office/2007/relationships/media" Target="../media/media21.m4a"/><Relationship Id="rId5" Type="http://schemas.openxmlformats.org/officeDocument/2006/relationships/image" Target="../media/image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2.m4a"/><Relationship Id="rId1" Type="http://schemas.microsoft.com/office/2007/relationships/media" Target="../media/media22.m4a"/><Relationship Id="rId6" Type="http://schemas.openxmlformats.org/officeDocument/2006/relationships/image" Target="../media/image1.png"/><Relationship Id="rId5" Type="http://schemas.openxmlformats.org/officeDocument/2006/relationships/image" Target="../media/image2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3.m4a"/><Relationship Id="rId1" Type="http://schemas.microsoft.com/office/2007/relationships/media" Target="../media/media23.m4a"/><Relationship Id="rId5" Type="http://schemas.openxmlformats.org/officeDocument/2006/relationships/image" Target="../media/image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4.m4a"/><Relationship Id="rId1" Type="http://schemas.microsoft.com/office/2007/relationships/media" Target="../media/media24.m4a"/><Relationship Id="rId6" Type="http://schemas.openxmlformats.org/officeDocument/2006/relationships/image" Target="../media/image1.png"/><Relationship Id="rId5" Type="http://schemas.openxmlformats.org/officeDocument/2006/relationships/image" Target="../media/image21.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5.m4a"/><Relationship Id="rId1" Type="http://schemas.microsoft.com/office/2007/relationships/media" Target="../media/media25.m4a"/><Relationship Id="rId5" Type="http://schemas.openxmlformats.org/officeDocument/2006/relationships/image" Target="../media/image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6.m4a"/><Relationship Id="rId1" Type="http://schemas.microsoft.com/office/2007/relationships/media" Target="../media/media26.m4a"/><Relationship Id="rId5" Type="http://schemas.openxmlformats.org/officeDocument/2006/relationships/image" Target="../media/image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7.m4a"/><Relationship Id="rId1" Type="http://schemas.microsoft.com/office/2007/relationships/media" Target="../media/media27.m4a"/><Relationship Id="rId6" Type="http://schemas.openxmlformats.org/officeDocument/2006/relationships/image" Target="../media/image1.png"/><Relationship Id="rId5" Type="http://schemas.openxmlformats.org/officeDocument/2006/relationships/image" Target="../media/image22.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8.m4a"/><Relationship Id="rId1" Type="http://schemas.microsoft.com/office/2007/relationships/media" Target="../media/media28.m4a"/><Relationship Id="rId5" Type="http://schemas.openxmlformats.org/officeDocument/2006/relationships/image" Target="../media/image1.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9.m4a"/><Relationship Id="rId1" Type="http://schemas.microsoft.com/office/2007/relationships/media" Target="../media/media29.m4a"/><Relationship Id="rId5" Type="http://schemas.openxmlformats.org/officeDocument/2006/relationships/image" Target="../media/image1.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0.m4a"/><Relationship Id="rId1" Type="http://schemas.microsoft.com/office/2007/relationships/media" Target="../media/media30.m4a"/><Relationship Id="rId6" Type="http://schemas.openxmlformats.org/officeDocument/2006/relationships/image" Target="../media/image1.png"/><Relationship Id="rId5" Type="http://schemas.openxmlformats.org/officeDocument/2006/relationships/image" Target="../media/image22.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1.m4a"/><Relationship Id="rId1" Type="http://schemas.microsoft.com/office/2007/relationships/media" Target="../media/media31.m4a"/><Relationship Id="rId5" Type="http://schemas.openxmlformats.org/officeDocument/2006/relationships/image" Target="../media/image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2.m4a"/><Relationship Id="rId1" Type="http://schemas.microsoft.com/office/2007/relationships/media" Target="../media/media32.m4a"/><Relationship Id="rId5" Type="http://schemas.openxmlformats.org/officeDocument/2006/relationships/image" Target="../media/image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3.m4a"/><Relationship Id="rId1" Type="http://schemas.microsoft.com/office/2007/relationships/media" Target="../media/media33.m4a"/><Relationship Id="rId5" Type="http://schemas.openxmlformats.org/officeDocument/2006/relationships/image" Target="../media/image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4.m4a"/><Relationship Id="rId1" Type="http://schemas.microsoft.com/office/2007/relationships/media" Target="../media/media34.m4a"/><Relationship Id="rId6" Type="http://schemas.openxmlformats.org/officeDocument/2006/relationships/image" Target="../media/image1.png"/><Relationship Id="rId5" Type="http://schemas.openxmlformats.org/officeDocument/2006/relationships/image" Target="../media/image8.jp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5.m4a"/><Relationship Id="rId1" Type="http://schemas.microsoft.com/office/2007/relationships/media" Target="../media/media35.m4a"/><Relationship Id="rId6" Type="http://schemas.openxmlformats.org/officeDocument/2006/relationships/image" Target="../media/image1.png"/><Relationship Id="rId5" Type="http://schemas.openxmlformats.org/officeDocument/2006/relationships/image" Target="../media/image21.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3" Type="http://schemas.openxmlformats.org/officeDocument/2006/relationships/hyperlink" Target="https://doi.org/10.1007/s10654-022-00934-w" TargetMode="External"/><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hyperlink" Target="https://doi.org/10.4995/CARMA2023.2023.1640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g3730fe60eb7_1_107"/>
          <p:cNvSpPr txBox="1"/>
          <p:nvPr/>
        </p:nvSpPr>
        <p:spPr>
          <a:xfrm>
            <a:off x="2256502" y="1353373"/>
            <a:ext cx="13774993" cy="446276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9600"/>
              <a:buFont typeface="Arial"/>
              <a:buNone/>
            </a:pPr>
            <a:r>
              <a:rPr lang="en-US" sz="6600" b="1" dirty="0">
                <a:solidFill>
                  <a:srgbClr val="001C84"/>
                </a:solidFill>
                <a:latin typeface="Open Sans"/>
                <a:ea typeface="Open Sans"/>
                <a:cs typeface="Open Sans"/>
                <a:sym typeface="Open Sans"/>
              </a:rPr>
              <a:t>Demographic Data in Integrated Administrative Data Systems</a:t>
            </a:r>
            <a:r>
              <a:rPr lang="en-US" sz="8000" b="1" i="0" u="none" strike="noStrike" cap="none" dirty="0">
                <a:solidFill>
                  <a:srgbClr val="001C84"/>
                </a:solidFill>
                <a:latin typeface="Open Sans"/>
                <a:ea typeface="Open Sans"/>
                <a:cs typeface="Open Sans"/>
                <a:sym typeface="Open Sans"/>
              </a:rPr>
              <a:t>:</a:t>
            </a:r>
          </a:p>
          <a:p>
            <a:pPr lvl="0" algn="ctr">
              <a:buClr>
                <a:srgbClr val="000000"/>
              </a:buClr>
              <a:buSzPts val="6600"/>
            </a:pPr>
            <a:endParaRPr lang="en-US" sz="4800" b="1" dirty="0">
              <a:solidFill>
                <a:srgbClr val="C00000"/>
              </a:solidFill>
              <a:latin typeface="Open Sans"/>
              <a:ea typeface="Open Sans"/>
              <a:cs typeface="Open Sans"/>
              <a:sym typeface="Open Sans"/>
            </a:endParaRPr>
          </a:p>
          <a:p>
            <a:pPr lvl="0" algn="ctr">
              <a:buClr>
                <a:srgbClr val="000000"/>
              </a:buClr>
              <a:buSzPts val="6600"/>
            </a:pPr>
            <a:r>
              <a:rPr lang="en-US" sz="4800" b="1" dirty="0">
                <a:solidFill>
                  <a:srgbClr val="C00000"/>
                </a:solidFill>
                <a:latin typeface="Open Sans"/>
                <a:ea typeface="Open Sans"/>
                <a:cs typeface="Open Sans"/>
                <a:sym typeface="Open Sans"/>
              </a:rPr>
              <a:t>Seeking Experiential Knowledge to </a:t>
            </a:r>
          </a:p>
          <a:p>
            <a:pPr lvl="0" algn="ctr">
              <a:buClr>
                <a:srgbClr val="000000"/>
              </a:buClr>
              <a:buSzPts val="6600"/>
            </a:pPr>
            <a:r>
              <a:rPr lang="en-US" sz="4800" b="1" dirty="0">
                <a:solidFill>
                  <a:srgbClr val="C00000"/>
                </a:solidFill>
                <a:latin typeface="Open Sans"/>
                <a:ea typeface="Open Sans"/>
                <a:cs typeface="Open Sans"/>
                <a:sym typeface="Open Sans"/>
              </a:rPr>
              <a:t>Inform Race and Gender Data</a:t>
            </a:r>
            <a:r>
              <a:rPr lang="en-US" sz="4800" b="1" i="0" u="none" strike="noStrike" cap="none" dirty="0">
                <a:solidFill>
                  <a:srgbClr val="001C84"/>
                </a:solidFill>
                <a:latin typeface="Open Sans"/>
                <a:ea typeface="Open Sans"/>
                <a:cs typeface="Open Sans"/>
                <a:sym typeface="Open Sans"/>
              </a:rPr>
              <a:t> </a:t>
            </a:r>
            <a:endParaRPr sz="700" b="0" i="0" u="none" strike="noStrike" cap="none" dirty="0">
              <a:solidFill>
                <a:srgbClr val="000000"/>
              </a:solidFill>
              <a:latin typeface="Arial"/>
              <a:ea typeface="Arial"/>
              <a:cs typeface="Arial"/>
              <a:sym typeface="Arial"/>
            </a:endParaRPr>
          </a:p>
        </p:txBody>
      </p:sp>
      <p:sp>
        <p:nvSpPr>
          <p:cNvPr id="187" name="Google Shape;187;g3730fe60eb7_1_107"/>
          <p:cNvSpPr/>
          <p:nvPr/>
        </p:nvSpPr>
        <p:spPr>
          <a:xfrm>
            <a:off x="14458040" y="5389455"/>
            <a:ext cx="3381304" cy="2019412"/>
          </a:xfrm>
          <a:prstGeom prst="wedgeRoundRectCallout">
            <a:avLst>
              <a:gd name="adj1" fmla="val -35393"/>
              <a:gd name="adj2" fmla="val 71903"/>
              <a:gd name="adj3" fmla="val 0"/>
            </a:avLst>
          </a:prstGeom>
          <a:solidFill>
            <a:srgbClr val="FFDC5D"/>
          </a:solidFill>
          <a:ln w="9525" cap="flat" cmpd="sng">
            <a:solidFill>
              <a:srgbClr val="FFDC5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600" b="1">
                <a:solidFill>
                  <a:srgbClr val="001B83"/>
                </a:solidFill>
                <a:latin typeface="Open Sans"/>
                <a:ea typeface="Open Sans"/>
                <a:cs typeface="Open Sans"/>
                <a:sym typeface="Open Sans"/>
              </a:rPr>
              <a:t>We want to learn from your experience!</a:t>
            </a:r>
            <a:endParaRPr sz="2600" b="1" i="0" u="none" strike="noStrike" cap="none">
              <a:solidFill>
                <a:srgbClr val="001B83"/>
              </a:solidFill>
              <a:latin typeface="Open Sans"/>
              <a:ea typeface="Open Sans"/>
              <a:cs typeface="Open Sans"/>
              <a:sym typeface="Open Sans"/>
            </a:endParaRPr>
          </a:p>
        </p:txBody>
      </p:sp>
      <p:pic>
        <p:nvPicPr>
          <p:cNvPr id="5" name="Audio 4">
            <a:extLst>
              <a:ext uri="{FF2B5EF4-FFF2-40B4-BE49-F238E27FC236}">
                <a16:creationId xmlns:a16="http://schemas.microsoft.com/office/drawing/2014/main" id="{33BD32EF-8FEE-8F02-3557-1A4E1C30E9B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0A06B0D9-AF35-A558-6263-EE8B010E994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a:t>
            </a:fld>
            <a:endParaRPr lang="en-US">
              <a:latin typeface="Open Sans" panose="020B0606030504020204" pitchFamily="34" charset="0"/>
              <a:ea typeface="Open Sans" panose="020B0606030504020204" pitchFamily="34" charset="0"/>
              <a:cs typeface="Open Sans" panose="020B0606030504020204" pitchFamily="34" charset="0"/>
            </a:endParaRPr>
          </a:p>
        </p:txBody>
      </p:sp>
      <p:sp>
        <p:nvSpPr>
          <p:cNvPr id="3" name="Google Shape;186;g3730fe60eb7_1_107">
            <a:extLst>
              <a:ext uri="{FF2B5EF4-FFF2-40B4-BE49-F238E27FC236}">
                <a16:creationId xmlns:a16="http://schemas.microsoft.com/office/drawing/2014/main" id="{CC407197-D450-FB6C-3A49-358F6EDB39C2}"/>
              </a:ext>
            </a:extLst>
          </p:cNvPr>
          <p:cNvSpPr txBox="1"/>
          <p:nvPr/>
        </p:nvSpPr>
        <p:spPr>
          <a:xfrm>
            <a:off x="1536288" y="6105669"/>
            <a:ext cx="15215419" cy="3139321"/>
          </a:xfrm>
          <a:prstGeom prst="rect">
            <a:avLst/>
          </a:prstGeom>
          <a:noFill/>
          <a:ln>
            <a:noFill/>
          </a:ln>
        </p:spPr>
        <p:txBody>
          <a:bodyPr spcFirstLastPara="1" wrap="square" lIns="0" tIns="0" rIns="0" bIns="0" anchor="t" anchorCtr="0">
            <a:spAutoFit/>
          </a:bodyPr>
          <a:lstStyle/>
          <a:p>
            <a:pPr marL="457200" lvl="0" indent="-342900" algn="ctr">
              <a:buClr>
                <a:srgbClr val="595959"/>
              </a:buClr>
              <a:buSzPts val="2800"/>
            </a:pPr>
            <a:r>
              <a:rPr lang="en-US" sz="4000" b="1" dirty="0">
                <a:solidFill>
                  <a:srgbClr val="C00000"/>
                </a:solidFill>
                <a:latin typeface="Open Sans"/>
                <a:ea typeface="Open Sans"/>
                <a:cs typeface="Open Sans"/>
                <a:sym typeface="Open Sans"/>
              </a:rPr>
              <a:t>Module </a:t>
            </a:r>
            <a:r>
              <a:rPr lang="en-US" sz="6000" b="1" dirty="0">
                <a:solidFill>
                  <a:srgbClr val="C00000"/>
                </a:solidFill>
                <a:latin typeface="Open Sans"/>
                <a:ea typeface="Open Sans"/>
                <a:cs typeface="Open Sans"/>
                <a:sym typeface="Open Sans"/>
              </a:rPr>
              <a:t>2</a:t>
            </a:r>
            <a:r>
              <a:rPr lang="en-US" sz="4000" b="1" dirty="0">
                <a:solidFill>
                  <a:srgbClr val="C00000"/>
                </a:solidFill>
                <a:latin typeface="Open Sans"/>
                <a:ea typeface="Open Sans"/>
                <a:cs typeface="Open Sans"/>
                <a:sym typeface="Open Sans"/>
              </a:rPr>
              <a:t> of 5</a:t>
            </a:r>
          </a:p>
          <a:p>
            <a:pPr marL="457200" lvl="0" indent="-342900" algn="ctr">
              <a:buClr>
                <a:srgbClr val="595959"/>
              </a:buClr>
              <a:buSzPts val="2800"/>
            </a:pPr>
            <a:endParaRPr lang="en-US" sz="4000" dirty="0">
              <a:solidFill>
                <a:srgbClr val="C00000"/>
              </a:solidFill>
            </a:endParaRPr>
          </a:p>
          <a:p>
            <a:pPr marL="457200" lvl="0" indent="-342900" algn="ctr">
              <a:buClr>
                <a:srgbClr val="595959"/>
              </a:buClr>
              <a:buSzPts val="2800"/>
            </a:pPr>
            <a:endParaRPr lang="en-US" sz="4000" dirty="0">
              <a:solidFill>
                <a:srgbClr val="C00000"/>
              </a:solidFill>
            </a:endParaRPr>
          </a:p>
          <a:p>
            <a:pPr marL="457200" lvl="0" indent="-342900" algn="ctr">
              <a:buClr>
                <a:srgbClr val="595959"/>
              </a:buClr>
              <a:buSzPts val="2800"/>
            </a:pPr>
            <a:r>
              <a:rPr lang="en-US" sz="3600" b="1" dirty="0">
                <a:solidFill>
                  <a:srgbClr val="001C84"/>
                </a:solidFill>
                <a:latin typeface="Open Sans"/>
                <a:ea typeface="Open Sans"/>
                <a:cs typeface="Open Sans"/>
                <a:sym typeface="Open Sans"/>
              </a:rPr>
              <a:t>Public Interest Technology University Network Year 6 Challenge</a:t>
            </a:r>
            <a:endParaRPr lang="en-US" sz="3600" dirty="0">
              <a:solidFill>
                <a:srgbClr val="001C84"/>
              </a:solidFill>
              <a:sym typeface="Open Sans"/>
            </a:endParaRPr>
          </a:p>
          <a:p>
            <a:pPr marL="457200" lvl="0" indent="-342900" algn="ctr">
              <a:buClr>
                <a:srgbClr val="595959"/>
              </a:buClr>
              <a:buSzPts val="2800"/>
            </a:pPr>
            <a:r>
              <a:rPr lang="en-US" sz="2800" b="1" dirty="0">
                <a:solidFill>
                  <a:srgbClr val="001C84"/>
                </a:solidFill>
                <a:latin typeface="Open Sans"/>
                <a:ea typeface="Open Sans"/>
                <a:cs typeface="Open Sans"/>
                <a:sym typeface="Open Sans"/>
              </a:rPr>
              <a:t>January 2026</a:t>
            </a:r>
          </a:p>
        </p:txBody>
      </p:sp>
    </p:spTree>
  </p:cSld>
  <p:clrMapOvr>
    <a:masterClrMapping/>
  </p:clrMapOvr>
  <mc:AlternateContent xmlns:mc="http://schemas.openxmlformats.org/markup-compatibility/2006" xmlns:p14="http://schemas.microsoft.com/office/powerpoint/2010/main">
    <mc:Choice Requires="p14">
      <p:transition spd="slow" p14:dur="2000" advTm="65593"/>
    </mc:Choice>
    <mc:Fallback xmlns="">
      <p:transition spd="slow" advTm="655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6F46A9A3-9481-0CC7-DBA9-2D12BE4356DA}"/>
            </a:ext>
          </a:extLst>
        </p:cNvPr>
        <p:cNvGrpSpPr/>
        <p:nvPr/>
      </p:nvGrpSpPr>
      <p:grpSpPr>
        <a:xfrm>
          <a:off x="0" y="0"/>
          <a:ext cx="0" cy="0"/>
          <a:chOff x="0" y="0"/>
          <a:chExt cx="0" cy="0"/>
        </a:xfrm>
      </p:grpSpPr>
      <p:sp>
        <p:nvSpPr>
          <p:cNvPr id="116" name="Google Shape;116;p2">
            <a:extLst>
              <a:ext uri="{FF2B5EF4-FFF2-40B4-BE49-F238E27FC236}">
                <a16:creationId xmlns:a16="http://schemas.microsoft.com/office/drawing/2014/main" id="{8C7B2E53-E188-7CD0-731E-82EDC443C337}"/>
              </a:ext>
            </a:extLst>
          </p:cNvPr>
          <p:cNvSpPr/>
          <p:nvPr/>
        </p:nvSpPr>
        <p:spPr>
          <a:xfrm>
            <a:off x="-265469" y="1211121"/>
            <a:ext cx="19062855" cy="7913664"/>
          </a:xfrm>
          <a:custGeom>
            <a:avLst/>
            <a:gdLst/>
            <a:ahLst/>
            <a:cxnLst/>
            <a:rect l="l" t="t" r="r" b="b"/>
            <a:pathLst>
              <a:path w="7324824" h="3192603" extrusionOk="0">
                <a:moveTo>
                  <a:pt x="0" y="0"/>
                </a:moveTo>
                <a:cubicBezTo>
                  <a:pt x="1309477" y="14717"/>
                  <a:pt x="1371532" y="1341630"/>
                  <a:pt x="2241982" y="1574153"/>
                </a:cubicBezTo>
                <a:cubicBezTo>
                  <a:pt x="3112432" y="1806676"/>
                  <a:pt x="4375560" y="1125395"/>
                  <a:pt x="5222700" y="1395137"/>
                </a:cubicBezTo>
                <a:cubicBezTo>
                  <a:pt x="6069840" y="1664879"/>
                  <a:pt x="6202905" y="3159140"/>
                  <a:pt x="7324824" y="3192603"/>
                </a:cubicBezTo>
              </a:path>
            </a:pathLst>
          </a:custGeom>
          <a:noFill/>
          <a:ln w="1270000" cap="flat" cmpd="sng">
            <a:solidFill>
              <a:srgbClr val="7F7F7F"/>
            </a:solidFill>
            <a:prstDash val="solid"/>
            <a:miter lim="800000"/>
            <a:headEnd type="none" w="sm" len="sm"/>
            <a:tailEnd type="none" w="sm" len="sm"/>
          </a:ln>
        </p:spPr>
        <p:txBody>
          <a:bodyPr spcFirstLastPara="1" wrap="square" lIns="137138" tIns="68550" rIns="137138" bIns="68550" anchor="ctr" anchorCtr="0">
            <a:noAutofit/>
          </a:bodyPr>
          <a:lstStyle/>
          <a:p>
            <a:pPr algn="ctr" defTabSz="1371600">
              <a:buClr>
                <a:srgbClr val="000000"/>
              </a:buClr>
            </a:pPr>
            <a:endParaRPr sz="2700" kern="0" dirty="0">
              <a:solidFill>
                <a:srgbClr val="FFFFFF"/>
              </a:solidFill>
              <a:latin typeface="Arial"/>
              <a:ea typeface="Arial"/>
              <a:cs typeface="Arial"/>
              <a:sym typeface="Arial"/>
            </a:endParaRPr>
          </a:p>
        </p:txBody>
      </p:sp>
      <p:sp>
        <p:nvSpPr>
          <p:cNvPr id="117" name="Google Shape;117;p2">
            <a:extLst>
              <a:ext uri="{FF2B5EF4-FFF2-40B4-BE49-F238E27FC236}">
                <a16:creationId xmlns:a16="http://schemas.microsoft.com/office/drawing/2014/main" id="{3B0B5B5E-5F67-8C25-1A9A-D1A2D3DB402B}"/>
              </a:ext>
            </a:extLst>
          </p:cNvPr>
          <p:cNvSpPr/>
          <p:nvPr/>
        </p:nvSpPr>
        <p:spPr>
          <a:xfrm>
            <a:off x="-265469" y="1211121"/>
            <a:ext cx="19062855" cy="7913664"/>
          </a:xfrm>
          <a:custGeom>
            <a:avLst/>
            <a:gdLst/>
            <a:ahLst/>
            <a:cxnLst/>
            <a:rect l="l" t="t" r="r" b="b"/>
            <a:pathLst>
              <a:path w="7324824" h="3192603" extrusionOk="0">
                <a:moveTo>
                  <a:pt x="0" y="0"/>
                </a:moveTo>
                <a:cubicBezTo>
                  <a:pt x="1309477" y="14717"/>
                  <a:pt x="1371532" y="1341630"/>
                  <a:pt x="2241982" y="1574153"/>
                </a:cubicBezTo>
                <a:cubicBezTo>
                  <a:pt x="3112432" y="1806676"/>
                  <a:pt x="4375560" y="1125395"/>
                  <a:pt x="5222700" y="1395137"/>
                </a:cubicBezTo>
                <a:cubicBezTo>
                  <a:pt x="6069840" y="1664879"/>
                  <a:pt x="6202905" y="3159140"/>
                  <a:pt x="7324824" y="3192603"/>
                </a:cubicBezTo>
              </a:path>
            </a:pathLst>
          </a:custGeom>
          <a:noFill/>
          <a:ln w="101600" cap="flat" cmpd="sng">
            <a:solidFill>
              <a:schemeClr val="lt1"/>
            </a:solidFill>
            <a:prstDash val="lgDash"/>
            <a:round/>
            <a:headEnd type="none" w="sm" len="sm"/>
            <a:tailEnd type="none" w="sm" len="sm"/>
          </a:ln>
        </p:spPr>
        <p:txBody>
          <a:bodyPr spcFirstLastPara="1" wrap="square" lIns="137138" tIns="68550" rIns="137138" bIns="68550" anchor="ctr" anchorCtr="0">
            <a:noAutofit/>
          </a:bodyPr>
          <a:lstStyle/>
          <a:p>
            <a:pPr algn="ctr" defTabSz="1371600">
              <a:buClr>
                <a:srgbClr val="000000"/>
              </a:buClr>
            </a:pPr>
            <a:endParaRPr sz="2700" kern="0">
              <a:solidFill>
                <a:srgbClr val="000000"/>
              </a:solidFill>
              <a:latin typeface="Arial"/>
              <a:ea typeface="Arial"/>
              <a:cs typeface="Arial"/>
              <a:sym typeface="Arial"/>
            </a:endParaRPr>
          </a:p>
        </p:txBody>
      </p:sp>
      <p:grpSp>
        <p:nvGrpSpPr>
          <p:cNvPr id="3" name="Group 2">
            <a:extLst>
              <a:ext uri="{FF2B5EF4-FFF2-40B4-BE49-F238E27FC236}">
                <a16:creationId xmlns:a16="http://schemas.microsoft.com/office/drawing/2014/main" id="{15F08696-A3E6-545A-2EAA-C3640E5BB842}"/>
              </a:ext>
            </a:extLst>
          </p:cNvPr>
          <p:cNvGrpSpPr/>
          <p:nvPr/>
        </p:nvGrpSpPr>
        <p:grpSpPr>
          <a:xfrm>
            <a:off x="993990" y="3764895"/>
            <a:ext cx="4694067" cy="1852914"/>
            <a:chOff x="860675" y="2439143"/>
            <a:chExt cx="3129378" cy="1235276"/>
          </a:xfrm>
        </p:grpSpPr>
        <p:sp>
          <p:nvSpPr>
            <p:cNvPr id="16" name="Parallelogram 15">
              <a:extLst>
                <a:ext uri="{FF2B5EF4-FFF2-40B4-BE49-F238E27FC236}">
                  <a16:creationId xmlns:a16="http://schemas.microsoft.com/office/drawing/2014/main" id="{B3929925-4D21-89DE-F3D5-DF4995C6C403}"/>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822960" rIns="0" rtlCol="0" anchor="ctr"/>
            <a:lstStyle/>
            <a:p>
              <a:pPr marL="411480" algn="r" defTabSz="1371600">
                <a:buClr>
                  <a:srgbClr val="000000"/>
                </a:buClr>
              </a:pPr>
              <a:endParaRPr lang="en-US" sz="1350" kern="0" dirty="0">
                <a:solidFill>
                  <a:srgbClr val="FFFFFF"/>
                </a:solidFill>
                <a:latin typeface="Arial"/>
                <a:cs typeface="Arial"/>
                <a:sym typeface="Arial"/>
              </a:endParaRPr>
            </a:p>
          </p:txBody>
        </p:sp>
        <p:sp>
          <p:nvSpPr>
            <p:cNvPr id="2" name="TextBox 1">
              <a:extLst>
                <a:ext uri="{FF2B5EF4-FFF2-40B4-BE49-F238E27FC236}">
                  <a16:creationId xmlns:a16="http://schemas.microsoft.com/office/drawing/2014/main" id="{3FEAD02A-BFE9-38BB-874C-08AC2FBEA3D4}"/>
                </a:ext>
              </a:extLst>
            </p:cNvPr>
            <p:cNvSpPr txBox="1"/>
            <p:nvPr/>
          </p:nvSpPr>
          <p:spPr>
            <a:xfrm>
              <a:off x="2002894" y="2439144"/>
              <a:ext cx="1747582" cy="1235275"/>
            </a:xfrm>
            <a:prstGeom prst="rect">
              <a:avLst/>
            </a:prstGeom>
            <a:noFill/>
          </p:spPr>
          <p:txBody>
            <a:bodyPr wrap="square" rtlCol="0" anchor="ctr" anchorCtr="0">
              <a:normAutofit/>
            </a:bodyPr>
            <a:lstStyle/>
            <a:p>
              <a:pPr algn="r" defTabSz="1371600">
                <a:buClr>
                  <a:srgbClr val="000000"/>
                </a:buClr>
                <a:buSzPct val="297213"/>
              </a:pPr>
              <a:r>
                <a:rPr lang="en-US" sz="2400" b="1"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Open Sans"/>
                </a:rPr>
                <a:t>Module 1</a:t>
              </a:r>
              <a:endParaRPr lang="en-US" sz="1575" b="1"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Arial"/>
              </a:endParaRPr>
            </a:p>
            <a:p>
              <a:pPr algn="r" defTabSz="1371600">
                <a:buClr>
                  <a:srgbClr val="000000"/>
                </a:buClr>
                <a:buSzPts val="4800"/>
              </a:pPr>
              <a:r>
                <a:rPr lang="en-US" sz="1500"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Open Sans"/>
                </a:rPr>
                <a:t>FAIR2: A framework for integrating community knowledge in data analytics and addressing discrimination bias</a:t>
              </a:r>
            </a:p>
          </p:txBody>
        </p:sp>
      </p:grpSp>
      <p:grpSp>
        <p:nvGrpSpPr>
          <p:cNvPr id="4" name="Group 3">
            <a:extLst>
              <a:ext uri="{FF2B5EF4-FFF2-40B4-BE49-F238E27FC236}">
                <a16:creationId xmlns:a16="http://schemas.microsoft.com/office/drawing/2014/main" id="{EE81D58C-CADF-9F81-D886-C84BE987F1A7}"/>
              </a:ext>
            </a:extLst>
          </p:cNvPr>
          <p:cNvGrpSpPr/>
          <p:nvPr/>
        </p:nvGrpSpPr>
        <p:grpSpPr>
          <a:xfrm>
            <a:off x="233593" y="3319754"/>
            <a:ext cx="2743202" cy="2743200"/>
            <a:chOff x="201777" y="2142382"/>
            <a:chExt cx="1828801" cy="1828800"/>
          </a:xfrm>
        </p:grpSpPr>
        <p:sp>
          <p:nvSpPr>
            <p:cNvPr id="120" name="Google Shape;120;p2">
              <a:extLst>
                <a:ext uri="{FF2B5EF4-FFF2-40B4-BE49-F238E27FC236}">
                  <a16:creationId xmlns:a16="http://schemas.microsoft.com/office/drawing/2014/main" id="{8ABABFAB-65E9-8B64-7E3C-1385E4AA8339}"/>
                </a:ext>
              </a:extLst>
            </p:cNvPr>
            <p:cNvSpPr/>
            <p:nvPr/>
          </p:nvSpPr>
          <p:spPr>
            <a:xfrm rot="2700000" flipH="1">
              <a:off x="201778" y="2142381"/>
              <a:ext cx="1828800" cy="1828801"/>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107138" tIns="53550" rIns="107138" bIns="53550" anchor="ctr" anchorCtr="0">
              <a:noAutofit/>
            </a:bodyPr>
            <a:lstStyle/>
            <a:p>
              <a:pPr algn="ctr" defTabSz="1371600">
                <a:buClr>
                  <a:srgbClr val="000000"/>
                </a:buClr>
              </a:pPr>
              <a:r>
                <a:rPr lang="en-US" sz="2100" kern="0" dirty="0">
                  <a:solidFill>
                    <a:srgbClr val="FFFFFF"/>
                  </a:solidFill>
                  <a:latin typeface="Arial"/>
                  <a:cs typeface="Arial"/>
                  <a:sym typeface="Arial"/>
                </a:rPr>
                <a:t>2 2</a:t>
              </a:r>
            </a:p>
            <a:p>
              <a:pPr algn="ctr" defTabSz="1371600">
                <a:buClr>
                  <a:srgbClr val="000000"/>
                </a:buClr>
              </a:pPr>
              <a:endParaRPr lang="en-US" sz="2100" kern="0" dirty="0">
                <a:solidFill>
                  <a:srgbClr val="FFFFFF"/>
                </a:solidFill>
                <a:latin typeface="Arial"/>
                <a:cs typeface="Arial"/>
                <a:sym typeface="Arial"/>
              </a:endParaRPr>
            </a:p>
          </p:txBody>
        </p:sp>
        <p:pic>
          <p:nvPicPr>
            <p:cNvPr id="121" name="Google Shape;121;p2" title="fair2.png">
              <a:extLst>
                <a:ext uri="{FF2B5EF4-FFF2-40B4-BE49-F238E27FC236}">
                  <a16:creationId xmlns:a16="http://schemas.microsoft.com/office/drawing/2014/main" id="{6EBDF13F-5641-9BEC-32F4-961DF044F044}"/>
                </a:ext>
              </a:extLst>
            </p:cNvPr>
            <p:cNvPicPr preferRelativeResize="0"/>
            <p:nvPr/>
          </p:nvPicPr>
          <p:blipFill rotWithShape="1">
            <a:blip r:embed="rId3">
              <a:alphaModFix/>
            </a:blip>
            <a:srcRect/>
            <a:stretch/>
          </p:blipFill>
          <p:spPr>
            <a:xfrm>
              <a:off x="430646" y="2393607"/>
              <a:ext cx="1368680" cy="1376137"/>
            </a:xfrm>
            <a:prstGeom prst="rect">
              <a:avLst/>
            </a:prstGeom>
            <a:noFill/>
            <a:ln>
              <a:noFill/>
            </a:ln>
          </p:spPr>
        </p:pic>
      </p:grpSp>
      <p:grpSp>
        <p:nvGrpSpPr>
          <p:cNvPr id="18" name="Group 17">
            <a:extLst>
              <a:ext uri="{FF2B5EF4-FFF2-40B4-BE49-F238E27FC236}">
                <a16:creationId xmlns:a16="http://schemas.microsoft.com/office/drawing/2014/main" id="{88539784-6EF3-F795-01C2-59F149832EB1}"/>
              </a:ext>
            </a:extLst>
          </p:cNvPr>
          <p:cNvGrpSpPr/>
          <p:nvPr/>
        </p:nvGrpSpPr>
        <p:grpSpPr>
          <a:xfrm>
            <a:off x="1228227" y="7388113"/>
            <a:ext cx="4694067" cy="1852916"/>
            <a:chOff x="860675" y="2439143"/>
            <a:chExt cx="3129378" cy="1235277"/>
          </a:xfrm>
        </p:grpSpPr>
        <p:sp>
          <p:nvSpPr>
            <p:cNvPr id="19" name="Parallelogram 18">
              <a:extLst>
                <a:ext uri="{FF2B5EF4-FFF2-40B4-BE49-F238E27FC236}">
                  <a16:creationId xmlns:a16="http://schemas.microsoft.com/office/drawing/2014/main" id="{F2D1179F-5C66-2036-A66A-FDB24DE0B72A}"/>
                </a:ext>
              </a:extLst>
            </p:cNvPr>
            <p:cNvSpPr/>
            <p:nvPr/>
          </p:nvSpPr>
          <p:spPr>
            <a:xfrm>
              <a:off x="860675" y="2439143"/>
              <a:ext cx="3129378" cy="1235276"/>
            </a:xfrm>
            <a:prstGeom prst="parallelogram">
              <a:avLst/>
            </a:prstGeom>
            <a:solidFill>
              <a:srgbClr val="EDAA00"/>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822960" rIns="0" rtlCol="0" anchor="ctr"/>
            <a:lstStyle/>
            <a:p>
              <a:pPr marL="411480" algn="r" defTabSz="1371600">
                <a:buClr>
                  <a:srgbClr val="000000"/>
                </a:buClr>
              </a:pPr>
              <a:endParaRPr lang="en-US" sz="1350" kern="0" dirty="0">
                <a:solidFill>
                  <a:srgbClr val="FFFFFF"/>
                </a:solidFill>
                <a:latin typeface="Arial"/>
                <a:cs typeface="Arial"/>
                <a:sym typeface="Arial"/>
              </a:endParaRPr>
            </a:p>
          </p:txBody>
        </p:sp>
        <p:sp>
          <p:nvSpPr>
            <p:cNvPr id="20" name="TextBox 19">
              <a:extLst>
                <a:ext uri="{FF2B5EF4-FFF2-40B4-BE49-F238E27FC236}">
                  <a16:creationId xmlns:a16="http://schemas.microsoft.com/office/drawing/2014/main" id="{44E3E42F-67B6-04FB-29FC-8C02AEE484F3}"/>
                </a:ext>
              </a:extLst>
            </p:cNvPr>
            <p:cNvSpPr txBox="1"/>
            <p:nvPr/>
          </p:nvSpPr>
          <p:spPr>
            <a:xfrm>
              <a:off x="1236834" y="2439143"/>
              <a:ext cx="1747582" cy="1235277"/>
            </a:xfrm>
            <a:prstGeom prst="rect">
              <a:avLst/>
            </a:prstGeom>
            <a:noFill/>
          </p:spPr>
          <p:txBody>
            <a:bodyPr wrap="square" rtlCol="0" anchor="ctr" anchorCtr="0">
              <a:normAutofit/>
            </a:bodyPr>
            <a:lstStyle/>
            <a:p>
              <a:pPr defTabSz="1371600">
                <a:buClr>
                  <a:srgbClr val="000000"/>
                </a:buClr>
                <a:buSzPct val="297213"/>
              </a:pPr>
              <a:r>
                <a:rPr lang="en-US" sz="2400" b="1"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Open Sans"/>
                </a:rPr>
                <a:t>Module 2</a:t>
              </a:r>
              <a:endParaRPr lang="en-US" sz="1575" b="1"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Arial"/>
              </a:endParaRPr>
            </a:p>
            <a:p>
              <a:pPr defTabSz="1371600">
                <a:buClr>
                  <a:srgbClr val="000000"/>
                </a:buClr>
                <a:buSzPts val="4800"/>
              </a:pPr>
              <a:r>
                <a:rPr lang="en-US" sz="1500"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Open Sans"/>
                </a:rPr>
                <a:t>Demographic Data in Integrated Data Systems: Seeking Experiential Knowledge to Inform Race and Gender Data</a:t>
              </a:r>
            </a:p>
          </p:txBody>
        </p:sp>
      </p:grpSp>
      <p:grpSp>
        <p:nvGrpSpPr>
          <p:cNvPr id="28" name="Group 27">
            <a:extLst>
              <a:ext uri="{FF2B5EF4-FFF2-40B4-BE49-F238E27FC236}">
                <a16:creationId xmlns:a16="http://schemas.microsoft.com/office/drawing/2014/main" id="{6FE7F904-A45D-6F39-4FAF-F166BC03174A}"/>
              </a:ext>
            </a:extLst>
          </p:cNvPr>
          <p:cNvGrpSpPr/>
          <p:nvPr/>
        </p:nvGrpSpPr>
        <p:grpSpPr>
          <a:xfrm>
            <a:off x="4379933" y="6920528"/>
            <a:ext cx="2743200" cy="2773629"/>
            <a:chOff x="3057427" y="4589179"/>
            <a:chExt cx="1828800" cy="1849086"/>
          </a:xfrm>
        </p:grpSpPr>
        <p:sp>
          <p:nvSpPr>
            <p:cNvPr id="15" name="Google Shape;120;p2">
              <a:extLst>
                <a:ext uri="{FF2B5EF4-FFF2-40B4-BE49-F238E27FC236}">
                  <a16:creationId xmlns:a16="http://schemas.microsoft.com/office/drawing/2014/main" id="{B7D13581-E1B6-C9BB-E2AB-1993B3760DEE}"/>
                </a:ext>
              </a:extLst>
            </p:cNvPr>
            <p:cNvSpPr/>
            <p:nvPr/>
          </p:nvSpPr>
          <p:spPr>
            <a:xfrm rot="2700000" flipH="1">
              <a:off x="3057427" y="4609465"/>
              <a:ext cx="1828800" cy="1828800"/>
            </a:xfrm>
            <a:prstGeom prst="teardrop">
              <a:avLst>
                <a:gd name="adj" fmla="val 131496"/>
              </a:avLst>
            </a:prstGeom>
            <a:solidFill>
              <a:srgbClr val="FFDC5D"/>
            </a:solidFill>
            <a:ln w="57150" cap="flat" cmpd="sng">
              <a:solidFill>
                <a:srgbClr val="EDAA00"/>
              </a:solidFill>
              <a:prstDash val="solid"/>
              <a:round/>
              <a:headEnd type="none" w="sm" len="sm"/>
              <a:tailEnd type="none" w="sm" len="sm"/>
            </a:ln>
          </p:spPr>
          <p:txBody>
            <a:bodyPr spcFirstLastPara="1" wrap="square" lIns="107138" tIns="53550" rIns="107138" bIns="53550" anchor="ctr" anchorCtr="0">
              <a:noAutofit/>
            </a:bodyPr>
            <a:lstStyle/>
            <a:p>
              <a:pPr algn="ctr" defTabSz="1371600">
                <a:buClr>
                  <a:srgbClr val="000000"/>
                </a:buClr>
              </a:pPr>
              <a:endParaRPr sz="2109" kern="0" dirty="0">
                <a:solidFill>
                  <a:srgbClr val="FFFFFF"/>
                </a:solidFill>
                <a:latin typeface="Arial"/>
                <a:ea typeface="Arial"/>
                <a:cs typeface="Arial"/>
                <a:sym typeface="Arial"/>
              </a:endParaRPr>
            </a:p>
          </p:txBody>
        </p:sp>
        <p:pic>
          <p:nvPicPr>
            <p:cNvPr id="8" name="Picture 7" descr="A person wearing a white shirt and blue jeans&#10;&#10;AI-generated content may be incorrect.">
              <a:extLst>
                <a:ext uri="{FF2B5EF4-FFF2-40B4-BE49-F238E27FC236}">
                  <a16:creationId xmlns:a16="http://schemas.microsoft.com/office/drawing/2014/main" id="{2CB4CA27-24D4-B90D-75F9-16BCF98D2B00}"/>
                </a:ext>
              </a:extLst>
            </p:cNvPr>
            <p:cNvPicPr>
              <a:picLocks noChangeAspect="1"/>
            </p:cNvPicPr>
            <p:nvPr/>
          </p:nvPicPr>
          <p:blipFill>
            <a:blip r:embed="rId4"/>
            <a:srcRect l="4657" t="2322" r="-4831" b="57726"/>
            <a:stretch>
              <a:fillRect/>
            </a:stretch>
          </p:blipFill>
          <p:spPr>
            <a:xfrm>
              <a:off x="3103056" y="4589179"/>
              <a:ext cx="1737542" cy="1736762"/>
            </a:xfrm>
            <a:prstGeom prst="ellipse">
              <a:avLst/>
            </a:prstGeom>
          </p:spPr>
        </p:pic>
      </p:grpSp>
      <p:grpSp>
        <p:nvGrpSpPr>
          <p:cNvPr id="10" name="Group 9">
            <a:extLst>
              <a:ext uri="{FF2B5EF4-FFF2-40B4-BE49-F238E27FC236}">
                <a16:creationId xmlns:a16="http://schemas.microsoft.com/office/drawing/2014/main" id="{0072DEB0-8FA8-5073-7E5B-C33B9551B2C6}"/>
              </a:ext>
            </a:extLst>
          </p:cNvPr>
          <p:cNvGrpSpPr/>
          <p:nvPr/>
        </p:nvGrpSpPr>
        <p:grpSpPr>
          <a:xfrm>
            <a:off x="6929555" y="1276154"/>
            <a:ext cx="4919249" cy="1852914"/>
            <a:chOff x="860675" y="2439143"/>
            <a:chExt cx="3129378" cy="1235276"/>
          </a:xfrm>
        </p:grpSpPr>
        <p:sp>
          <p:nvSpPr>
            <p:cNvPr id="21" name="Parallelogram 20">
              <a:extLst>
                <a:ext uri="{FF2B5EF4-FFF2-40B4-BE49-F238E27FC236}">
                  <a16:creationId xmlns:a16="http://schemas.microsoft.com/office/drawing/2014/main" id="{FDB8363F-D03F-DA4D-01B1-65AA35B95A95}"/>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822960" rIns="0" rtlCol="0" anchor="ctr"/>
            <a:lstStyle/>
            <a:p>
              <a:pPr marL="411480" algn="r" defTabSz="1371600">
                <a:buClr>
                  <a:srgbClr val="000000"/>
                </a:buClr>
              </a:pPr>
              <a:endParaRPr lang="en-US" sz="1350" kern="0" dirty="0">
                <a:solidFill>
                  <a:srgbClr val="FFFFFF"/>
                </a:solidFill>
                <a:latin typeface="Arial"/>
                <a:cs typeface="Arial"/>
                <a:sym typeface="Arial"/>
              </a:endParaRPr>
            </a:p>
          </p:txBody>
        </p:sp>
        <p:sp>
          <p:nvSpPr>
            <p:cNvPr id="22" name="TextBox 21">
              <a:extLst>
                <a:ext uri="{FF2B5EF4-FFF2-40B4-BE49-F238E27FC236}">
                  <a16:creationId xmlns:a16="http://schemas.microsoft.com/office/drawing/2014/main" id="{BCEE2117-2A36-1085-6680-3FE0E85F595E}"/>
                </a:ext>
              </a:extLst>
            </p:cNvPr>
            <p:cNvSpPr txBox="1"/>
            <p:nvPr/>
          </p:nvSpPr>
          <p:spPr>
            <a:xfrm>
              <a:off x="2260542" y="2439144"/>
              <a:ext cx="1489933" cy="1235275"/>
            </a:xfrm>
            <a:prstGeom prst="rect">
              <a:avLst/>
            </a:prstGeom>
            <a:noFill/>
          </p:spPr>
          <p:txBody>
            <a:bodyPr wrap="square" rtlCol="0" anchor="ctr" anchorCtr="0">
              <a:normAutofit/>
            </a:bodyPr>
            <a:lstStyle/>
            <a:p>
              <a:pPr algn="r" defTabSz="1371600">
                <a:buClr>
                  <a:srgbClr val="000000"/>
                </a:buClr>
                <a:buSzPct val="297213"/>
              </a:pPr>
              <a:r>
                <a:rPr lang="en-US" sz="2400" b="1"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Open Sans"/>
                </a:rPr>
                <a:t>Module 3</a:t>
              </a:r>
              <a:endParaRPr lang="en-US" sz="1575" b="1"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Arial"/>
              </a:endParaRPr>
            </a:p>
            <a:p>
              <a:pPr algn="r" defTabSz="1371600">
                <a:buClr>
                  <a:srgbClr val="000000"/>
                </a:buClr>
                <a:buSzPts val="4800"/>
              </a:pPr>
              <a:r>
                <a:rPr lang="en-US" sz="1500"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Open Sans"/>
                </a:rPr>
                <a:t>An illustration of Label Bias in Homelessness </a:t>
              </a:r>
            </a:p>
            <a:p>
              <a:pPr algn="r" defTabSz="1371600">
                <a:buClr>
                  <a:srgbClr val="000000"/>
                </a:buClr>
                <a:buSzPts val="4800"/>
              </a:pPr>
              <a:r>
                <a:rPr lang="en-US" sz="1500"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Open Sans"/>
                </a:rPr>
                <a:t>Data Analytics</a:t>
              </a:r>
            </a:p>
          </p:txBody>
        </p:sp>
      </p:grpSp>
      <p:grpSp>
        <p:nvGrpSpPr>
          <p:cNvPr id="23" name="Group 22">
            <a:extLst>
              <a:ext uri="{FF2B5EF4-FFF2-40B4-BE49-F238E27FC236}">
                <a16:creationId xmlns:a16="http://schemas.microsoft.com/office/drawing/2014/main" id="{A815C97D-2C18-877C-C1EF-35204DFDE749}"/>
              </a:ext>
            </a:extLst>
          </p:cNvPr>
          <p:cNvGrpSpPr/>
          <p:nvPr/>
        </p:nvGrpSpPr>
        <p:grpSpPr>
          <a:xfrm>
            <a:off x="6541406" y="812228"/>
            <a:ext cx="2743199" cy="2809191"/>
            <a:chOff x="4360937" y="541485"/>
            <a:chExt cx="1828799" cy="1872794"/>
          </a:xfrm>
        </p:grpSpPr>
        <p:sp>
          <p:nvSpPr>
            <p:cNvPr id="32" name="Google Shape;120;p2">
              <a:extLst>
                <a:ext uri="{FF2B5EF4-FFF2-40B4-BE49-F238E27FC236}">
                  <a16:creationId xmlns:a16="http://schemas.microsoft.com/office/drawing/2014/main" id="{D721D151-E104-DAA1-ACE9-2BCC92D99341}"/>
                </a:ext>
              </a:extLst>
            </p:cNvPr>
            <p:cNvSpPr/>
            <p:nvPr/>
          </p:nvSpPr>
          <p:spPr>
            <a:xfrm rot="13500000" flipH="1">
              <a:off x="4360937" y="541485"/>
              <a:ext cx="1828800" cy="1828799"/>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107138" tIns="53550" rIns="107138" bIns="53550" anchor="ctr" anchorCtr="0">
              <a:noAutofit/>
            </a:bodyPr>
            <a:lstStyle/>
            <a:p>
              <a:pPr algn="ctr" defTabSz="1371600">
                <a:buClr>
                  <a:srgbClr val="000000"/>
                </a:buClr>
              </a:pPr>
              <a:endParaRPr sz="2109" kern="0">
                <a:solidFill>
                  <a:srgbClr val="FFFFFF"/>
                </a:solidFill>
                <a:latin typeface="Arial"/>
                <a:ea typeface="Arial"/>
                <a:cs typeface="Arial"/>
                <a:sym typeface="Arial"/>
              </a:endParaRPr>
            </a:p>
          </p:txBody>
        </p:sp>
        <p:pic>
          <p:nvPicPr>
            <p:cNvPr id="37" name="Picture 36" descr="A group of people in different colors&#10;&#10;AI-generated content may be incorrect.">
              <a:extLst>
                <a:ext uri="{FF2B5EF4-FFF2-40B4-BE49-F238E27FC236}">
                  <a16:creationId xmlns:a16="http://schemas.microsoft.com/office/drawing/2014/main" id="{31B00156-3B7D-3B96-C95A-7F9B2EAFDBCA}"/>
                </a:ext>
              </a:extLst>
            </p:cNvPr>
            <p:cNvPicPr>
              <a:picLocks noChangeAspect="1"/>
            </p:cNvPicPr>
            <p:nvPr/>
          </p:nvPicPr>
          <p:blipFill>
            <a:blip r:embed="rId5"/>
            <a:srcRect l="62973" t="17640" r="8598" b="27183"/>
            <a:stretch>
              <a:fillRect/>
            </a:stretch>
          </p:blipFill>
          <p:spPr>
            <a:xfrm>
              <a:off x="4465200" y="634509"/>
              <a:ext cx="1630800" cy="1779770"/>
            </a:xfrm>
            <a:prstGeom prst="ellipse">
              <a:avLst/>
            </a:prstGeom>
          </p:spPr>
        </p:pic>
      </p:grpSp>
      <p:grpSp>
        <p:nvGrpSpPr>
          <p:cNvPr id="5" name="Group 4">
            <a:extLst>
              <a:ext uri="{FF2B5EF4-FFF2-40B4-BE49-F238E27FC236}">
                <a16:creationId xmlns:a16="http://schemas.microsoft.com/office/drawing/2014/main" id="{DED877CE-4FE8-9D27-2E1F-2A235885488A}"/>
              </a:ext>
            </a:extLst>
          </p:cNvPr>
          <p:cNvGrpSpPr/>
          <p:nvPr/>
        </p:nvGrpSpPr>
        <p:grpSpPr>
          <a:xfrm>
            <a:off x="8124072" y="6755657"/>
            <a:ext cx="4694067" cy="1853283"/>
            <a:chOff x="860675" y="2438897"/>
            <a:chExt cx="3129378" cy="1235522"/>
          </a:xfrm>
        </p:grpSpPr>
        <p:sp>
          <p:nvSpPr>
            <p:cNvPr id="9" name="Parallelogram 8">
              <a:extLst>
                <a:ext uri="{FF2B5EF4-FFF2-40B4-BE49-F238E27FC236}">
                  <a16:creationId xmlns:a16="http://schemas.microsoft.com/office/drawing/2014/main" id="{D1DA8431-603C-AC27-9DA0-8594CF174C0C}"/>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822960" rIns="0" rtlCol="0" anchor="ctr"/>
            <a:lstStyle/>
            <a:p>
              <a:pPr marL="411480" algn="r" defTabSz="1371600">
                <a:buClr>
                  <a:srgbClr val="000000"/>
                </a:buClr>
              </a:pPr>
              <a:endParaRPr lang="en-US" sz="1350" kern="0" dirty="0">
                <a:solidFill>
                  <a:srgbClr val="FFFFFF"/>
                </a:solidFill>
                <a:latin typeface="Arial"/>
                <a:cs typeface="Arial"/>
                <a:sym typeface="Arial"/>
              </a:endParaRPr>
            </a:p>
          </p:txBody>
        </p:sp>
        <p:sp>
          <p:nvSpPr>
            <p:cNvPr id="11" name="TextBox 10">
              <a:extLst>
                <a:ext uri="{FF2B5EF4-FFF2-40B4-BE49-F238E27FC236}">
                  <a16:creationId xmlns:a16="http://schemas.microsoft.com/office/drawing/2014/main" id="{272D750A-B787-D934-B49C-038F4EBE9C61}"/>
                </a:ext>
              </a:extLst>
            </p:cNvPr>
            <p:cNvSpPr txBox="1"/>
            <p:nvPr/>
          </p:nvSpPr>
          <p:spPr>
            <a:xfrm>
              <a:off x="1230969" y="2438897"/>
              <a:ext cx="1747582" cy="1235277"/>
            </a:xfrm>
            <a:prstGeom prst="rect">
              <a:avLst/>
            </a:prstGeom>
            <a:noFill/>
          </p:spPr>
          <p:txBody>
            <a:bodyPr wrap="square" rtlCol="0" anchor="ctr" anchorCtr="0">
              <a:normAutofit/>
            </a:bodyPr>
            <a:lstStyle/>
            <a:p>
              <a:pPr defTabSz="1371600">
                <a:buClr>
                  <a:srgbClr val="000000"/>
                </a:buClr>
                <a:buSzPct val="297213"/>
              </a:pPr>
              <a:r>
                <a:rPr lang="en-US" sz="2400" b="1"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Open Sans"/>
                </a:rPr>
                <a:t>Module 4</a:t>
              </a:r>
              <a:endParaRPr lang="en-US" sz="1575" b="1"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Arial"/>
              </a:endParaRPr>
            </a:p>
            <a:p>
              <a:pPr defTabSz="1371600">
                <a:buClr>
                  <a:srgbClr val="000000"/>
                </a:buClr>
                <a:buSzPts val="4800"/>
              </a:pPr>
              <a:r>
                <a:rPr lang="en-US" sz="1500"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Open Sans"/>
                </a:rPr>
                <a:t>An illustration of </a:t>
              </a:r>
            </a:p>
            <a:p>
              <a:pPr defTabSz="1371600">
                <a:buClr>
                  <a:srgbClr val="000000"/>
                </a:buClr>
                <a:buSzPts val="4800"/>
              </a:pPr>
              <a:r>
                <a:rPr lang="en-US" sz="1500"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Open Sans"/>
                </a:rPr>
                <a:t>Collider Bias in </a:t>
              </a:r>
            </a:p>
            <a:p>
              <a:pPr defTabSz="1371600">
                <a:buClr>
                  <a:srgbClr val="000000"/>
                </a:buClr>
                <a:buSzPts val="4800"/>
              </a:pPr>
              <a:r>
                <a:rPr lang="en-US" sz="1500"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Open Sans"/>
                </a:rPr>
                <a:t>housing research</a:t>
              </a:r>
            </a:p>
          </p:txBody>
        </p:sp>
      </p:grpSp>
      <p:grpSp>
        <p:nvGrpSpPr>
          <p:cNvPr id="14" name="Group 13">
            <a:extLst>
              <a:ext uri="{FF2B5EF4-FFF2-40B4-BE49-F238E27FC236}">
                <a16:creationId xmlns:a16="http://schemas.microsoft.com/office/drawing/2014/main" id="{220CF880-E2DD-B052-B7F2-356508E6367D}"/>
              </a:ext>
            </a:extLst>
          </p:cNvPr>
          <p:cNvGrpSpPr/>
          <p:nvPr/>
        </p:nvGrpSpPr>
        <p:grpSpPr>
          <a:xfrm>
            <a:off x="10636517" y="6332489"/>
            <a:ext cx="2743199" cy="2743200"/>
            <a:chOff x="7091011" y="4221659"/>
            <a:chExt cx="1828799" cy="1828800"/>
          </a:xfrm>
        </p:grpSpPr>
        <p:sp>
          <p:nvSpPr>
            <p:cNvPr id="17" name="Google Shape;120;p2">
              <a:extLst>
                <a:ext uri="{FF2B5EF4-FFF2-40B4-BE49-F238E27FC236}">
                  <a16:creationId xmlns:a16="http://schemas.microsoft.com/office/drawing/2014/main" id="{E313A540-22B9-0C3A-F643-4F1921FB36F2}"/>
                </a:ext>
              </a:extLst>
            </p:cNvPr>
            <p:cNvSpPr/>
            <p:nvPr/>
          </p:nvSpPr>
          <p:spPr>
            <a:xfrm rot="2700000" flipH="1">
              <a:off x="7091011" y="4221659"/>
              <a:ext cx="1828800" cy="1828799"/>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107138" tIns="53550" rIns="107138" bIns="53550" anchor="ctr" anchorCtr="0">
              <a:noAutofit/>
            </a:bodyPr>
            <a:lstStyle/>
            <a:p>
              <a:pPr algn="ctr" defTabSz="1371600">
                <a:buClr>
                  <a:srgbClr val="000000"/>
                </a:buClr>
              </a:pPr>
              <a:endParaRPr sz="2109" kern="0" dirty="0">
                <a:solidFill>
                  <a:srgbClr val="FFFFFF"/>
                </a:solidFill>
                <a:latin typeface="Arial"/>
                <a:ea typeface="Arial"/>
                <a:cs typeface="Arial"/>
                <a:sym typeface="Arial"/>
              </a:endParaRPr>
            </a:p>
          </p:txBody>
        </p:sp>
        <p:grpSp>
          <p:nvGrpSpPr>
            <p:cNvPr id="35" name="Group 34">
              <a:extLst>
                <a:ext uri="{FF2B5EF4-FFF2-40B4-BE49-F238E27FC236}">
                  <a16:creationId xmlns:a16="http://schemas.microsoft.com/office/drawing/2014/main" id="{FD8A1C60-9348-0ED8-F2CF-EA1F4D6CA0D3}"/>
                </a:ext>
              </a:extLst>
            </p:cNvPr>
            <p:cNvGrpSpPr/>
            <p:nvPr/>
          </p:nvGrpSpPr>
          <p:grpSpPr>
            <a:xfrm>
              <a:off x="7229347" y="4409020"/>
              <a:ext cx="1564364" cy="1465506"/>
              <a:chOff x="3501616" y="1534157"/>
              <a:chExt cx="2328314" cy="2181179"/>
            </a:xfrm>
          </p:grpSpPr>
          <p:pic>
            <p:nvPicPr>
              <p:cNvPr id="38" name="Picture 37" descr="A group of people in different colors&#10;&#10;AI-generated content may be incorrect.">
                <a:extLst>
                  <a:ext uri="{FF2B5EF4-FFF2-40B4-BE49-F238E27FC236}">
                    <a16:creationId xmlns:a16="http://schemas.microsoft.com/office/drawing/2014/main" id="{FD2BF944-32DC-2476-0B17-A79C88DD6B3E}"/>
                  </a:ext>
                </a:extLst>
              </p:cNvPr>
              <p:cNvPicPr>
                <a:picLocks noChangeAspect="1"/>
              </p:cNvPicPr>
              <p:nvPr/>
            </p:nvPicPr>
            <p:blipFill>
              <a:blip r:embed="rId5"/>
              <a:srcRect l="14593" t="14370" r="55902" b="26199"/>
              <a:stretch>
                <a:fillRect/>
              </a:stretch>
            </p:blipFill>
            <p:spPr>
              <a:xfrm>
                <a:off x="3501616" y="1652038"/>
                <a:ext cx="1821602" cy="2063298"/>
              </a:xfrm>
              <a:prstGeom prst="ellipse">
                <a:avLst/>
              </a:prstGeom>
            </p:spPr>
          </p:pic>
          <p:pic>
            <p:nvPicPr>
              <p:cNvPr id="39" name="Picture 38" descr="A group of people in different colors&#10;&#10;AI-generated content may be incorrect.">
                <a:extLst>
                  <a:ext uri="{FF2B5EF4-FFF2-40B4-BE49-F238E27FC236}">
                    <a16:creationId xmlns:a16="http://schemas.microsoft.com/office/drawing/2014/main" id="{516D714F-067C-B9BB-480D-57DE43CBD44C}"/>
                  </a:ext>
                </a:extLst>
              </p:cNvPr>
              <p:cNvPicPr>
                <a:picLocks noChangeAspect="1"/>
              </p:cNvPicPr>
              <p:nvPr/>
            </p:nvPicPr>
            <p:blipFill>
              <a:blip r:embed="rId5"/>
              <a:srcRect l="33568" t="12909" r="39362" b="27097"/>
              <a:stretch>
                <a:fillRect/>
              </a:stretch>
            </p:blipFill>
            <p:spPr>
              <a:xfrm>
                <a:off x="4079780" y="1534157"/>
                <a:ext cx="1750150" cy="2181179"/>
              </a:xfrm>
              <a:prstGeom prst="ellipse">
                <a:avLst/>
              </a:prstGeom>
            </p:spPr>
          </p:pic>
        </p:grpSp>
      </p:grpSp>
      <p:grpSp>
        <p:nvGrpSpPr>
          <p:cNvPr id="7" name="Group 6">
            <a:extLst>
              <a:ext uri="{FF2B5EF4-FFF2-40B4-BE49-F238E27FC236}">
                <a16:creationId xmlns:a16="http://schemas.microsoft.com/office/drawing/2014/main" id="{D758CF8A-459F-4312-9EA1-A34535907445}"/>
              </a:ext>
            </a:extLst>
          </p:cNvPr>
          <p:cNvGrpSpPr/>
          <p:nvPr/>
        </p:nvGrpSpPr>
        <p:grpSpPr>
          <a:xfrm>
            <a:off x="13449668" y="1276154"/>
            <a:ext cx="4694067" cy="1852914"/>
            <a:chOff x="860675" y="2439143"/>
            <a:chExt cx="3129378" cy="1235276"/>
          </a:xfrm>
        </p:grpSpPr>
        <p:sp>
          <p:nvSpPr>
            <p:cNvPr id="12" name="Parallelogram 11">
              <a:extLst>
                <a:ext uri="{FF2B5EF4-FFF2-40B4-BE49-F238E27FC236}">
                  <a16:creationId xmlns:a16="http://schemas.microsoft.com/office/drawing/2014/main" id="{B54F081B-B9E8-ACDC-B2E3-3CDFAF8D7B14}"/>
                </a:ext>
              </a:extLst>
            </p:cNvPr>
            <p:cNvSpPr/>
            <p:nvPr/>
          </p:nvSpPr>
          <p:spPr>
            <a:xfrm>
              <a:off x="860675" y="2439143"/>
              <a:ext cx="3129378" cy="1235276"/>
            </a:xfrm>
            <a:prstGeom prst="parallelogram">
              <a:avLst/>
            </a:prstGeom>
            <a:solidFill>
              <a:schemeClr val="bg2">
                <a:lumMod val="25000"/>
                <a:lumOff val="75000"/>
              </a:schemeClr>
            </a:solidFill>
            <a:ln w="28575">
              <a:noFill/>
            </a:ln>
          </p:spPr>
          <p:style>
            <a:lnRef idx="2">
              <a:schemeClr val="accent1">
                <a:shade val="15000"/>
              </a:schemeClr>
            </a:lnRef>
            <a:fillRef idx="1">
              <a:schemeClr val="accent1"/>
            </a:fillRef>
            <a:effectRef idx="0">
              <a:schemeClr val="accent1"/>
            </a:effectRef>
            <a:fontRef idx="minor">
              <a:schemeClr val="lt1"/>
            </a:fontRef>
          </p:style>
          <p:txBody>
            <a:bodyPr lIns="822960" rIns="0" rtlCol="0" anchor="ctr"/>
            <a:lstStyle/>
            <a:p>
              <a:pPr marL="411480" algn="r" defTabSz="1371600">
                <a:buClr>
                  <a:srgbClr val="000000"/>
                </a:buClr>
              </a:pPr>
              <a:endParaRPr lang="en-US" sz="1350" kern="0" dirty="0">
                <a:solidFill>
                  <a:srgbClr val="FFFFFF"/>
                </a:solidFill>
                <a:latin typeface="Arial"/>
                <a:cs typeface="Arial"/>
                <a:sym typeface="Arial"/>
              </a:endParaRPr>
            </a:p>
          </p:txBody>
        </p:sp>
        <p:sp>
          <p:nvSpPr>
            <p:cNvPr id="29" name="TextBox 28">
              <a:extLst>
                <a:ext uri="{FF2B5EF4-FFF2-40B4-BE49-F238E27FC236}">
                  <a16:creationId xmlns:a16="http://schemas.microsoft.com/office/drawing/2014/main" id="{56B355B8-EA5A-B358-D52B-0D0BC6ECA437}"/>
                </a:ext>
              </a:extLst>
            </p:cNvPr>
            <p:cNvSpPr txBox="1"/>
            <p:nvPr/>
          </p:nvSpPr>
          <p:spPr>
            <a:xfrm>
              <a:off x="2260542" y="2439144"/>
              <a:ext cx="1489933" cy="1235275"/>
            </a:xfrm>
            <a:prstGeom prst="rect">
              <a:avLst/>
            </a:prstGeom>
            <a:noFill/>
          </p:spPr>
          <p:txBody>
            <a:bodyPr wrap="square" rtlCol="0" anchor="ctr" anchorCtr="0">
              <a:normAutofit/>
            </a:bodyPr>
            <a:lstStyle/>
            <a:p>
              <a:pPr algn="r" defTabSz="1371600">
                <a:buClr>
                  <a:srgbClr val="000000"/>
                </a:buClr>
                <a:buSzPct val="297213"/>
              </a:pPr>
              <a:r>
                <a:rPr lang="en-US" sz="2400" b="1"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Open Sans"/>
                </a:rPr>
                <a:t>Module 5</a:t>
              </a:r>
              <a:endParaRPr lang="en-US" sz="1575" b="1"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Arial"/>
              </a:endParaRPr>
            </a:p>
            <a:p>
              <a:pPr algn="r" defTabSz="1371600">
                <a:buClr>
                  <a:srgbClr val="000000"/>
                </a:buClr>
                <a:buSzPts val="4800"/>
              </a:pPr>
              <a:r>
                <a:rPr lang="en-US" sz="1500" kern="0" dirty="0">
                  <a:solidFill>
                    <a:srgbClr val="0F9ED5">
                      <a:lumMod val="50000"/>
                    </a:srgbClr>
                  </a:solidFill>
                  <a:latin typeface="Open Sans" panose="020B0606030504020204" pitchFamily="34" charset="0"/>
                  <a:ea typeface="Open Sans" panose="020B0606030504020204" pitchFamily="34" charset="0"/>
                  <a:cs typeface="Open Sans" panose="020B0606030504020204" pitchFamily="34" charset="0"/>
                  <a:sym typeface="Open Sans"/>
                </a:rPr>
                <a:t>Recommendations to address constraints and bias in Integrated Data Analytics</a:t>
              </a:r>
            </a:p>
          </p:txBody>
        </p:sp>
      </p:grpSp>
      <p:grpSp>
        <p:nvGrpSpPr>
          <p:cNvPr id="30" name="Group 29">
            <a:extLst>
              <a:ext uri="{FF2B5EF4-FFF2-40B4-BE49-F238E27FC236}">
                <a16:creationId xmlns:a16="http://schemas.microsoft.com/office/drawing/2014/main" id="{0AB194AF-46CC-EA05-4610-AAF4D7AA2B10}"/>
              </a:ext>
            </a:extLst>
          </p:cNvPr>
          <p:cNvGrpSpPr/>
          <p:nvPr/>
        </p:nvGrpSpPr>
        <p:grpSpPr>
          <a:xfrm>
            <a:off x="12776306" y="690534"/>
            <a:ext cx="2743200" cy="2743200"/>
            <a:chOff x="8969838" y="563282"/>
            <a:chExt cx="1828800" cy="1828800"/>
          </a:xfrm>
        </p:grpSpPr>
        <p:sp>
          <p:nvSpPr>
            <p:cNvPr id="31" name="Google Shape;120;p2">
              <a:extLst>
                <a:ext uri="{FF2B5EF4-FFF2-40B4-BE49-F238E27FC236}">
                  <a16:creationId xmlns:a16="http://schemas.microsoft.com/office/drawing/2014/main" id="{69CE53DF-F991-3847-6FC6-F60714197F95}"/>
                </a:ext>
              </a:extLst>
            </p:cNvPr>
            <p:cNvSpPr/>
            <p:nvPr/>
          </p:nvSpPr>
          <p:spPr>
            <a:xfrm rot="13500000" flipH="1">
              <a:off x="8969838" y="563282"/>
              <a:ext cx="1828800" cy="1828800"/>
            </a:xfrm>
            <a:prstGeom prst="teardrop">
              <a:avLst>
                <a:gd name="adj" fmla="val 131496"/>
              </a:avLst>
            </a:prstGeom>
            <a:solidFill>
              <a:schemeClr val="bg2">
                <a:lumMod val="10000"/>
                <a:lumOff val="90000"/>
              </a:schemeClr>
            </a:solidFill>
            <a:ln w="57150" cap="flat" cmpd="sng">
              <a:solidFill>
                <a:schemeClr val="bg2">
                  <a:lumMod val="25000"/>
                  <a:lumOff val="75000"/>
                </a:schemeClr>
              </a:solidFill>
              <a:prstDash val="solid"/>
              <a:round/>
              <a:headEnd type="none" w="sm" len="sm"/>
              <a:tailEnd type="none" w="sm" len="sm"/>
            </a:ln>
          </p:spPr>
          <p:txBody>
            <a:bodyPr spcFirstLastPara="1" wrap="square" lIns="107138" tIns="53550" rIns="107138" bIns="53550" anchor="ctr" anchorCtr="0">
              <a:noAutofit/>
            </a:bodyPr>
            <a:lstStyle/>
            <a:p>
              <a:pPr algn="ctr" defTabSz="1371600">
                <a:buClr>
                  <a:srgbClr val="000000"/>
                </a:buClr>
              </a:pPr>
              <a:endParaRPr sz="2109" kern="0" dirty="0">
                <a:solidFill>
                  <a:srgbClr val="FFFFFF"/>
                </a:solidFill>
                <a:latin typeface="Arial"/>
                <a:ea typeface="Arial"/>
                <a:cs typeface="Arial"/>
                <a:sym typeface="Arial"/>
              </a:endParaRPr>
            </a:p>
          </p:txBody>
        </p:sp>
        <p:pic>
          <p:nvPicPr>
            <p:cNvPr id="33" name="Picture 32" descr="A diagram of data analysis&#10;&#10;AI-generated content may be incorrect.">
              <a:extLst>
                <a:ext uri="{FF2B5EF4-FFF2-40B4-BE49-F238E27FC236}">
                  <a16:creationId xmlns:a16="http://schemas.microsoft.com/office/drawing/2014/main" id="{38AF4F97-62BD-3F1C-6DD0-6B99FED6E361}"/>
                </a:ext>
              </a:extLst>
            </p:cNvPr>
            <p:cNvPicPr>
              <a:picLocks noChangeAspect="1"/>
            </p:cNvPicPr>
            <p:nvPr/>
          </p:nvPicPr>
          <p:blipFill>
            <a:blip r:embed="rId6"/>
            <a:stretch>
              <a:fillRect/>
            </a:stretch>
          </p:blipFill>
          <p:spPr>
            <a:xfrm>
              <a:off x="9138924" y="1048721"/>
              <a:ext cx="1490628" cy="875916"/>
            </a:xfrm>
            <a:prstGeom prst="rect">
              <a:avLst/>
            </a:prstGeom>
          </p:spPr>
        </p:pic>
      </p:grpSp>
    </p:spTree>
    <p:extLst>
      <p:ext uri="{BB962C8B-B14F-4D97-AF65-F5344CB8AC3E}">
        <p14:creationId xmlns:p14="http://schemas.microsoft.com/office/powerpoint/2010/main" val="1740742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a335ef999a_0_92"/>
          <p:cNvSpPr txBox="1"/>
          <p:nvPr/>
        </p:nvSpPr>
        <p:spPr>
          <a:xfrm>
            <a:off x="1224650" y="4420850"/>
            <a:ext cx="9271200" cy="1200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6600" b="1">
                <a:solidFill>
                  <a:srgbClr val="001B83"/>
                </a:solidFill>
                <a:latin typeface="Open Sans"/>
                <a:ea typeface="Open Sans"/>
                <a:cs typeface="Open Sans"/>
                <a:sym typeface="Open Sans"/>
              </a:rPr>
              <a:t>Meet Aaron</a:t>
            </a:r>
            <a:endParaRPr sz="4800" b="1">
              <a:solidFill>
                <a:srgbClr val="001B83"/>
              </a:solidFill>
              <a:latin typeface="Open Sans"/>
              <a:ea typeface="Open Sans"/>
              <a:cs typeface="Open Sans"/>
              <a:sym typeface="Open Sans"/>
            </a:endParaRPr>
          </a:p>
        </p:txBody>
      </p:sp>
      <p:pic>
        <p:nvPicPr>
          <p:cNvPr id="198" name="Google Shape;198;g3a335ef999a_0_92" title="waving.jpg"/>
          <p:cNvPicPr preferRelativeResize="0"/>
          <p:nvPr/>
        </p:nvPicPr>
        <p:blipFill rotWithShape="1">
          <a:blip r:embed="rId5">
            <a:alphaModFix/>
          </a:blip>
          <a:srcRect l="32928" r="25574" b="41221"/>
          <a:stretch/>
        </p:blipFill>
        <p:spPr>
          <a:xfrm>
            <a:off x="9175104" y="2605150"/>
            <a:ext cx="5423427" cy="7681848"/>
          </a:xfrm>
          <a:prstGeom prst="rect">
            <a:avLst/>
          </a:prstGeom>
          <a:noFill/>
          <a:ln>
            <a:noFill/>
          </a:ln>
        </p:spPr>
      </p:pic>
      <p:pic>
        <p:nvPicPr>
          <p:cNvPr id="5" name="Audio 4">
            <a:extLst>
              <a:ext uri="{FF2B5EF4-FFF2-40B4-BE49-F238E27FC236}">
                <a16:creationId xmlns:a16="http://schemas.microsoft.com/office/drawing/2014/main" id="{00526E9F-540A-508D-F1FB-2377E0C33BA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878890DC-BBD5-20BB-424E-D0DB0202258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3</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7735"/>
    </mc:Choice>
    <mc:Fallback xmlns="">
      <p:transition spd="slow" advTm="773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84545001-B948-A3C7-9CBB-90A1571C70C0}"/>
            </a:ext>
          </a:extLst>
        </p:cNvPr>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10D2EF9B-0C07-DCB9-781D-C2244F0B2789}"/>
              </a:ext>
            </a:extLst>
          </p:cNvPr>
          <p:cNvCxnSpPr/>
          <p:nvPr/>
        </p:nvCxnSpPr>
        <p:spPr>
          <a:xfrm>
            <a:off x="1400459" y="1175844"/>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sp>
        <p:nvSpPr>
          <p:cNvPr id="203" name="Google Shape;203;g3a335ef999a_0_187">
            <a:extLst>
              <a:ext uri="{FF2B5EF4-FFF2-40B4-BE49-F238E27FC236}">
                <a16:creationId xmlns:a16="http://schemas.microsoft.com/office/drawing/2014/main" id="{D7DC66A3-159C-2BBE-A061-B4704D5E3C3E}"/>
              </a:ext>
            </a:extLst>
          </p:cNvPr>
          <p:cNvSpPr/>
          <p:nvPr/>
        </p:nvSpPr>
        <p:spPr>
          <a:xfrm rot="5400000">
            <a:off x="-3886200" y="4343401"/>
            <a:ext cx="10058400" cy="1371600"/>
          </a:xfrm>
          <a:prstGeom prst="rightArrow">
            <a:avLst>
              <a:gd name="adj1" fmla="val 36508"/>
              <a:gd name="adj2" fmla="val 81731"/>
            </a:avLst>
          </a:prstGeom>
          <a:solidFill>
            <a:srgbClr val="001B83"/>
          </a:solidFill>
          <a:ln w="25400" cap="flat" cmpd="sng">
            <a:solidFill>
              <a:srgbClr val="001B83"/>
            </a:solidFill>
            <a:prstDash val="solid"/>
            <a:round/>
            <a:headEnd type="none" w="sm" len="sm"/>
            <a:tailEnd type="none" w="sm" len="sm"/>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rgbClr val="FFFFFF"/>
              </a:solidFill>
              <a:latin typeface="Arial"/>
              <a:ea typeface="Arial"/>
              <a:cs typeface="Arial"/>
              <a:sym typeface="Arial"/>
            </a:endParaRPr>
          </a:p>
        </p:txBody>
      </p:sp>
      <p:sp>
        <p:nvSpPr>
          <p:cNvPr id="209" name="Google Shape;209;g3a335ef999a_0_187">
            <a:extLst>
              <a:ext uri="{FF2B5EF4-FFF2-40B4-BE49-F238E27FC236}">
                <a16:creationId xmlns:a16="http://schemas.microsoft.com/office/drawing/2014/main" id="{ED203979-ADAF-3FEB-24F9-7909D274CB5B}"/>
              </a:ext>
            </a:extLst>
          </p:cNvPr>
          <p:cNvSpPr txBox="1"/>
          <p:nvPr/>
        </p:nvSpPr>
        <p:spPr>
          <a:xfrm>
            <a:off x="9438617" y="1600236"/>
            <a:ext cx="4704765" cy="7086525"/>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3000" dirty="0">
                <a:solidFill>
                  <a:schemeClr val="dk1"/>
                </a:solidFill>
                <a:latin typeface="Open Sans"/>
                <a:ea typeface="Open Sans"/>
                <a:cs typeface="Open Sans"/>
                <a:sym typeface="Open Sans"/>
              </a:rPr>
              <a:t>Aaron doesn’t know much about their early years, though they know their parents had them very young and struggled to make ends meet. Neither of Aaron’s parents had any family that lived nearby, so Aaron knows that they sometimes got help from food pantries and federal programs, like SNAP.</a:t>
            </a:r>
            <a:endParaRPr sz="1200" dirty="0"/>
          </a:p>
        </p:txBody>
      </p:sp>
      <p:pic>
        <p:nvPicPr>
          <p:cNvPr id="218" name="Google Shape;218;g3a335ef999a_0_187" title="waving.jpg">
            <a:extLst>
              <a:ext uri="{FF2B5EF4-FFF2-40B4-BE49-F238E27FC236}">
                <a16:creationId xmlns:a16="http://schemas.microsoft.com/office/drawing/2014/main" id="{99BBED7D-20E0-F8D6-10A1-E19963F99002}"/>
              </a:ext>
            </a:extLst>
          </p:cNvPr>
          <p:cNvPicPr preferRelativeResize="0"/>
          <p:nvPr/>
        </p:nvPicPr>
        <p:blipFill rotWithShape="1">
          <a:blip r:embed="rId5">
            <a:alphaModFix/>
          </a:blip>
          <a:srcRect l="27726" r="29199"/>
          <a:stretch/>
        </p:blipFill>
        <p:spPr>
          <a:xfrm>
            <a:off x="14296595" y="1217250"/>
            <a:ext cx="3382349" cy="7852498"/>
          </a:xfrm>
          <a:prstGeom prst="rect">
            <a:avLst/>
          </a:prstGeom>
          <a:noFill/>
          <a:ln>
            <a:noFill/>
          </a:ln>
        </p:spPr>
      </p:pic>
      <p:sp>
        <p:nvSpPr>
          <p:cNvPr id="10" name="Rounded Rectangle 9">
            <a:extLst>
              <a:ext uri="{FF2B5EF4-FFF2-40B4-BE49-F238E27FC236}">
                <a16:creationId xmlns:a16="http://schemas.microsoft.com/office/drawing/2014/main" id="{80BF97D5-9FBD-940C-BA32-53C9139B4178}"/>
              </a:ext>
            </a:extLst>
          </p:cNvPr>
          <p:cNvSpPr/>
          <p:nvPr/>
        </p:nvSpPr>
        <p:spPr>
          <a:xfrm>
            <a:off x="228600" y="536366"/>
            <a:ext cx="1828800" cy="914400"/>
          </a:xfrm>
          <a:prstGeom prst="roundRect">
            <a:avLst/>
          </a:prstGeom>
          <a:solidFill>
            <a:srgbClr val="FFDC5D"/>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2005</a:t>
            </a:r>
            <a:endParaRPr lang="en-US" sz="2400" b="1" dirty="0">
              <a:solidFill>
                <a:srgbClr val="001B83"/>
              </a:solidFill>
              <a:latin typeface="Open Sans" panose="020B0606030504020204" pitchFamily="34" charset="0"/>
              <a:ea typeface="Open Sans" panose="020B0606030504020204" pitchFamily="34" charset="0"/>
              <a:cs typeface="Open Sans" panose="020B0606030504020204" pitchFamily="34" charset="0"/>
            </a:endParaRPr>
          </a:p>
          <a:p>
            <a:pPr algn="ctr"/>
            <a:r>
              <a:rPr lang="en-US" dirty="0">
                <a:solidFill>
                  <a:srgbClr val="001B83"/>
                </a:solidFill>
                <a:latin typeface="Open Sans" panose="020B0606030504020204" pitchFamily="34" charset="0"/>
                <a:ea typeface="Open Sans" panose="020B0606030504020204" pitchFamily="34" charset="0"/>
                <a:cs typeface="Open Sans" panose="020B0606030504020204" pitchFamily="34" charset="0"/>
              </a:rPr>
              <a:t>Birth</a:t>
            </a:r>
          </a:p>
        </p:txBody>
      </p:sp>
      <p:sp>
        <p:nvSpPr>
          <p:cNvPr id="33" name="Google Shape;207;g3a335ef999a_0_187">
            <a:extLst>
              <a:ext uri="{FF2B5EF4-FFF2-40B4-BE49-F238E27FC236}">
                <a16:creationId xmlns:a16="http://schemas.microsoft.com/office/drawing/2014/main" id="{0824B6D7-CD79-E16A-F4AC-BE83CA3FC31B}"/>
              </a:ext>
            </a:extLst>
          </p:cNvPr>
          <p:cNvSpPr/>
          <p:nvPr/>
        </p:nvSpPr>
        <p:spPr>
          <a:xfrm>
            <a:off x="4563535" y="3237011"/>
            <a:ext cx="3503285" cy="1803703"/>
          </a:xfrm>
          <a:prstGeom prst="roundRect">
            <a:avLst>
              <a:gd name="adj" fmla="val 16667"/>
            </a:avLst>
          </a:prstGeom>
          <a:solidFill>
            <a:schemeClr val="bg2">
              <a:lumMod val="9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pic>
        <p:nvPicPr>
          <p:cNvPr id="34" name="Google Shape;212;g3a335ef999a_0_187">
            <a:extLst>
              <a:ext uri="{FF2B5EF4-FFF2-40B4-BE49-F238E27FC236}">
                <a16:creationId xmlns:a16="http://schemas.microsoft.com/office/drawing/2014/main" id="{E28B5AC1-C94B-152A-1AA9-B13BA521B1E0}"/>
              </a:ext>
            </a:extLst>
          </p:cNvPr>
          <p:cNvPicPr preferRelativeResize="0"/>
          <p:nvPr/>
        </p:nvPicPr>
        <p:blipFill rotWithShape="1">
          <a:blip r:embed="rId6">
            <a:alphaModFix/>
          </a:blip>
          <a:srcRect l="9031" t="8905" r="11603" b="20636"/>
          <a:stretch/>
        </p:blipFill>
        <p:spPr>
          <a:xfrm>
            <a:off x="4201433" y="2805284"/>
            <a:ext cx="878778" cy="875220"/>
          </a:xfrm>
          <a:prstGeom prst="ellipse">
            <a:avLst/>
          </a:prstGeom>
          <a:noFill/>
          <a:ln w="28575" cap="flat" cmpd="sng">
            <a:solidFill>
              <a:srgbClr val="001B83"/>
            </a:solidFill>
            <a:prstDash val="solid"/>
            <a:round/>
            <a:headEnd type="none" w="sm" len="sm"/>
            <a:tailEnd type="none" w="sm" len="sm"/>
          </a:ln>
        </p:spPr>
      </p:pic>
      <p:sp>
        <p:nvSpPr>
          <p:cNvPr id="35" name="Google Shape;207;g3a335ef999a_0_187">
            <a:extLst>
              <a:ext uri="{FF2B5EF4-FFF2-40B4-BE49-F238E27FC236}">
                <a16:creationId xmlns:a16="http://schemas.microsoft.com/office/drawing/2014/main" id="{415A0B0E-71F0-801D-A550-267B3095B07D}"/>
              </a:ext>
            </a:extLst>
          </p:cNvPr>
          <p:cNvSpPr/>
          <p:nvPr/>
        </p:nvSpPr>
        <p:spPr>
          <a:xfrm>
            <a:off x="5281881" y="3044195"/>
            <a:ext cx="3096071" cy="570277"/>
          </a:xfrm>
          <a:prstGeom prst="roundRect">
            <a:avLst>
              <a:gd name="adj" fmla="val 27612"/>
            </a:avLst>
          </a:prstGeom>
          <a:solidFill>
            <a:schemeClr val="bg2">
              <a:lumMod val="5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SNAP</a:t>
            </a:r>
            <a:r>
              <a:rPr lang="en-US" sz="2000" i="0" u="none" strike="noStrike" cap="none" dirty="0">
                <a:solidFill>
                  <a:schemeClr val="bg1"/>
                </a:solidFill>
                <a:latin typeface="Open Sans"/>
                <a:ea typeface="Open Sans"/>
                <a:cs typeface="Open Sans"/>
                <a:sym typeface="Open Sans"/>
              </a:rPr>
              <a:t> - Family Profile</a:t>
            </a:r>
          </a:p>
        </p:txBody>
      </p:sp>
      <p:graphicFrame>
        <p:nvGraphicFramePr>
          <p:cNvPr id="36" name="Table 35">
            <a:extLst>
              <a:ext uri="{FF2B5EF4-FFF2-40B4-BE49-F238E27FC236}">
                <a16:creationId xmlns:a16="http://schemas.microsoft.com/office/drawing/2014/main" id="{F40B8265-17AF-B0D3-E339-DF7BC02687B8}"/>
              </a:ext>
            </a:extLst>
          </p:cNvPr>
          <p:cNvGraphicFramePr>
            <a:graphicFrameLocks noGrp="1"/>
          </p:cNvGraphicFramePr>
          <p:nvPr>
            <p:extLst>
              <p:ext uri="{D42A27DB-BD31-4B8C-83A1-F6EECF244321}">
                <p14:modId xmlns:p14="http://schemas.microsoft.com/office/powerpoint/2010/main" val="1929716401"/>
              </p:ext>
            </p:extLst>
          </p:nvPr>
        </p:nvGraphicFramePr>
        <p:xfrm>
          <a:off x="4874595" y="3658892"/>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Black</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Non-Hispanic</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Male</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cxnSp>
        <p:nvCxnSpPr>
          <p:cNvPr id="45" name="Straight Arrow Connector 44">
            <a:extLst>
              <a:ext uri="{FF2B5EF4-FFF2-40B4-BE49-F238E27FC236}">
                <a16:creationId xmlns:a16="http://schemas.microsoft.com/office/drawing/2014/main" id="{B220AFB9-7244-F1E2-1186-E1E2A368CD60}"/>
              </a:ext>
            </a:extLst>
          </p:cNvPr>
          <p:cNvCxnSpPr/>
          <p:nvPr/>
        </p:nvCxnSpPr>
        <p:spPr>
          <a:xfrm>
            <a:off x="1400459" y="3952630"/>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D516286-76FA-1E91-0775-99C892C3AF95}"/>
              </a:ext>
            </a:extLst>
          </p:cNvPr>
          <p:cNvCxnSpPr/>
          <p:nvPr/>
        </p:nvCxnSpPr>
        <p:spPr>
          <a:xfrm>
            <a:off x="1400459" y="6241727"/>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BC076CF-FF08-58D3-B704-CD0D92DA9D45}"/>
              </a:ext>
            </a:extLst>
          </p:cNvPr>
          <p:cNvCxnSpPr/>
          <p:nvPr/>
        </p:nvCxnSpPr>
        <p:spPr>
          <a:xfrm>
            <a:off x="1400459" y="8627125"/>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sp>
        <p:nvSpPr>
          <p:cNvPr id="48" name="Google Shape;207;g3a335ef999a_0_187">
            <a:extLst>
              <a:ext uri="{FF2B5EF4-FFF2-40B4-BE49-F238E27FC236}">
                <a16:creationId xmlns:a16="http://schemas.microsoft.com/office/drawing/2014/main" id="{7FE4F724-A951-E93D-58FA-2BC074038313}"/>
              </a:ext>
            </a:extLst>
          </p:cNvPr>
          <p:cNvSpPr/>
          <p:nvPr/>
        </p:nvSpPr>
        <p:spPr>
          <a:xfrm>
            <a:off x="4563535" y="811863"/>
            <a:ext cx="3503285" cy="1803703"/>
          </a:xfrm>
          <a:prstGeom prst="roundRect">
            <a:avLst>
              <a:gd name="adj" fmla="val 16667"/>
            </a:avLst>
          </a:prstGeom>
          <a:solidFill>
            <a:schemeClr val="accent1">
              <a:lumMod val="40000"/>
              <a:lumOff val="6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pic>
        <p:nvPicPr>
          <p:cNvPr id="49" name="Google Shape;212;g3a335ef999a_0_187">
            <a:extLst>
              <a:ext uri="{FF2B5EF4-FFF2-40B4-BE49-F238E27FC236}">
                <a16:creationId xmlns:a16="http://schemas.microsoft.com/office/drawing/2014/main" id="{0E28F3EC-1DD8-CC7F-E179-29C5CA30D3C3}"/>
              </a:ext>
            </a:extLst>
          </p:cNvPr>
          <p:cNvPicPr preferRelativeResize="0"/>
          <p:nvPr/>
        </p:nvPicPr>
        <p:blipFill rotWithShape="1">
          <a:blip r:embed="rId6">
            <a:alphaModFix/>
          </a:blip>
          <a:srcRect l="9031" t="8905" r="11603" b="20636"/>
          <a:stretch/>
        </p:blipFill>
        <p:spPr>
          <a:xfrm>
            <a:off x="4201433" y="380136"/>
            <a:ext cx="878778" cy="875220"/>
          </a:xfrm>
          <a:prstGeom prst="ellipse">
            <a:avLst/>
          </a:prstGeom>
          <a:noFill/>
          <a:ln w="28575" cap="flat" cmpd="sng">
            <a:solidFill>
              <a:srgbClr val="001B83"/>
            </a:solidFill>
            <a:prstDash val="solid"/>
            <a:round/>
            <a:headEnd type="none" w="sm" len="sm"/>
            <a:tailEnd type="none" w="sm" len="sm"/>
          </a:ln>
        </p:spPr>
      </p:pic>
      <p:sp>
        <p:nvSpPr>
          <p:cNvPr id="50" name="Google Shape;207;g3a335ef999a_0_187">
            <a:extLst>
              <a:ext uri="{FF2B5EF4-FFF2-40B4-BE49-F238E27FC236}">
                <a16:creationId xmlns:a16="http://schemas.microsoft.com/office/drawing/2014/main" id="{B7F46B97-F109-4C67-B246-27308D258B96}"/>
              </a:ext>
            </a:extLst>
          </p:cNvPr>
          <p:cNvSpPr/>
          <p:nvPr/>
        </p:nvSpPr>
        <p:spPr>
          <a:xfrm>
            <a:off x="5281881" y="619047"/>
            <a:ext cx="3096071" cy="570277"/>
          </a:xfrm>
          <a:prstGeom prst="roundRect">
            <a:avLst>
              <a:gd name="adj" fmla="val 27612"/>
            </a:avLst>
          </a:prstGeom>
          <a:solidFill>
            <a:schemeClr val="accent1"/>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HMIS</a:t>
            </a:r>
            <a:r>
              <a:rPr lang="en-US" sz="2000" i="0" u="none" strike="noStrike" cap="none" dirty="0">
                <a:solidFill>
                  <a:schemeClr val="bg1"/>
                </a:solidFill>
                <a:latin typeface="Open Sans"/>
                <a:ea typeface="Open Sans"/>
                <a:cs typeface="Open Sans"/>
                <a:sym typeface="Open Sans"/>
              </a:rPr>
              <a:t> - Family Profile</a:t>
            </a:r>
          </a:p>
        </p:txBody>
      </p:sp>
      <p:graphicFrame>
        <p:nvGraphicFramePr>
          <p:cNvPr id="51" name="Table 50">
            <a:extLst>
              <a:ext uri="{FF2B5EF4-FFF2-40B4-BE49-F238E27FC236}">
                <a16:creationId xmlns:a16="http://schemas.microsoft.com/office/drawing/2014/main" id="{6CC4153C-4CA4-C70D-3931-3BD88766510B}"/>
              </a:ext>
            </a:extLst>
          </p:cNvPr>
          <p:cNvGraphicFramePr>
            <a:graphicFrameLocks noGrp="1"/>
          </p:cNvGraphicFramePr>
          <p:nvPr>
            <p:extLst>
              <p:ext uri="{D42A27DB-BD31-4B8C-83A1-F6EECF244321}">
                <p14:modId xmlns:p14="http://schemas.microsoft.com/office/powerpoint/2010/main" val="983499741"/>
              </p:ext>
            </p:extLst>
          </p:nvPr>
        </p:nvGraphicFramePr>
        <p:xfrm>
          <a:off x="4874595" y="1233744"/>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Black</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Unknown</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Male</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sp>
        <p:nvSpPr>
          <p:cNvPr id="52" name="Google Shape;207;g3a335ef999a_0_187">
            <a:extLst>
              <a:ext uri="{FF2B5EF4-FFF2-40B4-BE49-F238E27FC236}">
                <a16:creationId xmlns:a16="http://schemas.microsoft.com/office/drawing/2014/main" id="{775B18BE-65F4-16BE-D9F8-273EDA6D98BC}"/>
              </a:ext>
            </a:extLst>
          </p:cNvPr>
          <p:cNvSpPr/>
          <p:nvPr/>
        </p:nvSpPr>
        <p:spPr>
          <a:xfrm>
            <a:off x="4563535" y="8087307"/>
            <a:ext cx="3503285" cy="1803703"/>
          </a:xfrm>
          <a:prstGeom prst="roundRect">
            <a:avLst>
              <a:gd name="adj" fmla="val 16667"/>
            </a:avLst>
          </a:prstGeom>
          <a:solidFill>
            <a:schemeClr val="bg2">
              <a:lumMod val="9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pic>
        <p:nvPicPr>
          <p:cNvPr id="53" name="Google Shape;212;g3a335ef999a_0_187">
            <a:extLst>
              <a:ext uri="{FF2B5EF4-FFF2-40B4-BE49-F238E27FC236}">
                <a16:creationId xmlns:a16="http://schemas.microsoft.com/office/drawing/2014/main" id="{1DB27628-EA20-1C1A-F80B-3CBCBF12F08C}"/>
              </a:ext>
            </a:extLst>
          </p:cNvPr>
          <p:cNvPicPr preferRelativeResize="0"/>
          <p:nvPr/>
        </p:nvPicPr>
        <p:blipFill rotWithShape="1">
          <a:blip r:embed="rId6">
            <a:alphaModFix/>
          </a:blip>
          <a:srcRect l="9031" t="8905" r="11603" b="20636"/>
          <a:stretch/>
        </p:blipFill>
        <p:spPr>
          <a:xfrm>
            <a:off x="4201433" y="7655580"/>
            <a:ext cx="878778" cy="875220"/>
          </a:xfrm>
          <a:prstGeom prst="ellipse">
            <a:avLst/>
          </a:prstGeom>
          <a:noFill/>
          <a:ln w="28575" cap="flat" cmpd="sng">
            <a:solidFill>
              <a:srgbClr val="001B83"/>
            </a:solidFill>
            <a:prstDash val="solid"/>
            <a:round/>
            <a:headEnd type="none" w="sm" len="sm"/>
            <a:tailEnd type="none" w="sm" len="sm"/>
          </a:ln>
        </p:spPr>
      </p:pic>
      <p:sp>
        <p:nvSpPr>
          <p:cNvPr id="54" name="Google Shape;207;g3a335ef999a_0_187">
            <a:extLst>
              <a:ext uri="{FF2B5EF4-FFF2-40B4-BE49-F238E27FC236}">
                <a16:creationId xmlns:a16="http://schemas.microsoft.com/office/drawing/2014/main" id="{D13FA434-F866-536C-7D96-F25F8D05F0AF}"/>
              </a:ext>
            </a:extLst>
          </p:cNvPr>
          <p:cNvSpPr/>
          <p:nvPr/>
        </p:nvSpPr>
        <p:spPr>
          <a:xfrm>
            <a:off x="5281881" y="7894491"/>
            <a:ext cx="3096071" cy="570277"/>
          </a:xfrm>
          <a:prstGeom prst="roundRect">
            <a:avLst>
              <a:gd name="adj" fmla="val 27612"/>
            </a:avLst>
          </a:prstGeom>
          <a:solidFill>
            <a:schemeClr val="bg2">
              <a:lumMod val="5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SNAP</a:t>
            </a:r>
            <a:r>
              <a:rPr lang="en-US" sz="2000" i="0" u="none" strike="noStrike" cap="none" dirty="0">
                <a:solidFill>
                  <a:schemeClr val="bg1"/>
                </a:solidFill>
                <a:latin typeface="Open Sans"/>
                <a:ea typeface="Open Sans"/>
                <a:cs typeface="Open Sans"/>
                <a:sym typeface="Open Sans"/>
              </a:rPr>
              <a:t> - Family Profile</a:t>
            </a:r>
          </a:p>
        </p:txBody>
      </p:sp>
      <p:graphicFrame>
        <p:nvGraphicFramePr>
          <p:cNvPr id="55" name="Table 54">
            <a:extLst>
              <a:ext uri="{FF2B5EF4-FFF2-40B4-BE49-F238E27FC236}">
                <a16:creationId xmlns:a16="http://schemas.microsoft.com/office/drawing/2014/main" id="{4ECF2C9E-A361-FA51-5792-23390A465CB8}"/>
              </a:ext>
            </a:extLst>
          </p:cNvPr>
          <p:cNvGraphicFramePr>
            <a:graphicFrameLocks noGrp="1"/>
          </p:cNvGraphicFramePr>
          <p:nvPr>
            <p:extLst>
              <p:ext uri="{D42A27DB-BD31-4B8C-83A1-F6EECF244321}">
                <p14:modId xmlns:p14="http://schemas.microsoft.com/office/powerpoint/2010/main" val="2095319432"/>
              </p:ext>
            </p:extLst>
          </p:nvPr>
        </p:nvGraphicFramePr>
        <p:xfrm>
          <a:off x="4874595" y="8509188"/>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Multi-Racial</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Non-Hispanic</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Male</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sp>
        <p:nvSpPr>
          <p:cNvPr id="56" name="Google Shape;207;g3a335ef999a_0_187">
            <a:extLst>
              <a:ext uri="{FF2B5EF4-FFF2-40B4-BE49-F238E27FC236}">
                <a16:creationId xmlns:a16="http://schemas.microsoft.com/office/drawing/2014/main" id="{A1D13A24-1BF7-A456-7713-14B62CB38943}"/>
              </a:ext>
            </a:extLst>
          </p:cNvPr>
          <p:cNvSpPr/>
          <p:nvPr/>
        </p:nvSpPr>
        <p:spPr>
          <a:xfrm>
            <a:off x="4563535" y="5662159"/>
            <a:ext cx="3503285" cy="1803703"/>
          </a:xfrm>
          <a:prstGeom prst="roundRect">
            <a:avLst>
              <a:gd name="adj" fmla="val 16667"/>
            </a:avLst>
          </a:prstGeom>
          <a:solidFill>
            <a:schemeClr val="accent1">
              <a:lumMod val="40000"/>
              <a:lumOff val="6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pic>
        <p:nvPicPr>
          <p:cNvPr id="57" name="Google Shape;212;g3a335ef999a_0_187">
            <a:extLst>
              <a:ext uri="{FF2B5EF4-FFF2-40B4-BE49-F238E27FC236}">
                <a16:creationId xmlns:a16="http://schemas.microsoft.com/office/drawing/2014/main" id="{7F283189-8C56-1C28-176B-10D9B5743838}"/>
              </a:ext>
            </a:extLst>
          </p:cNvPr>
          <p:cNvPicPr preferRelativeResize="0"/>
          <p:nvPr/>
        </p:nvPicPr>
        <p:blipFill rotWithShape="1">
          <a:blip r:embed="rId6">
            <a:alphaModFix/>
          </a:blip>
          <a:srcRect l="9031" t="8905" r="11603" b="20636"/>
          <a:stretch/>
        </p:blipFill>
        <p:spPr>
          <a:xfrm>
            <a:off x="4201433" y="5230432"/>
            <a:ext cx="878778" cy="875220"/>
          </a:xfrm>
          <a:prstGeom prst="ellipse">
            <a:avLst/>
          </a:prstGeom>
          <a:noFill/>
          <a:ln w="28575" cap="flat" cmpd="sng">
            <a:solidFill>
              <a:srgbClr val="001B83"/>
            </a:solidFill>
            <a:prstDash val="solid"/>
            <a:round/>
            <a:headEnd type="none" w="sm" len="sm"/>
            <a:tailEnd type="none" w="sm" len="sm"/>
          </a:ln>
        </p:spPr>
      </p:pic>
      <p:sp>
        <p:nvSpPr>
          <p:cNvPr id="58" name="Google Shape;207;g3a335ef999a_0_187">
            <a:extLst>
              <a:ext uri="{FF2B5EF4-FFF2-40B4-BE49-F238E27FC236}">
                <a16:creationId xmlns:a16="http://schemas.microsoft.com/office/drawing/2014/main" id="{DC331980-26EB-6FD8-130F-E243CA6E3F8A}"/>
              </a:ext>
            </a:extLst>
          </p:cNvPr>
          <p:cNvSpPr/>
          <p:nvPr/>
        </p:nvSpPr>
        <p:spPr>
          <a:xfrm>
            <a:off x="5281881" y="5469343"/>
            <a:ext cx="3096071" cy="570277"/>
          </a:xfrm>
          <a:prstGeom prst="roundRect">
            <a:avLst>
              <a:gd name="adj" fmla="val 27612"/>
            </a:avLst>
          </a:prstGeom>
          <a:solidFill>
            <a:schemeClr val="accent1"/>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HMIS</a:t>
            </a:r>
            <a:r>
              <a:rPr lang="en-US" sz="2000" i="0" u="none" strike="noStrike" cap="none" dirty="0">
                <a:solidFill>
                  <a:schemeClr val="bg1"/>
                </a:solidFill>
                <a:latin typeface="Open Sans"/>
                <a:ea typeface="Open Sans"/>
                <a:cs typeface="Open Sans"/>
                <a:sym typeface="Open Sans"/>
              </a:rPr>
              <a:t> - Family Profile</a:t>
            </a:r>
          </a:p>
        </p:txBody>
      </p:sp>
      <p:graphicFrame>
        <p:nvGraphicFramePr>
          <p:cNvPr id="59" name="Table 58">
            <a:extLst>
              <a:ext uri="{FF2B5EF4-FFF2-40B4-BE49-F238E27FC236}">
                <a16:creationId xmlns:a16="http://schemas.microsoft.com/office/drawing/2014/main" id="{F18BDCEA-3655-F724-B9AD-E5095BFFC3AD}"/>
              </a:ext>
            </a:extLst>
          </p:cNvPr>
          <p:cNvGraphicFramePr>
            <a:graphicFrameLocks noGrp="1"/>
          </p:cNvGraphicFramePr>
          <p:nvPr>
            <p:extLst>
              <p:ext uri="{D42A27DB-BD31-4B8C-83A1-F6EECF244321}">
                <p14:modId xmlns:p14="http://schemas.microsoft.com/office/powerpoint/2010/main" val="3157155620"/>
              </p:ext>
            </p:extLst>
          </p:nvPr>
        </p:nvGraphicFramePr>
        <p:xfrm>
          <a:off x="4874595" y="6084040"/>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Multi-Racial</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Non-Hispanic</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Male</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pic>
        <p:nvPicPr>
          <p:cNvPr id="5" name="Audio 4">
            <a:extLst>
              <a:ext uri="{FF2B5EF4-FFF2-40B4-BE49-F238E27FC236}">
                <a16:creationId xmlns:a16="http://schemas.microsoft.com/office/drawing/2014/main" id="{60DB4B90-0857-11A5-02B9-3AD736E3B04C}"/>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54D927FA-AAD7-F1E8-F998-BA53539AC75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4</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10037873"/>
      </p:ext>
    </p:extLst>
  </p:cSld>
  <p:clrMapOvr>
    <a:masterClrMapping/>
  </p:clrMapOvr>
  <mc:AlternateContent xmlns:mc="http://schemas.openxmlformats.org/markup-compatibility/2006" xmlns:p14="http://schemas.microsoft.com/office/powerpoint/2010/main">
    <mc:Choice Requires="p14">
      <p:transition spd="slow" p14:dur="2000" advTm="84462"/>
    </mc:Choice>
    <mc:Fallback xmlns="">
      <p:transition spd="slow" advTm="844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03519A1B-7946-8B17-EC56-BE1312FE1DD0}"/>
            </a:ext>
          </a:extLst>
        </p:cNvPr>
        <p:cNvGrpSpPr/>
        <p:nvPr/>
      </p:nvGrpSpPr>
      <p:grpSpPr>
        <a:xfrm>
          <a:off x="0" y="0"/>
          <a:ext cx="0" cy="0"/>
          <a:chOff x="0" y="0"/>
          <a:chExt cx="0" cy="0"/>
        </a:xfrm>
      </p:grpSpPr>
      <p:cxnSp>
        <p:nvCxnSpPr>
          <p:cNvPr id="16" name="Straight Arrow Connector 15">
            <a:extLst>
              <a:ext uri="{FF2B5EF4-FFF2-40B4-BE49-F238E27FC236}">
                <a16:creationId xmlns:a16="http://schemas.microsoft.com/office/drawing/2014/main" id="{A3979036-D425-65ED-259D-71DD7064782B}"/>
              </a:ext>
            </a:extLst>
          </p:cNvPr>
          <p:cNvCxnSpPr/>
          <p:nvPr/>
        </p:nvCxnSpPr>
        <p:spPr>
          <a:xfrm>
            <a:off x="1400459" y="1788697"/>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sp>
        <p:nvSpPr>
          <p:cNvPr id="203" name="Google Shape;203;g3a335ef999a_0_187">
            <a:extLst>
              <a:ext uri="{FF2B5EF4-FFF2-40B4-BE49-F238E27FC236}">
                <a16:creationId xmlns:a16="http://schemas.microsoft.com/office/drawing/2014/main" id="{00420867-794D-20A6-9B70-99F68B1E89D5}"/>
              </a:ext>
            </a:extLst>
          </p:cNvPr>
          <p:cNvSpPr/>
          <p:nvPr/>
        </p:nvSpPr>
        <p:spPr>
          <a:xfrm rot="5400000">
            <a:off x="-3886200" y="4343401"/>
            <a:ext cx="10058400" cy="1371600"/>
          </a:xfrm>
          <a:prstGeom prst="rightArrow">
            <a:avLst>
              <a:gd name="adj1" fmla="val 36508"/>
              <a:gd name="adj2" fmla="val 81731"/>
            </a:avLst>
          </a:prstGeom>
          <a:solidFill>
            <a:srgbClr val="001B83"/>
          </a:solidFill>
          <a:ln w="25400" cap="flat" cmpd="sng">
            <a:solidFill>
              <a:srgbClr val="001B83"/>
            </a:solidFill>
            <a:prstDash val="solid"/>
            <a:round/>
            <a:headEnd type="none" w="sm" len="sm"/>
            <a:tailEnd type="none" w="sm" len="sm"/>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rgbClr val="FFFFFF"/>
              </a:solidFill>
              <a:latin typeface="Arial"/>
              <a:ea typeface="Arial"/>
              <a:cs typeface="Arial"/>
              <a:sym typeface="Arial"/>
            </a:endParaRPr>
          </a:p>
        </p:txBody>
      </p:sp>
      <p:sp>
        <p:nvSpPr>
          <p:cNvPr id="10" name="Rounded Rectangle 9">
            <a:extLst>
              <a:ext uri="{FF2B5EF4-FFF2-40B4-BE49-F238E27FC236}">
                <a16:creationId xmlns:a16="http://schemas.microsoft.com/office/drawing/2014/main" id="{2FDCC81E-70DA-4D36-28C8-FD1B6EF7DFB6}"/>
              </a:ext>
            </a:extLst>
          </p:cNvPr>
          <p:cNvSpPr/>
          <p:nvPr/>
        </p:nvSpPr>
        <p:spPr>
          <a:xfrm>
            <a:off x="228600" y="7386044"/>
            <a:ext cx="1828800" cy="914400"/>
          </a:xfrm>
          <a:prstGeom prst="roundRect">
            <a:avLst/>
          </a:prstGeom>
          <a:solidFill>
            <a:srgbClr val="FFDC5D"/>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2020</a:t>
            </a:r>
            <a:endParaRPr lang="en-US" sz="2400" b="1" dirty="0">
              <a:solidFill>
                <a:srgbClr val="001B83"/>
              </a:solidFill>
              <a:latin typeface="Open Sans" panose="020B0606030504020204" pitchFamily="34" charset="0"/>
              <a:ea typeface="Open Sans" panose="020B0606030504020204" pitchFamily="34" charset="0"/>
              <a:cs typeface="Open Sans" panose="020B0606030504020204" pitchFamily="34" charset="0"/>
            </a:endParaRPr>
          </a:p>
          <a:p>
            <a:pPr algn="ctr"/>
            <a:r>
              <a:rPr lang="en-US" dirty="0">
                <a:solidFill>
                  <a:srgbClr val="001B83"/>
                </a:solidFill>
                <a:latin typeface="Open Sans" panose="020B0606030504020204" pitchFamily="34" charset="0"/>
                <a:ea typeface="Open Sans" panose="020B0606030504020204" pitchFamily="34" charset="0"/>
                <a:cs typeface="Open Sans" panose="020B0606030504020204" pitchFamily="34" charset="0"/>
              </a:rPr>
              <a:t>9th Grade</a:t>
            </a:r>
          </a:p>
        </p:txBody>
      </p:sp>
      <p:sp>
        <p:nvSpPr>
          <p:cNvPr id="33" name="Google Shape;207;g3a335ef999a_0_187">
            <a:extLst>
              <a:ext uri="{FF2B5EF4-FFF2-40B4-BE49-F238E27FC236}">
                <a16:creationId xmlns:a16="http://schemas.microsoft.com/office/drawing/2014/main" id="{FE23E035-1559-233E-2DB3-0BED1E975C01}"/>
              </a:ext>
            </a:extLst>
          </p:cNvPr>
          <p:cNvSpPr/>
          <p:nvPr/>
        </p:nvSpPr>
        <p:spPr>
          <a:xfrm>
            <a:off x="4563535" y="3888530"/>
            <a:ext cx="3503285" cy="1803703"/>
          </a:xfrm>
          <a:prstGeom prst="roundRect">
            <a:avLst>
              <a:gd name="adj" fmla="val 16667"/>
            </a:avLst>
          </a:prstGeom>
          <a:solidFill>
            <a:schemeClr val="bg2">
              <a:lumMod val="9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pic>
        <p:nvPicPr>
          <p:cNvPr id="34" name="Google Shape;212;g3a335ef999a_0_187">
            <a:extLst>
              <a:ext uri="{FF2B5EF4-FFF2-40B4-BE49-F238E27FC236}">
                <a16:creationId xmlns:a16="http://schemas.microsoft.com/office/drawing/2014/main" id="{44339940-8CDB-7834-4742-19EBF59C2611}"/>
              </a:ext>
            </a:extLst>
          </p:cNvPr>
          <p:cNvPicPr preferRelativeResize="0"/>
          <p:nvPr/>
        </p:nvPicPr>
        <p:blipFill rotWithShape="1">
          <a:blip r:embed="rId5">
            <a:alphaModFix/>
          </a:blip>
          <a:srcRect l="9031" t="8905" r="11603" b="20636"/>
          <a:stretch/>
        </p:blipFill>
        <p:spPr>
          <a:xfrm>
            <a:off x="4201433" y="3456803"/>
            <a:ext cx="878778" cy="875220"/>
          </a:xfrm>
          <a:prstGeom prst="ellipse">
            <a:avLst/>
          </a:prstGeom>
          <a:noFill/>
          <a:ln w="28575" cap="flat" cmpd="sng">
            <a:solidFill>
              <a:srgbClr val="001B83"/>
            </a:solidFill>
            <a:prstDash val="solid"/>
            <a:round/>
            <a:headEnd type="none" w="sm" len="sm"/>
            <a:tailEnd type="none" w="sm" len="sm"/>
          </a:ln>
        </p:spPr>
      </p:pic>
      <p:sp>
        <p:nvSpPr>
          <p:cNvPr id="35" name="Google Shape;207;g3a335ef999a_0_187">
            <a:extLst>
              <a:ext uri="{FF2B5EF4-FFF2-40B4-BE49-F238E27FC236}">
                <a16:creationId xmlns:a16="http://schemas.microsoft.com/office/drawing/2014/main" id="{26E1CB4A-26CD-C5B1-E332-AA7AAF2E2F37}"/>
              </a:ext>
            </a:extLst>
          </p:cNvPr>
          <p:cNvSpPr/>
          <p:nvPr/>
        </p:nvSpPr>
        <p:spPr>
          <a:xfrm>
            <a:off x="5281881" y="3695714"/>
            <a:ext cx="3096071" cy="570277"/>
          </a:xfrm>
          <a:prstGeom prst="roundRect">
            <a:avLst>
              <a:gd name="adj" fmla="val 27612"/>
            </a:avLst>
          </a:prstGeom>
          <a:solidFill>
            <a:schemeClr val="bg2">
              <a:lumMod val="5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SNAP</a:t>
            </a:r>
            <a:r>
              <a:rPr lang="en-US" sz="2000" i="0" u="none" strike="noStrike" cap="none" dirty="0">
                <a:solidFill>
                  <a:schemeClr val="bg1"/>
                </a:solidFill>
                <a:latin typeface="Open Sans"/>
                <a:ea typeface="Open Sans"/>
                <a:cs typeface="Open Sans"/>
                <a:sym typeface="Open Sans"/>
              </a:rPr>
              <a:t> - Family Profile</a:t>
            </a:r>
          </a:p>
        </p:txBody>
      </p:sp>
      <p:graphicFrame>
        <p:nvGraphicFramePr>
          <p:cNvPr id="36" name="Table 35">
            <a:extLst>
              <a:ext uri="{FF2B5EF4-FFF2-40B4-BE49-F238E27FC236}">
                <a16:creationId xmlns:a16="http://schemas.microsoft.com/office/drawing/2014/main" id="{6630AA51-2FBF-86C9-C6EF-663BB503281B}"/>
              </a:ext>
            </a:extLst>
          </p:cNvPr>
          <p:cNvGraphicFramePr>
            <a:graphicFrameLocks noGrp="1"/>
          </p:cNvGraphicFramePr>
          <p:nvPr>
            <p:extLst>
              <p:ext uri="{D42A27DB-BD31-4B8C-83A1-F6EECF244321}">
                <p14:modId xmlns:p14="http://schemas.microsoft.com/office/powerpoint/2010/main" val="3176627677"/>
              </p:ext>
            </p:extLst>
          </p:nvPr>
        </p:nvGraphicFramePr>
        <p:xfrm>
          <a:off x="4874595" y="4310411"/>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Multi-Racial</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Non-Hispanic</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Male</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cxnSp>
        <p:nvCxnSpPr>
          <p:cNvPr id="45" name="Straight Arrow Connector 44">
            <a:extLst>
              <a:ext uri="{FF2B5EF4-FFF2-40B4-BE49-F238E27FC236}">
                <a16:creationId xmlns:a16="http://schemas.microsoft.com/office/drawing/2014/main" id="{8B976AC4-4D52-C974-87C0-ADFEDCE939FE}"/>
              </a:ext>
            </a:extLst>
          </p:cNvPr>
          <p:cNvCxnSpPr/>
          <p:nvPr/>
        </p:nvCxnSpPr>
        <p:spPr>
          <a:xfrm>
            <a:off x="1400459" y="4703539"/>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006F5B5-B430-2BDE-F88D-238D501A1B1D}"/>
              </a:ext>
            </a:extLst>
          </p:cNvPr>
          <p:cNvCxnSpPr/>
          <p:nvPr/>
        </p:nvCxnSpPr>
        <p:spPr>
          <a:xfrm>
            <a:off x="1400459" y="7142948"/>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sp>
        <p:nvSpPr>
          <p:cNvPr id="48" name="Google Shape;207;g3a335ef999a_0_187">
            <a:extLst>
              <a:ext uri="{FF2B5EF4-FFF2-40B4-BE49-F238E27FC236}">
                <a16:creationId xmlns:a16="http://schemas.microsoft.com/office/drawing/2014/main" id="{49C24666-5EE9-2078-23ED-5F2F8CDB49FC}"/>
              </a:ext>
            </a:extLst>
          </p:cNvPr>
          <p:cNvSpPr/>
          <p:nvPr/>
        </p:nvSpPr>
        <p:spPr>
          <a:xfrm>
            <a:off x="4563535" y="1041409"/>
            <a:ext cx="3503285" cy="1803703"/>
          </a:xfrm>
          <a:prstGeom prst="roundRect">
            <a:avLst>
              <a:gd name="adj" fmla="val 16667"/>
            </a:avLst>
          </a:prstGeom>
          <a:solidFill>
            <a:schemeClr val="tx2">
              <a:lumMod val="40000"/>
              <a:lumOff val="6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pic>
        <p:nvPicPr>
          <p:cNvPr id="49" name="Google Shape;212;g3a335ef999a_0_187">
            <a:extLst>
              <a:ext uri="{FF2B5EF4-FFF2-40B4-BE49-F238E27FC236}">
                <a16:creationId xmlns:a16="http://schemas.microsoft.com/office/drawing/2014/main" id="{58939C36-4276-C14A-908D-04A2334C3FDF}"/>
              </a:ext>
            </a:extLst>
          </p:cNvPr>
          <p:cNvPicPr preferRelativeResize="0"/>
          <p:nvPr/>
        </p:nvPicPr>
        <p:blipFill rotWithShape="1">
          <a:blip r:embed="rId5">
            <a:alphaModFix/>
          </a:blip>
          <a:srcRect l="9031" t="8905" r="11603" b="20636"/>
          <a:stretch/>
        </p:blipFill>
        <p:spPr>
          <a:xfrm>
            <a:off x="4201433" y="609682"/>
            <a:ext cx="878778" cy="875220"/>
          </a:xfrm>
          <a:prstGeom prst="ellipse">
            <a:avLst/>
          </a:prstGeom>
          <a:noFill/>
          <a:ln w="28575" cap="flat" cmpd="sng">
            <a:solidFill>
              <a:srgbClr val="001B83"/>
            </a:solidFill>
            <a:prstDash val="solid"/>
            <a:round/>
            <a:headEnd type="none" w="sm" len="sm"/>
            <a:tailEnd type="none" w="sm" len="sm"/>
          </a:ln>
        </p:spPr>
      </p:pic>
      <p:sp>
        <p:nvSpPr>
          <p:cNvPr id="50" name="Google Shape;207;g3a335ef999a_0_187">
            <a:extLst>
              <a:ext uri="{FF2B5EF4-FFF2-40B4-BE49-F238E27FC236}">
                <a16:creationId xmlns:a16="http://schemas.microsoft.com/office/drawing/2014/main" id="{5388C303-CD56-8898-1EC7-D0D302300A3F}"/>
              </a:ext>
            </a:extLst>
          </p:cNvPr>
          <p:cNvSpPr/>
          <p:nvPr/>
        </p:nvSpPr>
        <p:spPr>
          <a:xfrm>
            <a:off x="5281881" y="848593"/>
            <a:ext cx="3096071" cy="570277"/>
          </a:xfrm>
          <a:prstGeom prst="roundRect">
            <a:avLst>
              <a:gd name="adj" fmla="val 27612"/>
            </a:avLst>
          </a:prstGeom>
          <a:solidFill>
            <a:schemeClr val="tx2"/>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School</a:t>
            </a:r>
            <a:r>
              <a:rPr lang="en-US" sz="2000" i="0" u="none" strike="noStrike" cap="none" dirty="0">
                <a:solidFill>
                  <a:schemeClr val="bg1"/>
                </a:solidFill>
                <a:latin typeface="Open Sans"/>
                <a:ea typeface="Open Sans"/>
                <a:cs typeface="Open Sans"/>
                <a:sym typeface="Open Sans"/>
              </a:rPr>
              <a:t> - Elementary</a:t>
            </a:r>
          </a:p>
        </p:txBody>
      </p:sp>
      <p:graphicFrame>
        <p:nvGraphicFramePr>
          <p:cNvPr id="51" name="Table 50">
            <a:extLst>
              <a:ext uri="{FF2B5EF4-FFF2-40B4-BE49-F238E27FC236}">
                <a16:creationId xmlns:a16="http://schemas.microsoft.com/office/drawing/2014/main" id="{3F37AF48-B7B0-DAD8-35B0-3A074856DC18}"/>
              </a:ext>
            </a:extLst>
          </p:cNvPr>
          <p:cNvGraphicFramePr>
            <a:graphicFrameLocks noGrp="1"/>
          </p:cNvGraphicFramePr>
          <p:nvPr>
            <p:extLst>
              <p:ext uri="{D42A27DB-BD31-4B8C-83A1-F6EECF244321}">
                <p14:modId xmlns:p14="http://schemas.microsoft.com/office/powerpoint/2010/main" val="2794030316"/>
              </p:ext>
            </p:extLst>
          </p:nvPr>
        </p:nvGraphicFramePr>
        <p:xfrm>
          <a:off x="4874595" y="1552741"/>
          <a:ext cx="3171836" cy="1081488"/>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Race /</a:t>
                      </a:r>
                    </a:p>
                    <a:p>
                      <a:r>
                        <a:rPr lang="en-US" sz="1900" b="1"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Multi-Racial</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Male</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sp>
        <p:nvSpPr>
          <p:cNvPr id="2" name="Google Shape;229;g3a335ef999a_0_0">
            <a:extLst>
              <a:ext uri="{FF2B5EF4-FFF2-40B4-BE49-F238E27FC236}">
                <a16:creationId xmlns:a16="http://schemas.microsoft.com/office/drawing/2014/main" id="{7882C219-88BD-3288-FB9A-36D5475DAFEF}"/>
              </a:ext>
            </a:extLst>
          </p:cNvPr>
          <p:cNvSpPr txBox="1"/>
          <p:nvPr/>
        </p:nvSpPr>
        <p:spPr>
          <a:xfrm>
            <a:off x="9246127" y="1539030"/>
            <a:ext cx="4939341" cy="6980342"/>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3200" dirty="0">
                <a:solidFill>
                  <a:schemeClr val="dk1"/>
                </a:solidFill>
                <a:latin typeface="Open Sans"/>
                <a:ea typeface="Open Sans"/>
                <a:cs typeface="Open Sans"/>
                <a:sym typeface="Open Sans"/>
              </a:rPr>
              <a:t>Throughout elementary school and middle school, Aaron’s family moved around a lot based on where their parents could find work. Aaron remembers that sometimes money would get tight around the end of the month, but their parents always found a way to get by.</a:t>
            </a:r>
            <a:endParaRPr dirty="0"/>
          </a:p>
        </p:txBody>
      </p:sp>
      <p:pic>
        <p:nvPicPr>
          <p:cNvPr id="3" name="Google Shape;235;g3a335ef999a_0_0" title="standing.jpg">
            <a:extLst>
              <a:ext uri="{FF2B5EF4-FFF2-40B4-BE49-F238E27FC236}">
                <a16:creationId xmlns:a16="http://schemas.microsoft.com/office/drawing/2014/main" id="{A409D03D-206C-B358-8452-85BBA3F80D98}"/>
              </a:ext>
            </a:extLst>
          </p:cNvPr>
          <p:cNvPicPr preferRelativeResize="0"/>
          <p:nvPr/>
        </p:nvPicPr>
        <p:blipFill rotWithShape="1">
          <a:blip r:embed="rId6">
            <a:alphaModFix/>
          </a:blip>
          <a:srcRect l="28046" r="31903"/>
          <a:stretch/>
        </p:blipFill>
        <p:spPr>
          <a:xfrm>
            <a:off x="14335606" y="1275575"/>
            <a:ext cx="3098250" cy="7735849"/>
          </a:xfrm>
          <a:prstGeom prst="rect">
            <a:avLst/>
          </a:prstGeom>
          <a:noFill/>
          <a:ln>
            <a:noFill/>
          </a:ln>
        </p:spPr>
      </p:pic>
      <p:sp>
        <p:nvSpPr>
          <p:cNvPr id="9" name="Rounded Rectangle 8">
            <a:extLst>
              <a:ext uri="{FF2B5EF4-FFF2-40B4-BE49-F238E27FC236}">
                <a16:creationId xmlns:a16="http://schemas.microsoft.com/office/drawing/2014/main" id="{F77D0564-815B-E257-079F-06CFDBD483D4}"/>
              </a:ext>
            </a:extLst>
          </p:cNvPr>
          <p:cNvSpPr/>
          <p:nvPr/>
        </p:nvSpPr>
        <p:spPr>
          <a:xfrm>
            <a:off x="228600" y="537984"/>
            <a:ext cx="1828800" cy="914400"/>
          </a:xfrm>
          <a:prstGeom prst="roundRect">
            <a:avLst/>
          </a:prstGeom>
          <a:solidFill>
            <a:srgbClr val="FFDC5D"/>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2011</a:t>
            </a:r>
            <a:endParaRPr lang="en-US" sz="2400" b="1" dirty="0">
              <a:solidFill>
                <a:srgbClr val="001B83"/>
              </a:solidFill>
              <a:latin typeface="Open Sans" panose="020B0606030504020204" pitchFamily="34" charset="0"/>
              <a:ea typeface="Open Sans" panose="020B0606030504020204" pitchFamily="34" charset="0"/>
              <a:cs typeface="Open Sans" panose="020B0606030504020204" pitchFamily="34" charset="0"/>
            </a:endParaRPr>
          </a:p>
          <a:p>
            <a:pPr algn="ctr"/>
            <a:r>
              <a:rPr lang="en-US" dirty="0">
                <a:solidFill>
                  <a:srgbClr val="001B83"/>
                </a:solidFill>
                <a:latin typeface="Open Sans" panose="020B0606030504020204" pitchFamily="34" charset="0"/>
                <a:ea typeface="Open Sans" panose="020B0606030504020204" pitchFamily="34" charset="0"/>
                <a:cs typeface="Open Sans" panose="020B0606030504020204" pitchFamily="34" charset="0"/>
              </a:rPr>
              <a:t>1st Grade</a:t>
            </a:r>
          </a:p>
        </p:txBody>
      </p:sp>
      <p:sp>
        <p:nvSpPr>
          <p:cNvPr id="11" name="Google Shape;207;g3a335ef999a_0_187">
            <a:extLst>
              <a:ext uri="{FF2B5EF4-FFF2-40B4-BE49-F238E27FC236}">
                <a16:creationId xmlns:a16="http://schemas.microsoft.com/office/drawing/2014/main" id="{93E50FB5-2BE9-4765-8A58-881590B0A112}"/>
              </a:ext>
            </a:extLst>
          </p:cNvPr>
          <p:cNvSpPr/>
          <p:nvPr/>
        </p:nvSpPr>
        <p:spPr>
          <a:xfrm>
            <a:off x="4563535" y="6631616"/>
            <a:ext cx="3503285" cy="1803703"/>
          </a:xfrm>
          <a:prstGeom prst="roundRect">
            <a:avLst>
              <a:gd name="adj" fmla="val 16667"/>
            </a:avLst>
          </a:prstGeom>
          <a:solidFill>
            <a:schemeClr val="tx2">
              <a:lumMod val="40000"/>
              <a:lumOff val="6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pic>
        <p:nvPicPr>
          <p:cNvPr id="12" name="Google Shape;212;g3a335ef999a_0_187">
            <a:extLst>
              <a:ext uri="{FF2B5EF4-FFF2-40B4-BE49-F238E27FC236}">
                <a16:creationId xmlns:a16="http://schemas.microsoft.com/office/drawing/2014/main" id="{241A83CD-8A33-71DC-1DA2-0A412405AA58}"/>
              </a:ext>
            </a:extLst>
          </p:cNvPr>
          <p:cNvPicPr preferRelativeResize="0"/>
          <p:nvPr/>
        </p:nvPicPr>
        <p:blipFill rotWithShape="1">
          <a:blip r:embed="rId5">
            <a:alphaModFix/>
          </a:blip>
          <a:srcRect l="9031" t="8905" r="11603" b="20636"/>
          <a:stretch/>
        </p:blipFill>
        <p:spPr>
          <a:xfrm>
            <a:off x="4201433" y="6199889"/>
            <a:ext cx="878778" cy="875220"/>
          </a:xfrm>
          <a:prstGeom prst="ellipse">
            <a:avLst/>
          </a:prstGeom>
          <a:noFill/>
          <a:ln w="28575" cap="flat" cmpd="sng">
            <a:solidFill>
              <a:srgbClr val="001B83"/>
            </a:solidFill>
            <a:prstDash val="solid"/>
            <a:round/>
            <a:headEnd type="none" w="sm" len="sm"/>
            <a:tailEnd type="none" w="sm" len="sm"/>
          </a:ln>
        </p:spPr>
      </p:pic>
      <p:sp>
        <p:nvSpPr>
          <p:cNvPr id="13" name="Google Shape;207;g3a335ef999a_0_187">
            <a:extLst>
              <a:ext uri="{FF2B5EF4-FFF2-40B4-BE49-F238E27FC236}">
                <a16:creationId xmlns:a16="http://schemas.microsoft.com/office/drawing/2014/main" id="{661BC3F0-7374-C967-420A-70D4C908D9EB}"/>
              </a:ext>
            </a:extLst>
          </p:cNvPr>
          <p:cNvSpPr/>
          <p:nvPr/>
        </p:nvSpPr>
        <p:spPr>
          <a:xfrm>
            <a:off x="5281881" y="6438800"/>
            <a:ext cx="3096071" cy="570277"/>
          </a:xfrm>
          <a:prstGeom prst="roundRect">
            <a:avLst>
              <a:gd name="adj" fmla="val 27612"/>
            </a:avLst>
          </a:prstGeom>
          <a:solidFill>
            <a:schemeClr val="tx2"/>
          </a:solidFill>
          <a:ln w="9525" cap="flat" cmpd="sng">
            <a:noFill/>
            <a:prstDash val="solid"/>
            <a:round/>
            <a:headEnd type="none" w="sm" len="sm"/>
            <a:tailEnd type="none" w="sm" len="sm"/>
          </a:ln>
        </p:spPr>
        <p:txBody>
          <a:bodyPr spcFirstLastPara="1" wrap="square" lIns="91440" tIns="182850" rIns="9144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School</a:t>
            </a:r>
            <a:r>
              <a:rPr lang="en-US" sz="2000" i="0" u="none" strike="noStrike" cap="none" dirty="0">
                <a:solidFill>
                  <a:schemeClr val="bg1"/>
                </a:solidFill>
                <a:latin typeface="Open Sans"/>
                <a:ea typeface="Open Sans"/>
                <a:cs typeface="Open Sans"/>
                <a:sym typeface="Open Sans"/>
              </a:rPr>
              <a:t> - Middle School</a:t>
            </a:r>
          </a:p>
        </p:txBody>
      </p:sp>
      <p:graphicFrame>
        <p:nvGraphicFramePr>
          <p:cNvPr id="14" name="Table 13">
            <a:extLst>
              <a:ext uri="{FF2B5EF4-FFF2-40B4-BE49-F238E27FC236}">
                <a16:creationId xmlns:a16="http://schemas.microsoft.com/office/drawing/2014/main" id="{BE9FA659-42CC-B107-1DD3-F29BB4D56400}"/>
              </a:ext>
            </a:extLst>
          </p:cNvPr>
          <p:cNvGraphicFramePr>
            <a:graphicFrameLocks noGrp="1"/>
          </p:cNvGraphicFramePr>
          <p:nvPr>
            <p:extLst>
              <p:ext uri="{D42A27DB-BD31-4B8C-83A1-F6EECF244321}">
                <p14:modId xmlns:p14="http://schemas.microsoft.com/office/powerpoint/2010/main" val="3657733384"/>
              </p:ext>
            </p:extLst>
          </p:nvPr>
        </p:nvGraphicFramePr>
        <p:xfrm>
          <a:off x="4874595" y="7142948"/>
          <a:ext cx="3171836" cy="1081488"/>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Race /</a:t>
                      </a:r>
                    </a:p>
                    <a:p>
                      <a:r>
                        <a:rPr lang="en-US" sz="1900" b="1"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Black</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Male</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pic>
        <p:nvPicPr>
          <p:cNvPr id="7" name="Audio 6">
            <a:extLst>
              <a:ext uri="{FF2B5EF4-FFF2-40B4-BE49-F238E27FC236}">
                <a16:creationId xmlns:a16="http://schemas.microsoft.com/office/drawing/2014/main" id="{980EB7A3-D0C3-0F03-DBBB-9CF31177F8EF}"/>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7322800" y="9321800"/>
            <a:ext cx="812800" cy="812800"/>
          </a:xfrm>
          <a:prstGeom prst="rect">
            <a:avLst/>
          </a:prstGeom>
        </p:spPr>
      </p:pic>
      <p:sp>
        <p:nvSpPr>
          <p:cNvPr id="4" name="Slide Number Placeholder 3">
            <a:extLst>
              <a:ext uri="{FF2B5EF4-FFF2-40B4-BE49-F238E27FC236}">
                <a16:creationId xmlns:a16="http://schemas.microsoft.com/office/drawing/2014/main" id="{38F87695-543D-2CE2-B620-F2AF4CAFD36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5</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365820298"/>
      </p:ext>
    </p:extLst>
  </p:cSld>
  <p:clrMapOvr>
    <a:masterClrMapping/>
  </p:clrMapOvr>
  <mc:AlternateContent xmlns:mc="http://schemas.openxmlformats.org/markup-compatibility/2006" xmlns:p14="http://schemas.microsoft.com/office/powerpoint/2010/main">
    <mc:Choice Requires="p14">
      <p:transition spd="slow" p14:dur="2000" advTm="54409"/>
    </mc:Choice>
    <mc:Fallback xmlns="">
      <p:transition spd="slow" advTm="544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ED36FC5D-2773-58BB-36EB-A7A6ED09215C}"/>
            </a:ext>
          </a:extLst>
        </p:cNvPr>
        <p:cNvGrpSpPr/>
        <p:nvPr/>
      </p:nvGrpSpPr>
      <p:grpSpPr>
        <a:xfrm>
          <a:off x="0" y="0"/>
          <a:ext cx="0" cy="0"/>
          <a:chOff x="0" y="0"/>
          <a:chExt cx="0" cy="0"/>
        </a:xfrm>
      </p:grpSpPr>
      <p:sp>
        <p:nvSpPr>
          <p:cNvPr id="203" name="Google Shape;203;g3a335ef999a_0_187">
            <a:extLst>
              <a:ext uri="{FF2B5EF4-FFF2-40B4-BE49-F238E27FC236}">
                <a16:creationId xmlns:a16="http://schemas.microsoft.com/office/drawing/2014/main" id="{495E5B20-1C38-4593-481B-80E3129EEAC4}"/>
              </a:ext>
            </a:extLst>
          </p:cNvPr>
          <p:cNvSpPr/>
          <p:nvPr/>
        </p:nvSpPr>
        <p:spPr>
          <a:xfrm rot="5400000">
            <a:off x="-3886200" y="4343401"/>
            <a:ext cx="10058400" cy="1371600"/>
          </a:xfrm>
          <a:prstGeom prst="rightArrow">
            <a:avLst>
              <a:gd name="adj1" fmla="val 36508"/>
              <a:gd name="adj2" fmla="val 81731"/>
            </a:avLst>
          </a:prstGeom>
          <a:solidFill>
            <a:srgbClr val="001B83"/>
          </a:solidFill>
          <a:ln w="25400" cap="flat" cmpd="sng">
            <a:solidFill>
              <a:srgbClr val="001B83"/>
            </a:solidFill>
            <a:prstDash val="solid"/>
            <a:round/>
            <a:headEnd type="none" w="sm" len="sm"/>
            <a:tailEnd type="none" w="sm" len="sm"/>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rgbClr val="FFFFFF"/>
              </a:solidFill>
              <a:latin typeface="Arial"/>
              <a:ea typeface="Arial"/>
              <a:cs typeface="Arial"/>
              <a:sym typeface="Arial"/>
            </a:endParaRPr>
          </a:p>
        </p:txBody>
      </p:sp>
      <p:sp>
        <p:nvSpPr>
          <p:cNvPr id="10" name="Rounded Rectangle 9">
            <a:extLst>
              <a:ext uri="{FF2B5EF4-FFF2-40B4-BE49-F238E27FC236}">
                <a16:creationId xmlns:a16="http://schemas.microsoft.com/office/drawing/2014/main" id="{D890A5F0-C616-9F68-98A9-E0C6641A848F}"/>
              </a:ext>
            </a:extLst>
          </p:cNvPr>
          <p:cNvSpPr/>
          <p:nvPr/>
        </p:nvSpPr>
        <p:spPr>
          <a:xfrm>
            <a:off x="228600" y="7386044"/>
            <a:ext cx="1828800" cy="914400"/>
          </a:xfrm>
          <a:prstGeom prst="roundRect">
            <a:avLst/>
          </a:prstGeom>
          <a:solidFill>
            <a:srgbClr val="FFDC5D"/>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2023</a:t>
            </a:r>
            <a:endParaRPr lang="en-US" sz="2400" b="1" dirty="0">
              <a:solidFill>
                <a:srgbClr val="001B83"/>
              </a:solidFill>
              <a:latin typeface="Open Sans" panose="020B0606030504020204" pitchFamily="34" charset="0"/>
              <a:ea typeface="Open Sans" panose="020B0606030504020204" pitchFamily="34" charset="0"/>
              <a:cs typeface="Open Sans" panose="020B0606030504020204" pitchFamily="34" charset="0"/>
            </a:endParaRPr>
          </a:p>
          <a:p>
            <a:pPr algn="ctr"/>
            <a:r>
              <a:rPr lang="en-US" dirty="0">
                <a:solidFill>
                  <a:srgbClr val="001B83"/>
                </a:solidFill>
                <a:latin typeface="Open Sans" panose="020B0606030504020204" pitchFamily="34" charset="0"/>
                <a:ea typeface="Open Sans" panose="020B0606030504020204" pitchFamily="34" charset="0"/>
                <a:cs typeface="Open Sans" panose="020B0606030504020204" pitchFamily="34" charset="0"/>
              </a:rPr>
              <a:t>12th Grade</a:t>
            </a:r>
          </a:p>
        </p:txBody>
      </p:sp>
      <p:sp>
        <p:nvSpPr>
          <p:cNvPr id="33" name="Google Shape;207;g3a335ef999a_0_187">
            <a:extLst>
              <a:ext uri="{FF2B5EF4-FFF2-40B4-BE49-F238E27FC236}">
                <a16:creationId xmlns:a16="http://schemas.microsoft.com/office/drawing/2014/main" id="{6E619B90-9F5E-C388-48B1-904BB026B08B}"/>
              </a:ext>
            </a:extLst>
          </p:cNvPr>
          <p:cNvSpPr/>
          <p:nvPr/>
        </p:nvSpPr>
        <p:spPr>
          <a:xfrm>
            <a:off x="4563535" y="2735220"/>
            <a:ext cx="3503285" cy="1803703"/>
          </a:xfrm>
          <a:prstGeom prst="roundRect">
            <a:avLst>
              <a:gd name="adj" fmla="val 16667"/>
            </a:avLst>
          </a:prstGeom>
          <a:solidFill>
            <a:schemeClr val="bg2">
              <a:lumMod val="9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pic>
        <p:nvPicPr>
          <p:cNvPr id="34" name="Google Shape;212;g3a335ef999a_0_187">
            <a:extLst>
              <a:ext uri="{FF2B5EF4-FFF2-40B4-BE49-F238E27FC236}">
                <a16:creationId xmlns:a16="http://schemas.microsoft.com/office/drawing/2014/main" id="{67A017E8-7A10-09FE-5F0F-070338493165}"/>
              </a:ext>
            </a:extLst>
          </p:cNvPr>
          <p:cNvPicPr preferRelativeResize="0"/>
          <p:nvPr/>
        </p:nvPicPr>
        <p:blipFill rotWithShape="1">
          <a:blip r:embed="rId5">
            <a:alphaModFix/>
          </a:blip>
          <a:srcRect l="9031" t="8905" r="11603" b="20636"/>
          <a:stretch/>
        </p:blipFill>
        <p:spPr>
          <a:xfrm>
            <a:off x="4201433" y="2303493"/>
            <a:ext cx="878778" cy="875220"/>
          </a:xfrm>
          <a:prstGeom prst="ellipse">
            <a:avLst/>
          </a:prstGeom>
          <a:noFill/>
          <a:ln w="28575" cap="flat" cmpd="sng">
            <a:solidFill>
              <a:srgbClr val="001B83"/>
            </a:solidFill>
            <a:prstDash val="solid"/>
            <a:round/>
            <a:headEnd type="none" w="sm" len="sm"/>
            <a:tailEnd type="none" w="sm" len="sm"/>
          </a:ln>
        </p:spPr>
      </p:pic>
      <p:sp>
        <p:nvSpPr>
          <p:cNvPr id="35" name="Google Shape;207;g3a335ef999a_0_187">
            <a:extLst>
              <a:ext uri="{FF2B5EF4-FFF2-40B4-BE49-F238E27FC236}">
                <a16:creationId xmlns:a16="http://schemas.microsoft.com/office/drawing/2014/main" id="{A86CC814-019B-54E0-4516-154A1E9D7A63}"/>
              </a:ext>
            </a:extLst>
          </p:cNvPr>
          <p:cNvSpPr/>
          <p:nvPr/>
        </p:nvSpPr>
        <p:spPr>
          <a:xfrm>
            <a:off x="5281881" y="2542404"/>
            <a:ext cx="3096071" cy="570277"/>
          </a:xfrm>
          <a:prstGeom prst="roundRect">
            <a:avLst>
              <a:gd name="adj" fmla="val 27612"/>
            </a:avLst>
          </a:prstGeom>
          <a:solidFill>
            <a:schemeClr val="bg2">
              <a:lumMod val="5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SNAP</a:t>
            </a:r>
            <a:r>
              <a:rPr lang="en-US" sz="2000" i="0" u="none" strike="noStrike" cap="none" dirty="0">
                <a:solidFill>
                  <a:schemeClr val="bg1"/>
                </a:solidFill>
                <a:latin typeface="Open Sans"/>
                <a:ea typeface="Open Sans"/>
                <a:cs typeface="Open Sans"/>
                <a:sym typeface="Open Sans"/>
              </a:rPr>
              <a:t> - Family Profile</a:t>
            </a:r>
          </a:p>
        </p:txBody>
      </p:sp>
      <p:graphicFrame>
        <p:nvGraphicFramePr>
          <p:cNvPr id="36" name="Table 35">
            <a:extLst>
              <a:ext uri="{FF2B5EF4-FFF2-40B4-BE49-F238E27FC236}">
                <a16:creationId xmlns:a16="http://schemas.microsoft.com/office/drawing/2014/main" id="{109926F6-6188-DC09-9531-7786F0D8AF12}"/>
              </a:ext>
            </a:extLst>
          </p:cNvPr>
          <p:cNvGraphicFramePr>
            <a:graphicFrameLocks noGrp="1"/>
          </p:cNvGraphicFramePr>
          <p:nvPr>
            <p:extLst>
              <p:ext uri="{D42A27DB-BD31-4B8C-83A1-F6EECF244321}">
                <p14:modId xmlns:p14="http://schemas.microsoft.com/office/powerpoint/2010/main" val="1179932092"/>
              </p:ext>
            </p:extLst>
          </p:nvPr>
        </p:nvGraphicFramePr>
        <p:xfrm>
          <a:off x="4874595" y="3157101"/>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Multi-Racial</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Non-Hispanic</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Male</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cxnSp>
        <p:nvCxnSpPr>
          <p:cNvPr id="45" name="Straight Arrow Connector 44">
            <a:extLst>
              <a:ext uri="{FF2B5EF4-FFF2-40B4-BE49-F238E27FC236}">
                <a16:creationId xmlns:a16="http://schemas.microsoft.com/office/drawing/2014/main" id="{DC86E551-723A-936A-FD45-05A4CAEC0123}"/>
              </a:ext>
            </a:extLst>
          </p:cNvPr>
          <p:cNvCxnSpPr/>
          <p:nvPr/>
        </p:nvCxnSpPr>
        <p:spPr>
          <a:xfrm>
            <a:off x="1400459" y="3560168"/>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B2DB274-D91D-B8F2-DDA0-5A6EF8EE8266}"/>
              </a:ext>
            </a:extLst>
          </p:cNvPr>
          <p:cNvCxnSpPr/>
          <p:nvPr/>
        </p:nvCxnSpPr>
        <p:spPr>
          <a:xfrm>
            <a:off x="1400459" y="6330874"/>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sp>
        <p:nvSpPr>
          <p:cNvPr id="9" name="Rounded Rectangle 8">
            <a:extLst>
              <a:ext uri="{FF2B5EF4-FFF2-40B4-BE49-F238E27FC236}">
                <a16:creationId xmlns:a16="http://schemas.microsoft.com/office/drawing/2014/main" id="{832E8077-4FE1-8319-16BB-DF27EA854850}"/>
              </a:ext>
            </a:extLst>
          </p:cNvPr>
          <p:cNvSpPr/>
          <p:nvPr/>
        </p:nvSpPr>
        <p:spPr>
          <a:xfrm>
            <a:off x="228600" y="537984"/>
            <a:ext cx="1828800" cy="914400"/>
          </a:xfrm>
          <a:prstGeom prst="roundRect">
            <a:avLst/>
          </a:prstGeom>
          <a:solidFill>
            <a:srgbClr val="FFDC5D"/>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2020</a:t>
            </a:r>
            <a:endParaRPr lang="en-US" sz="2400" b="1" dirty="0">
              <a:solidFill>
                <a:srgbClr val="001B83"/>
              </a:solidFill>
              <a:latin typeface="Open Sans" panose="020B0606030504020204" pitchFamily="34" charset="0"/>
              <a:ea typeface="Open Sans" panose="020B0606030504020204" pitchFamily="34" charset="0"/>
              <a:cs typeface="Open Sans" panose="020B0606030504020204" pitchFamily="34" charset="0"/>
            </a:endParaRPr>
          </a:p>
          <a:p>
            <a:pPr algn="ctr"/>
            <a:r>
              <a:rPr lang="en-US" dirty="0">
                <a:solidFill>
                  <a:srgbClr val="001B83"/>
                </a:solidFill>
                <a:latin typeface="Open Sans" panose="020B0606030504020204" pitchFamily="34" charset="0"/>
                <a:ea typeface="Open Sans" panose="020B0606030504020204" pitchFamily="34" charset="0"/>
                <a:cs typeface="Open Sans" panose="020B0606030504020204" pitchFamily="34" charset="0"/>
              </a:rPr>
              <a:t>9th Grade</a:t>
            </a:r>
          </a:p>
        </p:txBody>
      </p:sp>
      <p:sp>
        <p:nvSpPr>
          <p:cNvPr id="8" name="Google Shape;247;g3a335ef999a_0_51">
            <a:extLst>
              <a:ext uri="{FF2B5EF4-FFF2-40B4-BE49-F238E27FC236}">
                <a16:creationId xmlns:a16="http://schemas.microsoft.com/office/drawing/2014/main" id="{CEF6CAC7-870F-644B-E371-42E6BC91E1B0}"/>
              </a:ext>
            </a:extLst>
          </p:cNvPr>
          <p:cNvSpPr txBox="1"/>
          <p:nvPr/>
        </p:nvSpPr>
        <p:spPr>
          <a:xfrm>
            <a:off x="8978696" y="1068211"/>
            <a:ext cx="7490337" cy="8148354"/>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3000" dirty="0">
                <a:solidFill>
                  <a:schemeClr val="dk1"/>
                </a:solidFill>
                <a:latin typeface="Open Sans"/>
                <a:ea typeface="Open Sans"/>
                <a:cs typeface="Open Sans"/>
                <a:sym typeface="Open Sans"/>
              </a:rPr>
              <a:t>Aaron is very happy that their family was able to spend all four years of high school in the same city, though. They finally felt like they fit in after making friends with a group of other LGBTQ+ students and started to explore both their gender identity and racial identity. Having parents from two different racial backgrounds, Aaron was never quite sure where they fit in. Aaron’s high school friends helped them form their own understanding of their identities. After high school, Aaron’s parents moved again, but Aaron decided to stay in the same city that they now called home. </a:t>
            </a:r>
            <a:endParaRPr sz="1200" dirty="0"/>
          </a:p>
        </p:txBody>
      </p:sp>
      <p:pic>
        <p:nvPicPr>
          <p:cNvPr id="17" name="Google Shape;235;g3a335ef999a_0_0" title="standing.jpg">
            <a:extLst>
              <a:ext uri="{FF2B5EF4-FFF2-40B4-BE49-F238E27FC236}">
                <a16:creationId xmlns:a16="http://schemas.microsoft.com/office/drawing/2014/main" id="{84D86A71-71A0-7B37-F0A5-A0871C6CFECF}"/>
              </a:ext>
            </a:extLst>
          </p:cNvPr>
          <p:cNvPicPr preferRelativeResize="0"/>
          <p:nvPr/>
        </p:nvPicPr>
        <p:blipFill rotWithShape="1">
          <a:blip r:embed="rId6">
            <a:alphaModFix/>
          </a:blip>
          <a:srcRect l="37902" t="3258" r="38452" b="73062"/>
          <a:stretch>
            <a:fillRect/>
          </a:stretch>
        </p:blipFill>
        <p:spPr>
          <a:xfrm>
            <a:off x="16270357" y="8278279"/>
            <a:ext cx="2005783" cy="2008721"/>
          </a:xfrm>
          <a:prstGeom prst="rect">
            <a:avLst/>
          </a:prstGeom>
          <a:noFill/>
          <a:ln>
            <a:noFill/>
          </a:ln>
        </p:spPr>
      </p:pic>
      <p:sp>
        <p:nvSpPr>
          <p:cNvPr id="18" name="Google Shape;207;g3a335ef999a_0_187">
            <a:extLst>
              <a:ext uri="{FF2B5EF4-FFF2-40B4-BE49-F238E27FC236}">
                <a16:creationId xmlns:a16="http://schemas.microsoft.com/office/drawing/2014/main" id="{CC95F31F-B70A-63CF-5001-73AD616E7193}"/>
              </a:ext>
            </a:extLst>
          </p:cNvPr>
          <p:cNvSpPr/>
          <p:nvPr/>
        </p:nvSpPr>
        <p:spPr>
          <a:xfrm>
            <a:off x="4563535" y="5819542"/>
            <a:ext cx="3503285" cy="1803703"/>
          </a:xfrm>
          <a:prstGeom prst="roundRect">
            <a:avLst>
              <a:gd name="adj" fmla="val 16667"/>
            </a:avLst>
          </a:prstGeom>
          <a:solidFill>
            <a:schemeClr val="tx2">
              <a:lumMod val="40000"/>
              <a:lumOff val="6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sp>
        <p:nvSpPr>
          <p:cNvPr id="20" name="Google Shape;207;g3a335ef999a_0_187">
            <a:extLst>
              <a:ext uri="{FF2B5EF4-FFF2-40B4-BE49-F238E27FC236}">
                <a16:creationId xmlns:a16="http://schemas.microsoft.com/office/drawing/2014/main" id="{73675A6E-AF58-0782-4728-823C8E9D5B7D}"/>
              </a:ext>
            </a:extLst>
          </p:cNvPr>
          <p:cNvSpPr/>
          <p:nvPr/>
        </p:nvSpPr>
        <p:spPr>
          <a:xfrm>
            <a:off x="5281881" y="5626726"/>
            <a:ext cx="3096071" cy="570277"/>
          </a:xfrm>
          <a:prstGeom prst="roundRect">
            <a:avLst>
              <a:gd name="adj" fmla="val 27612"/>
            </a:avLst>
          </a:prstGeom>
          <a:solidFill>
            <a:schemeClr val="tx2"/>
          </a:solidFill>
          <a:ln w="9525" cap="flat" cmpd="sng">
            <a:noFill/>
            <a:prstDash val="solid"/>
            <a:round/>
            <a:headEnd type="none" w="sm" len="sm"/>
            <a:tailEnd type="none" w="sm" len="sm"/>
          </a:ln>
        </p:spPr>
        <p:txBody>
          <a:bodyPr spcFirstLastPara="1" wrap="square" lIns="91440" tIns="182850" rIns="9144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School</a:t>
            </a:r>
            <a:r>
              <a:rPr lang="en-US" sz="2000" i="0" u="none" strike="noStrike" cap="none" dirty="0">
                <a:solidFill>
                  <a:schemeClr val="bg1"/>
                </a:solidFill>
                <a:latin typeface="Open Sans"/>
                <a:ea typeface="Open Sans"/>
                <a:cs typeface="Open Sans"/>
                <a:sym typeface="Open Sans"/>
              </a:rPr>
              <a:t> - High School</a:t>
            </a:r>
          </a:p>
        </p:txBody>
      </p:sp>
      <p:graphicFrame>
        <p:nvGraphicFramePr>
          <p:cNvPr id="21" name="Table 20">
            <a:extLst>
              <a:ext uri="{FF2B5EF4-FFF2-40B4-BE49-F238E27FC236}">
                <a16:creationId xmlns:a16="http://schemas.microsoft.com/office/drawing/2014/main" id="{85658E04-734D-457B-935C-7CC21A614137}"/>
              </a:ext>
            </a:extLst>
          </p:cNvPr>
          <p:cNvGraphicFramePr>
            <a:graphicFrameLocks noGrp="1"/>
          </p:cNvGraphicFramePr>
          <p:nvPr>
            <p:extLst>
              <p:ext uri="{D42A27DB-BD31-4B8C-83A1-F6EECF244321}">
                <p14:modId xmlns:p14="http://schemas.microsoft.com/office/powerpoint/2010/main" val="1968838989"/>
              </p:ext>
            </p:extLst>
          </p:nvPr>
        </p:nvGraphicFramePr>
        <p:xfrm>
          <a:off x="4874595" y="6330874"/>
          <a:ext cx="3171836" cy="1081488"/>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Race /</a:t>
                      </a:r>
                    </a:p>
                    <a:p>
                      <a:r>
                        <a:rPr lang="en-US" sz="1900" b="1"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Black</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tx2">
                              <a:lumMod val="50000"/>
                            </a:schemeClr>
                          </a:solidFill>
                          <a:latin typeface="Open Sans" panose="020B0606030504020204" pitchFamily="34" charset="0"/>
                          <a:ea typeface="Open Sans" panose="020B0606030504020204" pitchFamily="34" charset="0"/>
                          <a:cs typeface="Open Sans" panose="020B0606030504020204" pitchFamily="34" charset="0"/>
                        </a:rPr>
                        <a:t>Other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pic>
        <p:nvPicPr>
          <p:cNvPr id="23" name="Google Shape;235;g3a335ef999a_0_0" title="standing.jpg">
            <a:extLst>
              <a:ext uri="{FF2B5EF4-FFF2-40B4-BE49-F238E27FC236}">
                <a16:creationId xmlns:a16="http://schemas.microsoft.com/office/drawing/2014/main" id="{361CBE7F-32B0-A57C-1D24-C8E778A1C419}"/>
              </a:ext>
            </a:extLst>
          </p:cNvPr>
          <p:cNvPicPr preferRelativeResize="0"/>
          <p:nvPr/>
        </p:nvPicPr>
        <p:blipFill rotWithShape="1">
          <a:blip r:embed="rId6">
            <a:alphaModFix/>
          </a:blip>
          <a:srcRect l="37682" t="3168" r="38599" b="73001"/>
          <a:stretch>
            <a:fillRect/>
          </a:stretch>
        </p:blipFill>
        <p:spPr>
          <a:xfrm>
            <a:off x="4201433" y="5370636"/>
            <a:ext cx="879318" cy="883446"/>
          </a:xfrm>
          <a:prstGeom prst="ellipse">
            <a:avLst/>
          </a:prstGeom>
          <a:noFill/>
          <a:ln w="28575">
            <a:solidFill>
              <a:srgbClr val="001B83"/>
            </a:solidFill>
          </a:ln>
        </p:spPr>
      </p:pic>
      <p:pic>
        <p:nvPicPr>
          <p:cNvPr id="4" name="Audio 3">
            <a:extLst>
              <a:ext uri="{FF2B5EF4-FFF2-40B4-BE49-F238E27FC236}">
                <a16:creationId xmlns:a16="http://schemas.microsoft.com/office/drawing/2014/main" id="{B42082E5-DEFD-930C-EA32-16E8A6C1F93B}"/>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FC385231-FB72-2CF9-3B16-2A595277B9B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6</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514340984"/>
      </p:ext>
    </p:extLst>
  </p:cSld>
  <p:clrMapOvr>
    <a:masterClrMapping/>
  </p:clrMapOvr>
  <mc:AlternateContent xmlns:mc="http://schemas.openxmlformats.org/markup-compatibility/2006" xmlns:p14="http://schemas.microsoft.com/office/powerpoint/2010/main">
    <mc:Choice Requires="p14">
      <p:transition spd="slow" p14:dur="2000" advTm="60048"/>
    </mc:Choice>
    <mc:Fallback xmlns="">
      <p:transition spd="slow" advTm="600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C695E969-751C-5C7B-51C5-DC2CFBC9573C}"/>
            </a:ext>
          </a:extLst>
        </p:cNvPr>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05078EDC-646E-764E-B841-767A55B193F4}"/>
              </a:ext>
            </a:extLst>
          </p:cNvPr>
          <p:cNvCxnSpPr/>
          <p:nvPr/>
        </p:nvCxnSpPr>
        <p:spPr>
          <a:xfrm>
            <a:off x="1400459" y="8098602"/>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sp>
        <p:nvSpPr>
          <p:cNvPr id="203" name="Google Shape;203;g3a335ef999a_0_187">
            <a:extLst>
              <a:ext uri="{FF2B5EF4-FFF2-40B4-BE49-F238E27FC236}">
                <a16:creationId xmlns:a16="http://schemas.microsoft.com/office/drawing/2014/main" id="{CE8CB26B-0E89-107E-F1D2-8DF8088F6256}"/>
              </a:ext>
            </a:extLst>
          </p:cNvPr>
          <p:cNvSpPr/>
          <p:nvPr/>
        </p:nvSpPr>
        <p:spPr>
          <a:xfrm rot="5400000">
            <a:off x="-3886200" y="4343401"/>
            <a:ext cx="10058400" cy="1371600"/>
          </a:xfrm>
          <a:prstGeom prst="rightArrow">
            <a:avLst>
              <a:gd name="adj1" fmla="val 36508"/>
              <a:gd name="adj2" fmla="val 81731"/>
            </a:avLst>
          </a:prstGeom>
          <a:solidFill>
            <a:srgbClr val="001B83"/>
          </a:solidFill>
          <a:ln w="25400" cap="flat" cmpd="sng">
            <a:solidFill>
              <a:srgbClr val="001B83"/>
            </a:solidFill>
            <a:prstDash val="solid"/>
            <a:round/>
            <a:headEnd type="none" w="sm" len="sm"/>
            <a:tailEnd type="none" w="sm" len="sm"/>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rgbClr val="FFFFFF"/>
              </a:solidFill>
              <a:latin typeface="Arial"/>
              <a:ea typeface="Arial"/>
              <a:cs typeface="Arial"/>
              <a:sym typeface="Arial"/>
            </a:endParaRPr>
          </a:p>
        </p:txBody>
      </p:sp>
      <p:sp>
        <p:nvSpPr>
          <p:cNvPr id="10" name="Rounded Rectangle 9">
            <a:extLst>
              <a:ext uri="{FF2B5EF4-FFF2-40B4-BE49-F238E27FC236}">
                <a16:creationId xmlns:a16="http://schemas.microsoft.com/office/drawing/2014/main" id="{3AADA605-18F1-4D49-8FE2-1CF75E95B708}"/>
              </a:ext>
            </a:extLst>
          </p:cNvPr>
          <p:cNvSpPr/>
          <p:nvPr/>
        </p:nvSpPr>
        <p:spPr>
          <a:xfrm>
            <a:off x="228600" y="7386044"/>
            <a:ext cx="1828800" cy="914400"/>
          </a:xfrm>
          <a:prstGeom prst="roundRect">
            <a:avLst/>
          </a:prstGeom>
          <a:solidFill>
            <a:srgbClr val="FFDC5D"/>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2025</a:t>
            </a:r>
            <a:endParaRPr lang="en-US" sz="2400" b="1" dirty="0">
              <a:solidFill>
                <a:srgbClr val="001B83"/>
              </a:solidFill>
              <a:latin typeface="Open Sans" panose="020B0606030504020204" pitchFamily="34" charset="0"/>
              <a:ea typeface="Open Sans" panose="020B0606030504020204" pitchFamily="34" charset="0"/>
              <a:cs typeface="Open Sans" panose="020B0606030504020204" pitchFamily="34" charset="0"/>
            </a:endParaRPr>
          </a:p>
          <a:p>
            <a:pPr algn="ctr"/>
            <a:r>
              <a:rPr lang="en-US" dirty="0">
                <a:solidFill>
                  <a:srgbClr val="001B83"/>
                </a:solidFill>
                <a:latin typeface="Open Sans" panose="020B0606030504020204" pitchFamily="34" charset="0"/>
                <a:ea typeface="Open Sans" panose="020B0606030504020204" pitchFamily="34" charset="0"/>
                <a:cs typeface="Open Sans" panose="020B0606030504020204" pitchFamily="34" charset="0"/>
              </a:rPr>
              <a:t>Present</a:t>
            </a:r>
          </a:p>
        </p:txBody>
      </p:sp>
      <p:sp>
        <p:nvSpPr>
          <p:cNvPr id="33" name="Google Shape;207;g3a335ef999a_0_187">
            <a:extLst>
              <a:ext uri="{FF2B5EF4-FFF2-40B4-BE49-F238E27FC236}">
                <a16:creationId xmlns:a16="http://schemas.microsoft.com/office/drawing/2014/main" id="{6CF37ACD-8058-5593-01AF-5CDDB6E4AC76}"/>
              </a:ext>
            </a:extLst>
          </p:cNvPr>
          <p:cNvSpPr/>
          <p:nvPr/>
        </p:nvSpPr>
        <p:spPr>
          <a:xfrm>
            <a:off x="4563535" y="782693"/>
            <a:ext cx="3503285" cy="1803703"/>
          </a:xfrm>
          <a:prstGeom prst="roundRect">
            <a:avLst>
              <a:gd name="adj" fmla="val 16667"/>
            </a:avLst>
          </a:prstGeom>
          <a:solidFill>
            <a:schemeClr val="bg2">
              <a:lumMod val="9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sp>
        <p:nvSpPr>
          <p:cNvPr id="35" name="Google Shape;207;g3a335ef999a_0_187">
            <a:extLst>
              <a:ext uri="{FF2B5EF4-FFF2-40B4-BE49-F238E27FC236}">
                <a16:creationId xmlns:a16="http://schemas.microsoft.com/office/drawing/2014/main" id="{6E5763E3-DC96-14F6-8F2A-1B0F74C0035C}"/>
              </a:ext>
            </a:extLst>
          </p:cNvPr>
          <p:cNvSpPr/>
          <p:nvPr/>
        </p:nvSpPr>
        <p:spPr>
          <a:xfrm>
            <a:off x="5281881" y="589877"/>
            <a:ext cx="3096071" cy="570277"/>
          </a:xfrm>
          <a:prstGeom prst="roundRect">
            <a:avLst>
              <a:gd name="adj" fmla="val 27612"/>
            </a:avLst>
          </a:prstGeom>
          <a:solidFill>
            <a:schemeClr val="bg2">
              <a:lumMod val="5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SNAP</a:t>
            </a:r>
            <a:r>
              <a:rPr lang="en-US" sz="2000" i="0" u="none" strike="noStrike" cap="none" dirty="0">
                <a:solidFill>
                  <a:schemeClr val="bg1"/>
                </a:solidFill>
                <a:latin typeface="Open Sans"/>
                <a:ea typeface="Open Sans"/>
                <a:cs typeface="Open Sans"/>
                <a:sym typeface="Open Sans"/>
              </a:rPr>
              <a:t> - Adult Profile</a:t>
            </a:r>
          </a:p>
        </p:txBody>
      </p:sp>
      <p:graphicFrame>
        <p:nvGraphicFramePr>
          <p:cNvPr id="36" name="Table 35">
            <a:extLst>
              <a:ext uri="{FF2B5EF4-FFF2-40B4-BE49-F238E27FC236}">
                <a16:creationId xmlns:a16="http://schemas.microsoft.com/office/drawing/2014/main" id="{411F4D44-7ABF-8C71-BE69-158C7E839221}"/>
              </a:ext>
            </a:extLst>
          </p:cNvPr>
          <p:cNvGraphicFramePr>
            <a:graphicFrameLocks noGrp="1"/>
          </p:cNvGraphicFramePr>
          <p:nvPr>
            <p:extLst>
              <p:ext uri="{D42A27DB-BD31-4B8C-83A1-F6EECF244321}">
                <p14:modId xmlns:p14="http://schemas.microsoft.com/office/powerpoint/2010/main" val="1795078428"/>
              </p:ext>
            </p:extLst>
          </p:nvPr>
        </p:nvGraphicFramePr>
        <p:xfrm>
          <a:off x="4874595" y="1204574"/>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Black</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Non-Hispanic</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Unknown</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cxnSp>
        <p:nvCxnSpPr>
          <p:cNvPr id="45" name="Straight Arrow Connector 44">
            <a:extLst>
              <a:ext uri="{FF2B5EF4-FFF2-40B4-BE49-F238E27FC236}">
                <a16:creationId xmlns:a16="http://schemas.microsoft.com/office/drawing/2014/main" id="{C5DA17F4-7259-29C0-5DBC-823F591D8822}"/>
              </a:ext>
            </a:extLst>
          </p:cNvPr>
          <p:cNvCxnSpPr/>
          <p:nvPr/>
        </p:nvCxnSpPr>
        <p:spPr>
          <a:xfrm>
            <a:off x="1400459" y="1771125"/>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EAE793D-89F3-680A-F6E1-A368CB209AB0}"/>
              </a:ext>
            </a:extLst>
          </p:cNvPr>
          <p:cNvCxnSpPr/>
          <p:nvPr/>
        </p:nvCxnSpPr>
        <p:spPr>
          <a:xfrm>
            <a:off x="1400459" y="6432602"/>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sp>
        <p:nvSpPr>
          <p:cNvPr id="4" name="Google Shape;207;g3a335ef999a_0_187">
            <a:extLst>
              <a:ext uri="{FF2B5EF4-FFF2-40B4-BE49-F238E27FC236}">
                <a16:creationId xmlns:a16="http://schemas.microsoft.com/office/drawing/2014/main" id="{DFDC5262-F59F-ECC5-9741-E8DE0E7E9A3D}"/>
              </a:ext>
            </a:extLst>
          </p:cNvPr>
          <p:cNvSpPr/>
          <p:nvPr/>
        </p:nvSpPr>
        <p:spPr>
          <a:xfrm>
            <a:off x="4563535" y="5647411"/>
            <a:ext cx="3503285" cy="1803703"/>
          </a:xfrm>
          <a:prstGeom prst="roundRect">
            <a:avLst>
              <a:gd name="adj" fmla="val 16667"/>
            </a:avLst>
          </a:prstGeom>
          <a:solidFill>
            <a:schemeClr val="accent1">
              <a:lumMod val="40000"/>
              <a:lumOff val="6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sp>
        <p:nvSpPr>
          <p:cNvPr id="6" name="Google Shape;207;g3a335ef999a_0_187">
            <a:extLst>
              <a:ext uri="{FF2B5EF4-FFF2-40B4-BE49-F238E27FC236}">
                <a16:creationId xmlns:a16="http://schemas.microsoft.com/office/drawing/2014/main" id="{4525D730-2B01-531C-518C-2FB191DACD65}"/>
              </a:ext>
            </a:extLst>
          </p:cNvPr>
          <p:cNvSpPr/>
          <p:nvPr/>
        </p:nvSpPr>
        <p:spPr>
          <a:xfrm>
            <a:off x="5281881" y="5454595"/>
            <a:ext cx="3096071" cy="570277"/>
          </a:xfrm>
          <a:prstGeom prst="roundRect">
            <a:avLst>
              <a:gd name="adj" fmla="val 27612"/>
            </a:avLst>
          </a:prstGeom>
          <a:solidFill>
            <a:schemeClr val="accent1"/>
          </a:solidFill>
          <a:ln w="9525" cap="flat" cmpd="sng">
            <a:noFill/>
            <a:prstDash val="solid"/>
            <a:round/>
            <a:headEnd type="none" w="sm" len="sm"/>
            <a:tailEnd type="none" w="sm" len="sm"/>
          </a:ln>
        </p:spPr>
        <p:txBody>
          <a:bodyPr spcFirstLastPara="1" wrap="square" lIns="91440" tIns="182850" rIns="9144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HMIS</a:t>
            </a:r>
            <a:r>
              <a:rPr lang="en-US" sz="2000" i="0" u="none" strike="noStrike" cap="none" dirty="0">
                <a:solidFill>
                  <a:schemeClr val="bg1"/>
                </a:solidFill>
                <a:latin typeface="Open Sans"/>
                <a:ea typeface="Open Sans"/>
                <a:cs typeface="Open Sans"/>
                <a:sym typeface="Open Sans"/>
              </a:rPr>
              <a:t> – Adu</a:t>
            </a:r>
            <a:r>
              <a:rPr lang="en-US" sz="2000" dirty="0">
                <a:solidFill>
                  <a:schemeClr val="bg1"/>
                </a:solidFill>
                <a:latin typeface="Open Sans"/>
                <a:ea typeface="Open Sans"/>
                <a:cs typeface="Open Sans"/>
                <a:sym typeface="Open Sans"/>
              </a:rPr>
              <a:t>lt Profile</a:t>
            </a:r>
            <a:endParaRPr lang="en-US" sz="2000" i="0" u="none" strike="noStrike" cap="none" dirty="0">
              <a:solidFill>
                <a:schemeClr val="bg1"/>
              </a:solidFill>
              <a:latin typeface="Open Sans"/>
              <a:ea typeface="Open Sans"/>
              <a:cs typeface="Open Sans"/>
              <a:sym typeface="Open Sans"/>
            </a:endParaRPr>
          </a:p>
        </p:txBody>
      </p:sp>
      <p:graphicFrame>
        <p:nvGraphicFramePr>
          <p:cNvPr id="7" name="Table 6">
            <a:extLst>
              <a:ext uri="{FF2B5EF4-FFF2-40B4-BE49-F238E27FC236}">
                <a16:creationId xmlns:a16="http://schemas.microsoft.com/office/drawing/2014/main" id="{75444481-6EA9-FE93-D224-5A839CE8C297}"/>
              </a:ext>
            </a:extLst>
          </p:cNvPr>
          <p:cNvGraphicFramePr>
            <a:graphicFrameLocks noGrp="1"/>
          </p:cNvGraphicFramePr>
          <p:nvPr>
            <p:extLst>
              <p:ext uri="{D42A27DB-BD31-4B8C-83A1-F6EECF244321}">
                <p14:modId xmlns:p14="http://schemas.microsoft.com/office/powerpoint/2010/main" val="3459404466"/>
              </p:ext>
            </p:extLst>
          </p:nvPr>
        </p:nvGraphicFramePr>
        <p:xfrm>
          <a:off x="4874595" y="6069292"/>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Black</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Non-Hispanic</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Non-Binary</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sp>
        <p:nvSpPr>
          <p:cNvPr id="9" name="Rounded Rectangle 8">
            <a:extLst>
              <a:ext uri="{FF2B5EF4-FFF2-40B4-BE49-F238E27FC236}">
                <a16:creationId xmlns:a16="http://schemas.microsoft.com/office/drawing/2014/main" id="{3DB8DA52-1AEB-B580-061C-BF8C2524AA95}"/>
              </a:ext>
            </a:extLst>
          </p:cNvPr>
          <p:cNvSpPr/>
          <p:nvPr/>
        </p:nvSpPr>
        <p:spPr>
          <a:xfrm>
            <a:off x="228600" y="537984"/>
            <a:ext cx="1828800" cy="914400"/>
          </a:xfrm>
          <a:prstGeom prst="roundRect">
            <a:avLst/>
          </a:prstGeom>
          <a:solidFill>
            <a:srgbClr val="FFDC5D"/>
          </a:solidFill>
          <a:ln>
            <a:noFill/>
          </a:ln>
        </p:spPr>
        <p:style>
          <a:lnRef idx="2">
            <a:schemeClr val="dk1">
              <a:shade val="15000"/>
            </a:schemeClr>
          </a:lnRef>
          <a:fillRef idx="1">
            <a:schemeClr val="dk1"/>
          </a:fillRef>
          <a:effectRef idx="0">
            <a:schemeClr val="dk1"/>
          </a:effectRef>
          <a:fontRef idx="minor">
            <a:schemeClr val="lt1"/>
          </a:fontRef>
        </p:style>
        <p:txBody>
          <a:bodyPr lIns="0" rIns="0" rtlCol="0" anchor="ctr"/>
          <a:lstStyle/>
          <a:p>
            <a:pPr algn="ctr"/>
            <a:r>
              <a:rPr lang="en-US" sz="28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2024</a:t>
            </a:r>
            <a:endParaRPr lang="en-US" sz="2400" b="1" dirty="0">
              <a:solidFill>
                <a:srgbClr val="001B83"/>
              </a:solidFill>
              <a:latin typeface="Open Sans" panose="020B0606030504020204" pitchFamily="34" charset="0"/>
              <a:ea typeface="Open Sans" panose="020B0606030504020204" pitchFamily="34" charset="0"/>
              <a:cs typeface="Open Sans" panose="020B0606030504020204" pitchFamily="34" charset="0"/>
            </a:endParaRPr>
          </a:p>
          <a:p>
            <a:pPr algn="ctr"/>
            <a:r>
              <a:rPr lang="en-US" dirty="0">
                <a:solidFill>
                  <a:srgbClr val="001B83"/>
                </a:solidFill>
                <a:latin typeface="Open Sans" panose="020B0606030504020204" pitchFamily="34" charset="0"/>
                <a:ea typeface="Open Sans" panose="020B0606030504020204" pitchFamily="34" charset="0"/>
                <a:cs typeface="Open Sans" panose="020B0606030504020204" pitchFamily="34" charset="0"/>
              </a:rPr>
              <a:t>HS Graduation</a:t>
            </a:r>
          </a:p>
        </p:txBody>
      </p:sp>
      <p:pic>
        <p:nvPicPr>
          <p:cNvPr id="15" name="Google Shape;235;g3a335ef999a_0_0" title="standing.jpg">
            <a:extLst>
              <a:ext uri="{FF2B5EF4-FFF2-40B4-BE49-F238E27FC236}">
                <a16:creationId xmlns:a16="http://schemas.microsoft.com/office/drawing/2014/main" id="{A0A8BD43-2449-2E55-E940-0232B36DBFB6}"/>
              </a:ext>
            </a:extLst>
          </p:cNvPr>
          <p:cNvPicPr preferRelativeResize="0"/>
          <p:nvPr/>
        </p:nvPicPr>
        <p:blipFill rotWithShape="1">
          <a:blip r:embed="rId5">
            <a:alphaModFix/>
          </a:blip>
          <a:srcRect l="37682" t="3168" r="38599" b="73001"/>
          <a:stretch>
            <a:fillRect/>
          </a:stretch>
        </p:blipFill>
        <p:spPr>
          <a:xfrm>
            <a:off x="4201433" y="5207458"/>
            <a:ext cx="879318" cy="883446"/>
          </a:xfrm>
          <a:prstGeom prst="ellipse">
            <a:avLst/>
          </a:prstGeom>
          <a:noFill/>
          <a:ln w="28575">
            <a:solidFill>
              <a:srgbClr val="001B83"/>
            </a:solidFill>
          </a:ln>
        </p:spPr>
      </p:pic>
      <p:pic>
        <p:nvPicPr>
          <p:cNvPr id="17" name="Google Shape;235;g3a335ef999a_0_0" title="standing.jpg">
            <a:extLst>
              <a:ext uri="{FF2B5EF4-FFF2-40B4-BE49-F238E27FC236}">
                <a16:creationId xmlns:a16="http://schemas.microsoft.com/office/drawing/2014/main" id="{967B7D2F-1C62-972B-E246-2F853FE8F17F}"/>
              </a:ext>
            </a:extLst>
          </p:cNvPr>
          <p:cNvPicPr preferRelativeResize="0"/>
          <p:nvPr/>
        </p:nvPicPr>
        <p:blipFill rotWithShape="1">
          <a:blip r:embed="rId5">
            <a:alphaModFix/>
          </a:blip>
          <a:srcRect l="37902" t="3258" r="38452" b="73062"/>
          <a:stretch>
            <a:fillRect/>
          </a:stretch>
        </p:blipFill>
        <p:spPr>
          <a:xfrm>
            <a:off x="16270357" y="8278279"/>
            <a:ext cx="2005783" cy="2008721"/>
          </a:xfrm>
          <a:prstGeom prst="rect">
            <a:avLst/>
          </a:prstGeom>
          <a:noFill/>
          <a:ln>
            <a:noFill/>
          </a:ln>
        </p:spPr>
      </p:pic>
      <p:pic>
        <p:nvPicPr>
          <p:cNvPr id="3" name="Google Shape;235;g3a335ef999a_0_0" title="standing.jpg">
            <a:extLst>
              <a:ext uri="{FF2B5EF4-FFF2-40B4-BE49-F238E27FC236}">
                <a16:creationId xmlns:a16="http://schemas.microsoft.com/office/drawing/2014/main" id="{141B87F5-BDAF-EEA7-8722-3C67E49BDD7F}"/>
              </a:ext>
            </a:extLst>
          </p:cNvPr>
          <p:cNvPicPr preferRelativeResize="0"/>
          <p:nvPr/>
        </p:nvPicPr>
        <p:blipFill rotWithShape="1">
          <a:blip r:embed="rId5">
            <a:alphaModFix/>
          </a:blip>
          <a:srcRect l="37682" t="3168" r="38599" b="73001"/>
          <a:stretch>
            <a:fillRect/>
          </a:stretch>
        </p:blipFill>
        <p:spPr>
          <a:xfrm>
            <a:off x="4201433" y="350966"/>
            <a:ext cx="879318" cy="883446"/>
          </a:xfrm>
          <a:prstGeom prst="ellipse">
            <a:avLst/>
          </a:prstGeom>
          <a:noFill/>
          <a:ln w="28575">
            <a:solidFill>
              <a:srgbClr val="001B83"/>
            </a:solidFill>
          </a:ln>
        </p:spPr>
      </p:pic>
      <p:sp>
        <p:nvSpPr>
          <p:cNvPr id="5" name="Google Shape;207;g3a335ef999a_0_187">
            <a:extLst>
              <a:ext uri="{FF2B5EF4-FFF2-40B4-BE49-F238E27FC236}">
                <a16:creationId xmlns:a16="http://schemas.microsoft.com/office/drawing/2014/main" id="{82C308C6-A467-CE72-0311-0DC438675CE5}"/>
              </a:ext>
            </a:extLst>
          </p:cNvPr>
          <p:cNvSpPr/>
          <p:nvPr/>
        </p:nvSpPr>
        <p:spPr>
          <a:xfrm>
            <a:off x="4563535" y="3210939"/>
            <a:ext cx="3503285" cy="1803703"/>
          </a:xfrm>
          <a:prstGeom prst="roundRect">
            <a:avLst>
              <a:gd name="adj" fmla="val 16667"/>
            </a:avLst>
          </a:prstGeom>
          <a:solidFill>
            <a:schemeClr val="bg2">
              <a:lumMod val="9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sp>
        <p:nvSpPr>
          <p:cNvPr id="11" name="Google Shape;207;g3a335ef999a_0_187">
            <a:extLst>
              <a:ext uri="{FF2B5EF4-FFF2-40B4-BE49-F238E27FC236}">
                <a16:creationId xmlns:a16="http://schemas.microsoft.com/office/drawing/2014/main" id="{ABC2C84E-C7CD-B81B-AF39-FF11061BD82E}"/>
              </a:ext>
            </a:extLst>
          </p:cNvPr>
          <p:cNvSpPr/>
          <p:nvPr/>
        </p:nvSpPr>
        <p:spPr>
          <a:xfrm>
            <a:off x="5281881" y="3018123"/>
            <a:ext cx="3096071" cy="570277"/>
          </a:xfrm>
          <a:prstGeom prst="roundRect">
            <a:avLst>
              <a:gd name="adj" fmla="val 27612"/>
            </a:avLst>
          </a:prstGeom>
          <a:solidFill>
            <a:schemeClr val="bg2">
              <a:lumMod val="5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SNAP</a:t>
            </a:r>
            <a:r>
              <a:rPr lang="en-US" sz="2000" i="0" u="none" strike="noStrike" cap="none" dirty="0">
                <a:solidFill>
                  <a:schemeClr val="bg1"/>
                </a:solidFill>
                <a:latin typeface="Open Sans"/>
                <a:ea typeface="Open Sans"/>
                <a:cs typeface="Open Sans"/>
                <a:sym typeface="Open Sans"/>
              </a:rPr>
              <a:t> - Adult Profile</a:t>
            </a:r>
          </a:p>
        </p:txBody>
      </p:sp>
      <p:graphicFrame>
        <p:nvGraphicFramePr>
          <p:cNvPr id="12" name="Table 11">
            <a:extLst>
              <a:ext uri="{FF2B5EF4-FFF2-40B4-BE49-F238E27FC236}">
                <a16:creationId xmlns:a16="http://schemas.microsoft.com/office/drawing/2014/main" id="{5AECF965-D4F1-8E27-36E3-BDDAE3BA793D}"/>
              </a:ext>
            </a:extLst>
          </p:cNvPr>
          <p:cNvGraphicFramePr>
            <a:graphicFrameLocks noGrp="1"/>
          </p:cNvGraphicFramePr>
          <p:nvPr>
            <p:extLst>
              <p:ext uri="{D42A27DB-BD31-4B8C-83A1-F6EECF244321}">
                <p14:modId xmlns:p14="http://schemas.microsoft.com/office/powerpoint/2010/main" val="2188061684"/>
              </p:ext>
            </p:extLst>
          </p:nvPr>
        </p:nvGraphicFramePr>
        <p:xfrm>
          <a:off x="4874595" y="3632820"/>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Black</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Non-Hispanic</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Unknown</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pic>
        <p:nvPicPr>
          <p:cNvPr id="13" name="Google Shape;235;g3a335ef999a_0_0" title="standing.jpg">
            <a:extLst>
              <a:ext uri="{FF2B5EF4-FFF2-40B4-BE49-F238E27FC236}">
                <a16:creationId xmlns:a16="http://schemas.microsoft.com/office/drawing/2014/main" id="{BB5F50E1-B055-1A60-17F4-04D9A0485469}"/>
              </a:ext>
            </a:extLst>
          </p:cNvPr>
          <p:cNvPicPr preferRelativeResize="0"/>
          <p:nvPr/>
        </p:nvPicPr>
        <p:blipFill rotWithShape="1">
          <a:blip r:embed="rId5">
            <a:alphaModFix/>
          </a:blip>
          <a:srcRect l="37682" t="3168" r="38599" b="73001"/>
          <a:stretch>
            <a:fillRect/>
          </a:stretch>
        </p:blipFill>
        <p:spPr>
          <a:xfrm>
            <a:off x="4201433" y="2779212"/>
            <a:ext cx="879318" cy="883446"/>
          </a:xfrm>
          <a:prstGeom prst="ellipse">
            <a:avLst/>
          </a:prstGeom>
          <a:noFill/>
          <a:ln w="28575">
            <a:solidFill>
              <a:srgbClr val="001B83"/>
            </a:solidFill>
          </a:ln>
        </p:spPr>
      </p:pic>
      <p:cxnSp>
        <p:nvCxnSpPr>
          <p:cNvPr id="14" name="Straight Arrow Connector 13">
            <a:extLst>
              <a:ext uri="{FF2B5EF4-FFF2-40B4-BE49-F238E27FC236}">
                <a16:creationId xmlns:a16="http://schemas.microsoft.com/office/drawing/2014/main" id="{687AEFA4-4A71-A8C5-B73F-A00779634F00}"/>
              </a:ext>
            </a:extLst>
          </p:cNvPr>
          <p:cNvCxnSpPr/>
          <p:nvPr/>
        </p:nvCxnSpPr>
        <p:spPr>
          <a:xfrm>
            <a:off x="1400459" y="4067064"/>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sp>
        <p:nvSpPr>
          <p:cNvPr id="16" name="Google Shape;260;g3a335ef999a_0_34">
            <a:extLst>
              <a:ext uri="{FF2B5EF4-FFF2-40B4-BE49-F238E27FC236}">
                <a16:creationId xmlns:a16="http://schemas.microsoft.com/office/drawing/2014/main" id="{E444F25E-B0F8-9A89-B8FE-4F5F3ABA483B}"/>
              </a:ext>
            </a:extLst>
          </p:cNvPr>
          <p:cNvSpPr txBox="1"/>
          <p:nvPr/>
        </p:nvSpPr>
        <p:spPr>
          <a:xfrm>
            <a:off x="9071222" y="887679"/>
            <a:ext cx="8202026" cy="8006777"/>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2600" dirty="0">
                <a:solidFill>
                  <a:schemeClr val="dk1"/>
                </a:solidFill>
                <a:latin typeface="Open Sans"/>
                <a:ea typeface="Open Sans"/>
                <a:cs typeface="Open Sans"/>
                <a:sym typeface="Open Sans"/>
              </a:rPr>
              <a:t>Aaron knew they wanted to get a college education but wanted to earn some income as well. So, they immediately started a part-time job at a local restaurant while applying for college. It wasn’t enough money to make ends meet, so Aaron found themselves applying for Supplemental Nutrition Assistance Program (SNAP) services. With SNAP and their part-time job, Aaron was able to rent a small apartment and take a couple college classes up until a few weeks ago. Aaron had been growing more confident in their gender expression and identity, but unfortunately that brought on multiple ongoing customer complaints at the restaurant they worked at. Unfortunately, Aaron’s manager thought it would be easier to let Aaron go and appease the customers, so Aaron suddenly became unemployed with no way to pay next month’s rent.</a:t>
            </a:r>
            <a:endParaRPr sz="2600" dirty="0">
              <a:solidFill>
                <a:schemeClr val="dk1"/>
              </a:solidFill>
              <a:latin typeface="Open Sans"/>
              <a:ea typeface="Open Sans"/>
              <a:cs typeface="Open Sans"/>
              <a:sym typeface="Open Sans"/>
            </a:endParaRPr>
          </a:p>
        </p:txBody>
      </p:sp>
      <p:sp>
        <p:nvSpPr>
          <p:cNvPr id="18" name="Google Shape;207;g3a335ef999a_0_187">
            <a:extLst>
              <a:ext uri="{FF2B5EF4-FFF2-40B4-BE49-F238E27FC236}">
                <a16:creationId xmlns:a16="http://schemas.microsoft.com/office/drawing/2014/main" id="{BC1788E9-E73A-178E-D693-7F366A3BA52E}"/>
              </a:ext>
            </a:extLst>
          </p:cNvPr>
          <p:cNvSpPr/>
          <p:nvPr/>
        </p:nvSpPr>
        <p:spPr>
          <a:xfrm>
            <a:off x="4563535" y="8082113"/>
            <a:ext cx="3503285" cy="1803703"/>
          </a:xfrm>
          <a:prstGeom prst="roundRect">
            <a:avLst>
              <a:gd name="adj" fmla="val 16667"/>
            </a:avLst>
          </a:prstGeom>
          <a:solidFill>
            <a:schemeClr val="accent1">
              <a:lumMod val="40000"/>
              <a:lumOff val="6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sp>
        <p:nvSpPr>
          <p:cNvPr id="19" name="Google Shape;207;g3a335ef999a_0_187">
            <a:extLst>
              <a:ext uri="{FF2B5EF4-FFF2-40B4-BE49-F238E27FC236}">
                <a16:creationId xmlns:a16="http://schemas.microsoft.com/office/drawing/2014/main" id="{72E67303-CBF3-08C8-CC6A-38A62AA072C4}"/>
              </a:ext>
            </a:extLst>
          </p:cNvPr>
          <p:cNvSpPr/>
          <p:nvPr/>
        </p:nvSpPr>
        <p:spPr>
          <a:xfrm>
            <a:off x="5281881" y="7889297"/>
            <a:ext cx="3096071" cy="570277"/>
          </a:xfrm>
          <a:prstGeom prst="roundRect">
            <a:avLst>
              <a:gd name="adj" fmla="val 27612"/>
            </a:avLst>
          </a:prstGeom>
          <a:solidFill>
            <a:schemeClr val="accent1"/>
          </a:solidFill>
          <a:ln w="9525" cap="flat" cmpd="sng">
            <a:noFill/>
            <a:prstDash val="solid"/>
            <a:round/>
            <a:headEnd type="none" w="sm" len="sm"/>
            <a:tailEnd type="none" w="sm" len="sm"/>
          </a:ln>
        </p:spPr>
        <p:txBody>
          <a:bodyPr spcFirstLastPara="1" wrap="square" lIns="91440" tIns="182850" rIns="9144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HMIS</a:t>
            </a:r>
            <a:r>
              <a:rPr lang="en-US" sz="2000" i="0" u="none" strike="noStrike" cap="none" dirty="0">
                <a:solidFill>
                  <a:schemeClr val="bg1"/>
                </a:solidFill>
                <a:latin typeface="Open Sans"/>
                <a:ea typeface="Open Sans"/>
                <a:cs typeface="Open Sans"/>
                <a:sym typeface="Open Sans"/>
              </a:rPr>
              <a:t> – Adu</a:t>
            </a:r>
            <a:r>
              <a:rPr lang="en-US" sz="2000" dirty="0">
                <a:solidFill>
                  <a:schemeClr val="bg1"/>
                </a:solidFill>
                <a:latin typeface="Open Sans"/>
                <a:ea typeface="Open Sans"/>
                <a:cs typeface="Open Sans"/>
                <a:sym typeface="Open Sans"/>
              </a:rPr>
              <a:t>lt Profile</a:t>
            </a:r>
            <a:endParaRPr lang="en-US" sz="2000" i="0" u="none" strike="noStrike" cap="none" dirty="0">
              <a:solidFill>
                <a:schemeClr val="bg1"/>
              </a:solidFill>
              <a:latin typeface="Open Sans"/>
              <a:ea typeface="Open Sans"/>
              <a:cs typeface="Open Sans"/>
              <a:sym typeface="Open Sans"/>
            </a:endParaRPr>
          </a:p>
        </p:txBody>
      </p:sp>
      <p:graphicFrame>
        <p:nvGraphicFramePr>
          <p:cNvPr id="20" name="Table 19">
            <a:extLst>
              <a:ext uri="{FF2B5EF4-FFF2-40B4-BE49-F238E27FC236}">
                <a16:creationId xmlns:a16="http://schemas.microsoft.com/office/drawing/2014/main" id="{6FA61EE1-B7B3-71A2-4C9D-3EC563A0851C}"/>
              </a:ext>
            </a:extLst>
          </p:cNvPr>
          <p:cNvGraphicFramePr>
            <a:graphicFrameLocks noGrp="1"/>
          </p:cNvGraphicFramePr>
          <p:nvPr>
            <p:extLst>
              <p:ext uri="{D42A27DB-BD31-4B8C-83A1-F6EECF244321}">
                <p14:modId xmlns:p14="http://schemas.microsoft.com/office/powerpoint/2010/main" val="1206267099"/>
              </p:ext>
            </p:extLst>
          </p:nvPr>
        </p:nvGraphicFramePr>
        <p:xfrm>
          <a:off x="4874595" y="8503994"/>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Black</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Non-Hispanic</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Male</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pic>
        <p:nvPicPr>
          <p:cNvPr id="21" name="Google Shape;235;g3a335ef999a_0_0" title="standing.jpg">
            <a:extLst>
              <a:ext uri="{FF2B5EF4-FFF2-40B4-BE49-F238E27FC236}">
                <a16:creationId xmlns:a16="http://schemas.microsoft.com/office/drawing/2014/main" id="{874BFD0A-A9C6-D9C2-E6DB-90ECC388B17B}"/>
              </a:ext>
            </a:extLst>
          </p:cNvPr>
          <p:cNvPicPr preferRelativeResize="0"/>
          <p:nvPr/>
        </p:nvPicPr>
        <p:blipFill rotWithShape="1">
          <a:blip r:embed="rId5">
            <a:alphaModFix/>
          </a:blip>
          <a:srcRect l="37682" t="3168" r="38599" b="73001"/>
          <a:stretch>
            <a:fillRect/>
          </a:stretch>
        </p:blipFill>
        <p:spPr>
          <a:xfrm>
            <a:off x="4201433" y="7642160"/>
            <a:ext cx="879318" cy="883446"/>
          </a:xfrm>
          <a:prstGeom prst="ellipse">
            <a:avLst/>
          </a:prstGeom>
          <a:noFill/>
          <a:ln w="28575">
            <a:solidFill>
              <a:srgbClr val="001B83"/>
            </a:solidFill>
          </a:ln>
        </p:spPr>
      </p:pic>
      <p:pic>
        <p:nvPicPr>
          <p:cNvPr id="23" name="Audio 22">
            <a:extLst>
              <a:ext uri="{FF2B5EF4-FFF2-40B4-BE49-F238E27FC236}">
                <a16:creationId xmlns:a16="http://schemas.microsoft.com/office/drawing/2014/main" id="{A2815901-0DC6-57E7-4D05-1C2B30AD2C5D}"/>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C8A39210-2DE7-F69C-B7DB-BF5ABE34E49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7</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39558727"/>
      </p:ext>
    </p:extLst>
  </p:cSld>
  <p:clrMapOvr>
    <a:masterClrMapping/>
  </p:clrMapOvr>
  <mc:AlternateContent xmlns:mc="http://schemas.openxmlformats.org/markup-compatibility/2006" xmlns:p14="http://schemas.microsoft.com/office/powerpoint/2010/main">
    <mc:Choice Requires="p14">
      <p:transition spd="slow" p14:dur="2000" advTm="50998"/>
    </mc:Choice>
    <mc:Fallback xmlns="">
      <p:transition spd="slow" advTm="509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id="{85312C9D-7F40-F389-AC6E-D7BB56CCF819}"/>
            </a:ext>
          </a:extLst>
        </p:cNvPr>
        <p:cNvGrpSpPr/>
        <p:nvPr/>
      </p:nvGrpSpPr>
      <p:grpSpPr>
        <a:xfrm>
          <a:off x="0" y="0"/>
          <a:ext cx="0" cy="0"/>
          <a:chOff x="0" y="0"/>
          <a:chExt cx="0" cy="0"/>
        </a:xfrm>
      </p:grpSpPr>
      <p:cxnSp>
        <p:nvCxnSpPr>
          <p:cNvPr id="22" name="Straight Arrow Connector 21">
            <a:extLst>
              <a:ext uri="{FF2B5EF4-FFF2-40B4-BE49-F238E27FC236}">
                <a16:creationId xmlns:a16="http://schemas.microsoft.com/office/drawing/2014/main" id="{BAE9C62A-1EEF-9FEC-5A0F-9EB386771A6D}"/>
              </a:ext>
            </a:extLst>
          </p:cNvPr>
          <p:cNvCxnSpPr/>
          <p:nvPr/>
        </p:nvCxnSpPr>
        <p:spPr>
          <a:xfrm>
            <a:off x="1400459" y="8098602"/>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sp>
        <p:nvSpPr>
          <p:cNvPr id="203" name="Google Shape;203;g3a335ef999a_0_187">
            <a:extLst>
              <a:ext uri="{FF2B5EF4-FFF2-40B4-BE49-F238E27FC236}">
                <a16:creationId xmlns:a16="http://schemas.microsoft.com/office/drawing/2014/main" id="{6D247495-BEBD-6B3C-86C2-61C9B1994722}"/>
              </a:ext>
            </a:extLst>
          </p:cNvPr>
          <p:cNvSpPr/>
          <p:nvPr/>
        </p:nvSpPr>
        <p:spPr>
          <a:xfrm rot="5400000">
            <a:off x="-3886200" y="4343401"/>
            <a:ext cx="10058400" cy="1371600"/>
          </a:xfrm>
          <a:prstGeom prst="rightArrow">
            <a:avLst>
              <a:gd name="adj1" fmla="val 36508"/>
              <a:gd name="adj2" fmla="val 81731"/>
            </a:avLst>
          </a:prstGeom>
          <a:solidFill>
            <a:srgbClr val="001B83"/>
          </a:solidFill>
          <a:ln w="25400" cap="flat" cmpd="sng">
            <a:solidFill>
              <a:srgbClr val="001B83"/>
            </a:solidFill>
            <a:prstDash val="solid"/>
            <a:round/>
            <a:headEnd type="none" w="sm" len="sm"/>
            <a:tailEnd type="none" w="sm" len="sm"/>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rgbClr val="000000"/>
              </a:buClr>
              <a:buSzPts val="2800"/>
              <a:buFont typeface="Arial"/>
              <a:buNone/>
            </a:pPr>
            <a:endParaRPr sz="2800" b="0" i="0" u="none" strike="noStrike" cap="none">
              <a:solidFill>
                <a:srgbClr val="FFFFFF"/>
              </a:solidFill>
              <a:latin typeface="Arial"/>
              <a:ea typeface="Arial"/>
              <a:cs typeface="Arial"/>
              <a:sym typeface="Arial"/>
            </a:endParaRPr>
          </a:p>
        </p:txBody>
      </p:sp>
      <p:sp>
        <p:nvSpPr>
          <p:cNvPr id="10" name="Rounded Rectangle 9">
            <a:extLst>
              <a:ext uri="{FF2B5EF4-FFF2-40B4-BE49-F238E27FC236}">
                <a16:creationId xmlns:a16="http://schemas.microsoft.com/office/drawing/2014/main" id="{F3CBA030-9725-2210-AC26-53D287BDF8C2}"/>
              </a:ext>
            </a:extLst>
          </p:cNvPr>
          <p:cNvSpPr/>
          <p:nvPr/>
        </p:nvSpPr>
        <p:spPr>
          <a:xfrm>
            <a:off x="228600" y="7386044"/>
            <a:ext cx="1828800" cy="914400"/>
          </a:xfrm>
          <a:prstGeom prst="roundRect">
            <a:avLst/>
          </a:prstGeom>
          <a:solidFill>
            <a:srgbClr val="FFDC5D"/>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28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2025</a:t>
            </a:r>
            <a:endParaRPr lang="en-US" sz="2400" b="1" dirty="0">
              <a:solidFill>
                <a:srgbClr val="001B83"/>
              </a:solidFill>
              <a:latin typeface="Open Sans" panose="020B0606030504020204" pitchFamily="34" charset="0"/>
              <a:ea typeface="Open Sans" panose="020B0606030504020204" pitchFamily="34" charset="0"/>
              <a:cs typeface="Open Sans" panose="020B0606030504020204" pitchFamily="34" charset="0"/>
            </a:endParaRPr>
          </a:p>
          <a:p>
            <a:pPr algn="ctr"/>
            <a:r>
              <a:rPr lang="en-US" dirty="0">
                <a:solidFill>
                  <a:srgbClr val="001B83"/>
                </a:solidFill>
                <a:latin typeface="Open Sans" panose="020B0606030504020204" pitchFamily="34" charset="0"/>
                <a:ea typeface="Open Sans" panose="020B0606030504020204" pitchFamily="34" charset="0"/>
                <a:cs typeface="Open Sans" panose="020B0606030504020204" pitchFamily="34" charset="0"/>
              </a:rPr>
              <a:t>Present</a:t>
            </a:r>
          </a:p>
        </p:txBody>
      </p:sp>
      <p:sp>
        <p:nvSpPr>
          <p:cNvPr id="33" name="Google Shape;207;g3a335ef999a_0_187">
            <a:extLst>
              <a:ext uri="{FF2B5EF4-FFF2-40B4-BE49-F238E27FC236}">
                <a16:creationId xmlns:a16="http://schemas.microsoft.com/office/drawing/2014/main" id="{5B50F66D-2050-0C26-202E-4B101F8E3F44}"/>
              </a:ext>
            </a:extLst>
          </p:cNvPr>
          <p:cNvSpPr/>
          <p:nvPr/>
        </p:nvSpPr>
        <p:spPr>
          <a:xfrm>
            <a:off x="4563535" y="782693"/>
            <a:ext cx="3503285" cy="1803703"/>
          </a:xfrm>
          <a:prstGeom prst="roundRect">
            <a:avLst>
              <a:gd name="adj" fmla="val 16667"/>
            </a:avLst>
          </a:prstGeom>
          <a:solidFill>
            <a:schemeClr val="bg2">
              <a:lumMod val="9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sp>
        <p:nvSpPr>
          <p:cNvPr id="35" name="Google Shape;207;g3a335ef999a_0_187">
            <a:extLst>
              <a:ext uri="{FF2B5EF4-FFF2-40B4-BE49-F238E27FC236}">
                <a16:creationId xmlns:a16="http://schemas.microsoft.com/office/drawing/2014/main" id="{60F00EFA-8A5D-992E-554B-8C31F6BC16D0}"/>
              </a:ext>
            </a:extLst>
          </p:cNvPr>
          <p:cNvSpPr/>
          <p:nvPr/>
        </p:nvSpPr>
        <p:spPr>
          <a:xfrm>
            <a:off x="5281881" y="589877"/>
            <a:ext cx="3096071" cy="570277"/>
          </a:xfrm>
          <a:prstGeom prst="roundRect">
            <a:avLst>
              <a:gd name="adj" fmla="val 27612"/>
            </a:avLst>
          </a:prstGeom>
          <a:solidFill>
            <a:schemeClr val="bg2">
              <a:lumMod val="5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SNAP</a:t>
            </a:r>
            <a:r>
              <a:rPr lang="en-US" sz="2000" i="0" u="none" strike="noStrike" cap="none" dirty="0">
                <a:solidFill>
                  <a:schemeClr val="bg1"/>
                </a:solidFill>
                <a:latin typeface="Open Sans"/>
                <a:ea typeface="Open Sans"/>
                <a:cs typeface="Open Sans"/>
                <a:sym typeface="Open Sans"/>
              </a:rPr>
              <a:t> - Adult Profile</a:t>
            </a:r>
          </a:p>
        </p:txBody>
      </p:sp>
      <p:graphicFrame>
        <p:nvGraphicFramePr>
          <p:cNvPr id="36" name="Table 35">
            <a:extLst>
              <a:ext uri="{FF2B5EF4-FFF2-40B4-BE49-F238E27FC236}">
                <a16:creationId xmlns:a16="http://schemas.microsoft.com/office/drawing/2014/main" id="{FD0E2E3C-C6C4-3D4B-709D-DE62E50FDD58}"/>
              </a:ext>
            </a:extLst>
          </p:cNvPr>
          <p:cNvGraphicFramePr>
            <a:graphicFrameLocks noGrp="1"/>
          </p:cNvGraphicFramePr>
          <p:nvPr/>
        </p:nvGraphicFramePr>
        <p:xfrm>
          <a:off x="4874595" y="1204574"/>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Black</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Non-Hispanic</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Unknown</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cxnSp>
        <p:nvCxnSpPr>
          <p:cNvPr id="45" name="Straight Arrow Connector 44">
            <a:extLst>
              <a:ext uri="{FF2B5EF4-FFF2-40B4-BE49-F238E27FC236}">
                <a16:creationId xmlns:a16="http://schemas.microsoft.com/office/drawing/2014/main" id="{57AD2CFE-950B-F4B3-8BD2-0F82E3A1AAF3}"/>
              </a:ext>
            </a:extLst>
          </p:cNvPr>
          <p:cNvCxnSpPr/>
          <p:nvPr/>
        </p:nvCxnSpPr>
        <p:spPr>
          <a:xfrm>
            <a:off x="1400459" y="1771125"/>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F610C67-5E62-BEE1-DAFA-E074CA35C49A}"/>
              </a:ext>
            </a:extLst>
          </p:cNvPr>
          <p:cNvCxnSpPr/>
          <p:nvPr/>
        </p:nvCxnSpPr>
        <p:spPr>
          <a:xfrm>
            <a:off x="1400459" y="6432602"/>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sp>
        <p:nvSpPr>
          <p:cNvPr id="4" name="Google Shape;207;g3a335ef999a_0_187">
            <a:extLst>
              <a:ext uri="{FF2B5EF4-FFF2-40B4-BE49-F238E27FC236}">
                <a16:creationId xmlns:a16="http://schemas.microsoft.com/office/drawing/2014/main" id="{A5CB313C-DF82-48C8-B5D4-4245AE356F50}"/>
              </a:ext>
            </a:extLst>
          </p:cNvPr>
          <p:cNvSpPr/>
          <p:nvPr/>
        </p:nvSpPr>
        <p:spPr>
          <a:xfrm>
            <a:off x="4563535" y="5647411"/>
            <a:ext cx="3503285" cy="1803703"/>
          </a:xfrm>
          <a:prstGeom prst="roundRect">
            <a:avLst>
              <a:gd name="adj" fmla="val 16667"/>
            </a:avLst>
          </a:prstGeom>
          <a:solidFill>
            <a:schemeClr val="accent1">
              <a:lumMod val="40000"/>
              <a:lumOff val="6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sp>
        <p:nvSpPr>
          <p:cNvPr id="6" name="Google Shape;207;g3a335ef999a_0_187">
            <a:extLst>
              <a:ext uri="{FF2B5EF4-FFF2-40B4-BE49-F238E27FC236}">
                <a16:creationId xmlns:a16="http://schemas.microsoft.com/office/drawing/2014/main" id="{6F4955FD-B53C-846D-6CC7-298CCB1B3A3A}"/>
              </a:ext>
            </a:extLst>
          </p:cNvPr>
          <p:cNvSpPr/>
          <p:nvPr/>
        </p:nvSpPr>
        <p:spPr>
          <a:xfrm>
            <a:off x="5281881" y="5454595"/>
            <a:ext cx="3096071" cy="570277"/>
          </a:xfrm>
          <a:prstGeom prst="roundRect">
            <a:avLst>
              <a:gd name="adj" fmla="val 27612"/>
            </a:avLst>
          </a:prstGeom>
          <a:solidFill>
            <a:schemeClr val="accent1"/>
          </a:solidFill>
          <a:ln w="9525" cap="flat" cmpd="sng">
            <a:noFill/>
            <a:prstDash val="solid"/>
            <a:round/>
            <a:headEnd type="none" w="sm" len="sm"/>
            <a:tailEnd type="none" w="sm" len="sm"/>
          </a:ln>
        </p:spPr>
        <p:txBody>
          <a:bodyPr spcFirstLastPara="1" wrap="square" lIns="91440" tIns="182850" rIns="9144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HMIS</a:t>
            </a:r>
            <a:r>
              <a:rPr lang="en-US" sz="2000" i="0" u="none" strike="noStrike" cap="none" dirty="0">
                <a:solidFill>
                  <a:schemeClr val="bg1"/>
                </a:solidFill>
                <a:latin typeface="Open Sans"/>
                <a:ea typeface="Open Sans"/>
                <a:cs typeface="Open Sans"/>
                <a:sym typeface="Open Sans"/>
              </a:rPr>
              <a:t> – Adu</a:t>
            </a:r>
            <a:r>
              <a:rPr lang="en-US" sz="2000" dirty="0">
                <a:solidFill>
                  <a:schemeClr val="bg1"/>
                </a:solidFill>
                <a:latin typeface="Open Sans"/>
                <a:ea typeface="Open Sans"/>
                <a:cs typeface="Open Sans"/>
                <a:sym typeface="Open Sans"/>
              </a:rPr>
              <a:t>lt Profile</a:t>
            </a:r>
            <a:endParaRPr lang="en-US" sz="2000" i="0" u="none" strike="noStrike" cap="none" dirty="0">
              <a:solidFill>
                <a:schemeClr val="bg1"/>
              </a:solidFill>
              <a:latin typeface="Open Sans"/>
              <a:ea typeface="Open Sans"/>
              <a:cs typeface="Open Sans"/>
              <a:sym typeface="Open Sans"/>
            </a:endParaRPr>
          </a:p>
        </p:txBody>
      </p:sp>
      <p:graphicFrame>
        <p:nvGraphicFramePr>
          <p:cNvPr id="7" name="Table 6">
            <a:extLst>
              <a:ext uri="{FF2B5EF4-FFF2-40B4-BE49-F238E27FC236}">
                <a16:creationId xmlns:a16="http://schemas.microsoft.com/office/drawing/2014/main" id="{EF8E6370-7A89-9271-8B9D-CCD707FFD6CD}"/>
              </a:ext>
            </a:extLst>
          </p:cNvPr>
          <p:cNvGraphicFramePr>
            <a:graphicFrameLocks noGrp="1"/>
          </p:cNvGraphicFramePr>
          <p:nvPr/>
        </p:nvGraphicFramePr>
        <p:xfrm>
          <a:off x="4874595" y="6069292"/>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Black</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Non-Hispanic</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Non-Binary</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sp>
        <p:nvSpPr>
          <p:cNvPr id="9" name="Rounded Rectangle 8">
            <a:extLst>
              <a:ext uri="{FF2B5EF4-FFF2-40B4-BE49-F238E27FC236}">
                <a16:creationId xmlns:a16="http://schemas.microsoft.com/office/drawing/2014/main" id="{F500E249-72DA-8862-70C6-49E214017B8B}"/>
              </a:ext>
            </a:extLst>
          </p:cNvPr>
          <p:cNvSpPr/>
          <p:nvPr/>
        </p:nvSpPr>
        <p:spPr>
          <a:xfrm>
            <a:off x="228600" y="537984"/>
            <a:ext cx="1828800" cy="914400"/>
          </a:xfrm>
          <a:prstGeom prst="roundRect">
            <a:avLst/>
          </a:prstGeom>
          <a:solidFill>
            <a:srgbClr val="FFDC5D"/>
          </a:solidFill>
          <a:ln>
            <a:noFill/>
          </a:ln>
        </p:spPr>
        <p:style>
          <a:lnRef idx="2">
            <a:schemeClr val="dk1">
              <a:shade val="15000"/>
            </a:schemeClr>
          </a:lnRef>
          <a:fillRef idx="1">
            <a:schemeClr val="dk1"/>
          </a:fillRef>
          <a:effectRef idx="0">
            <a:schemeClr val="dk1"/>
          </a:effectRef>
          <a:fontRef idx="minor">
            <a:schemeClr val="lt1"/>
          </a:fontRef>
        </p:style>
        <p:txBody>
          <a:bodyPr lIns="0" rIns="0" rtlCol="0" anchor="ctr"/>
          <a:lstStyle/>
          <a:p>
            <a:pPr algn="ctr"/>
            <a:r>
              <a:rPr lang="en-US" sz="28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2024</a:t>
            </a:r>
            <a:endParaRPr lang="en-US" sz="2400" b="1" dirty="0">
              <a:solidFill>
                <a:srgbClr val="001B83"/>
              </a:solidFill>
              <a:latin typeface="Open Sans" panose="020B0606030504020204" pitchFamily="34" charset="0"/>
              <a:ea typeface="Open Sans" panose="020B0606030504020204" pitchFamily="34" charset="0"/>
              <a:cs typeface="Open Sans" panose="020B0606030504020204" pitchFamily="34" charset="0"/>
            </a:endParaRPr>
          </a:p>
          <a:p>
            <a:pPr algn="ctr"/>
            <a:r>
              <a:rPr lang="en-US" dirty="0">
                <a:solidFill>
                  <a:srgbClr val="001B83"/>
                </a:solidFill>
                <a:latin typeface="Open Sans" panose="020B0606030504020204" pitchFamily="34" charset="0"/>
                <a:ea typeface="Open Sans" panose="020B0606030504020204" pitchFamily="34" charset="0"/>
                <a:cs typeface="Open Sans" panose="020B0606030504020204" pitchFamily="34" charset="0"/>
              </a:rPr>
              <a:t>HS Graduation</a:t>
            </a:r>
          </a:p>
        </p:txBody>
      </p:sp>
      <p:pic>
        <p:nvPicPr>
          <p:cNvPr id="15" name="Google Shape;235;g3a335ef999a_0_0" title="standing.jpg">
            <a:extLst>
              <a:ext uri="{FF2B5EF4-FFF2-40B4-BE49-F238E27FC236}">
                <a16:creationId xmlns:a16="http://schemas.microsoft.com/office/drawing/2014/main" id="{A0AA4BEA-FB44-8598-721A-63193DB1752D}"/>
              </a:ext>
            </a:extLst>
          </p:cNvPr>
          <p:cNvPicPr preferRelativeResize="0"/>
          <p:nvPr/>
        </p:nvPicPr>
        <p:blipFill rotWithShape="1">
          <a:blip r:embed="rId5">
            <a:alphaModFix/>
          </a:blip>
          <a:srcRect l="37682" t="3168" r="38599" b="73001"/>
          <a:stretch>
            <a:fillRect/>
          </a:stretch>
        </p:blipFill>
        <p:spPr>
          <a:xfrm>
            <a:off x="4201433" y="5207458"/>
            <a:ext cx="879318" cy="883446"/>
          </a:xfrm>
          <a:prstGeom prst="ellipse">
            <a:avLst/>
          </a:prstGeom>
          <a:noFill/>
          <a:ln w="28575">
            <a:solidFill>
              <a:srgbClr val="001B83"/>
            </a:solidFill>
          </a:ln>
        </p:spPr>
      </p:pic>
      <p:pic>
        <p:nvPicPr>
          <p:cNvPr id="17" name="Google Shape;235;g3a335ef999a_0_0" title="standing.jpg">
            <a:extLst>
              <a:ext uri="{FF2B5EF4-FFF2-40B4-BE49-F238E27FC236}">
                <a16:creationId xmlns:a16="http://schemas.microsoft.com/office/drawing/2014/main" id="{1FD78938-C235-43B4-780E-B6008C64BDA3}"/>
              </a:ext>
            </a:extLst>
          </p:cNvPr>
          <p:cNvPicPr preferRelativeResize="0"/>
          <p:nvPr/>
        </p:nvPicPr>
        <p:blipFill rotWithShape="1">
          <a:blip r:embed="rId5">
            <a:alphaModFix/>
          </a:blip>
          <a:srcRect l="37902" t="3258" r="38452" b="73062"/>
          <a:stretch>
            <a:fillRect/>
          </a:stretch>
        </p:blipFill>
        <p:spPr>
          <a:xfrm>
            <a:off x="16270357" y="8278279"/>
            <a:ext cx="2005783" cy="2008721"/>
          </a:xfrm>
          <a:prstGeom prst="rect">
            <a:avLst/>
          </a:prstGeom>
          <a:noFill/>
          <a:ln>
            <a:noFill/>
          </a:ln>
        </p:spPr>
      </p:pic>
      <p:pic>
        <p:nvPicPr>
          <p:cNvPr id="3" name="Google Shape;235;g3a335ef999a_0_0" title="standing.jpg">
            <a:extLst>
              <a:ext uri="{FF2B5EF4-FFF2-40B4-BE49-F238E27FC236}">
                <a16:creationId xmlns:a16="http://schemas.microsoft.com/office/drawing/2014/main" id="{C465E617-84B4-F377-1FC9-4E74C501BE48}"/>
              </a:ext>
            </a:extLst>
          </p:cNvPr>
          <p:cNvPicPr preferRelativeResize="0"/>
          <p:nvPr/>
        </p:nvPicPr>
        <p:blipFill rotWithShape="1">
          <a:blip r:embed="rId5">
            <a:alphaModFix/>
          </a:blip>
          <a:srcRect l="37682" t="3168" r="38599" b="73001"/>
          <a:stretch>
            <a:fillRect/>
          </a:stretch>
        </p:blipFill>
        <p:spPr>
          <a:xfrm>
            <a:off x="4201433" y="350966"/>
            <a:ext cx="879318" cy="883446"/>
          </a:xfrm>
          <a:prstGeom prst="ellipse">
            <a:avLst/>
          </a:prstGeom>
          <a:noFill/>
          <a:ln w="28575">
            <a:solidFill>
              <a:srgbClr val="001B83"/>
            </a:solidFill>
          </a:ln>
        </p:spPr>
      </p:pic>
      <p:sp>
        <p:nvSpPr>
          <p:cNvPr id="5" name="Google Shape;207;g3a335ef999a_0_187">
            <a:extLst>
              <a:ext uri="{FF2B5EF4-FFF2-40B4-BE49-F238E27FC236}">
                <a16:creationId xmlns:a16="http://schemas.microsoft.com/office/drawing/2014/main" id="{5FC19042-84EB-9D74-2C39-A535756E2831}"/>
              </a:ext>
            </a:extLst>
          </p:cNvPr>
          <p:cNvSpPr/>
          <p:nvPr/>
        </p:nvSpPr>
        <p:spPr>
          <a:xfrm>
            <a:off x="4563535" y="3210939"/>
            <a:ext cx="3503285" cy="1803703"/>
          </a:xfrm>
          <a:prstGeom prst="roundRect">
            <a:avLst>
              <a:gd name="adj" fmla="val 16667"/>
            </a:avLst>
          </a:prstGeom>
          <a:solidFill>
            <a:schemeClr val="bg2">
              <a:lumMod val="9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sp>
        <p:nvSpPr>
          <p:cNvPr id="11" name="Google Shape;207;g3a335ef999a_0_187">
            <a:extLst>
              <a:ext uri="{FF2B5EF4-FFF2-40B4-BE49-F238E27FC236}">
                <a16:creationId xmlns:a16="http://schemas.microsoft.com/office/drawing/2014/main" id="{5F318837-85B3-89A9-0E4F-D89E52E4BA9E}"/>
              </a:ext>
            </a:extLst>
          </p:cNvPr>
          <p:cNvSpPr/>
          <p:nvPr/>
        </p:nvSpPr>
        <p:spPr>
          <a:xfrm>
            <a:off x="5281881" y="3018123"/>
            <a:ext cx="3096071" cy="570277"/>
          </a:xfrm>
          <a:prstGeom prst="roundRect">
            <a:avLst>
              <a:gd name="adj" fmla="val 27612"/>
            </a:avLst>
          </a:prstGeom>
          <a:solidFill>
            <a:schemeClr val="bg2">
              <a:lumMod val="5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SNAP</a:t>
            </a:r>
            <a:r>
              <a:rPr lang="en-US" sz="2000" i="0" u="none" strike="noStrike" cap="none" dirty="0">
                <a:solidFill>
                  <a:schemeClr val="bg1"/>
                </a:solidFill>
                <a:latin typeface="Open Sans"/>
                <a:ea typeface="Open Sans"/>
                <a:cs typeface="Open Sans"/>
                <a:sym typeface="Open Sans"/>
              </a:rPr>
              <a:t> - Adult Profile</a:t>
            </a:r>
          </a:p>
        </p:txBody>
      </p:sp>
      <p:graphicFrame>
        <p:nvGraphicFramePr>
          <p:cNvPr id="12" name="Table 11">
            <a:extLst>
              <a:ext uri="{FF2B5EF4-FFF2-40B4-BE49-F238E27FC236}">
                <a16:creationId xmlns:a16="http://schemas.microsoft.com/office/drawing/2014/main" id="{32AAF285-070B-F075-A8F3-8B72ACA9F98F}"/>
              </a:ext>
            </a:extLst>
          </p:cNvPr>
          <p:cNvGraphicFramePr>
            <a:graphicFrameLocks noGrp="1"/>
          </p:cNvGraphicFramePr>
          <p:nvPr/>
        </p:nvGraphicFramePr>
        <p:xfrm>
          <a:off x="4874595" y="3632820"/>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Black</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Non-Hispanic</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Unknown</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pic>
        <p:nvPicPr>
          <p:cNvPr id="13" name="Google Shape;235;g3a335ef999a_0_0" title="standing.jpg">
            <a:extLst>
              <a:ext uri="{FF2B5EF4-FFF2-40B4-BE49-F238E27FC236}">
                <a16:creationId xmlns:a16="http://schemas.microsoft.com/office/drawing/2014/main" id="{5768EF9E-EC0F-78C6-AE71-D977C115B678}"/>
              </a:ext>
            </a:extLst>
          </p:cNvPr>
          <p:cNvPicPr preferRelativeResize="0"/>
          <p:nvPr/>
        </p:nvPicPr>
        <p:blipFill rotWithShape="1">
          <a:blip r:embed="rId5">
            <a:alphaModFix/>
          </a:blip>
          <a:srcRect l="37682" t="3168" r="38599" b="73001"/>
          <a:stretch>
            <a:fillRect/>
          </a:stretch>
        </p:blipFill>
        <p:spPr>
          <a:xfrm>
            <a:off x="4201433" y="2779212"/>
            <a:ext cx="879318" cy="883446"/>
          </a:xfrm>
          <a:prstGeom prst="ellipse">
            <a:avLst/>
          </a:prstGeom>
          <a:noFill/>
          <a:ln w="28575">
            <a:solidFill>
              <a:srgbClr val="001B83"/>
            </a:solidFill>
          </a:ln>
        </p:spPr>
      </p:pic>
      <p:cxnSp>
        <p:nvCxnSpPr>
          <p:cNvPr id="14" name="Straight Arrow Connector 13">
            <a:extLst>
              <a:ext uri="{FF2B5EF4-FFF2-40B4-BE49-F238E27FC236}">
                <a16:creationId xmlns:a16="http://schemas.microsoft.com/office/drawing/2014/main" id="{3EED6141-CCE3-B355-2BA8-64D209D80BFB}"/>
              </a:ext>
            </a:extLst>
          </p:cNvPr>
          <p:cNvCxnSpPr/>
          <p:nvPr/>
        </p:nvCxnSpPr>
        <p:spPr>
          <a:xfrm>
            <a:off x="1400459" y="4067064"/>
            <a:ext cx="2286000" cy="0"/>
          </a:xfrm>
          <a:prstGeom prst="straightConnector1">
            <a:avLst/>
          </a:prstGeom>
          <a:ln w="63500">
            <a:solidFill>
              <a:srgbClr val="FFDC5D"/>
            </a:solidFill>
            <a:tailEnd type="triangle"/>
          </a:ln>
        </p:spPr>
        <p:style>
          <a:lnRef idx="1">
            <a:schemeClr val="accent1"/>
          </a:lnRef>
          <a:fillRef idx="0">
            <a:schemeClr val="accent1"/>
          </a:fillRef>
          <a:effectRef idx="0">
            <a:schemeClr val="accent1"/>
          </a:effectRef>
          <a:fontRef idx="minor">
            <a:schemeClr val="tx1"/>
          </a:fontRef>
        </p:style>
      </p:cxnSp>
      <p:sp>
        <p:nvSpPr>
          <p:cNvPr id="18" name="Google Shape;207;g3a335ef999a_0_187">
            <a:extLst>
              <a:ext uri="{FF2B5EF4-FFF2-40B4-BE49-F238E27FC236}">
                <a16:creationId xmlns:a16="http://schemas.microsoft.com/office/drawing/2014/main" id="{FC354B34-2A6C-7E42-CE5B-0E3882C73584}"/>
              </a:ext>
            </a:extLst>
          </p:cNvPr>
          <p:cNvSpPr/>
          <p:nvPr/>
        </p:nvSpPr>
        <p:spPr>
          <a:xfrm>
            <a:off x="4563535" y="8082113"/>
            <a:ext cx="3503285" cy="1803703"/>
          </a:xfrm>
          <a:prstGeom prst="roundRect">
            <a:avLst>
              <a:gd name="adj" fmla="val 16667"/>
            </a:avLst>
          </a:prstGeom>
          <a:solidFill>
            <a:schemeClr val="accent1">
              <a:lumMod val="40000"/>
              <a:lumOff val="60000"/>
            </a:schemeClr>
          </a:solidFill>
          <a:ln w="9525" cap="flat" cmpd="sng">
            <a:noFill/>
            <a:prstDash val="solid"/>
            <a:round/>
            <a:headEnd type="none" w="sm" len="sm"/>
            <a:tailEnd type="none" w="sm" len="sm"/>
          </a:ln>
        </p:spPr>
        <p:txBody>
          <a:bodyPr spcFirstLastPara="1" wrap="square" lIns="182850" tIns="182850" rIns="182850" bIns="182850" anchor="ctr" anchorCtr="0">
            <a:noAutofit/>
          </a:bodyPr>
          <a:lstStyle/>
          <a:p>
            <a:pPr marR="0" lvl="0" rtl="0">
              <a:lnSpc>
                <a:spcPct val="100000"/>
              </a:lnSpc>
              <a:spcBef>
                <a:spcPts val="0"/>
              </a:spcBef>
              <a:spcAft>
                <a:spcPts val="0"/>
              </a:spcAft>
              <a:buClr>
                <a:srgbClr val="000000"/>
              </a:buClr>
              <a:buSzPts val="2800"/>
            </a:pPr>
            <a:endParaRPr lang="en-US" sz="2800" b="1" i="0" u="none" strike="noStrike" cap="none" dirty="0">
              <a:latin typeface="Open Sans"/>
              <a:ea typeface="Open Sans"/>
              <a:cs typeface="Open Sans"/>
              <a:sym typeface="Open Sans"/>
            </a:endParaRPr>
          </a:p>
        </p:txBody>
      </p:sp>
      <p:sp>
        <p:nvSpPr>
          <p:cNvPr id="19" name="Google Shape;207;g3a335ef999a_0_187">
            <a:extLst>
              <a:ext uri="{FF2B5EF4-FFF2-40B4-BE49-F238E27FC236}">
                <a16:creationId xmlns:a16="http://schemas.microsoft.com/office/drawing/2014/main" id="{C76BF64F-B5A2-09FE-703E-33D4FC3D1BAD}"/>
              </a:ext>
            </a:extLst>
          </p:cNvPr>
          <p:cNvSpPr/>
          <p:nvPr/>
        </p:nvSpPr>
        <p:spPr>
          <a:xfrm>
            <a:off x="5281881" y="7889297"/>
            <a:ext cx="3096071" cy="570277"/>
          </a:xfrm>
          <a:prstGeom prst="roundRect">
            <a:avLst>
              <a:gd name="adj" fmla="val 27612"/>
            </a:avLst>
          </a:prstGeom>
          <a:solidFill>
            <a:schemeClr val="accent1"/>
          </a:solidFill>
          <a:ln w="9525" cap="flat" cmpd="sng">
            <a:noFill/>
            <a:prstDash val="solid"/>
            <a:round/>
            <a:headEnd type="none" w="sm" len="sm"/>
            <a:tailEnd type="none" w="sm" len="sm"/>
          </a:ln>
        </p:spPr>
        <p:txBody>
          <a:bodyPr spcFirstLastPara="1" wrap="square" lIns="91440" tIns="182850" rIns="91440" bIns="182850" anchor="ctr" anchorCtr="0">
            <a:noAutofit/>
          </a:bodyPr>
          <a:lstStyle/>
          <a:p>
            <a:pPr marR="0" lvl="0" algn="ctr" rtl="0">
              <a:lnSpc>
                <a:spcPct val="100000"/>
              </a:lnSpc>
              <a:spcBef>
                <a:spcPts val="0"/>
              </a:spcBef>
              <a:spcAft>
                <a:spcPts val="0"/>
              </a:spcAft>
              <a:buClr>
                <a:srgbClr val="000000"/>
              </a:buClr>
              <a:buSzPts val="2800"/>
            </a:pPr>
            <a:r>
              <a:rPr lang="en-US" sz="2000" b="1" i="0" u="none" strike="noStrike" cap="none" dirty="0">
                <a:solidFill>
                  <a:schemeClr val="bg1"/>
                </a:solidFill>
                <a:latin typeface="Open Sans"/>
                <a:ea typeface="Open Sans"/>
                <a:cs typeface="Open Sans"/>
                <a:sym typeface="Open Sans"/>
              </a:rPr>
              <a:t>HMIS</a:t>
            </a:r>
            <a:r>
              <a:rPr lang="en-US" sz="2000" i="0" u="none" strike="noStrike" cap="none" dirty="0">
                <a:solidFill>
                  <a:schemeClr val="bg1"/>
                </a:solidFill>
                <a:latin typeface="Open Sans"/>
                <a:ea typeface="Open Sans"/>
                <a:cs typeface="Open Sans"/>
                <a:sym typeface="Open Sans"/>
              </a:rPr>
              <a:t> – Adu</a:t>
            </a:r>
            <a:r>
              <a:rPr lang="en-US" sz="2000" dirty="0">
                <a:solidFill>
                  <a:schemeClr val="bg1"/>
                </a:solidFill>
                <a:latin typeface="Open Sans"/>
                <a:ea typeface="Open Sans"/>
                <a:cs typeface="Open Sans"/>
                <a:sym typeface="Open Sans"/>
              </a:rPr>
              <a:t>lt Profile</a:t>
            </a:r>
            <a:endParaRPr lang="en-US" sz="2000" i="0" u="none" strike="noStrike" cap="none" dirty="0">
              <a:solidFill>
                <a:schemeClr val="bg1"/>
              </a:solidFill>
              <a:latin typeface="Open Sans"/>
              <a:ea typeface="Open Sans"/>
              <a:cs typeface="Open Sans"/>
              <a:sym typeface="Open Sans"/>
            </a:endParaRPr>
          </a:p>
        </p:txBody>
      </p:sp>
      <p:graphicFrame>
        <p:nvGraphicFramePr>
          <p:cNvPr id="20" name="Table 19">
            <a:extLst>
              <a:ext uri="{FF2B5EF4-FFF2-40B4-BE49-F238E27FC236}">
                <a16:creationId xmlns:a16="http://schemas.microsoft.com/office/drawing/2014/main" id="{F8196DD7-BF37-E9A5-179D-05A2C86110F9}"/>
              </a:ext>
            </a:extLst>
          </p:cNvPr>
          <p:cNvGraphicFramePr>
            <a:graphicFrameLocks noGrp="1"/>
          </p:cNvGraphicFramePr>
          <p:nvPr/>
        </p:nvGraphicFramePr>
        <p:xfrm>
          <a:off x="4874595" y="8503994"/>
          <a:ext cx="3171836" cy="1272186"/>
        </p:xfrm>
        <a:graphic>
          <a:graphicData uri="http://schemas.openxmlformats.org/drawingml/2006/table">
            <a:tbl>
              <a:tblPr firstRow="1" bandRow="1">
                <a:tableStyleId>{5C22544A-7EE6-4342-B048-85BDC9FD1C3A}</a:tableStyleId>
              </a:tblPr>
              <a:tblGrid>
                <a:gridCol w="1436753">
                  <a:extLst>
                    <a:ext uri="{9D8B030D-6E8A-4147-A177-3AD203B41FA5}">
                      <a16:colId xmlns:a16="http://schemas.microsoft.com/office/drawing/2014/main" val="694797012"/>
                    </a:ext>
                  </a:extLst>
                </a:gridCol>
                <a:gridCol w="1735083">
                  <a:extLst>
                    <a:ext uri="{9D8B030D-6E8A-4147-A177-3AD203B41FA5}">
                      <a16:colId xmlns:a16="http://schemas.microsoft.com/office/drawing/2014/main" val="4043278030"/>
                    </a:ext>
                  </a:extLst>
                </a:gridCol>
              </a:tblGrid>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Race</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r>
                        <a:rPr lang="en-US" sz="19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Black</a:t>
                      </a:r>
                    </a:p>
                  </a:txBody>
                  <a:tcPr marL="78307" marR="78307" marT="39153" marB="39153"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27592651"/>
                  </a:ext>
                </a:extLst>
              </a:tr>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8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Non-Hispanic</a:t>
                      </a:r>
                    </a:p>
                  </a:txBody>
                  <a:tcPr marL="78307" marR="78307" marT="39153" marB="39153"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105055"/>
                  </a:ext>
                </a:extLst>
              </a:tr>
              <a:tr h="424062">
                <a:tc>
                  <a:txBody>
                    <a:bodyPr/>
                    <a:lstStyle/>
                    <a:p>
                      <a:r>
                        <a:rPr lang="en-US" sz="1900" b="1"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900" b="0" dirty="0">
                          <a:solidFill>
                            <a:schemeClr val="accent1">
                              <a:lumMod val="50000"/>
                            </a:schemeClr>
                          </a:solidFill>
                          <a:latin typeface="Open Sans" panose="020B0606030504020204" pitchFamily="34" charset="0"/>
                          <a:ea typeface="Open Sans" panose="020B0606030504020204" pitchFamily="34" charset="0"/>
                          <a:cs typeface="Open Sans" panose="020B0606030504020204" pitchFamily="34" charset="0"/>
                        </a:rPr>
                        <a:t>Male</a:t>
                      </a:r>
                    </a:p>
                  </a:txBody>
                  <a:tcPr marL="78307" marR="78307" marT="39153" marB="39153"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2678027"/>
                  </a:ext>
                </a:extLst>
              </a:tr>
            </a:tbl>
          </a:graphicData>
        </a:graphic>
      </p:graphicFrame>
      <p:pic>
        <p:nvPicPr>
          <p:cNvPr id="21" name="Google Shape;235;g3a335ef999a_0_0" title="standing.jpg">
            <a:extLst>
              <a:ext uri="{FF2B5EF4-FFF2-40B4-BE49-F238E27FC236}">
                <a16:creationId xmlns:a16="http://schemas.microsoft.com/office/drawing/2014/main" id="{517D8450-03D7-6B74-C882-8ED2EA43BB63}"/>
              </a:ext>
            </a:extLst>
          </p:cNvPr>
          <p:cNvPicPr preferRelativeResize="0"/>
          <p:nvPr/>
        </p:nvPicPr>
        <p:blipFill rotWithShape="1">
          <a:blip r:embed="rId5">
            <a:alphaModFix/>
          </a:blip>
          <a:srcRect l="37682" t="3168" r="38599" b="73001"/>
          <a:stretch>
            <a:fillRect/>
          </a:stretch>
        </p:blipFill>
        <p:spPr>
          <a:xfrm>
            <a:off x="4201433" y="7642160"/>
            <a:ext cx="879318" cy="883446"/>
          </a:xfrm>
          <a:prstGeom prst="ellipse">
            <a:avLst/>
          </a:prstGeom>
          <a:noFill/>
          <a:ln w="28575">
            <a:solidFill>
              <a:srgbClr val="001B83"/>
            </a:solidFill>
          </a:ln>
        </p:spPr>
      </p:pic>
      <p:sp>
        <p:nvSpPr>
          <p:cNvPr id="2" name="Google Shape;287;g3a335ef999a_0_112">
            <a:extLst>
              <a:ext uri="{FF2B5EF4-FFF2-40B4-BE49-F238E27FC236}">
                <a16:creationId xmlns:a16="http://schemas.microsoft.com/office/drawing/2014/main" id="{AC2F2D90-4E17-9403-5585-A4D3A51B5D6F}"/>
              </a:ext>
            </a:extLst>
          </p:cNvPr>
          <p:cNvSpPr txBox="1"/>
          <p:nvPr/>
        </p:nvSpPr>
        <p:spPr>
          <a:xfrm>
            <a:off x="9797150" y="1807800"/>
            <a:ext cx="7094400" cy="62778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2900" dirty="0">
                <a:solidFill>
                  <a:schemeClr val="dk1"/>
                </a:solidFill>
                <a:latin typeface="Open Sans"/>
                <a:ea typeface="Open Sans"/>
                <a:cs typeface="Open Sans"/>
                <a:sym typeface="Open Sans"/>
              </a:rPr>
              <a:t>Aaron has applied for some housing assistance programs but will soon lose the apartment. Aaron has been looking into homeless shelters in the area but is concerned they won’t feel safe at the men’s shelter and won’t be allowed in the women’s shelter. On top of all of that, Aaron never got around to changing their ID and documents from “male” and isn’t sure what to do about all the forms they now have to fill out for housing assistance.</a:t>
            </a:r>
            <a:endParaRPr sz="2900" dirty="0">
              <a:solidFill>
                <a:schemeClr val="dk1"/>
              </a:solidFill>
              <a:latin typeface="Open Sans"/>
              <a:ea typeface="Open Sans"/>
              <a:cs typeface="Open Sans"/>
              <a:sym typeface="Open Sans"/>
            </a:endParaRPr>
          </a:p>
        </p:txBody>
      </p:sp>
      <p:pic>
        <p:nvPicPr>
          <p:cNvPr id="23" name="Audio 22">
            <a:extLst>
              <a:ext uri="{FF2B5EF4-FFF2-40B4-BE49-F238E27FC236}">
                <a16:creationId xmlns:a16="http://schemas.microsoft.com/office/drawing/2014/main" id="{69A86CE2-C12D-B9DA-C36F-A3F94087F39F}"/>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322800" y="9321800"/>
            <a:ext cx="812800" cy="812800"/>
          </a:xfrm>
          <a:prstGeom prst="rect">
            <a:avLst/>
          </a:prstGeom>
        </p:spPr>
      </p:pic>
      <p:sp>
        <p:nvSpPr>
          <p:cNvPr id="8" name="Slide Number Placeholder 7">
            <a:extLst>
              <a:ext uri="{FF2B5EF4-FFF2-40B4-BE49-F238E27FC236}">
                <a16:creationId xmlns:a16="http://schemas.microsoft.com/office/drawing/2014/main" id="{E7114D8E-6364-2887-8E50-1ABAEADD89B7}"/>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8</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777658689"/>
      </p:ext>
    </p:extLst>
  </p:cSld>
  <p:clrMapOvr>
    <a:masterClrMapping/>
  </p:clrMapOvr>
  <mc:AlternateContent xmlns:mc="http://schemas.openxmlformats.org/markup-compatibility/2006" xmlns:p14="http://schemas.microsoft.com/office/powerpoint/2010/main">
    <mc:Choice Requires="p14">
      <p:transition spd="slow" p14:dur="2000" advTm="50018"/>
    </mc:Choice>
    <mc:Fallback xmlns="">
      <p:transition spd="slow" advTm="500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6">
          <a:extLst>
            <a:ext uri="{FF2B5EF4-FFF2-40B4-BE49-F238E27FC236}">
              <a16:creationId xmlns:a16="http://schemas.microsoft.com/office/drawing/2014/main" id="{E23FFA76-1A9A-C690-14B5-31C5E0AA3966}"/>
            </a:ext>
          </a:extLst>
        </p:cNvPr>
        <p:cNvGrpSpPr/>
        <p:nvPr/>
      </p:nvGrpSpPr>
      <p:grpSpPr>
        <a:xfrm>
          <a:off x="0" y="0"/>
          <a:ext cx="0" cy="0"/>
          <a:chOff x="0" y="0"/>
          <a:chExt cx="0" cy="0"/>
        </a:xfrm>
      </p:grpSpPr>
      <p:sp>
        <p:nvSpPr>
          <p:cNvPr id="275" name="Up Ribbon 274">
            <a:extLst>
              <a:ext uri="{FF2B5EF4-FFF2-40B4-BE49-F238E27FC236}">
                <a16:creationId xmlns:a16="http://schemas.microsoft.com/office/drawing/2014/main" id="{243E1540-AE0A-E61E-9D7B-25138A63C61D}"/>
              </a:ext>
            </a:extLst>
          </p:cNvPr>
          <p:cNvSpPr/>
          <p:nvPr/>
        </p:nvSpPr>
        <p:spPr>
          <a:xfrm>
            <a:off x="13196235" y="8385146"/>
            <a:ext cx="4269582" cy="1195617"/>
          </a:xfrm>
          <a:prstGeom prst="ribbon2">
            <a:avLst>
              <a:gd name="adj1" fmla="val 21655"/>
              <a:gd name="adj2" fmla="val 75000"/>
            </a:avLst>
          </a:prstGeom>
          <a:solidFill>
            <a:srgbClr val="001B83"/>
          </a:solidFill>
          <a:ln w="31750">
            <a:solidFill>
              <a:srgbClr val="1C45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Open Sans" panose="020B0606030504020204" pitchFamily="34" charset="0"/>
                <a:ea typeface="Open Sans" panose="020B0606030504020204" pitchFamily="34" charset="0"/>
                <a:cs typeface="Open Sans" panose="020B0606030504020204" pitchFamily="34" charset="0"/>
              </a:rPr>
              <a:t>Integrated (Linked) Data System</a:t>
            </a:r>
          </a:p>
        </p:txBody>
      </p:sp>
      <p:sp>
        <p:nvSpPr>
          <p:cNvPr id="297" name="Google Shape;297;p1">
            <a:extLst>
              <a:ext uri="{FF2B5EF4-FFF2-40B4-BE49-F238E27FC236}">
                <a16:creationId xmlns:a16="http://schemas.microsoft.com/office/drawing/2014/main" id="{0D2EEF62-3D80-93C8-F021-416AA65630C3}"/>
              </a:ext>
            </a:extLst>
          </p:cNvPr>
          <p:cNvSpPr txBox="1">
            <a:spLocks noGrp="1"/>
          </p:cNvSpPr>
          <p:nvPr>
            <p:ph type="title"/>
          </p:nvPr>
        </p:nvSpPr>
        <p:spPr>
          <a:xfrm>
            <a:off x="623400" y="576550"/>
            <a:ext cx="17041200" cy="1145400"/>
          </a:xfrm>
          <a:prstGeom prst="rect">
            <a:avLst/>
          </a:prstGeom>
          <a:noFill/>
          <a:ln>
            <a:noFill/>
          </a:ln>
        </p:spPr>
        <p:txBody>
          <a:bodyPr spcFirstLastPara="1" wrap="square" lIns="182850" tIns="182850" rIns="182850" bIns="182850" anchor="t" anchorCtr="0">
            <a:normAutofit fontScale="90000"/>
          </a:bodyPr>
          <a:lstStyle/>
          <a:p>
            <a:pPr marL="0" lvl="0" indent="0" algn="l" rtl="0">
              <a:lnSpc>
                <a:spcPct val="100000"/>
              </a:lnSpc>
              <a:spcBef>
                <a:spcPts val="0"/>
              </a:spcBef>
              <a:spcAft>
                <a:spcPts val="0"/>
              </a:spcAft>
              <a:buSzPct val="103703"/>
              <a:buNone/>
            </a:pPr>
            <a:r>
              <a:rPr lang="en-US" sz="6000" b="1" dirty="0">
                <a:solidFill>
                  <a:srgbClr val="001C84"/>
                </a:solidFill>
                <a:latin typeface="Open Sans"/>
                <a:ea typeface="Open Sans"/>
                <a:cs typeface="Open Sans"/>
                <a:sym typeface="Open Sans"/>
              </a:rPr>
              <a:t>What is Integrated Administrative Data (IDS)?</a:t>
            </a:r>
            <a:endParaRPr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4FA28CF-F285-0F28-EFD8-329952A1E75F}"/>
                  </a:ext>
                </a:extLst>
              </p:cNvPr>
              <p:cNvGraphicFramePr>
                <a:graphicFrameLocks noGrp="1"/>
              </p:cNvGraphicFramePr>
              <p:nvPr>
                <p:extLst>
                  <p:ext uri="{D42A27DB-BD31-4B8C-83A1-F6EECF244321}">
                    <p14:modId xmlns:p14="http://schemas.microsoft.com/office/powerpoint/2010/main" val="2889861456"/>
                  </p:ext>
                </p:extLst>
              </p:nvPr>
            </p:nvGraphicFramePr>
            <p:xfrm>
              <a:off x="4957905" y="1721950"/>
              <a:ext cx="6939012" cy="8082563"/>
            </p:xfrm>
            <a:graphic>
              <a:graphicData uri="http://schemas.openxmlformats.org/drawingml/2006/table">
                <a:tbl>
                  <a:tblPr firstRow="1" bandRow="1">
                    <a:tableStyleId>{5940675A-B579-460E-94D1-54222C63F5DA}</a:tableStyleId>
                  </a:tblPr>
                  <a:tblGrid>
                    <a:gridCol w="1734753">
                      <a:extLst>
                        <a:ext uri="{9D8B030D-6E8A-4147-A177-3AD203B41FA5}">
                          <a16:colId xmlns:a16="http://schemas.microsoft.com/office/drawing/2014/main" val="648951679"/>
                        </a:ext>
                      </a:extLst>
                    </a:gridCol>
                    <a:gridCol w="1734753">
                      <a:extLst>
                        <a:ext uri="{9D8B030D-6E8A-4147-A177-3AD203B41FA5}">
                          <a16:colId xmlns:a16="http://schemas.microsoft.com/office/drawing/2014/main" val="3649909895"/>
                        </a:ext>
                      </a:extLst>
                    </a:gridCol>
                    <a:gridCol w="1734753">
                      <a:extLst>
                        <a:ext uri="{9D8B030D-6E8A-4147-A177-3AD203B41FA5}">
                          <a16:colId xmlns:a16="http://schemas.microsoft.com/office/drawing/2014/main" val="4051838340"/>
                        </a:ext>
                      </a:extLst>
                    </a:gridCol>
                    <a:gridCol w="1734753">
                      <a:extLst>
                        <a:ext uri="{9D8B030D-6E8A-4147-A177-3AD203B41FA5}">
                          <a16:colId xmlns:a16="http://schemas.microsoft.com/office/drawing/2014/main" val="3524766489"/>
                        </a:ext>
                      </a:extLst>
                    </a:gridCol>
                  </a:tblGrid>
                  <a:tr h="643563">
                    <a:tc>
                      <a:txBody>
                        <a:bodyPr/>
                        <a:lstStyle/>
                        <a:p>
                          <a:pPr algn="ctr"/>
                          <a:endParaRPr lang="en-US" dirty="0">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24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Individual Data Sources</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8830679"/>
                      </a:ext>
                    </a:extLst>
                  </a:tr>
                  <a:tr h="743900">
                    <a:tc>
                      <a:txBody>
                        <a:bodyPr/>
                        <a:lstStyle/>
                        <a:p>
                          <a:pPr algn="ctr"/>
                          <a:endParaRPr lang="en-US" dirty="0">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HMIS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1B83"/>
                        </a:solidFill>
                      </a:tcPr>
                    </a:tc>
                    <a:tc>
                      <a:txBody>
                        <a:bodyP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SNAP</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1B83"/>
                        </a:solidFill>
                      </a:tcPr>
                    </a:tc>
                    <a:tc>
                      <a:txBody>
                        <a:bodyP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School</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1B83"/>
                        </a:solidFill>
                      </a:tcPr>
                    </a:tc>
                    <a:extLst>
                      <a:ext uri="{0D108BD9-81ED-4DB2-BD59-A6C34878D82A}">
                        <a16:rowId xmlns:a16="http://schemas.microsoft.com/office/drawing/2014/main" val="3895306800"/>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Name</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DC5D"/>
                        </a:solidFill>
                      </a:tcPr>
                    </a:tc>
                    <a:tc>
                      <a:txBody>
                        <a:bodyPr/>
                        <a:lstStyle/>
                        <a:p>
                          <a:pPr algn="ct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ea typeface="Open Sans" panose="020B0606030504020204" pitchFamily="34" charset="0"/>
                                    <a:cs typeface="Open Sans" panose="020B0606030504020204" pitchFamily="34" charset="0"/>
                                  </a:rPr>
                                  <m:t>✓</m:t>
                                </m:r>
                              </m:oMath>
                            </m:oMathPara>
                          </a14:m>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DC5D">
                            <a:alpha val="58039"/>
                          </a:srgbClr>
                        </a:solidFill>
                      </a:tcPr>
                    </a:tc>
                    <a:tc>
                      <a:txBody>
                        <a:bodyPr/>
                        <a:lstStyle/>
                        <a:p>
                          <a:pPr algn="ct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ea typeface="Open Sans" panose="020B0606030504020204" pitchFamily="34" charset="0"/>
                                    <a:cs typeface="Open Sans" panose="020B0606030504020204" pitchFamily="34" charset="0"/>
                                  </a:rPr>
                                  <m:t>✓</m:t>
                                </m:r>
                              </m:oMath>
                            </m:oMathPara>
                          </a14:m>
                          <a:endParaRPr lang="en-US" sz="2000" dirty="0">
                            <a:latin typeface="Open Sans" panose="020B0606030504020204" pitchFamily="34" charset="0"/>
                            <a:ea typeface="Open Sans" panose="020B0606030504020204" pitchFamily="34" charset="0"/>
                            <a:cs typeface="Open Sans" panose="020B0606030504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DC5D">
                            <a:alpha val="58039"/>
                          </a:srgbClr>
                        </a:solidFill>
                      </a:tcPr>
                    </a:tc>
                    <a:tc>
                      <a:txBody>
                        <a:bodyPr/>
                        <a:lstStyle/>
                        <a:p>
                          <a:pPr algn="ct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ea typeface="Open Sans" panose="020B0606030504020204" pitchFamily="34" charset="0"/>
                                    <a:cs typeface="Open Sans" panose="020B0606030504020204" pitchFamily="34" charset="0"/>
                                  </a:rPr>
                                  <m:t>✓</m:t>
                                </m:r>
                              </m:oMath>
                            </m:oMathPara>
                          </a14:m>
                          <a:endParaRPr lang="en-US" sz="2000" dirty="0">
                            <a:latin typeface="Open Sans" panose="020B0606030504020204" pitchFamily="34" charset="0"/>
                            <a:ea typeface="Open Sans" panose="020B0606030504020204" pitchFamily="34" charset="0"/>
                            <a:cs typeface="Open Sans" panose="020B0606030504020204" pitchFamily="34" charset="0"/>
                          </a:endParaRP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DC5D">
                            <a:alpha val="58039"/>
                          </a:srgbClr>
                        </a:solidFill>
                      </a:tcPr>
                    </a:tc>
                    <a:extLst>
                      <a:ext uri="{0D108BD9-81ED-4DB2-BD59-A6C34878D82A}">
                        <a16:rowId xmlns:a16="http://schemas.microsoft.com/office/drawing/2014/main" val="4268240958"/>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Date of Birth</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DC5D"/>
                        </a:solidFill>
                      </a:tcPr>
                    </a:tc>
                    <a:tc>
                      <a:txBody>
                        <a:bodyPr/>
                        <a:lstStyle/>
                        <a:p>
                          <a:pPr algn="ct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ea typeface="Open Sans" panose="020B0606030504020204" pitchFamily="34" charset="0"/>
                                    <a:cs typeface="Open Sans" panose="020B0606030504020204" pitchFamily="34" charset="0"/>
                                  </a:rPr>
                                  <m:t>✓</m:t>
                                </m:r>
                              </m:oMath>
                            </m:oMathPara>
                          </a14:m>
                          <a:endParaRPr lang="en-US" sz="2000" dirty="0">
                            <a:latin typeface="Open Sans" panose="020B0606030504020204" pitchFamily="34" charset="0"/>
                            <a:ea typeface="Open Sans" panose="020B0606030504020204" pitchFamily="34" charset="0"/>
                            <a:cs typeface="Open Sans" panose="020B0606030504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DC5D">
                            <a:alpha val="58039"/>
                          </a:srgbClr>
                        </a:solidFill>
                      </a:tcPr>
                    </a:tc>
                    <a:tc>
                      <a:txBody>
                        <a:bodyPr/>
                        <a:lstStyle/>
                        <a:p>
                          <a:pPr algn="ct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ea typeface="Open Sans" panose="020B0606030504020204" pitchFamily="34" charset="0"/>
                                    <a:cs typeface="Open Sans" panose="020B0606030504020204" pitchFamily="34" charset="0"/>
                                  </a:rPr>
                                  <m:t>✓</m:t>
                                </m:r>
                              </m:oMath>
                            </m:oMathPara>
                          </a14:m>
                          <a:endParaRPr lang="en-US" sz="2000" dirty="0">
                            <a:latin typeface="Open Sans" panose="020B0606030504020204" pitchFamily="34" charset="0"/>
                            <a:ea typeface="Open Sans" panose="020B0606030504020204" pitchFamily="34" charset="0"/>
                            <a:cs typeface="Open Sans" panose="020B0606030504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DC5D">
                            <a:alpha val="58039"/>
                          </a:srgbClr>
                        </a:solidFill>
                      </a:tcPr>
                    </a:tc>
                    <a:tc>
                      <a:txBody>
                        <a:bodyPr/>
                        <a:lstStyle/>
                        <a:p>
                          <a:pPr algn="ct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ea typeface="Open Sans" panose="020B0606030504020204" pitchFamily="34" charset="0"/>
                                    <a:cs typeface="Open Sans" panose="020B0606030504020204" pitchFamily="34" charset="0"/>
                                  </a:rPr>
                                  <m:t>✓</m:t>
                                </m:r>
                              </m:oMath>
                            </m:oMathPara>
                          </a14:m>
                          <a:endParaRPr lang="en-US" sz="2000" dirty="0">
                            <a:latin typeface="Open Sans" panose="020B0606030504020204" pitchFamily="34" charset="0"/>
                            <a:ea typeface="Open Sans" panose="020B0606030504020204" pitchFamily="34" charset="0"/>
                            <a:cs typeface="Open Sans" panose="020B0606030504020204" pitchFamily="34" charset="0"/>
                          </a:endParaRP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DC5D">
                            <a:alpha val="58039"/>
                          </a:srgbClr>
                        </a:solidFill>
                      </a:tcPr>
                    </a:tc>
                    <a:extLst>
                      <a:ext uri="{0D108BD9-81ED-4DB2-BD59-A6C34878D82A}">
                        <a16:rowId xmlns:a16="http://schemas.microsoft.com/office/drawing/2014/main" val="2060894979"/>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C5D"/>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HMIS ID</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C5D">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Snap ID</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C5D">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School ID</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C5D">
                            <a:alpha val="58039"/>
                          </a:srgbClr>
                        </a:solidFill>
                      </a:tcPr>
                    </a:tc>
                    <a:extLst>
                      <a:ext uri="{0D108BD9-81ED-4DB2-BD59-A6C34878D82A}">
                        <a16:rowId xmlns:a16="http://schemas.microsoft.com/office/drawing/2014/main" val="3795819576"/>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Race</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HMIS-Defined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Race Category</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SNAP-Defined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Race Category</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School Race / Ethnicity Code</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extLst>
                      <a:ext uri="{0D108BD9-81ED-4DB2-BD59-A6C34878D82A}">
                        <a16:rowId xmlns:a16="http://schemas.microsoft.com/office/drawing/2014/main" val="3515438115"/>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HMIS-Defined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Ethnicity Category</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SNAP-Defined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Ethnicity Category</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tc>
                      <a:txBody>
                        <a:bodyPr/>
                        <a:lstStyle/>
                        <a:p>
                          <a:pPr algn="ctr"/>
                          <a:r>
                            <a:rPr lang="en-US" sz="1800" dirty="0">
                              <a:latin typeface="Open Sans" panose="020B0606030504020204" pitchFamily="34" charset="0"/>
                              <a:ea typeface="Open Sans" panose="020B0606030504020204" pitchFamily="34" charset="0"/>
                              <a:cs typeface="Open Sans" panose="020B0606030504020204" pitchFamily="34" charset="0"/>
                            </a:rPr>
                            <a:t>X</a:t>
                          </a:r>
                          <a:endParaRPr lang="en-US" sz="1600" dirty="0">
                            <a:latin typeface="Open Sans" panose="020B0606030504020204" pitchFamily="34" charset="0"/>
                            <a:ea typeface="Open Sans" panose="020B0606030504020204" pitchFamily="34" charset="0"/>
                            <a:cs typeface="Open Sans" panose="020B0606030504020204" pitchFamily="34" charset="0"/>
                          </a:endParaRP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extLst>
                      <a:ext uri="{0D108BD9-81ED-4DB2-BD59-A6C34878D82A}">
                        <a16:rowId xmlns:a16="http://schemas.microsoft.com/office/drawing/2014/main" val="2512808406"/>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B72A"/>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HMIS-Defined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Gender Category</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SNAP-Defined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Gender Category</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School-Defined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Gender</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extLst>
                      <a:ext uri="{0D108BD9-81ED-4DB2-BD59-A6C34878D82A}">
                        <a16:rowId xmlns:a16="http://schemas.microsoft.com/office/drawing/2014/main" val="4286820373"/>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Time Frame</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Date of Service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Month of Enrollment</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Year and Grade</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857404083"/>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System-Specific Data</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Type of Service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Benefit Amount</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Homeless Status</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979760755"/>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Location</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Previous Housing Status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Current Address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Current Address</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162620622"/>
                      </a:ext>
                    </a:extLst>
                  </a:tr>
                </a:tbl>
              </a:graphicData>
            </a:graphic>
          </p:graphicFrame>
        </mc:Choice>
        <mc:Fallback xmlns="">
          <p:graphicFrame>
            <p:nvGraphicFramePr>
              <p:cNvPr id="2" name="Table 1">
                <a:extLst>
                  <a:ext uri="{FF2B5EF4-FFF2-40B4-BE49-F238E27FC236}">
                    <a16:creationId xmlns:a16="http://schemas.microsoft.com/office/drawing/2014/main" id="{F4FA28CF-F285-0F28-EFD8-329952A1E75F}"/>
                  </a:ext>
                </a:extLst>
              </p:cNvPr>
              <p:cNvGraphicFramePr>
                <a:graphicFrameLocks noGrp="1"/>
              </p:cNvGraphicFramePr>
              <p:nvPr>
                <p:extLst>
                  <p:ext uri="{D42A27DB-BD31-4B8C-83A1-F6EECF244321}">
                    <p14:modId xmlns:p14="http://schemas.microsoft.com/office/powerpoint/2010/main" val="2889861456"/>
                  </p:ext>
                </p:extLst>
              </p:nvPr>
            </p:nvGraphicFramePr>
            <p:xfrm>
              <a:off x="4957905" y="1721950"/>
              <a:ext cx="6939012" cy="8082563"/>
            </p:xfrm>
            <a:graphic>
              <a:graphicData uri="http://schemas.openxmlformats.org/drawingml/2006/table">
                <a:tbl>
                  <a:tblPr firstRow="1" bandRow="1">
                    <a:tableStyleId>{5940675A-B579-460E-94D1-54222C63F5DA}</a:tableStyleId>
                  </a:tblPr>
                  <a:tblGrid>
                    <a:gridCol w="1734753">
                      <a:extLst>
                        <a:ext uri="{9D8B030D-6E8A-4147-A177-3AD203B41FA5}">
                          <a16:colId xmlns:a16="http://schemas.microsoft.com/office/drawing/2014/main" val="648951679"/>
                        </a:ext>
                      </a:extLst>
                    </a:gridCol>
                    <a:gridCol w="1734753">
                      <a:extLst>
                        <a:ext uri="{9D8B030D-6E8A-4147-A177-3AD203B41FA5}">
                          <a16:colId xmlns:a16="http://schemas.microsoft.com/office/drawing/2014/main" val="3649909895"/>
                        </a:ext>
                      </a:extLst>
                    </a:gridCol>
                    <a:gridCol w="1734753">
                      <a:extLst>
                        <a:ext uri="{9D8B030D-6E8A-4147-A177-3AD203B41FA5}">
                          <a16:colId xmlns:a16="http://schemas.microsoft.com/office/drawing/2014/main" val="4051838340"/>
                        </a:ext>
                      </a:extLst>
                    </a:gridCol>
                    <a:gridCol w="1734753">
                      <a:extLst>
                        <a:ext uri="{9D8B030D-6E8A-4147-A177-3AD203B41FA5}">
                          <a16:colId xmlns:a16="http://schemas.microsoft.com/office/drawing/2014/main" val="3524766489"/>
                        </a:ext>
                      </a:extLst>
                    </a:gridCol>
                  </a:tblGrid>
                  <a:tr h="643563">
                    <a:tc>
                      <a:txBody>
                        <a:bodyPr/>
                        <a:lstStyle/>
                        <a:p>
                          <a:pPr algn="ctr"/>
                          <a:endParaRPr lang="en-US" dirty="0">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a:r>
                            <a:rPr lang="en-US" sz="24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Individual Data Sources</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8830679"/>
                      </a:ext>
                    </a:extLst>
                  </a:tr>
                  <a:tr h="743900">
                    <a:tc>
                      <a:txBody>
                        <a:bodyPr/>
                        <a:lstStyle/>
                        <a:p>
                          <a:pPr algn="ctr"/>
                          <a:endParaRPr lang="en-US" dirty="0">
                            <a:latin typeface="Open Sans" panose="020B0606030504020204" pitchFamily="34" charset="0"/>
                            <a:ea typeface="Open Sans" panose="020B0606030504020204" pitchFamily="34" charset="0"/>
                            <a:cs typeface="Open Sans" panose="020B0606030504020204" pitchFamily="34" charset="0"/>
                          </a:endParaRP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HMIS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1B83"/>
                        </a:solidFill>
                      </a:tcPr>
                    </a:tc>
                    <a:tc>
                      <a:txBody>
                        <a:bodyP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SNAP</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1B83"/>
                        </a:solidFill>
                      </a:tcPr>
                    </a:tc>
                    <a:tc>
                      <a:txBody>
                        <a:bodyPr/>
                        <a:lstStyle/>
                        <a:p>
                          <a:pPr algn="ctr"/>
                          <a:r>
                            <a:rPr lang="en-US" sz="1800" b="1" dirty="0">
                              <a:solidFill>
                                <a:schemeClr val="bg1"/>
                              </a:solidFill>
                              <a:latin typeface="Open Sans" panose="020B0606030504020204" pitchFamily="34" charset="0"/>
                              <a:ea typeface="Open Sans" panose="020B0606030504020204" pitchFamily="34" charset="0"/>
                              <a:cs typeface="Open Sans" panose="020B0606030504020204" pitchFamily="34" charset="0"/>
                            </a:rPr>
                            <a:t>School</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1B83"/>
                        </a:solidFill>
                      </a:tcPr>
                    </a:tc>
                    <a:extLst>
                      <a:ext uri="{0D108BD9-81ED-4DB2-BD59-A6C34878D82A}">
                        <a16:rowId xmlns:a16="http://schemas.microsoft.com/office/drawing/2014/main" val="3895306800"/>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Name</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DC5D"/>
                        </a:solidFill>
                      </a:tcPr>
                    </a:tc>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100000" t="-189655" r="-200730" b="-812069"/>
                          </a:stretch>
                        </a:blipFill>
                      </a:tcPr>
                    </a:tc>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201471" t="-189655" r="-102206" b="-812069"/>
                          </a:stretch>
                        </a:blipFill>
                      </a:tcPr>
                    </a:tc>
                    <a:tc>
                      <a:txBody>
                        <a:bodyPr/>
                        <a:lstStyle/>
                        <a:p>
                          <a:endParaRPr lang="en-US"/>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299270" t="-189655" r="-1460" b="-812069"/>
                          </a:stretch>
                        </a:blipFill>
                      </a:tcPr>
                    </a:tc>
                    <a:extLst>
                      <a:ext uri="{0D108BD9-81ED-4DB2-BD59-A6C34878D82A}">
                        <a16:rowId xmlns:a16="http://schemas.microsoft.com/office/drawing/2014/main" val="4268240958"/>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Date of Birth</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DC5D"/>
                        </a:solidFill>
                      </a:tcPr>
                    </a:tc>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100000" t="-284746" r="-200730" b="-698305"/>
                          </a:stretch>
                        </a:blipFill>
                      </a:tcPr>
                    </a:tc>
                    <a:tc>
                      <a:txBody>
                        <a:bodyPr/>
                        <a:lstStyle/>
                        <a:p>
                          <a:endParaRPr lang="en-US"/>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201471" t="-284746" r="-102206" b="-698305"/>
                          </a:stretch>
                        </a:blipFill>
                      </a:tcPr>
                    </a:tc>
                    <a:tc>
                      <a:txBody>
                        <a:bodyPr/>
                        <a:lstStyle/>
                        <a:p>
                          <a:endParaRPr lang="en-US"/>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299270" t="-284746" r="-1460" b="-698305"/>
                          </a:stretch>
                        </a:blipFill>
                      </a:tcPr>
                    </a:tc>
                    <a:extLst>
                      <a:ext uri="{0D108BD9-81ED-4DB2-BD59-A6C34878D82A}">
                        <a16:rowId xmlns:a16="http://schemas.microsoft.com/office/drawing/2014/main" val="2060894979"/>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C5D"/>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HMIS ID</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C5D">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Snap ID</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C5D">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School ID</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DC5D">
                            <a:alpha val="58039"/>
                          </a:srgbClr>
                        </a:solidFill>
                      </a:tcPr>
                    </a:tc>
                    <a:extLst>
                      <a:ext uri="{0D108BD9-81ED-4DB2-BD59-A6C34878D82A}">
                        <a16:rowId xmlns:a16="http://schemas.microsoft.com/office/drawing/2014/main" val="3795819576"/>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Race</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HMIS-Defined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Race Category</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SNAP-Defined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Race Category</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School Race / Ethnicity Code</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extLst>
                      <a:ext uri="{0D108BD9-81ED-4DB2-BD59-A6C34878D82A}">
                        <a16:rowId xmlns:a16="http://schemas.microsoft.com/office/drawing/2014/main" val="3515438115"/>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Ethnicity</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HMIS-Defined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Ethnicity Category</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SNAP-Defined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Ethnicity Category</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tc>
                      <a:txBody>
                        <a:bodyPr/>
                        <a:lstStyle/>
                        <a:p>
                          <a:pPr algn="ctr"/>
                          <a:r>
                            <a:rPr lang="en-US" sz="1800" dirty="0">
                              <a:latin typeface="Open Sans" panose="020B0606030504020204" pitchFamily="34" charset="0"/>
                              <a:ea typeface="Open Sans" panose="020B0606030504020204" pitchFamily="34" charset="0"/>
                              <a:cs typeface="Open Sans" panose="020B0606030504020204" pitchFamily="34" charset="0"/>
                            </a:rPr>
                            <a:t>X</a:t>
                          </a:r>
                          <a:endParaRPr lang="en-US" sz="1600" dirty="0">
                            <a:latin typeface="Open Sans" panose="020B0606030504020204" pitchFamily="34" charset="0"/>
                            <a:ea typeface="Open Sans" panose="020B0606030504020204" pitchFamily="34" charset="0"/>
                            <a:cs typeface="Open Sans" panose="020B0606030504020204" pitchFamily="34" charset="0"/>
                          </a:endParaRP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extLst>
                      <a:ext uri="{0D108BD9-81ED-4DB2-BD59-A6C34878D82A}">
                        <a16:rowId xmlns:a16="http://schemas.microsoft.com/office/drawing/2014/main" val="2512808406"/>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Gender</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B72A"/>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HMIS-Defined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Gender Category</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SNAP-Defined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Gender Category</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School-Defined</a:t>
                          </a:r>
                        </a:p>
                        <a:p>
                          <a:pPr algn="ctr"/>
                          <a:r>
                            <a:rPr lang="en-US" sz="1400" dirty="0">
                              <a:latin typeface="Open Sans" panose="020B0606030504020204" pitchFamily="34" charset="0"/>
                              <a:ea typeface="Open Sans" panose="020B0606030504020204" pitchFamily="34" charset="0"/>
                              <a:cs typeface="Open Sans" panose="020B0606030504020204" pitchFamily="34" charset="0"/>
                            </a:rPr>
                            <a:t>Gender</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FB72A">
                            <a:alpha val="58039"/>
                          </a:srgbClr>
                        </a:solidFill>
                      </a:tcPr>
                    </a:tc>
                    <a:extLst>
                      <a:ext uri="{0D108BD9-81ED-4DB2-BD59-A6C34878D82A}">
                        <a16:rowId xmlns:a16="http://schemas.microsoft.com/office/drawing/2014/main" val="4286820373"/>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Time Frame</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Date of Service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Month of Enrollment</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Year and Grade</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1857404083"/>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System-Specific Data</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Type of Service</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Benefit Amount</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Homeless Status</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2979760755"/>
                      </a:ext>
                    </a:extLst>
                  </a:tr>
                  <a:tr h="743900">
                    <a:tc>
                      <a:txBody>
                        <a:bodyPr/>
                        <a:lstStyle/>
                        <a:p>
                          <a:pPr algn="ctr"/>
                          <a:r>
                            <a:rPr lang="en-US" sz="1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Location</a:t>
                          </a:r>
                        </a:p>
                      </a:txBody>
                      <a:tcPr anchor="ctr">
                        <a:lnL w="28575"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60000"/>
                            <a:lumOff val="4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Previous Housing Status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Current Address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tc>
                      <a:txBody>
                        <a:bodyPr/>
                        <a:lstStyle/>
                        <a:p>
                          <a:pPr algn="ctr"/>
                          <a:r>
                            <a:rPr lang="en-US" sz="1400" dirty="0">
                              <a:latin typeface="Open Sans" panose="020B0606030504020204" pitchFamily="34" charset="0"/>
                              <a:ea typeface="Open Sans" panose="020B0606030504020204" pitchFamily="34" charset="0"/>
                              <a:cs typeface="Open Sans" panose="020B0606030504020204" pitchFamily="34" charset="0"/>
                            </a:rPr>
                            <a:t>Current Address</a:t>
                          </a:r>
                        </a:p>
                      </a:txBody>
                      <a:tcPr anchor="ctr">
                        <a:lnL w="38100" cap="flat" cmpd="sng" algn="ctr">
                          <a:solidFill>
                            <a:schemeClr val="bg1"/>
                          </a:solid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40000"/>
                            <a:lumOff val="60000"/>
                          </a:schemeClr>
                        </a:solidFill>
                      </a:tcPr>
                    </a:tc>
                    <a:extLst>
                      <a:ext uri="{0D108BD9-81ED-4DB2-BD59-A6C34878D82A}">
                        <a16:rowId xmlns:a16="http://schemas.microsoft.com/office/drawing/2014/main" val="3162620622"/>
                      </a:ext>
                    </a:extLst>
                  </a:tr>
                </a:tbl>
              </a:graphicData>
            </a:graphic>
          </p:graphicFrame>
        </mc:Fallback>
      </mc:AlternateContent>
      <p:sp>
        <p:nvSpPr>
          <p:cNvPr id="9" name="TextBox 8">
            <a:extLst>
              <a:ext uri="{FF2B5EF4-FFF2-40B4-BE49-F238E27FC236}">
                <a16:creationId xmlns:a16="http://schemas.microsoft.com/office/drawing/2014/main" id="{3CC0B2BD-6160-88EC-4335-6BBEC316653A}"/>
              </a:ext>
            </a:extLst>
          </p:cNvPr>
          <p:cNvSpPr txBox="1"/>
          <p:nvPr/>
        </p:nvSpPr>
        <p:spPr>
          <a:xfrm>
            <a:off x="623399" y="2120794"/>
            <a:ext cx="3918783" cy="5501775"/>
          </a:xfrm>
          <a:prstGeom prst="rect">
            <a:avLst/>
          </a:prstGeom>
          <a:noFill/>
        </p:spPr>
        <p:txBody>
          <a:bodyPr wrap="square">
            <a:normAutofit/>
          </a:bodyPr>
          <a:lstStyle/>
          <a:p>
            <a:pPr>
              <a:lnSpc>
                <a:spcPct val="150000"/>
              </a:lnSpc>
              <a:spcAft>
                <a:spcPts val="600"/>
              </a:spcAft>
            </a:pPr>
            <a:r>
              <a:rPr lang="en-US" sz="2000" dirty="0">
                <a:latin typeface="Open Sans" panose="020B0606030504020204" pitchFamily="34" charset="0"/>
                <a:ea typeface="Open Sans" panose="020B0606030504020204" pitchFamily="34" charset="0"/>
                <a:cs typeface="Open Sans" panose="020B0606030504020204" pitchFamily="34" charset="0"/>
              </a:rPr>
              <a:t>Linked administrative data is created when information about the same person from different public systems, such as homelessness services (HMIS), food assistance (SNAP), and schools, is:</a:t>
            </a:r>
            <a:endParaRPr lang="en-US" dirty="0">
              <a:latin typeface="Open Sans" panose="020B0606030504020204" pitchFamily="34" charset="0"/>
              <a:ea typeface="Open Sans" panose="020B0606030504020204" pitchFamily="34" charset="0"/>
              <a:cs typeface="Open Sans" panose="020B0606030504020204" pitchFamily="34" charset="0"/>
            </a:endParaRPr>
          </a:p>
          <a:p>
            <a:pPr marL="514350" indent="-514350">
              <a:lnSpc>
                <a:spcPct val="150000"/>
              </a:lnSpc>
              <a:spcAft>
                <a:spcPts val="600"/>
              </a:spcAft>
              <a:buAutoNum type="arabicPeriod"/>
            </a:pPr>
            <a:r>
              <a:rPr lang="en-US" sz="2000" dirty="0">
                <a:latin typeface="Open Sans" panose="020B0606030504020204" pitchFamily="34" charset="0"/>
                <a:ea typeface="Open Sans" panose="020B0606030504020204" pitchFamily="34" charset="0"/>
                <a:cs typeface="Open Sans" panose="020B0606030504020204" pitchFamily="34" charset="0"/>
              </a:rPr>
              <a:t>Cleaned</a:t>
            </a:r>
          </a:p>
          <a:p>
            <a:pPr marL="514350" indent="-514350">
              <a:lnSpc>
                <a:spcPct val="150000"/>
              </a:lnSpc>
              <a:spcAft>
                <a:spcPts val="600"/>
              </a:spcAft>
              <a:buAutoNum type="arabicPeriod"/>
            </a:pPr>
            <a:r>
              <a:rPr lang="en-US" sz="2000" dirty="0">
                <a:latin typeface="Open Sans" panose="020B0606030504020204" pitchFamily="34" charset="0"/>
                <a:ea typeface="Open Sans" panose="020B0606030504020204" pitchFamily="34" charset="0"/>
                <a:cs typeface="Open Sans" panose="020B0606030504020204" pitchFamily="34" charset="0"/>
              </a:rPr>
              <a:t>Matched using shared info like name and date of birth</a:t>
            </a:r>
          </a:p>
          <a:p>
            <a:pPr marL="514350" indent="-514350">
              <a:lnSpc>
                <a:spcPct val="150000"/>
              </a:lnSpc>
              <a:spcAft>
                <a:spcPts val="600"/>
              </a:spcAft>
              <a:buAutoNum type="arabicPeriod"/>
            </a:pPr>
            <a:r>
              <a:rPr lang="en-US" sz="2000" dirty="0">
                <a:latin typeface="Open Sans" panose="020B0606030504020204" pitchFamily="34" charset="0"/>
                <a:ea typeface="Open Sans" panose="020B0606030504020204" pitchFamily="34" charset="0"/>
                <a:cs typeface="Open Sans" panose="020B0606030504020204" pitchFamily="34" charset="0"/>
              </a:rPr>
              <a:t>Connected via a unique ID</a:t>
            </a:r>
          </a:p>
        </p:txBody>
      </p:sp>
      <p:sp>
        <p:nvSpPr>
          <p:cNvPr id="11" name="Rounded Rectangle 10">
            <a:extLst>
              <a:ext uri="{FF2B5EF4-FFF2-40B4-BE49-F238E27FC236}">
                <a16:creationId xmlns:a16="http://schemas.microsoft.com/office/drawing/2014/main" id="{BC92CEAD-C386-8D7E-7691-831DEFE5CC68}"/>
              </a:ext>
            </a:extLst>
          </p:cNvPr>
          <p:cNvSpPr/>
          <p:nvPr/>
        </p:nvSpPr>
        <p:spPr>
          <a:xfrm>
            <a:off x="13686177" y="2551260"/>
            <a:ext cx="3299793" cy="1113183"/>
          </a:xfrm>
          <a:prstGeom prst="roundRect">
            <a:avLst>
              <a:gd name="adj" fmla="val 20238"/>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Clean &amp; Standardize Records</a:t>
            </a:r>
          </a:p>
        </p:txBody>
      </p:sp>
      <p:sp>
        <p:nvSpPr>
          <p:cNvPr id="16" name="TextBox 15">
            <a:extLst>
              <a:ext uri="{FF2B5EF4-FFF2-40B4-BE49-F238E27FC236}">
                <a16:creationId xmlns:a16="http://schemas.microsoft.com/office/drawing/2014/main" id="{EDAA235C-BA21-CAE6-75F9-DF19F3FD32BE}"/>
              </a:ext>
            </a:extLst>
          </p:cNvPr>
          <p:cNvSpPr txBox="1"/>
          <p:nvPr/>
        </p:nvSpPr>
        <p:spPr>
          <a:xfrm>
            <a:off x="12962428" y="2846241"/>
            <a:ext cx="606287" cy="523220"/>
          </a:xfrm>
          <a:prstGeom prst="rect">
            <a:avLst/>
          </a:prstGeom>
          <a:noFill/>
        </p:spPr>
        <p:txBody>
          <a:bodyPr wrap="square" rtlCol="0" anchor="ctr">
            <a:spAutoFit/>
          </a:bodyPr>
          <a:lstStyle/>
          <a:p>
            <a:pPr algn="ctr"/>
            <a:r>
              <a:rPr lang="en-US" sz="28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1. </a:t>
            </a:r>
          </a:p>
        </p:txBody>
      </p:sp>
      <p:sp>
        <p:nvSpPr>
          <p:cNvPr id="17" name="TextBox 16">
            <a:extLst>
              <a:ext uri="{FF2B5EF4-FFF2-40B4-BE49-F238E27FC236}">
                <a16:creationId xmlns:a16="http://schemas.microsoft.com/office/drawing/2014/main" id="{1CA6ED0D-3721-1D54-F556-37E34DC30523}"/>
              </a:ext>
            </a:extLst>
          </p:cNvPr>
          <p:cNvSpPr txBox="1"/>
          <p:nvPr/>
        </p:nvSpPr>
        <p:spPr>
          <a:xfrm>
            <a:off x="12962428" y="4522736"/>
            <a:ext cx="606287" cy="523220"/>
          </a:xfrm>
          <a:prstGeom prst="rect">
            <a:avLst/>
          </a:prstGeom>
          <a:noFill/>
        </p:spPr>
        <p:txBody>
          <a:bodyPr wrap="square" rtlCol="0" anchor="ctr">
            <a:spAutoFit/>
          </a:bodyPr>
          <a:lstStyle/>
          <a:p>
            <a:pPr algn="ctr"/>
            <a:r>
              <a:rPr lang="en-US" sz="28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2. </a:t>
            </a:r>
          </a:p>
        </p:txBody>
      </p:sp>
      <p:sp>
        <p:nvSpPr>
          <p:cNvPr id="18" name="TextBox 17">
            <a:extLst>
              <a:ext uri="{FF2B5EF4-FFF2-40B4-BE49-F238E27FC236}">
                <a16:creationId xmlns:a16="http://schemas.microsoft.com/office/drawing/2014/main" id="{2AD68111-6ABC-5183-469D-52859C0E13AC}"/>
              </a:ext>
            </a:extLst>
          </p:cNvPr>
          <p:cNvSpPr txBox="1"/>
          <p:nvPr/>
        </p:nvSpPr>
        <p:spPr>
          <a:xfrm>
            <a:off x="12962428" y="6315107"/>
            <a:ext cx="606287" cy="523220"/>
          </a:xfrm>
          <a:prstGeom prst="rect">
            <a:avLst/>
          </a:prstGeom>
          <a:noFill/>
        </p:spPr>
        <p:txBody>
          <a:bodyPr wrap="square" rtlCol="0" anchor="ctr">
            <a:spAutoFit/>
          </a:bodyPr>
          <a:lstStyle/>
          <a:p>
            <a:pPr algn="ctr"/>
            <a:r>
              <a:rPr lang="en-US" sz="28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3. </a:t>
            </a:r>
          </a:p>
        </p:txBody>
      </p:sp>
      <p:sp>
        <p:nvSpPr>
          <p:cNvPr id="19" name="Rounded Rectangle 18">
            <a:extLst>
              <a:ext uri="{FF2B5EF4-FFF2-40B4-BE49-F238E27FC236}">
                <a16:creationId xmlns:a16="http://schemas.microsoft.com/office/drawing/2014/main" id="{1CCD5D80-73DE-AF0B-0D66-339D3386A421}"/>
              </a:ext>
            </a:extLst>
          </p:cNvPr>
          <p:cNvSpPr/>
          <p:nvPr/>
        </p:nvSpPr>
        <p:spPr>
          <a:xfrm>
            <a:off x="13686179" y="5869159"/>
            <a:ext cx="3299793" cy="1415116"/>
          </a:xfrm>
          <a:prstGeom prst="roundRect">
            <a:avLst>
              <a:gd name="adj" fmla="val 19464"/>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algn="ct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Create Unique ID</a:t>
            </a:r>
            <a:endParaRPr lang="en-US" i="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a:p>
            <a:pPr algn="ctr"/>
            <a:endParaRPr lang="en-US" sz="1400" i="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400" i="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(Associated with HMIS ID, SNAP ID, and/or School ID)</a:t>
            </a:r>
          </a:p>
          <a:p>
            <a:pPr algn="ctr"/>
            <a:endParaRPr lang="en-US" i="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0" name="Rounded Rectangle 19">
            <a:extLst>
              <a:ext uri="{FF2B5EF4-FFF2-40B4-BE49-F238E27FC236}">
                <a16:creationId xmlns:a16="http://schemas.microsoft.com/office/drawing/2014/main" id="{B68FAC3C-C45B-1246-8081-A8D183B829AA}"/>
              </a:ext>
            </a:extLst>
          </p:cNvPr>
          <p:cNvSpPr/>
          <p:nvPr/>
        </p:nvSpPr>
        <p:spPr>
          <a:xfrm>
            <a:off x="13686178" y="3925880"/>
            <a:ext cx="3299793" cy="1725708"/>
          </a:xfrm>
          <a:prstGeom prst="roundRect">
            <a:avLst>
              <a:gd name="adj" fmla="val 15514"/>
            </a:avLst>
          </a:prstGeom>
          <a:solidFill>
            <a:srgbClr val="FFB72A">
              <a:alpha val="5803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rIns="182880" rtlCol="0" anchor="ctr">
            <a:noAutofit/>
          </a:bodyPr>
          <a:lstStyle/>
          <a:p>
            <a:pPr algn="ctr"/>
            <a:endPar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algn="ct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Link Records by Name </a:t>
            </a:r>
          </a:p>
          <a:p>
            <a:pPr algn="ctr"/>
            <a:r>
              <a:rPr lang="en-US" b="1" dirty="0">
                <a:solidFill>
                  <a:schemeClr val="tx1"/>
                </a:solidFill>
                <a:latin typeface="Open Sans" panose="020B0606030504020204" pitchFamily="34" charset="0"/>
                <a:ea typeface="Open Sans" panose="020B0606030504020204" pitchFamily="34" charset="0"/>
                <a:cs typeface="Open Sans" panose="020B0606030504020204" pitchFamily="34" charset="0"/>
              </a:rPr>
              <a:t>&amp; Date of Birth</a:t>
            </a:r>
          </a:p>
          <a:p>
            <a:pPr algn="ctr"/>
            <a:endParaRPr lang="en-US" sz="1400" i="1"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a:p>
            <a:pPr algn="ctr"/>
            <a:r>
              <a:rPr lang="en-US" sz="1400" i="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rPr>
              <a:t>(When available, check parent / guardian’s name, address, gender, and race.)</a:t>
            </a:r>
          </a:p>
          <a:p>
            <a:pPr algn="ctr"/>
            <a:endParaRPr lang="en-US" i="1" dirty="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6" name="U-Turn Arrow 265">
            <a:extLst>
              <a:ext uri="{FF2B5EF4-FFF2-40B4-BE49-F238E27FC236}">
                <a16:creationId xmlns:a16="http://schemas.microsoft.com/office/drawing/2014/main" id="{63E3552D-04CB-0631-242E-54EE4A753D1D}"/>
              </a:ext>
            </a:extLst>
          </p:cNvPr>
          <p:cNvSpPr/>
          <p:nvPr/>
        </p:nvSpPr>
        <p:spPr>
          <a:xfrm rot="5400000">
            <a:off x="16604545" y="5566534"/>
            <a:ext cx="1725708" cy="684557"/>
          </a:xfrm>
          <a:prstGeom prst="uturnArrow">
            <a:avLst>
              <a:gd name="adj1" fmla="val 14983"/>
              <a:gd name="adj2" fmla="val 25000"/>
              <a:gd name="adj3" fmla="val 30808"/>
              <a:gd name="adj4" fmla="val 55654"/>
              <a:gd name="adj5" fmla="val 100000"/>
            </a:avLst>
          </a:prstGeom>
          <a:solidFill>
            <a:srgbClr val="FFB7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7" name="Down Arrow 266">
            <a:extLst>
              <a:ext uri="{FF2B5EF4-FFF2-40B4-BE49-F238E27FC236}">
                <a16:creationId xmlns:a16="http://schemas.microsoft.com/office/drawing/2014/main" id="{D53EDD74-2316-5A4D-60C8-91CDBF60AA05}"/>
              </a:ext>
            </a:extLst>
          </p:cNvPr>
          <p:cNvSpPr/>
          <p:nvPr/>
        </p:nvSpPr>
        <p:spPr>
          <a:xfrm>
            <a:off x="15167799" y="7428102"/>
            <a:ext cx="336548" cy="813217"/>
          </a:xfrm>
          <a:prstGeom prst="downArrow">
            <a:avLst>
              <a:gd name="adj1" fmla="val 32280"/>
              <a:gd name="adj2" fmla="val 70860"/>
            </a:avLst>
          </a:prstGeom>
          <a:solidFill>
            <a:srgbClr val="FFB7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7" name="Curved Connector 276">
            <a:extLst>
              <a:ext uri="{FF2B5EF4-FFF2-40B4-BE49-F238E27FC236}">
                <a16:creationId xmlns:a16="http://schemas.microsoft.com/office/drawing/2014/main" id="{13D5C7B0-B16F-A5F3-7BBF-372D41E10C40}"/>
              </a:ext>
            </a:extLst>
          </p:cNvPr>
          <p:cNvCxnSpPr>
            <a:cxnSpLocks/>
          </p:cNvCxnSpPr>
          <p:nvPr/>
        </p:nvCxnSpPr>
        <p:spPr>
          <a:xfrm>
            <a:off x="11499574" y="2077278"/>
            <a:ext cx="1462854" cy="970916"/>
          </a:xfrm>
          <a:prstGeom prst="curvedConnector3">
            <a:avLst>
              <a:gd name="adj1" fmla="val 50000"/>
            </a:avLst>
          </a:prstGeom>
          <a:ln w="95250">
            <a:solidFill>
              <a:srgbClr val="FFB72A"/>
            </a:solidFill>
            <a:tailEnd type="triangle"/>
          </a:ln>
        </p:spPr>
        <p:style>
          <a:lnRef idx="1">
            <a:schemeClr val="accent1"/>
          </a:lnRef>
          <a:fillRef idx="0">
            <a:schemeClr val="accent1"/>
          </a:fillRef>
          <a:effectRef idx="0">
            <a:schemeClr val="accent1"/>
          </a:effectRef>
          <a:fontRef idx="minor">
            <a:schemeClr val="tx1"/>
          </a:fontRef>
        </p:style>
      </p:cxnSp>
      <p:sp>
        <p:nvSpPr>
          <p:cNvPr id="291" name="U-Turn Arrow 290">
            <a:extLst>
              <a:ext uri="{FF2B5EF4-FFF2-40B4-BE49-F238E27FC236}">
                <a16:creationId xmlns:a16="http://schemas.microsoft.com/office/drawing/2014/main" id="{C34032FA-4466-3063-8F24-70D14B23D063}"/>
              </a:ext>
            </a:extLst>
          </p:cNvPr>
          <p:cNvSpPr/>
          <p:nvPr/>
        </p:nvSpPr>
        <p:spPr>
          <a:xfrm rot="5400000">
            <a:off x="16604545" y="3568770"/>
            <a:ext cx="1725708" cy="684557"/>
          </a:xfrm>
          <a:prstGeom prst="uturnArrow">
            <a:avLst>
              <a:gd name="adj1" fmla="val 14983"/>
              <a:gd name="adj2" fmla="val 25000"/>
              <a:gd name="adj3" fmla="val 33712"/>
              <a:gd name="adj4" fmla="val 55654"/>
              <a:gd name="adj5" fmla="val 100000"/>
            </a:avLst>
          </a:prstGeom>
          <a:solidFill>
            <a:srgbClr val="FFB7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5" name="Audio 4">
            <a:extLst>
              <a:ext uri="{FF2B5EF4-FFF2-40B4-BE49-F238E27FC236}">
                <a16:creationId xmlns:a16="http://schemas.microsoft.com/office/drawing/2014/main" id="{C7FADB23-1292-B21C-EBF2-0767A64559D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322800" y="9321800"/>
            <a:ext cx="812800" cy="812800"/>
          </a:xfrm>
          <a:prstGeom prst="rect">
            <a:avLst/>
          </a:prstGeom>
        </p:spPr>
      </p:pic>
      <p:sp>
        <p:nvSpPr>
          <p:cNvPr id="3" name="Slide Number Placeholder 2">
            <a:extLst>
              <a:ext uri="{FF2B5EF4-FFF2-40B4-BE49-F238E27FC236}">
                <a16:creationId xmlns:a16="http://schemas.microsoft.com/office/drawing/2014/main" id="{9DD5C3CE-60EC-F450-0348-283F16D95FD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9</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29016194"/>
      </p:ext>
    </p:extLst>
  </p:cSld>
  <p:clrMapOvr>
    <a:masterClrMapping/>
  </p:clrMapOvr>
  <mc:AlternateContent xmlns:mc="http://schemas.openxmlformats.org/markup-compatibility/2006" xmlns:p14="http://schemas.microsoft.com/office/powerpoint/2010/main">
    <mc:Choice Requires="p14">
      <p:transition spd="slow" p14:dur="2000" advTm="116365"/>
    </mc:Choice>
    <mc:Fallback xmlns="">
      <p:transition spd="slow" advTm="1163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6">
          <a:extLst>
            <a:ext uri="{FF2B5EF4-FFF2-40B4-BE49-F238E27FC236}">
              <a16:creationId xmlns:a16="http://schemas.microsoft.com/office/drawing/2014/main" id="{88BAFFAF-F498-6A41-E370-DD829D06D71A}"/>
            </a:ext>
          </a:extLst>
        </p:cNvPr>
        <p:cNvGrpSpPr/>
        <p:nvPr/>
      </p:nvGrpSpPr>
      <p:grpSpPr>
        <a:xfrm>
          <a:off x="0" y="0"/>
          <a:ext cx="0" cy="0"/>
          <a:chOff x="0" y="0"/>
          <a:chExt cx="0" cy="0"/>
        </a:xfrm>
      </p:grpSpPr>
      <p:sp>
        <p:nvSpPr>
          <p:cNvPr id="297" name="Google Shape;297;p1">
            <a:extLst>
              <a:ext uri="{FF2B5EF4-FFF2-40B4-BE49-F238E27FC236}">
                <a16:creationId xmlns:a16="http://schemas.microsoft.com/office/drawing/2014/main" id="{29F6BD08-C440-BF81-0587-3174E1EC27A6}"/>
              </a:ext>
            </a:extLst>
          </p:cNvPr>
          <p:cNvSpPr txBox="1">
            <a:spLocks noGrp="1"/>
          </p:cNvSpPr>
          <p:nvPr>
            <p:ph type="title"/>
          </p:nvPr>
        </p:nvSpPr>
        <p:spPr>
          <a:xfrm>
            <a:off x="623400" y="576550"/>
            <a:ext cx="17041200" cy="1145400"/>
          </a:xfrm>
          <a:prstGeom prst="rect">
            <a:avLst/>
          </a:prstGeom>
          <a:noFill/>
          <a:ln>
            <a:noFill/>
          </a:ln>
        </p:spPr>
        <p:txBody>
          <a:bodyPr spcFirstLastPara="1" wrap="square" lIns="182850" tIns="182850" rIns="182850" bIns="182850" anchor="t" anchorCtr="0">
            <a:normAutofit fontScale="90000"/>
          </a:bodyPr>
          <a:lstStyle/>
          <a:p>
            <a:pPr marL="0" lvl="0" indent="0" algn="l" rtl="0">
              <a:lnSpc>
                <a:spcPct val="100000"/>
              </a:lnSpc>
              <a:spcBef>
                <a:spcPts val="0"/>
              </a:spcBef>
              <a:spcAft>
                <a:spcPts val="0"/>
              </a:spcAft>
              <a:buSzPct val="103703"/>
              <a:buNone/>
            </a:pPr>
            <a:r>
              <a:rPr lang="en-US" sz="6000" b="1">
                <a:solidFill>
                  <a:srgbClr val="001C84"/>
                </a:solidFill>
                <a:latin typeface="Open Sans"/>
                <a:ea typeface="Open Sans"/>
                <a:cs typeface="Open Sans"/>
                <a:sym typeface="Open Sans"/>
              </a:rPr>
              <a:t>Learning from Linked Administrative Data and Experiential Knowledge</a:t>
            </a:r>
            <a:endParaRPr/>
          </a:p>
        </p:txBody>
      </p:sp>
      <p:sp>
        <p:nvSpPr>
          <p:cNvPr id="298" name="Google Shape;298;p1">
            <a:extLst>
              <a:ext uri="{FF2B5EF4-FFF2-40B4-BE49-F238E27FC236}">
                <a16:creationId xmlns:a16="http://schemas.microsoft.com/office/drawing/2014/main" id="{4FAE8625-5616-FDBE-2493-32536CE37828}"/>
              </a:ext>
            </a:extLst>
          </p:cNvPr>
          <p:cNvSpPr txBox="1">
            <a:spLocks noGrp="1"/>
          </p:cNvSpPr>
          <p:nvPr>
            <p:ph type="body" idx="1"/>
          </p:nvPr>
        </p:nvSpPr>
        <p:spPr>
          <a:xfrm>
            <a:off x="623400" y="2933300"/>
            <a:ext cx="17041200" cy="6859800"/>
          </a:xfrm>
          <a:prstGeom prst="rect">
            <a:avLst/>
          </a:prstGeom>
          <a:noFill/>
          <a:ln>
            <a:noFill/>
          </a:ln>
        </p:spPr>
        <p:txBody>
          <a:bodyPr spcFirstLastPara="1" wrap="square" lIns="182850" tIns="182850" rIns="182850" bIns="182850" anchor="t" anchorCtr="0">
            <a:noAutofit/>
          </a:bodyPr>
          <a:lstStyle/>
          <a:p>
            <a:pPr marL="463550">
              <a:buClr>
                <a:schemeClr val="dk1"/>
              </a:buClr>
              <a:buSzPts val="3500"/>
              <a:buFont typeface="Arial" panose="020B0604020202020204" pitchFamily="34" charset="0"/>
              <a:buChar char="•"/>
            </a:pPr>
            <a:r>
              <a:rPr lang="en-US" sz="3500" dirty="0">
                <a:latin typeface="Open Sans"/>
                <a:ea typeface="Open Sans"/>
                <a:cs typeface="Open Sans"/>
                <a:sym typeface="Open Sans"/>
              </a:rPr>
              <a:t>Integrated Data Systems (IDS) allows us to see how individuals interact with multiple programs over time</a:t>
            </a:r>
          </a:p>
          <a:p>
            <a:pPr marL="463550">
              <a:buClr>
                <a:schemeClr val="dk1"/>
              </a:buClr>
              <a:buSzPts val="3500"/>
              <a:buFont typeface="Arial" panose="020B0604020202020204" pitchFamily="34" charset="0"/>
              <a:buChar char="•"/>
            </a:pPr>
            <a:r>
              <a:rPr lang="en-US" sz="3500" dirty="0">
                <a:solidFill>
                  <a:schemeClr val="dk1"/>
                </a:solidFill>
                <a:latin typeface="Open Sans"/>
                <a:ea typeface="Open Sans"/>
                <a:cs typeface="Open Sans"/>
                <a:sym typeface="Open Sans"/>
              </a:rPr>
              <a:t>In a Secured Research Environment, under strict research ethics protocol and data use agreements, we </a:t>
            </a:r>
            <a:r>
              <a:rPr lang="en-US" sz="3500" b="1" dirty="0">
                <a:solidFill>
                  <a:srgbClr val="001B83"/>
                </a:solidFill>
                <a:latin typeface="Open Sans"/>
                <a:ea typeface="Open Sans"/>
                <a:cs typeface="Open Sans"/>
                <a:sym typeface="Open Sans"/>
              </a:rPr>
              <a:t>link data for individuals</a:t>
            </a:r>
            <a:r>
              <a:rPr lang="en-US" sz="3500" dirty="0">
                <a:solidFill>
                  <a:srgbClr val="001B83"/>
                </a:solidFill>
                <a:latin typeface="Open Sans"/>
                <a:ea typeface="Open Sans"/>
                <a:cs typeface="Open Sans"/>
                <a:sym typeface="Open Sans"/>
              </a:rPr>
              <a:t> </a:t>
            </a:r>
            <a:r>
              <a:rPr lang="en-US" sz="3500" dirty="0">
                <a:solidFill>
                  <a:schemeClr val="dk1"/>
                </a:solidFill>
                <a:latin typeface="Open Sans"/>
                <a:ea typeface="Open Sans"/>
                <a:cs typeface="Open Sans"/>
                <a:sym typeface="Open Sans"/>
              </a:rPr>
              <a:t>interacting with homeless services</a:t>
            </a:r>
          </a:p>
          <a:p>
            <a:pPr marL="463550">
              <a:buClr>
                <a:schemeClr val="dk1"/>
              </a:buClr>
              <a:buSzPts val="3500"/>
              <a:buFont typeface="Arial" panose="020B0604020202020204" pitchFamily="34" charset="0"/>
              <a:buChar char="•"/>
            </a:pPr>
            <a:r>
              <a:rPr lang="en-US" sz="3500" dirty="0">
                <a:solidFill>
                  <a:schemeClr val="dk1"/>
                </a:solidFill>
                <a:latin typeface="Open Sans"/>
                <a:ea typeface="Open Sans"/>
                <a:cs typeface="Open Sans"/>
                <a:sym typeface="Open Sans"/>
              </a:rPr>
              <a:t>We analyze this data to learn about the </a:t>
            </a:r>
            <a:r>
              <a:rPr lang="en-US" sz="3500" b="1" dirty="0">
                <a:solidFill>
                  <a:srgbClr val="001B83"/>
                </a:solidFill>
                <a:latin typeface="Open Sans"/>
                <a:ea typeface="Open Sans"/>
                <a:cs typeface="Open Sans"/>
                <a:sym typeface="Open Sans"/>
              </a:rPr>
              <a:t>needs and assets in our community</a:t>
            </a:r>
            <a:r>
              <a:rPr lang="en-US" sz="3500" dirty="0">
                <a:solidFill>
                  <a:srgbClr val="001B83"/>
                </a:solidFill>
                <a:latin typeface="Open Sans"/>
                <a:ea typeface="Open Sans"/>
                <a:cs typeface="Open Sans"/>
                <a:sym typeface="Open Sans"/>
              </a:rPr>
              <a:t> </a:t>
            </a:r>
            <a:r>
              <a:rPr lang="en-US" sz="3500" dirty="0">
                <a:solidFill>
                  <a:schemeClr val="dk1"/>
                </a:solidFill>
                <a:latin typeface="Open Sans"/>
                <a:ea typeface="Open Sans"/>
                <a:cs typeface="Open Sans"/>
                <a:sym typeface="Open Sans"/>
              </a:rPr>
              <a:t>and inform positive social change</a:t>
            </a:r>
            <a:endParaRPr lang="en-US" sz="3500" dirty="0">
              <a:latin typeface="Open Sans"/>
              <a:ea typeface="Open Sans"/>
              <a:cs typeface="Open Sans"/>
              <a:sym typeface="Open Sans"/>
            </a:endParaRPr>
          </a:p>
          <a:p>
            <a:pPr marL="463550">
              <a:buClr>
                <a:schemeClr val="dk1"/>
              </a:buClr>
              <a:buSzPts val="3500"/>
              <a:buFont typeface="Arial" panose="020B0604020202020204" pitchFamily="34" charset="0"/>
              <a:buChar char="•"/>
            </a:pPr>
            <a:r>
              <a:rPr lang="en-US" sz="3500" b="1" dirty="0">
                <a:solidFill>
                  <a:srgbClr val="001B83"/>
                </a:solidFill>
                <a:latin typeface="Open Sans"/>
                <a:ea typeface="Open Sans"/>
                <a:cs typeface="Open Sans"/>
                <a:sym typeface="Open Sans"/>
              </a:rPr>
              <a:t>Data do not speak for themselves</a:t>
            </a:r>
          </a:p>
          <a:p>
            <a:pPr marL="971550" lvl="1" indent="-457200">
              <a:buClr>
                <a:schemeClr val="dk1"/>
              </a:buClr>
              <a:buSzPts val="3500"/>
              <a:buFont typeface="Arial" panose="020B0604020202020204" pitchFamily="34" charset="0"/>
              <a:buChar char="•"/>
            </a:pPr>
            <a:r>
              <a:rPr lang="en-US" sz="2900" dirty="0">
                <a:latin typeface="Open Sans"/>
                <a:ea typeface="Open Sans"/>
                <a:cs typeface="Open Sans"/>
                <a:sym typeface="Open Sans"/>
              </a:rPr>
              <a:t>We can learn more about what data represents by tapping on the collective expertise of those who sought out homeless services and provided information that makes up the administrative data</a:t>
            </a:r>
            <a:endParaRPr sz="2900" dirty="0">
              <a:latin typeface="Open Sans"/>
              <a:ea typeface="Open Sans"/>
              <a:cs typeface="Open Sans"/>
              <a:sym typeface="Open Sans"/>
            </a:endParaRPr>
          </a:p>
        </p:txBody>
      </p:sp>
      <p:pic>
        <p:nvPicPr>
          <p:cNvPr id="4" name="Audio 3">
            <a:extLst>
              <a:ext uri="{FF2B5EF4-FFF2-40B4-BE49-F238E27FC236}">
                <a16:creationId xmlns:a16="http://schemas.microsoft.com/office/drawing/2014/main" id="{1F95C756-D5A8-730B-4577-FA7101F4CCB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FD6A1F99-3719-21B6-B8BC-1E8BEE5BB64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10</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819259890"/>
      </p:ext>
    </p:extLst>
  </p:cSld>
  <p:clrMapOvr>
    <a:masterClrMapping/>
  </p:clrMapOvr>
  <mc:AlternateContent xmlns:mc="http://schemas.openxmlformats.org/markup-compatibility/2006" xmlns:p14="http://schemas.microsoft.com/office/powerpoint/2010/main">
    <mc:Choice Requires="p14">
      <p:transition spd="slow" p14:dur="2000" advTm="40921"/>
    </mc:Choice>
    <mc:Fallback xmlns="">
      <p:transition spd="slow" advTm="409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g38c1a336e4e_0_0"/>
          <p:cNvSpPr txBox="1"/>
          <p:nvPr/>
        </p:nvSpPr>
        <p:spPr>
          <a:xfrm>
            <a:off x="542525" y="583850"/>
            <a:ext cx="17235300" cy="93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3800" b="1" i="0" u="none" strike="noStrike" cap="none">
                <a:solidFill>
                  <a:srgbClr val="001C84"/>
                </a:solidFill>
                <a:latin typeface="Open Sans"/>
                <a:ea typeface="Open Sans"/>
                <a:cs typeface="Open Sans"/>
                <a:sym typeface="Open Sans"/>
              </a:rPr>
              <a:t>Linking Administrative Data </a:t>
            </a:r>
            <a:r>
              <a:rPr lang="en-US" sz="3800" b="1">
                <a:solidFill>
                  <a:srgbClr val="001C84"/>
                </a:solidFill>
                <a:latin typeface="Open Sans"/>
                <a:ea typeface="Open Sans"/>
                <a:cs typeface="Open Sans"/>
                <a:sym typeface="Open Sans"/>
              </a:rPr>
              <a:t>to Create an Integrated Data System (IDS)</a:t>
            </a:r>
            <a:endParaRPr sz="100" b="0" i="0" u="none" strike="noStrike" cap="none">
              <a:solidFill>
                <a:srgbClr val="000000"/>
              </a:solidFill>
              <a:latin typeface="Open Sans"/>
              <a:ea typeface="Open Sans"/>
              <a:cs typeface="Open Sans"/>
              <a:sym typeface="Open Sans"/>
            </a:endParaRPr>
          </a:p>
        </p:txBody>
      </p:sp>
      <p:sp>
        <p:nvSpPr>
          <p:cNvPr id="304" name="Google Shape;304;g38c1a336e4e_0_0"/>
          <p:cNvSpPr/>
          <p:nvPr/>
        </p:nvSpPr>
        <p:spPr>
          <a:xfrm>
            <a:off x="1184675" y="2015775"/>
            <a:ext cx="1989900" cy="1161300"/>
          </a:xfrm>
          <a:prstGeom prst="roundRect">
            <a:avLst>
              <a:gd name="adj" fmla="val 14182"/>
            </a:avLst>
          </a:prstGeom>
          <a:solidFill>
            <a:srgbClr val="001B83"/>
          </a:solidFill>
          <a:ln>
            <a:noFill/>
          </a:ln>
        </p:spPr>
        <p:txBody>
          <a:bodyPr spcFirstLastPara="1" wrap="square" lIns="92125" tIns="92125" rIns="92125" bIns="92125" anchor="ctr"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2357" b="1" i="0" u="none" strike="noStrike" cap="none">
                <a:solidFill>
                  <a:srgbClr val="FFDC5D"/>
                </a:solidFill>
                <a:latin typeface="Open Sans"/>
                <a:ea typeface="Open Sans"/>
                <a:cs typeface="Open Sans"/>
                <a:sym typeface="Open Sans"/>
              </a:rPr>
              <a:t>Population</a:t>
            </a:r>
            <a:endParaRPr sz="2357" b="1" i="0" u="none" strike="noStrike" cap="none">
              <a:solidFill>
                <a:srgbClr val="FFDC5D"/>
              </a:solidFill>
              <a:latin typeface="Open Sans"/>
              <a:ea typeface="Open Sans"/>
              <a:cs typeface="Open Sans"/>
              <a:sym typeface="Open Sans"/>
            </a:endParaRPr>
          </a:p>
        </p:txBody>
      </p:sp>
      <p:sp>
        <p:nvSpPr>
          <p:cNvPr id="305" name="Google Shape;305;g38c1a336e4e_0_0"/>
          <p:cNvSpPr/>
          <p:nvPr/>
        </p:nvSpPr>
        <p:spPr>
          <a:xfrm>
            <a:off x="3506132" y="2015775"/>
            <a:ext cx="1989900" cy="7130100"/>
          </a:xfrm>
          <a:prstGeom prst="roundRect">
            <a:avLst>
              <a:gd name="adj" fmla="val 16667"/>
            </a:avLst>
          </a:prstGeom>
          <a:solidFill>
            <a:srgbClr val="FFDC5D">
              <a:alpha val="41568"/>
            </a:srgbClr>
          </a:solidFill>
          <a:ln>
            <a:noFill/>
          </a:ln>
        </p:spPr>
        <p:txBody>
          <a:bodyPr spcFirstLastPara="1" wrap="square" lIns="92125" tIns="92125" rIns="92125" bIns="92125" anchor="t"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1994" b="1" i="0" u="none" strike="noStrike" cap="none">
                <a:solidFill>
                  <a:srgbClr val="001C84"/>
                </a:solidFill>
                <a:latin typeface="Open Sans"/>
                <a:ea typeface="Open Sans"/>
                <a:cs typeface="Open Sans"/>
                <a:sym typeface="Open Sans"/>
              </a:rPr>
              <a:t>Registration &amp; Recording</a:t>
            </a:r>
            <a:endParaRPr sz="1994" b="1" i="0" u="none" strike="noStrike" cap="none">
              <a:solidFill>
                <a:srgbClr val="001C84"/>
              </a:solidFill>
              <a:latin typeface="Open Sans"/>
              <a:ea typeface="Open Sans"/>
              <a:cs typeface="Open Sans"/>
              <a:sym typeface="Open Sans"/>
            </a:endParaRPr>
          </a:p>
        </p:txBody>
      </p:sp>
      <p:sp>
        <p:nvSpPr>
          <p:cNvPr id="306" name="Google Shape;306;g38c1a336e4e_0_0"/>
          <p:cNvSpPr/>
          <p:nvPr/>
        </p:nvSpPr>
        <p:spPr>
          <a:xfrm>
            <a:off x="5827589" y="2015775"/>
            <a:ext cx="1989900" cy="1161300"/>
          </a:xfrm>
          <a:prstGeom prst="roundRect">
            <a:avLst>
              <a:gd name="adj" fmla="val 12940"/>
            </a:avLst>
          </a:prstGeom>
          <a:solidFill>
            <a:srgbClr val="001C84"/>
          </a:solidFill>
          <a:ln>
            <a:noFill/>
          </a:ln>
        </p:spPr>
        <p:txBody>
          <a:bodyPr spcFirstLastPara="1" wrap="square" lIns="92125" tIns="92125" rIns="92125" bIns="92125" anchor="ctr"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2357" b="1" i="0" u="none" strike="noStrike" cap="none">
                <a:solidFill>
                  <a:srgbClr val="FFDC5D"/>
                </a:solidFill>
                <a:latin typeface="Open Sans"/>
                <a:ea typeface="Open Sans"/>
                <a:cs typeface="Open Sans"/>
                <a:sym typeface="Open Sans"/>
              </a:rPr>
              <a:t>Databases</a:t>
            </a:r>
            <a:endParaRPr sz="2357" b="1" i="0" u="none" strike="noStrike" cap="none">
              <a:solidFill>
                <a:srgbClr val="FFDC5D"/>
              </a:solidFill>
              <a:latin typeface="Open Sans"/>
              <a:ea typeface="Open Sans"/>
              <a:cs typeface="Open Sans"/>
              <a:sym typeface="Open Sans"/>
            </a:endParaRPr>
          </a:p>
        </p:txBody>
      </p:sp>
      <p:sp>
        <p:nvSpPr>
          <p:cNvPr id="307" name="Google Shape;307;g38c1a336e4e_0_0"/>
          <p:cNvSpPr/>
          <p:nvPr/>
        </p:nvSpPr>
        <p:spPr>
          <a:xfrm>
            <a:off x="8149046" y="2015775"/>
            <a:ext cx="1989900" cy="7130100"/>
          </a:xfrm>
          <a:prstGeom prst="roundRect">
            <a:avLst>
              <a:gd name="adj" fmla="val 16667"/>
            </a:avLst>
          </a:prstGeom>
          <a:solidFill>
            <a:srgbClr val="FFDC5D">
              <a:alpha val="41568"/>
            </a:srgbClr>
          </a:solidFill>
          <a:ln>
            <a:noFill/>
          </a:ln>
        </p:spPr>
        <p:txBody>
          <a:bodyPr spcFirstLastPara="1" wrap="square" lIns="92125" tIns="92125" rIns="92125" bIns="92125" anchor="t"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2357" b="1" i="0" u="none" strike="noStrike" cap="none">
                <a:solidFill>
                  <a:srgbClr val="001C84"/>
                </a:solidFill>
                <a:latin typeface="Open Sans"/>
                <a:ea typeface="Open Sans"/>
                <a:cs typeface="Open Sans"/>
                <a:sym typeface="Open Sans"/>
              </a:rPr>
              <a:t>Linkage</a:t>
            </a:r>
            <a:endParaRPr sz="2357" b="1" i="0" u="none" strike="noStrike" cap="none">
              <a:solidFill>
                <a:srgbClr val="001C84"/>
              </a:solidFill>
              <a:latin typeface="Open Sans"/>
              <a:ea typeface="Open Sans"/>
              <a:cs typeface="Open Sans"/>
              <a:sym typeface="Open Sans"/>
            </a:endParaRPr>
          </a:p>
        </p:txBody>
      </p:sp>
      <p:sp>
        <p:nvSpPr>
          <p:cNvPr id="308" name="Google Shape;308;g38c1a336e4e_0_0"/>
          <p:cNvSpPr/>
          <p:nvPr/>
        </p:nvSpPr>
        <p:spPr>
          <a:xfrm>
            <a:off x="10470503" y="2015775"/>
            <a:ext cx="1989900" cy="1161300"/>
          </a:xfrm>
          <a:prstGeom prst="roundRect">
            <a:avLst>
              <a:gd name="adj" fmla="val 14183"/>
            </a:avLst>
          </a:prstGeom>
          <a:solidFill>
            <a:srgbClr val="001C84"/>
          </a:solidFill>
          <a:ln>
            <a:noFill/>
          </a:ln>
        </p:spPr>
        <p:txBody>
          <a:bodyPr spcFirstLastPara="1" wrap="square" lIns="92125" tIns="92125" rIns="92125" bIns="92125" anchor="ctr"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2149" b="1" i="0" u="none" strike="noStrike" cap="none">
                <a:solidFill>
                  <a:srgbClr val="FFDC5D"/>
                </a:solidFill>
                <a:latin typeface="Open Sans"/>
                <a:ea typeface="Open Sans"/>
                <a:cs typeface="Open Sans"/>
                <a:sym typeface="Open Sans"/>
              </a:rPr>
              <a:t>Integrated Data System (IDS)</a:t>
            </a:r>
            <a:endParaRPr sz="2149" b="1" i="0" u="none" strike="noStrike" cap="none">
              <a:solidFill>
                <a:srgbClr val="FFDC5D"/>
              </a:solidFill>
              <a:latin typeface="Open Sans"/>
              <a:ea typeface="Open Sans"/>
              <a:cs typeface="Open Sans"/>
              <a:sym typeface="Open Sans"/>
            </a:endParaRPr>
          </a:p>
        </p:txBody>
      </p:sp>
      <p:sp>
        <p:nvSpPr>
          <p:cNvPr id="309" name="Google Shape;309;g38c1a336e4e_0_0"/>
          <p:cNvSpPr/>
          <p:nvPr/>
        </p:nvSpPr>
        <p:spPr>
          <a:xfrm>
            <a:off x="12791960" y="2015775"/>
            <a:ext cx="1989900" cy="7130100"/>
          </a:xfrm>
          <a:prstGeom prst="roundRect">
            <a:avLst>
              <a:gd name="adj" fmla="val 16667"/>
            </a:avLst>
          </a:prstGeom>
          <a:solidFill>
            <a:srgbClr val="FFDC5D">
              <a:alpha val="41568"/>
            </a:srgbClr>
          </a:solidFill>
          <a:ln>
            <a:noFill/>
          </a:ln>
        </p:spPr>
        <p:txBody>
          <a:bodyPr spcFirstLastPara="1" wrap="square" lIns="92125" tIns="92125" rIns="92125" bIns="92125" anchor="t"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2357" b="1" i="0" u="none" strike="noStrike" cap="none">
                <a:solidFill>
                  <a:srgbClr val="001C84"/>
                </a:solidFill>
                <a:latin typeface="Open Sans"/>
                <a:ea typeface="Open Sans"/>
                <a:cs typeface="Open Sans"/>
                <a:sym typeface="Open Sans"/>
              </a:rPr>
              <a:t>Cleaning &amp; Coding</a:t>
            </a:r>
            <a:endParaRPr sz="2357" b="1" i="0" u="none" strike="noStrike" cap="none">
              <a:solidFill>
                <a:srgbClr val="001C84"/>
              </a:solidFill>
              <a:latin typeface="Open Sans"/>
              <a:ea typeface="Open Sans"/>
              <a:cs typeface="Open Sans"/>
              <a:sym typeface="Open Sans"/>
            </a:endParaRPr>
          </a:p>
        </p:txBody>
      </p:sp>
      <p:sp>
        <p:nvSpPr>
          <p:cNvPr id="310" name="Google Shape;310;g38c1a336e4e_0_0"/>
          <p:cNvSpPr/>
          <p:nvPr/>
        </p:nvSpPr>
        <p:spPr>
          <a:xfrm>
            <a:off x="15113418" y="2015775"/>
            <a:ext cx="1989900" cy="1161300"/>
          </a:xfrm>
          <a:prstGeom prst="roundRect">
            <a:avLst>
              <a:gd name="adj" fmla="val 12940"/>
            </a:avLst>
          </a:prstGeom>
          <a:solidFill>
            <a:srgbClr val="001C84"/>
          </a:solidFill>
          <a:ln>
            <a:noFill/>
          </a:ln>
        </p:spPr>
        <p:txBody>
          <a:bodyPr spcFirstLastPara="1" wrap="square" lIns="92125" tIns="92125" rIns="92125" bIns="92125" anchor="ctr"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2357" b="1" i="0" u="none" strike="noStrike" cap="none">
                <a:solidFill>
                  <a:srgbClr val="FFDC5D"/>
                </a:solidFill>
                <a:latin typeface="Open Sans"/>
                <a:ea typeface="Open Sans"/>
                <a:cs typeface="Open Sans"/>
                <a:sym typeface="Open Sans"/>
              </a:rPr>
              <a:t>Variables</a:t>
            </a:r>
            <a:endParaRPr sz="2357" b="1" i="0" u="none" strike="noStrike" cap="none">
              <a:solidFill>
                <a:srgbClr val="FFDC5D"/>
              </a:solidFill>
              <a:latin typeface="Open Sans"/>
              <a:ea typeface="Open Sans"/>
              <a:cs typeface="Open Sans"/>
              <a:sym typeface="Open Sans"/>
            </a:endParaRPr>
          </a:p>
        </p:txBody>
      </p:sp>
      <p:sp>
        <p:nvSpPr>
          <p:cNvPr id="311" name="Google Shape;311;g38c1a336e4e_0_0"/>
          <p:cNvSpPr/>
          <p:nvPr/>
        </p:nvSpPr>
        <p:spPr>
          <a:xfrm>
            <a:off x="1184675" y="3508134"/>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Person experiencing </a:t>
            </a:r>
            <a:r>
              <a:rPr lang="en-US" sz="1812">
                <a:solidFill>
                  <a:srgbClr val="001C84"/>
                </a:solidFill>
                <a:latin typeface="Open Sans"/>
                <a:ea typeface="Open Sans"/>
                <a:cs typeface="Open Sans"/>
                <a:sym typeface="Open Sans"/>
              </a:rPr>
              <a:t>housing insecurity</a:t>
            </a:r>
            <a:endParaRPr sz="1812" b="0" i="0" u="none" strike="noStrike" cap="none">
              <a:solidFill>
                <a:srgbClr val="001C84"/>
              </a:solidFill>
              <a:latin typeface="Open Sans"/>
              <a:ea typeface="Open Sans"/>
              <a:cs typeface="Open Sans"/>
              <a:sym typeface="Open Sans"/>
            </a:endParaRPr>
          </a:p>
        </p:txBody>
      </p:sp>
      <p:sp>
        <p:nvSpPr>
          <p:cNvPr id="312" name="Google Shape;312;g38c1a336e4e_0_0"/>
          <p:cNvSpPr/>
          <p:nvPr/>
        </p:nvSpPr>
        <p:spPr>
          <a:xfrm>
            <a:off x="1184675" y="5497946"/>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a:solidFill>
                  <a:srgbClr val="001C84"/>
                </a:solidFill>
                <a:latin typeface="Open Sans"/>
                <a:ea typeface="Open Sans"/>
                <a:cs typeface="Open Sans"/>
                <a:sym typeface="Open Sans"/>
              </a:rPr>
              <a:t>Student</a:t>
            </a:r>
            <a:endParaRPr sz="1812" b="0" i="0" u="none" strike="noStrike" cap="none">
              <a:solidFill>
                <a:srgbClr val="001C84"/>
              </a:solidFill>
              <a:latin typeface="Open Sans"/>
              <a:ea typeface="Open Sans"/>
              <a:cs typeface="Open Sans"/>
              <a:sym typeface="Open Sans"/>
            </a:endParaRPr>
          </a:p>
        </p:txBody>
      </p:sp>
      <p:sp>
        <p:nvSpPr>
          <p:cNvPr id="313" name="Google Shape;313;g38c1a336e4e_0_0"/>
          <p:cNvSpPr/>
          <p:nvPr/>
        </p:nvSpPr>
        <p:spPr>
          <a:xfrm>
            <a:off x="1184675" y="7487758"/>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Person experiencing food insecurity</a:t>
            </a:r>
            <a:endParaRPr sz="1812" b="0" i="0" u="none" strike="noStrike" cap="none">
              <a:solidFill>
                <a:srgbClr val="001C84"/>
              </a:solidFill>
              <a:latin typeface="Open Sans"/>
              <a:ea typeface="Open Sans"/>
              <a:cs typeface="Open Sans"/>
              <a:sym typeface="Open Sans"/>
            </a:endParaRPr>
          </a:p>
        </p:txBody>
      </p:sp>
      <p:sp>
        <p:nvSpPr>
          <p:cNvPr id="314" name="Google Shape;314;g38c1a336e4e_0_0"/>
          <p:cNvSpPr/>
          <p:nvPr/>
        </p:nvSpPr>
        <p:spPr>
          <a:xfrm>
            <a:off x="5827589" y="3508134"/>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a:solidFill>
                  <a:srgbClr val="001C84"/>
                </a:solidFill>
                <a:latin typeface="Open Sans"/>
                <a:ea typeface="Open Sans"/>
                <a:cs typeface="Open Sans"/>
                <a:sym typeface="Open Sans"/>
              </a:rPr>
              <a:t>Homeless Management Information System (HMIS)</a:t>
            </a:r>
            <a:endParaRPr sz="1812" b="0" i="0" u="none" strike="noStrike" cap="none">
              <a:solidFill>
                <a:srgbClr val="001C84"/>
              </a:solidFill>
              <a:latin typeface="Open Sans"/>
              <a:ea typeface="Open Sans"/>
              <a:cs typeface="Open Sans"/>
              <a:sym typeface="Open Sans"/>
            </a:endParaRPr>
          </a:p>
        </p:txBody>
      </p:sp>
      <p:sp>
        <p:nvSpPr>
          <p:cNvPr id="315" name="Google Shape;315;g38c1a336e4e_0_0"/>
          <p:cNvSpPr/>
          <p:nvPr/>
        </p:nvSpPr>
        <p:spPr>
          <a:xfrm>
            <a:off x="5827589" y="5497946"/>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a:solidFill>
                  <a:srgbClr val="001C84"/>
                </a:solidFill>
                <a:latin typeface="Open Sans"/>
                <a:ea typeface="Open Sans"/>
                <a:cs typeface="Open Sans"/>
                <a:sym typeface="Open Sans"/>
              </a:rPr>
              <a:t>School system</a:t>
            </a:r>
            <a:endParaRPr sz="1812" b="0" i="0" u="none" strike="noStrike" cap="none">
              <a:solidFill>
                <a:srgbClr val="001C84"/>
              </a:solidFill>
              <a:latin typeface="Open Sans"/>
              <a:ea typeface="Open Sans"/>
              <a:cs typeface="Open Sans"/>
              <a:sym typeface="Open Sans"/>
            </a:endParaRPr>
          </a:p>
        </p:txBody>
      </p:sp>
      <p:sp>
        <p:nvSpPr>
          <p:cNvPr id="316" name="Google Shape;316;g38c1a336e4e_0_0"/>
          <p:cNvSpPr/>
          <p:nvPr/>
        </p:nvSpPr>
        <p:spPr>
          <a:xfrm>
            <a:off x="5827589" y="7487758"/>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Supplemental Nutrition Assistance Program (SNAP)</a:t>
            </a:r>
            <a:endParaRPr sz="1812" b="0" i="0" u="none" strike="noStrike" cap="none">
              <a:solidFill>
                <a:srgbClr val="001C84"/>
              </a:solidFill>
              <a:latin typeface="Open Sans"/>
              <a:ea typeface="Open Sans"/>
              <a:cs typeface="Open Sans"/>
              <a:sym typeface="Open Sans"/>
            </a:endParaRPr>
          </a:p>
        </p:txBody>
      </p:sp>
      <p:sp>
        <p:nvSpPr>
          <p:cNvPr id="317" name="Google Shape;317;g38c1a336e4e_0_0"/>
          <p:cNvSpPr/>
          <p:nvPr/>
        </p:nvSpPr>
        <p:spPr>
          <a:xfrm>
            <a:off x="10470503" y="3508134"/>
            <a:ext cx="1989900" cy="56376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a:solidFill>
                  <a:srgbClr val="001C84"/>
                </a:solidFill>
                <a:latin typeface="Open Sans"/>
                <a:ea typeface="Open Sans"/>
                <a:cs typeface="Open Sans"/>
                <a:sym typeface="Open Sans"/>
              </a:rPr>
              <a:t>Integrated Data System (IDS) with p</a:t>
            </a:r>
            <a:r>
              <a:rPr lang="en-US" sz="1812" b="0" i="0" u="none" strike="noStrike" cap="none">
                <a:solidFill>
                  <a:srgbClr val="001C84"/>
                </a:solidFill>
                <a:latin typeface="Open Sans"/>
                <a:ea typeface="Open Sans"/>
                <a:cs typeface="Open Sans"/>
                <a:sym typeface="Open Sans"/>
              </a:rPr>
              <a:t>erson-event</a:t>
            </a:r>
            <a:r>
              <a:rPr lang="en-US" sz="1812">
                <a:solidFill>
                  <a:srgbClr val="001C84"/>
                </a:solidFill>
                <a:latin typeface="Open Sans"/>
                <a:ea typeface="Open Sans"/>
                <a:cs typeface="Open Sans"/>
                <a:sym typeface="Open Sans"/>
              </a:rPr>
              <a:t> level data</a:t>
            </a:r>
            <a:endParaRPr sz="1812" b="0" i="0" u="none" strike="noStrike" cap="none">
              <a:solidFill>
                <a:srgbClr val="001C84"/>
              </a:solidFill>
              <a:latin typeface="Open Sans"/>
              <a:ea typeface="Open Sans"/>
              <a:cs typeface="Open Sans"/>
              <a:sym typeface="Open Sans"/>
            </a:endParaRPr>
          </a:p>
        </p:txBody>
      </p:sp>
      <p:cxnSp>
        <p:nvCxnSpPr>
          <p:cNvPr id="318" name="Google Shape;318;g38c1a336e4e_0_0"/>
          <p:cNvCxnSpPr>
            <a:stCxn id="311" idx="3"/>
            <a:endCxn id="314" idx="1"/>
          </p:cNvCxnSpPr>
          <p:nvPr/>
        </p:nvCxnSpPr>
        <p:spPr>
          <a:xfrm>
            <a:off x="3174575" y="4337184"/>
            <a:ext cx="2652900" cy="0"/>
          </a:xfrm>
          <a:prstGeom prst="straightConnector1">
            <a:avLst/>
          </a:prstGeom>
          <a:noFill/>
          <a:ln w="46075" cap="flat" cmpd="sng">
            <a:solidFill>
              <a:srgbClr val="001C84"/>
            </a:solidFill>
            <a:prstDash val="dot"/>
            <a:round/>
            <a:headEnd type="none" w="sm" len="sm"/>
            <a:tailEnd type="triangle" w="lg" len="lg"/>
          </a:ln>
        </p:spPr>
      </p:cxnSp>
      <p:cxnSp>
        <p:nvCxnSpPr>
          <p:cNvPr id="319" name="Google Shape;319;g38c1a336e4e_0_0"/>
          <p:cNvCxnSpPr>
            <a:stCxn id="312" idx="3"/>
            <a:endCxn id="315" idx="1"/>
          </p:cNvCxnSpPr>
          <p:nvPr/>
        </p:nvCxnSpPr>
        <p:spPr>
          <a:xfrm>
            <a:off x="3174575" y="6326996"/>
            <a:ext cx="2652900" cy="0"/>
          </a:xfrm>
          <a:prstGeom prst="straightConnector1">
            <a:avLst/>
          </a:prstGeom>
          <a:noFill/>
          <a:ln w="38350" cap="flat" cmpd="sng">
            <a:solidFill>
              <a:srgbClr val="001C84"/>
            </a:solidFill>
            <a:prstDash val="solid"/>
            <a:round/>
            <a:headEnd type="none" w="sm" len="sm"/>
            <a:tailEnd type="triangle" w="lg" len="lg"/>
          </a:ln>
        </p:spPr>
      </p:cxnSp>
      <p:cxnSp>
        <p:nvCxnSpPr>
          <p:cNvPr id="320" name="Google Shape;320;g38c1a336e4e_0_0"/>
          <p:cNvCxnSpPr>
            <a:stCxn id="313" idx="3"/>
            <a:endCxn id="316" idx="1"/>
          </p:cNvCxnSpPr>
          <p:nvPr/>
        </p:nvCxnSpPr>
        <p:spPr>
          <a:xfrm>
            <a:off x="3174575" y="8316808"/>
            <a:ext cx="2652900" cy="0"/>
          </a:xfrm>
          <a:prstGeom prst="straightConnector1">
            <a:avLst/>
          </a:prstGeom>
          <a:noFill/>
          <a:ln w="46075" cap="flat" cmpd="sng">
            <a:solidFill>
              <a:srgbClr val="001C84"/>
            </a:solidFill>
            <a:prstDash val="dot"/>
            <a:round/>
            <a:headEnd type="none" w="sm" len="sm"/>
            <a:tailEnd type="triangle" w="lg" len="lg"/>
          </a:ln>
        </p:spPr>
      </p:cxnSp>
      <p:sp>
        <p:nvSpPr>
          <p:cNvPr id="321" name="Google Shape;321;g38c1a336e4e_0_0"/>
          <p:cNvSpPr/>
          <p:nvPr/>
        </p:nvSpPr>
        <p:spPr>
          <a:xfrm>
            <a:off x="8314867" y="4337405"/>
            <a:ext cx="1658100" cy="3813900"/>
          </a:xfrm>
          <a:prstGeom prst="roundRect">
            <a:avLst>
              <a:gd name="adj" fmla="val 16667"/>
            </a:avLst>
          </a:prstGeom>
          <a:solidFill>
            <a:srgbClr val="FFDC5D">
              <a:alpha val="41568"/>
            </a:srgbClr>
          </a:solidFill>
          <a:ln>
            <a:noFill/>
          </a:ln>
        </p:spPr>
        <p:txBody>
          <a:bodyPr spcFirstLastPara="1" wrap="square" lIns="82850" tIns="82850" rIns="82850" bIns="82850"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dirty="0">
                <a:solidFill>
                  <a:srgbClr val="001C84"/>
                </a:solidFill>
                <a:latin typeface="Open Sans"/>
                <a:ea typeface="Open Sans"/>
                <a:cs typeface="Open Sans"/>
                <a:sym typeface="Open Sans"/>
              </a:rPr>
              <a:t>Link records using</a:t>
            </a:r>
            <a:r>
              <a:rPr lang="en-US" sz="1812" dirty="0">
                <a:solidFill>
                  <a:srgbClr val="001C84"/>
                </a:solidFill>
                <a:latin typeface="Open Sans"/>
                <a:ea typeface="Open Sans"/>
                <a:cs typeface="Open Sans"/>
                <a:sym typeface="Open Sans"/>
              </a:rPr>
              <a:t> </a:t>
            </a:r>
            <a:r>
              <a:rPr lang="en-US" sz="1812" b="1" dirty="0">
                <a:solidFill>
                  <a:srgbClr val="001C84"/>
                </a:solidFill>
                <a:latin typeface="Open Sans"/>
                <a:ea typeface="Open Sans"/>
                <a:cs typeface="Open Sans"/>
                <a:sym typeface="Open Sans"/>
              </a:rPr>
              <a:t>name </a:t>
            </a:r>
            <a:r>
              <a:rPr lang="en-US" sz="1812" dirty="0">
                <a:solidFill>
                  <a:srgbClr val="001C84"/>
                </a:solidFill>
                <a:latin typeface="Open Sans"/>
                <a:ea typeface="Open Sans"/>
                <a:cs typeface="Open Sans"/>
                <a:sym typeface="Open Sans"/>
              </a:rPr>
              <a:t>&amp; </a:t>
            </a:r>
            <a:r>
              <a:rPr lang="en-US" sz="1812" b="1" dirty="0">
                <a:solidFill>
                  <a:srgbClr val="001C84"/>
                </a:solidFill>
                <a:latin typeface="Open Sans"/>
                <a:ea typeface="Open Sans"/>
                <a:cs typeface="Open Sans"/>
                <a:sym typeface="Open Sans"/>
              </a:rPr>
              <a:t>date of birth</a:t>
            </a:r>
            <a:endParaRPr sz="1812" b="1" i="0" u="none" strike="noStrike" cap="none" dirty="0">
              <a:solidFill>
                <a:srgbClr val="001C84"/>
              </a:solidFill>
              <a:latin typeface="Open Sans"/>
              <a:ea typeface="Open Sans"/>
              <a:cs typeface="Open Sans"/>
              <a:sym typeface="Open Sans"/>
            </a:endParaRPr>
          </a:p>
        </p:txBody>
      </p:sp>
      <p:cxnSp>
        <p:nvCxnSpPr>
          <p:cNvPr id="322" name="Google Shape;322;g38c1a336e4e_0_0"/>
          <p:cNvCxnSpPr>
            <a:stCxn id="314" idx="3"/>
          </p:cNvCxnSpPr>
          <p:nvPr/>
        </p:nvCxnSpPr>
        <p:spPr>
          <a:xfrm>
            <a:off x="7817489" y="4337184"/>
            <a:ext cx="496800" cy="1845900"/>
          </a:xfrm>
          <a:prstGeom prst="straightConnector1">
            <a:avLst/>
          </a:prstGeom>
          <a:noFill/>
          <a:ln w="46075" cap="flat" cmpd="sng">
            <a:solidFill>
              <a:srgbClr val="001C84"/>
            </a:solidFill>
            <a:prstDash val="solid"/>
            <a:round/>
            <a:headEnd type="none" w="sm" len="sm"/>
            <a:tailEnd type="triangle" w="med" len="med"/>
          </a:ln>
        </p:spPr>
      </p:cxnSp>
      <p:cxnSp>
        <p:nvCxnSpPr>
          <p:cNvPr id="323" name="Google Shape;323;g38c1a336e4e_0_0"/>
          <p:cNvCxnSpPr>
            <a:stCxn id="315" idx="3"/>
            <a:endCxn id="321" idx="1"/>
          </p:cNvCxnSpPr>
          <p:nvPr/>
        </p:nvCxnSpPr>
        <p:spPr>
          <a:xfrm rot="10800000" flipH="1">
            <a:off x="7817489" y="6244496"/>
            <a:ext cx="497400" cy="82500"/>
          </a:xfrm>
          <a:prstGeom prst="straightConnector1">
            <a:avLst/>
          </a:prstGeom>
          <a:noFill/>
          <a:ln w="46075" cap="flat" cmpd="sng">
            <a:solidFill>
              <a:srgbClr val="001C84"/>
            </a:solidFill>
            <a:prstDash val="solid"/>
            <a:round/>
            <a:headEnd type="none" w="sm" len="sm"/>
            <a:tailEnd type="triangle" w="med" len="med"/>
          </a:ln>
        </p:spPr>
      </p:cxnSp>
      <p:cxnSp>
        <p:nvCxnSpPr>
          <p:cNvPr id="324" name="Google Shape;324;g38c1a336e4e_0_0"/>
          <p:cNvCxnSpPr>
            <a:stCxn id="316" idx="3"/>
          </p:cNvCxnSpPr>
          <p:nvPr/>
        </p:nvCxnSpPr>
        <p:spPr>
          <a:xfrm rot="10800000" flipH="1">
            <a:off x="7817489" y="6470908"/>
            <a:ext cx="496800" cy="1845900"/>
          </a:xfrm>
          <a:prstGeom prst="straightConnector1">
            <a:avLst/>
          </a:prstGeom>
          <a:noFill/>
          <a:ln w="46075" cap="flat" cmpd="sng">
            <a:solidFill>
              <a:srgbClr val="001C84"/>
            </a:solidFill>
            <a:prstDash val="solid"/>
            <a:round/>
            <a:headEnd type="none" w="sm" len="sm"/>
            <a:tailEnd type="triangle" w="med" len="med"/>
          </a:ln>
        </p:spPr>
      </p:cxnSp>
      <p:cxnSp>
        <p:nvCxnSpPr>
          <p:cNvPr id="325" name="Google Shape;325;g38c1a336e4e_0_0"/>
          <p:cNvCxnSpPr>
            <a:stCxn id="321" idx="3"/>
            <a:endCxn id="317" idx="1"/>
          </p:cNvCxnSpPr>
          <p:nvPr/>
        </p:nvCxnSpPr>
        <p:spPr>
          <a:xfrm>
            <a:off x="9972967" y="6244355"/>
            <a:ext cx="497400" cy="82500"/>
          </a:xfrm>
          <a:prstGeom prst="straightConnector1">
            <a:avLst/>
          </a:prstGeom>
          <a:noFill/>
          <a:ln w="46075" cap="flat" cmpd="sng">
            <a:solidFill>
              <a:srgbClr val="001C84"/>
            </a:solidFill>
            <a:prstDash val="solid"/>
            <a:round/>
            <a:headEnd type="none" w="sm" len="sm"/>
            <a:tailEnd type="triangle" w="lg" len="lg"/>
          </a:ln>
        </p:spPr>
      </p:cxnSp>
      <p:sp>
        <p:nvSpPr>
          <p:cNvPr id="326" name="Google Shape;326;g38c1a336e4e_0_0"/>
          <p:cNvSpPr/>
          <p:nvPr/>
        </p:nvSpPr>
        <p:spPr>
          <a:xfrm>
            <a:off x="12957779" y="4503040"/>
            <a:ext cx="1658100" cy="3648300"/>
          </a:xfrm>
          <a:prstGeom prst="roundRect">
            <a:avLst>
              <a:gd name="adj" fmla="val 16667"/>
            </a:avLst>
          </a:prstGeom>
          <a:solidFill>
            <a:srgbClr val="FFDC5D">
              <a:alpha val="41568"/>
            </a:srgbClr>
          </a:solidFill>
          <a:ln>
            <a:noFill/>
          </a:ln>
        </p:spPr>
        <p:txBody>
          <a:bodyPr spcFirstLastPara="1" wrap="square" lIns="82850" tIns="82850" rIns="82850" bIns="82850"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Standardize race, ethnicity, &amp; gender variables</a:t>
            </a:r>
            <a:endParaRPr sz="1812" b="0" i="0" u="none" strike="noStrike" cap="none">
              <a:solidFill>
                <a:srgbClr val="001C84"/>
              </a:solidFill>
              <a:latin typeface="Open Sans"/>
              <a:ea typeface="Open Sans"/>
              <a:cs typeface="Open Sans"/>
              <a:sym typeface="Open Sans"/>
            </a:endParaRPr>
          </a:p>
        </p:txBody>
      </p:sp>
      <p:cxnSp>
        <p:nvCxnSpPr>
          <p:cNvPr id="327" name="Google Shape;327;g38c1a336e4e_0_0"/>
          <p:cNvCxnSpPr>
            <a:stCxn id="317" idx="3"/>
            <a:endCxn id="326" idx="1"/>
          </p:cNvCxnSpPr>
          <p:nvPr/>
        </p:nvCxnSpPr>
        <p:spPr>
          <a:xfrm>
            <a:off x="12460403" y="6326934"/>
            <a:ext cx="497400" cy="300"/>
          </a:xfrm>
          <a:prstGeom prst="straightConnector1">
            <a:avLst/>
          </a:prstGeom>
          <a:noFill/>
          <a:ln w="46075" cap="flat" cmpd="sng">
            <a:solidFill>
              <a:srgbClr val="001C84"/>
            </a:solidFill>
            <a:prstDash val="solid"/>
            <a:round/>
            <a:headEnd type="none" w="sm" len="sm"/>
            <a:tailEnd type="triangle" w="lg" len="lg"/>
          </a:ln>
        </p:spPr>
      </p:cxnSp>
      <p:sp>
        <p:nvSpPr>
          <p:cNvPr id="328" name="Google Shape;328;g38c1a336e4e_0_0"/>
          <p:cNvSpPr/>
          <p:nvPr/>
        </p:nvSpPr>
        <p:spPr>
          <a:xfrm>
            <a:off x="15113418" y="3508134"/>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Race options</a:t>
            </a:r>
            <a:endParaRPr sz="1812" b="0" i="0" u="none" strike="noStrike" cap="none">
              <a:solidFill>
                <a:srgbClr val="001C84"/>
              </a:solidFill>
              <a:latin typeface="Open Sans"/>
              <a:ea typeface="Open Sans"/>
              <a:cs typeface="Open Sans"/>
              <a:sym typeface="Open Sans"/>
            </a:endParaRPr>
          </a:p>
        </p:txBody>
      </p:sp>
      <p:sp>
        <p:nvSpPr>
          <p:cNvPr id="329" name="Google Shape;329;g38c1a336e4e_0_0"/>
          <p:cNvSpPr/>
          <p:nvPr/>
        </p:nvSpPr>
        <p:spPr>
          <a:xfrm>
            <a:off x="15113418" y="5497946"/>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Ethnicity options</a:t>
            </a:r>
            <a:endParaRPr sz="1812" b="0" i="0" u="none" strike="noStrike" cap="none">
              <a:solidFill>
                <a:srgbClr val="001C84"/>
              </a:solidFill>
              <a:latin typeface="Open Sans"/>
              <a:ea typeface="Open Sans"/>
              <a:cs typeface="Open Sans"/>
              <a:sym typeface="Open Sans"/>
            </a:endParaRPr>
          </a:p>
        </p:txBody>
      </p:sp>
      <p:sp>
        <p:nvSpPr>
          <p:cNvPr id="330" name="Google Shape;330;g38c1a336e4e_0_0"/>
          <p:cNvSpPr/>
          <p:nvPr/>
        </p:nvSpPr>
        <p:spPr>
          <a:xfrm>
            <a:off x="15113418" y="7487758"/>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Gender options</a:t>
            </a:r>
            <a:endParaRPr sz="1812" b="0" i="0" u="none" strike="noStrike" cap="none">
              <a:solidFill>
                <a:srgbClr val="001C84"/>
              </a:solidFill>
              <a:latin typeface="Open Sans"/>
              <a:ea typeface="Open Sans"/>
              <a:cs typeface="Open Sans"/>
              <a:sym typeface="Open Sans"/>
            </a:endParaRPr>
          </a:p>
        </p:txBody>
      </p:sp>
      <p:cxnSp>
        <p:nvCxnSpPr>
          <p:cNvPr id="331" name="Google Shape;331;g38c1a336e4e_0_0"/>
          <p:cNvCxnSpPr>
            <a:stCxn id="326" idx="3"/>
            <a:endCxn id="329" idx="1"/>
          </p:cNvCxnSpPr>
          <p:nvPr/>
        </p:nvCxnSpPr>
        <p:spPr>
          <a:xfrm rot="10800000" flipH="1">
            <a:off x="14615879" y="6326890"/>
            <a:ext cx="497400" cy="300"/>
          </a:xfrm>
          <a:prstGeom prst="straightConnector1">
            <a:avLst/>
          </a:prstGeom>
          <a:noFill/>
          <a:ln w="46075" cap="flat" cmpd="sng">
            <a:solidFill>
              <a:srgbClr val="001C84"/>
            </a:solidFill>
            <a:prstDash val="solid"/>
            <a:round/>
            <a:headEnd type="none" w="sm" len="sm"/>
            <a:tailEnd type="triangle" w="lg" len="lg"/>
          </a:ln>
        </p:spPr>
      </p:cxnSp>
      <p:cxnSp>
        <p:nvCxnSpPr>
          <p:cNvPr id="332" name="Google Shape;332;g38c1a336e4e_0_0"/>
          <p:cNvCxnSpPr>
            <a:stCxn id="326" idx="3"/>
            <a:endCxn id="330" idx="1"/>
          </p:cNvCxnSpPr>
          <p:nvPr/>
        </p:nvCxnSpPr>
        <p:spPr>
          <a:xfrm>
            <a:off x="14615879" y="6327190"/>
            <a:ext cx="497400" cy="1989600"/>
          </a:xfrm>
          <a:prstGeom prst="straightConnector1">
            <a:avLst/>
          </a:prstGeom>
          <a:noFill/>
          <a:ln w="46075" cap="flat" cmpd="sng">
            <a:solidFill>
              <a:srgbClr val="001C84"/>
            </a:solidFill>
            <a:prstDash val="solid"/>
            <a:round/>
            <a:headEnd type="none" w="sm" len="sm"/>
            <a:tailEnd type="triangle" w="lg" len="lg"/>
          </a:ln>
        </p:spPr>
      </p:cxnSp>
      <p:cxnSp>
        <p:nvCxnSpPr>
          <p:cNvPr id="333" name="Google Shape;333;g38c1a336e4e_0_0"/>
          <p:cNvCxnSpPr>
            <a:stCxn id="326" idx="3"/>
            <a:endCxn id="328" idx="1"/>
          </p:cNvCxnSpPr>
          <p:nvPr/>
        </p:nvCxnSpPr>
        <p:spPr>
          <a:xfrm rot="10800000" flipH="1">
            <a:off x="14615879" y="4337290"/>
            <a:ext cx="497400" cy="1989900"/>
          </a:xfrm>
          <a:prstGeom prst="straightConnector1">
            <a:avLst/>
          </a:prstGeom>
          <a:noFill/>
          <a:ln w="46075" cap="flat" cmpd="sng">
            <a:solidFill>
              <a:srgbClr val="001C84"/>
            </a:solidFill>
            <a:prstDash val="solid"/>
            <a:round/>
            <a:headEnd type="none" w="sm" len="sm"/>
            <a:tailEnd type="triangle" w="lg" len="lg"/>
          </a:ln>
        </p:spPr>
      </p:cxnSp>
      <p:sp>
        <p:nvSpPr>
          <p:cNvPr id="334" name="Google Shape;334;g38c1a336e4e_0_0"/>
          <p:cNvSpPr txBox="1"/>
          <p:nvPr/>
        </p:nvSpPr>
        <p:spPr>
          <a:xfrm>
            <a:off x="13296125" y="9769300"/>
            <a:ext cx="4482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800" b="0" i="0" u="none" strike="noStrike" cap="none" dirty="0">
                <a:solidFill>
                  <a:srgbClr val="001C84"/>
                </a:solidFill>
                <a:latin typeface="Open Sans"/>
                <a:ea typeface="Open Sans"/>
                <a:cs typeface="Open Sans"/>
                <a:sym typeface="Open Sans"/>
              </a:rPr>
              <a:t>Table adapted from Shaw et al. (2022)</a:t>
            </a:r>
            <a:endParaRPr sz="1800" b="0" i="0" u="none" strike="noStrike" cap="none" dirty="0">
              <a:solidFill>
                <a:srgbClr val="001C84"/>
              </a:solidFill>
              <a:latin typeface="Open Sans"/>
              <a:ea typeface="Open Sans"/>
              <a:cs typeface="Open Sans"/>
              <a:sym typeface="Open Sans"/>
            </a:endParaRPr>
          </a:p>
        </p:txBody>
      </p:sp>
      <p:pic>
        <p:nvPicPr>
          <p:cNvPr id="4" name="Audio 3">
            <a:extLst>
              <a:ext uri="{FF2B5EF4-FFF2-40B4-BE49-F238E27FC236}">
                <a16:creationId xmlns:a16="http://schemas.microsoft.com/office/drawing/2014/main" id="{8E9FA276-3784-C615-52DF-000E12F0D89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40122"/>
    </mc:Choice>
    <mc:Fallback xmlns="">
      <p:transition spd="slow" advTm="14012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g3458c59eaca_0_102"/>
          <p:cNvSpPr txBox="1"/>
          <p:nvPr/>
        </p:nvSpPr>
        <p:spPr>
          <a:xfrm>
            <a:off x="606286" y="378105"/>
            <a:ext cx="15624313" cy="1490452"/>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4800" b="1" i="0" u="none" strike="noStrike" cap="none" dirty="0">
                <a:solidFill>
                  <a:srgbClr val="001C84"/>
                </a:solidFill>
                <a:latin typeface="Open Sans" panose="020B0606030504020204" pitchFamily="34" charset="0"/>
                <a:ea typeface="Open Sans" panose="020B0606030504020204" pitchFamily="34" charset="0"/>
                <a:cs typeface="Open Sans" panose="020B0606030504020204" pitchFamily="34" charset="0"/>
                <a:sym typeface="Calibri"/>
              </a:rPr>
              <a:t>Eliciting Experiential Knowledge: Data Chats to Learn About How Data is Generated</a:t>
            </a:r>
            <a:endParaRPr sz="100" b="0" i="0" u="none" strike="noStrike" cap="none" dirty="0">
              <a:solidFill>
                <a:srgbClr val="000000"/>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340" name="Google Shape;340;g3458c59eaca_0_102"/>
          <p:cNvSpPr txBox="1"/>
          <p:nvPr/>
        </p:nvSpPr>
        <p:spPr>
          <a:xfrm>
            <a:off x="379292" y="2273975"/>
            <a:ext cx="10463008" cy="7474800"/>
          </a:xfrm>
          <a:prstGeom prst="rect">
            <a:avLst/>
          </a:prstGeom>
          <a:noFill/>
          <a:ln>
            <a:noFill/>
          </a:ln>
        </p:spPr>
        <p:txBody>
          <a:bodyPr spcFirstLastPara="1" wrap="square" lIns="0" tIns="0" rIns="0" bIns="0" anchor="t" anchorCtr="0">
            <a:noAutofit/>
          </a:bodyPr>
          <a:lstStyle/>
          <a:p>
            <a:pPr marL="872494" marR="0" lvl="1" indent="-457200" algn="l" rtl="0">
              <a:lnSpc>
                <a:spcPct val="115000"/>
              </a:lnSpc>
              <a:spcBef>
                <a:spcPts val="0"/>
              </a:spcBef>
              <a:spcAft>
                <a:spcPts val="0"/>
              </a:spcAft>
              <a:buClr>
                <a:srgbClr val="000000"/>
              </a:buClr>
              <a:buSzPct val="100000"/>
              <a:buFont typeface="Arial" panose="020B0604020202020204" pitchFamily="34" charset="0"/>
              <a:buChar char="•"/>
            </a:pPr>
            <a:r>
              <a:rPr lang="en-US" sz="2900" b="1" dirty="0">
                <a:solidFill>
                  <a:srgbClr val="001B83"/>
                </a:solidFill>
                <a:latin typeface="Open Sans"/>
                <a:ea typeface="Open Sans"/>
                <a:cs typeface="Open Sans"/>
                <a:sym typeface="Open Sans"/>
              </a:rPr>
              <a:t>Data Chat</a:t>
            </a:r>
            <a:r>
              <a:rPr lang="en-US" sz="2900" dirty="0">
                <a:latin typeface="Open Sans"/>
                <a:ea typeface="Open Sans"/>
                <a:cs typeface="Open Sans"/>
                <a:sym typeface="Open Sans"/>
              </a:rPr>
              <a:t>:</a:t>
            </a:r>
            <a:r>
              <a:rPr lang="en-US" sz="2900" b="1" dirty="0">
                <a:latin typeface="Open Sans"/>
                <a:ea typeface="Open Sans"/>
                <a:cs typeface="Open Sans"/>
                <a:sym typeface="Open Sans"/>
              </a:rPr>
              <a:t> </a:t>
            </a:r>
            <a:endParaRPr sz="2900" b="1" dirty="0">
              <a:latin typeface="Open Sans"/>
              <a:ea typeface="Open Sans"/>
              <a:cs typeface="Open Sans"/>
              <a:sym typeface="Open Sans"/>
            </a:endParaRPr>
          </a:p>
          <a:p>
            <a:pPr marL="1466850" marR="0" lvl="2" indent="-457200" algn="l" rtl="0">
              <a:lnSpc>
                <a:spcPct val="115000"/>
              </a:lnSpc>
              <a:spcBef>
                <a:spcPts val="0"/>
              </a:spcBef>
              <a:spcAft>
                <a:spcPts val="0"/>
              </a:spcAft>
              <a:buClr>
                <a:srgbClr val="000000"/>
              </a:buClr>
              <a:buSzPct val="100000"/>
              <a:buFont typeface="Arial" panose="020B0604020202020204" pitchFamily="34" charset="0"/>
              <a:buChar char="•"/>
            </a:pPr>
            <a:r>
              <a:rPr lang="en-US" sz="2900" dirty="0">
                <a:latin typeface="Open Sans"/>
                <a:ea typeface="Open Sans"/>
                <a:cs typeface="Open Sans"/>
                <a:sym typeface="Open Sans"/>
              </a:rPr>
              <a:t>A method of leveraging experiential knowledge where researcher and people with lived experience share and discuss data </a:t>
            </a:r>
            <a:endParaRPr sz="2900" dirty="0">
              <a:latin typeface="Open Sans"/>
              <a:ea typeface="Open Sans"/>
              <a:cs typeface="Open Sans"/>
              <a:sym typeface="Open Sans"/>
            </a:endParaRPr>
          </a:p>
          <a:p>
            <a:pPr marL="1416050" marR="0" lvl="2" indent="-457200" algn="l" rtl="0">
              <a:lnSpc>
                <a:spcPct val="115000"/>
              </a:lnSpc>
              <a:spcBef>
                <a:spcPts val="0"/>
              </a:spcBef>
              <a:spcAft>
                <a:spcPts val="0"/>
              </a:spcAft>
              <a:buSzPts val="2900"/>
              <a:buFont typeface="Arial" panose="020B0604020202020204" pitchFamily="34" charset="0"/>
              <a:buChar char="•"/>
            </a:pPr>
            <a:r>
              <a:rPr lang="en-US" sz="2900" dirty="0">
                <a:latin typeface="Open Sans"/>
                <a:ea typeface="Open Sans"/>
                <a:cs typeface="Open Sans"/>
                <a:sym typeface="Open Sans"/>
              </a:rPr>
              <a:t>Rooted in the FAIR2 framework</a:t>
            </a:r>
            <a:r>
              <a:rPr lang="en-US" sz="2900" baseline="30000" dirty="0">
                <a:latin typeface="Open Sans"/>
                <a:ea typeface="Open Sans"/>
                <a:cs typeface="Open Sans"/>
                <a:sym typeface="Open Sans"/>
              </a:rPr>
              <a:t> </a:t>
            </a:r>
            <a:r>
              <a:rPr lang="en-US" sz="2900" dirty="0">
                <a:latin typeface="Open Sans"/>
                <a:ea typeface="Open Sans"/>
                <a:cs typeface="Open Sans"/>
                <a:sym typeface="Open Sans"/>
              </a:rPr>
              <a:t>for identifying bias in social data science (Richter et al., 2023)</a:t>
            </a:r>
            <a:endParaRPr sz="2900" dirty="0">
              <a:latin typeface="Open Sans"/>
              <a:ea typeface="Open Sans"/>
              <a:cs typeface="Open Sans"/>
              <a:sym typeface="Open Sans"/>
            </a:endParaRPr>
          </a:p>
          <a:p>
            <a:pPr marL="958850" marR="0" lvl="1" indent="-457200" algn="l" rtl="0">
              <a:lnSpc>
                <a:spcPct val="115000"/>
              </a:lnSpc>
              <a:spcBef>
                <a:spcPts val="0"/>
              </a:spcBef>
              <a:spcAft>
                <a:spcPts val="0"/>
              </a:spcAft>
              <a:buClr>
                <a:srgbClr val="000000"/>
              </a:buClr>
              <a:buSzPts val="2900"/>
              <a:buFont typeface="Arial" panose="020B0604020202020204" pitchFamily="34" charset="0"/>
              <a:buChar char="•"/>
            </a:pPr>
            <a:r>
              <a:rPr lang="en-US" sz="2900" dirty="0">
                <a:latin typeface="Open Sans"/>
                <a:ea typeface="Open Sans"/>
                <a:cs typeface="Open Sans"/>
                <a:sym typeface="Open Sans"/>
              </a:rPr>
              <a:t>We held two Data Chats in </a:t>
            </a:r>
            <a:r>
              <a:rPr lang="en-US" sz="2900" b="1" dirty="0">
                <a:solidFill>
                  <a:srgbClr val="001B83"/>
                </a:solidFill>
                <a:latin typeface="Open Sans"/>
                <a:ea typeface="Open Sans"/>
                <a:cs typeface="Open Sans"/>
                <a:sym typeface="Open Sans"/>
              </a:rPr>
              <a:t>Cleveland, OH</a:t>
            </a:r>
            <a:r>
              <a:rPr lang="en-US" sz="2900" dirty="0">
                <a:latin typeface="Open Sans"/>
                <a:ea typeface="Open Sans"/>
                <a:cs typeface="Open Sans"/>
                <a:sym typeface="Open Sans"/>
              </a:rPr>
              <a:t>, on </a:t>
            </a:r>
            <a:r>
              <a:rPr lang="en-US" sz="2900" b="1" dirty="0">
                <a:solidFill>
                  <a:srgbClr val="001B83"/>
                </a:solidFill>
                <a:latin typeface="Open Sans"/>
                <a:ea typeface="Open Sans"/>
                <a:cs typeface="Open Sans"/>
                <a:sym typeface="Open Sans"/>
              </a:rPr>
              <a:t>demographic data collection in homeless services</a:t>
            </a:r>
            <a:r>
              <a:rPr lang="en-US" sz="2900" b="1" dirty="0">
                <a:latin typeface="Open Sans"/>
                <a:ea typeface="Open Sans"/>
                <a:cs typeface="Open Sans"/>
                <a:sym typeface="Open Sans"/>
              </a:rPr>
              <a:t> </a:t>
            </a:r>
            <a:r>
              <a:rPr lang="en-US" sz="2900" dirty="0">
                <a:latin typeface="Open Sans"/>
                <a:ea typeface="Open Sans"/>
                <a:cs typeface="Open Sans"/>
                <a:sym typeface="Open Sans"/>
              </a:rPr>
              <a:t>and other administrative systems</a:t>
            </a:r>
            <a:endParaRPr sz="2900" dirty="0">
              <a:latin typeface="Open Sans"/>
              <a:ea typeface="Open Sans"/>
              <a:cs typeface="Open Sans"/>
              <a:sym typeface="Open Sans"/>
            </a:endParaRPr>
          </a:p>
          <a:p>
            <a:pPr marL="1416050" marR="0" lvl="2" indent="-457200" algn="l" rtl="0">
              <a:lnSpc>
                <a:spcPct val="115000"/>
              </a:lnSpc>
              <a:spcBef>
                <a:spcPts val="0"/>
              </a:spcBef>
              <a:spcAft>
                <a:spcPts val="0"/>
              </a:spcAft>
              <a:buSzPts val="2900"/>
              <a:buFont typeface="Arial" panose="020B0604020202020204" pitchFamily="34" charset="0"/>
              <a:buChar char="•"/>
            </a:pPr>
            <a:r>
              <a:rPr lang="en-US" sz="2900" dirty="0">
                <a:latin typeface="Open Sans"/>
                <a:ea typeface="Open Sans"/>
                <a:cs typeface="Open Sans"/>
                <a:sym typeface="Open Sans"/>
              </a:rPr>
              <a:t>Participants were recruited through flyers at community organizations</a:t>
            </a:r>
            <a:endParaRPr sz="2900" dirty="0">
              <a:latin typeface="Open Sans"/>
              <a:ea typeface="Open Sans"/>
              <a:cs typeface="Open Sans"/>
              <a:sym typeface="Open Sans"/>
            </a:endParaRPr>
          </a:p>
          <a:p>
            <a:pPr marL="1416050" marR="0" lvl="2" indent="-457200" algn="l" rtl="0">
              <a:lnSpc>
                <a:spcPct val="115000"/>
              </a:lnSpc>
              <a:spcBef>
                <a:spcPts val="0"/>
              </a:spcBef>
              <a:spcAft>
                <a:spcPts val="0"/>
              </a:spcAft>
              <a:buSzPts val="2900"/>
              <a:buFont typeface="Arial" panose="020B0604020202020204" pitchFamily="34" charset="0"/>
              <a:buChar char="•"/>
            </a:pPr>
            <a:r>
              <a:rPr lang="en-US" sz="2900" dirty="0">
                <a:latin typeface="Open Sans"/>
                <a:ea typeface="Open Sans"/>
                <a:cs typeface="Open Sans"/>
                <a:sym typeface="Open Sans"/>
              </a:rPr>
              <a:t>Participants were </a:t>
            </a:r>
            <a:r>
              <a:rPr lang="en-US" sz="2900" b="1" dirty="0">
                <a:solidFill>
                  <a:srgbClr val="001B83"/>
                </a:solidFill>
                <a:latin typeface="Open Sans"/>
                <a:ea typeface="Open Sans"/>
                <a:cs typeface="Open Sans"/>
                <a:sym typeface="Open Sans"/>
              </a:rPr>
              <a:t>young adults with lived experience of homelessness</a:t>
            </a:r>
          </a:p>
          <a:p>
            <a:pPr marL="1416050" marR="0" lvl="2" indent="-457200" algn="l" rtl="0">
              <a:lnSpc>
                <a:spcPct val="115000"/>
              </a:lnSpc>
              <a:spcBef>
                <a:spcPts val="0"/>
              </a:spcBef>
              <a:spcAft>
                <a:spcPts val="0"/>
              </a:spcAft>
              <a:buClr>
                <a:schemeClr val="tx1"/>
              </a:buClr>
              <a:buSzPts val="2900"/>
              <a:buFont typeface="Arial" panose="020B0604020202020204" pitchFamily="34" charset="0"/>
              <a:buChar char="•"/>
            </a:pPr>
            <a:r>
              <a:rPr lang="en-US" sz="2900" dirty="0">
                <a:latin typeface="Open Sans"/>
                <a:ea typeface="Open Sans"/>
                <a:cs typeface="Open Sans"/>
                <a:sym typeface="Open Sans"/>
              </a:rPr>
              <a:t>We share the data discussed followed by participants’ insights</a:t>
            </a:r>
            <a:endParaRPr sz="2900" dirty="0">
              <a:latin typeface="Open Sans"/>
              <a:ea typeface="Open Sans"/>
              <a:cs typeface="Open Sans"/>
              <a:sym typeface="Open Sans"/>
            </a:endParaRPr>
          </a:p>
        </p:txBody>
      </p:sp>
      <p:pic>
        <p:nvPicPr>
          <p:cNvPr id="341" name="Google Shape;341;g3458c59eaca_0_102"/>
          <p:cNvPicPr preferRelativeResize="0"/>
          <p:nvPr/>
        </p:nvPicPr>
        <p:blipFill rotWithShape="1">
          <a:blip r:embed="rId5">
            <a:alphaModFix/>
          </a:blip>
          <a:srcRect/>
          <a:stretch/>
        </p:blipFill>
        <p:spPr>
          <a:xfrm rot="253078">
            <a:off x="13999464" y="1788587"/>
            <a:ext cx="3624246" cy="5344192"/>
          </a:xfrm>
          <a:prstGeom prst="rect">
            <a:avLst/>
          </a:prstGeom>
          <a:noFill/>
          <a:ln>
            <a:noFill/>
          </a:ln>
        </p:spPr>
      </p:pic>
      <p:pic>
        <p:nvPicPr>
          <p:cNvPr id="342" name="Google Shape;342;g3458c59eaca_0_102"/>
          <p:cNvPicPr preferRelativeResize="0"/>
          <p:nvPr/>
        </p:nvPicPr>
        <p:blipFill rotWithShape="1">
          <a:blip r:embed="rId6">
            <a:alphaModFix/>
          </a:blip>
          <a:srcRect/>
          <a:stretch/>
        </p:blipFill>
        <p:spPr>
          <a:xfrm rot="-564965">
            <a:off x="11240112" y="3584198"/>
            <a:ext cx="3462424" cy="5199153"/>
          </a:xfrm>
          <a:prstGeom prst="rect">
            <a:avLst/>
          </a:prstGeom>
          <a:noFill/>
          <a:ln>
            <a:noFill/>
          </a:ln>
        </p:spPr>
      </p:pic>
      <p:pic>
        <p:nvPicPr>
          <p:cNvPr id="4" name="Audio 3">
            <a:extLst>
              <a:ext uri="{FF2B5EF4-FFF2-40B4-BE49-F238E27FC236}">
                <a16:creationId xmlns:a16="http://schemas.microsoft.com/office/drawing/2014/main" id="{12C2D5E6-9001-1D74-2431-8B2336EA872D}"/>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7859F092-D07A-307E-ECC5-FEB4551AA11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12</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54206"/>
    </mc:Choice>
    <mc:Fallback xmlns="">
      <p:transition spd="slow" advTm="5420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2"/>
          <p:cNvSpPr txBox="1">
            <a:spLocks noGrp="1"/>
          </p:cNvSpPr>
          <p:nvPr>
            <p:ph type="title"/>
          </p:nvPr>
        </p:nvSpPr>
        <p:spPr>
          <a:prstGeom prst="rect">
            <a:avLst/>
          </a:prstGeom>
          <a:noFill/>
          <a:ln>
            <a:noFill/>
          </a:ln>
        </p:spPr>
        <p:txBody>
          <a:bodyPr spcFirstLastPara="1" wrap="square" lIns="182850" tIns="182850" rIns="182850" bIns="182850" anchor="t" anchorCtr="0">
            <a:normAutofit fontScale="90000"/>
          </a:bodyPr>
          <a:lstStyle/>
          <a:p>
            <a:pPr marL="0" lvl="0" indent="0" algn="l" rtl="0">
              <a:lnSpc>
                <a:spcPct val="100000"/>
              </a:lnSpc>
              <a:spcBef>
                <a:spcPts val="0"/>
              </a:spcBef>
              <a:spcAft>
                <a:spcPts val="0"/>
              </a:spcAft>
              <a:buSzPct val="111111"/>
              <a:buNone/>
            </a:pPr>
            <a:r>
              <a:rPr lang="en-US" b="1" dirty="0">
                <a:solidFill>
                  <a:srgbClr val="001B83"/>
                </a:solidFill>
                <a:latin typeface="Open Sans"/>
                <a:ea typeface="Open Sans"/>
                <a:cs typeface="Open Sans"/>
                <a:sym typeface="Open Sans"/>
              </a:rPr>
              <a:t>What we shared with Data Chat participants</a:t>
            </a:r>
            <a:endParaRPr dirty="0">
              <a:solidFill>
                <a:srgbClr val="001B83"/>
              </a:solidFill>
            </a:endParaRPr>
          </a:p>
        </p:txBody>
      </p:sp>
      <p:sp>
        <p:nvSpPr>
          <p:cNvPr id="348" name="Google Shape;348;p2"/>
          <p:cNvSpPr txBox="1">
            <a:spLocks noGrp="1"/>
          </p:cNvSpPr>
          <p:nvPr>
            <p:ph type="body" idx="1"/>
          </p:nvPr>
        </p:nvSpPr>
        <p:spPr>
          <a:xfrm>
            <a:off x="837300" y="2429225"/>
            <a:ext cx="17041200" cy="7612200"/>
          </a:xfrm>
          <a:prstGeom prst="rect">
            <a:avLst/>
          </a:prstGeom>
          <a:noFill/>
          <a:ln>
            <a:noFill/>
          </a:ln>
        </p:spPr>
        <p:txBody>
          <a:bodyPr spcFirstLastPara="1" wrap="square" lIns="182850" tIns="182850" rIns="182850" bIns="182850" anchor="t" anchorCtr="0">
            <a:noAutofit/>
          </a:bodyPr>
          <a:lstStyle/>
          <a:p>
            <a:pPr marL="485775" lvl="0" algn="l" rtl="0">
              <a:lnSpc>
                <a:spcPct val="115000"/>
              </a:lnSpc>
              <a:spcBef>
                <a:spcPts val="1000"/>
              </a:spcBef>
              <a:spcAft>
                <a:spcPts val="0"/>
              </a:spcAft>
              <a:buClr>
                <a:schemeClr val="tx1"/>
              </a:buClr>
              <a:buSzPts val="3150"/>
              <a:buFont typeface="Arial" panose="020B0604020202020204" pitchFamily="34" charset="0"/>
              <a:buChar char="•"/>
            </a:pPr>
            <a:r>
              <a:rPr lang="en-US" sz="3150" b="1" dirty="0">
                <a:solidFill>
                  <a:srgbClr val="001B83"/>
                </a:solidFill>
                <a:latin typeface="Open Sans"/>
                <a:ea typeface="Open Sans"/>
                <a:cs typeface="Open Sans"/>
                <a:sym typeface="Open Sans"/>
              </a:rPr>
              <a:t>Summary statistics</a:t>
            </a:r>
            <a:r>
              <a:rPr lang="en-US" sz="3150" dirty="0">
                <a:solidFill>
                  <a:srgbClr val="001B83"/>
                </a:solidFill>
                <a:latin typeface="Open Sans"/>
                <a:ea typeface="Open Sans"/>
                <a:cs typeface="Open Sans"/>
                <a:sym typeface="Open Sans"/>
              </a:rPr>
              <a:t> </a:t>
            </a:r>
            <a:r>
              <a:rPr lang="en-US" sz="3150" dirty="0">
                <a:solidFill>
                  <a:schemeClr val="dk1"/>
                </a:solidFill>
                <a:latin typeface="Open Sans"/>
                <a:ea typeface="Open Sans"/>
                <a:cs typeface="Open Sans"/>
                <a:sym typeface="Open Sans"/>
              </a:rPr>
              <a:t>of data linked across three systems: </a:t>
            </a:r>
            <a:endParaRPr sz="3150" dirty="0">
              <a:solidFill>
                <a:schemeClr val="dk1"/>
              </a:solidFill>
              <a:latin typeface="Open Sans"/>
              <a:ea typeface="Open Sans"/>
              <a:cs typeface="Open Sans"/>
              <a:sym typeface="Open Sans"/>
            </a:endParaRPr>
          </a:p>
          <a:p>
            <a:pPr marL="942975" lvl="1" indent="-457200" algn="l" rtl="0">
              <a:lnSpc>
                <a:spcPct val="115000"/>
              </a:lnSpc>
              <a:spcBef>
                <a:spcPts val="1000"/>
              </a:spcBef>
              <a:spcAft>
                <a:spcPts val="0"/>
              </a:spcAft>
              <a:buClr>
                <a:schemeClr val="tx1"/>
              </a:buClr>
              <a:buSzPts val="3150"/>
              <a:buFont typeface="Arial" panose="020B0604020202020204" pitchFamily="34" charset="0"/>
              <a:buChar char="•"/>
            </a:pPr>
            <a:r>
              <a:rPr lang="en-US" sz="3150" dirty="0">
                <a:solidFill>
                  <a:schemeClr val="dk1"/>
                </a:solidFill>
                <a:latin typeface="Open Sans"/>
                <a:ea typeface="Open Sans"/>
                <a:cs typeface="Open Sans"/>
                <a:sym typeface="Open Sans"/>
              </a:rPr>
              <a:t>Homeless Management Information system (HMIS)</a:t>
            </a:r>
            <a:endParaRPr sz="3150" dirty="0">
              <a:solidFill>
                <a:schemeClr val="dk1"/>
              </a:solidFill>
              <a:latin typeface="Open Sans"/>
              <a:ea typeface="Open Sans"/>
              <a:cs typeface="Open Sans"/>
              <a:sym typeface="Open Sans"/>
            </a:endParaRPr>
          </a:p>
          <a:p>
            <a:pPr marL="942975" lvl="1" indent="-457200" algn="l" rtl="0">
              <a:lnSpc>
                <a:spcPct val="115000"/>
              </a:lnSpc>
              <a:spcBef>
                <a:spcPts val="1000"/>
              </a:spcBef>
              <a:spcAft>
                <a:spcPts val="0"/>
              </a:spcAft>
              <a:buClr>
                <a:schemeClr val="tx1"/>
              </a:buClr>
              <a:buSzPts val="3150"/>
              <a:buFont typeface="Arial" panose="020B0604020202020204" pitchFamily="34" charset="0"/>
              <a:buChar char="•"/>
            </a:pPr>
            <a:r>
              <a:rPr lang="en-US" sz="3150" dirty="0">
                <a:solidFill>
                  <a:schemeClr val="dk1"/>
                </a:solidFill>
                <a:latin typeface="Open Sans"/>
                <a:ea typeface="Open Sans"/>
                <a:cs typeface="Open Sans"/>
                <a:sym typeface="Open Sans"/>
              </a:rPr>
              <a:t>Supplemental Nutrition Assistance Program (SNAP)</a:t>
            </a:r>
            <a:endParaRPr sz="3150" dirty="0">
              <a:solidFill>
                <a:schemeClr val="dk1"/>
              </a:solidFill>
              <a:latin typeface="Open Sans"/>
              <a:ea typeface="Open Sans"/>
              <a:cs typeface="Open Sans"/>
              <a:sym typeface="Open Sans"/>
            </a:endParaRPr>
          </a:p>
          <a:p>
            <a:pPr marL="942975" lvl="1" indent="-457200" algn="l" rtl="0">
              <a:lnSpc>
                <a:spcPct val="115000"/>
              </a:lnSpc>
              <a:spcBef>
                <a:spcPts val="1000"/>
              </a:spcBef>
              <a:spcAft>
                <a:spcPts val="0"/>
              </a:spcAft>
              <a:buClr>
                <a:schemeClr val="tx1"/>
              </a:buClr>
              <a:buSzPts val="3150"/>
              <a:buFont typeface="Arial" panose="020B0604020202020204" pitchFamily="34" charset="0"/>
              <a:buChar char="•"/>
            </a:pPr>
            <a:r>
              <a:rPr lang="en-US" sz="3150" dirty="0">
                <a:solidFill>
                  <a:schemeClr val="dk1"/>
                </a:solidFill>
                <a:latin typeface="Open Sans"/>
                <a:ea typeface="Open Sans"/>
                <a:cs typeface="Open Sans"/>
                <a:sym typeface="Open Sans"/>
              </a:rPr>
              <a:t>Cleveland Metropolitan School District (CMSD)</a:t>
            </a:r>
            <a:endParaRPr sz="3150" dirty="0">
              <a:solidFill>
                <a:schemeClr val="dk1"/>
              </a:solidFill>
              <a:latin typeface="Open Sans"/>
              <a:ea typeface="Open Sans"/>
              <a:cs typeface="Open Sans"/>
              <a:sym typeface="Open Sans"/>
            </a:endParaRPr>
          </a:p>
          <a:p>
            <a:pPr marL="485775" lvl="0" algn="l" rtl="0">
              <a:lnSpc>
                <a:spcPct val="115000"/>
              </a:lnSpc>
              <a:spcBef>
                <a:spcPts val="1000"/>
              </a:spcBef>
              <a:spcAft>
                <a:spcPts val="0"/>
              </a:spcAft>
              <a:buClr>
                <a:schemeClr val="tx1"/>
              </a:buClr>
              <a:buSzPts val="3150"/>
              <a:buFont typeface="Arial" panose="020B0604020202020204" pitchFamily="34" charset="0"/>
              <a:buChar char="•"/>
            </a:pPr>
            <a:r>
              <a:rPr lang="en-US" sz="3150" dirty="0">
                <a:solidFill>
                  <a:schemeClr val="dk1"/>
                </a:solidFill>
                <a:latin typeface="Open Sans"/>
                <a:ea typeface="Open Sans"/>
                <a:cs typeface="Open Sans"/>
                <a:sym typeface="Open Sans"/>
              </a:rPr>
              <a:t>Individuals in the data: </a:t>
            </a:r>
            <a:endParaRPr sz="3150" dirty="0">
              <a:solidFill>
                <a:schemeClr val="dk1"/>
              </a:solidFill>
              <a:latin typeface="Open Sans"/>
              <a:ea typeface="Open Sans"/>
              <a:cs typeface="Open Sans"/>
              <a:sym typeface="Open Sans"/>
            </a:endParaRPr>
          </a:p>
          <a:p>
            <a:pPr marL="942975" lvl="1" indent="-457200" algn="l" rtl="0">
              <a:lnSpc>
                <a:spcPct val="115000"/>
              </a:lnSpc>
              <a:spcBef>
                <a:spcPts val="1000"/>
              </a:spcBef>
              <a:spcAft>
                <a:spcPts val="0"/>
              </a:spcAft>
              <a:buClr>
                <a:schemeClr val="tx1"/>
              </a:buClr>
              <a:buSzPts val="3150"/>
              <a:buFont typeface="Arial" panose="020B0604020202020204" pitchFamily="34" charset="0"/>
              <a:buChar char="•"/>
            </a:pPr>
            <a:r>
              <a:rPr lang="en-US" sz="3150" dirty="0">
                <a:solidFill>
                  <a:schemeClr val="dk1"/>
                </a:solidFill>
                <a:latin typeface="Open Sans"/>
                <a:ea typeface="Open Sans"/>
                <a:cs typeface="Open Sans"/>
                <a:sym typeface="Open Sans"/>
              </a:rPr>
              <a:t>Ages 18-25 years</a:t>
            </a:r>
            <a:endParaRPr sz="3150" dirty="0">
              <a:solidFill>
                <a:schemeClr val="dk1"/>
              </a:solidFill>
              <a:latin typeface="Open Sans"/>
              <a:ea typeface="Open Sans"/>
              <a:cs typeface="Open Sans"/>
              <a:sym typeface="Open Sans"/>
            </a:endParaRPr>
          </a:p>
          <a:p>
            <a:pPr marL="942975" lvl="1" indent="-457200" algn="l" rtl="0">
              <a:lnSpc>
                <a:spcPct val="115000"/>
              </a:lnSpc>
              <a:spcBef>
                <a:spcPts val="1000"/>
              </a:spcBef>
              <a:spcAft>
                <a:spcPts val="0"/>
              </a:spcAft>
              <a:buClr>
                <a:schemeClr val="tx1"/>
              </a:buClr>
              <a:buSzPts val="3150"/>
              <a:buFont typeface="Arial" panose="020B0604020202020204" pitchFamily="34" charset="0"/>
              <a:buChar char="•"/>
            </a:pPr>
            <a:r>
              <a:rPr lang="en-US" sz="3150" dirty="0">
                <a:solidFill>
                  <a:schemeClr val="dk1"/>
                </a:solidFill>
                <a:latin typeface="Open Sans"/>
                <a:ea typeface="Open Sans"/>
                <a:cs typeface="Open Sans"/>
                <a:sym typeface="Open Sans"/>
              </a:rPr>
              <a:t>Those who interacted with homeless services in Cuyahoga County</a:t>
            </a:r>
            <a:endParaRPr sz="3150" dirty="0">
              <a:solidFill>
                <a:schemeClr val="dk1"/>
              </a:solidFill>
              <a:latin typeface="Open Sans"/>
              <a:ea typeface="Open Sans"/>
              <a:cs typeface="Open Sans"/>
              <a:sym typeface="Open Sans"/>
            </a:endParaRPr>
          </a:p>
          <a:p>
            <a:pPr marL="942975" lvl="1" indent="-457200" algn="l" rtl="0">
              <a:lnSpc>
                <a:spcPct val="115000"/>
              </a:lnSpc>
              <a:spcBef>
                <a:spcPts val="1000"/>
              </a:spcBef>
              <a:spcAft>
                <a:spcPts val="0"/>
              </a:spcAft>
              <a:buClr>
                <a:schemeClr val="tx1"/>
              </a:buClr>
              <a:buSzPts val="3150"/>
              <a:buFont typeface="Arial" panose="020B0604020202020204" pitchFamily="34" charset="0"/>
              <a:buChar char="•"/>
            </a:pPr>
            <a:r>
              <a:rPr lang="en-US" sz="3150" dirty="0">
                <a:solidFill>
                  <a:schemeClr val="dk1"/>
                </a:solidFill>
                <a:latin typeface="Open Sans"/>
                <a:ea typeface="Open Sans"/>
                <a:cs typeface="Open Sans"/>
                <a:sym typeface="Open Sans"/>
              </a:rPr>
              <a:t>2017, 2021 and 2021-2023</a:t>
            </a:r>
            <a:endParaRPr sz="3150" dirty="0">
              <a:solidFill>
                <a:schemeClr val="dk1"/>
              </a:solidFill>
              <a:latin typeface="Open Sans"/>
              <a:ea typeface="Open Sans"/>
              <a:cs typeface="Open Sans"/>
              <a:sym typeface="Open Sans"/>
            </a:endParaRPr>
          </a:p>
          <a:p>
            <a:pPr marL="485775" lvl="0" algn="l" rtl="0">
              <a:lnSpc>
                <a:spcPct val="115000"/>
              </a:lnSpc>
              <a:spcBef>
                <a:spcPts val="1000"/>
              </a:spcBef>
              <a:spcAft>
                <a:spcPts val="0"/>
              </a:spcAft>
              <a:buClr>
                <a:schemeClr val="tx1"/>
              </a:buClr>
              <a:buSzPts val="3150"/>
              <a:buFont typeface="Arial" panose="020B0604020202020204" pitchFamily="34" charset="0"/>
              <a:buChar char="•"/>
            </a:pPr>
            <a:r>
              <a:rPr lang="en-US" sz="3150" dirty="0">
                <a:latin typeface="Open Sans"/>
                <a:ea typeface="Open Sans"/>
                <a:cs typeface="Open Sans"/>
                <a:sym typeface="Open Sans"/>
              </a:rPr>
              <a:t>When </a:t>
            </a:r>
            <a:r>
              <a:rPr lang="en-US" sz="3150" b="1" dirty="0">
                <a:solidFill>
                  <a:srgbClr val="001B83"/>
                </a:solidFill>
                <a:latin typeface="Open Sans"/>
                <a:ea typeface="Open Sans"/>
                <a:cs typeface="Open Sans"/>
                <a:sym typeface="Open Sans"/>
              </a:rPr>
              <a:t>linking records of individuals</a:t>
            </a:r>
            <a:r>
              <a:rPr lang="en-US" sz="3150" dirty="0">
                <a:latin typeface="Open Sans"/>
                <a:ea typeface="Open Sans"/>
                <a:cs typeface="Open Sans"/>
                <a:sym typeface="Open Sans"/>
              </a:rPr>
              <a:t>, how do we cope with </a:t>
            </a:r>
            <a:r>
              <a:rPr lang="en-US" sz="3150" b="1" dirty="0">
                <a:solidFill>
                  <a:srgbClr val="001B83"/>
                </a:solidFill>
                <a:latin typeface="Open Sans"/>
                <a:ea typeface="Open Sans"/>
                <a:cs typeface="Open Sans"/>
                <a:sym typeface="Open Sans"/>
              </a:rPr>
              <a:t>different classifications of race and gender id</a:t>
            </a:r>
            <a:r>
              <a:rPr lang="en-US" sz="3150" dirty="0">
                <a:solidFill>
                  <a:srgbClr val="001B83"/>
                </a:solidFill>
                <a:latin typeface="Open Sans"/>
                <a:ea typeface="Open Sans"/>
                <a:cs typeface="Open Sans"/>
                <a:sym typeface="Open Sans"/>
              </a:rPr>
              <a:t> </a:t>
            </a:r>
            <a:r>
              <a:rPr lang="en-US" sz="3150" dirty="0">
                <a:latin typeface="Open Sans"/>
                <a:ea typeface="Open Sans"/>
                <a:cs typeface="Open Sans"/>
                <a:sym typeface="Open Sans"/>
              </a:rPr>
              <a:t>across agencies and over time?</a:t>
            </a:r>
            <a:endParaRPr sz="3659" dirty="0"/>
          </a:p>
        </p:txBody>
      </p:sp>
      <p:pic>
        <p:nvPicPr>
          <p:cNvPr id="4" name="Audio 3">
            <a:extLst>
              <a:ext uri="{FF2B5EF4-FFF2-40B4-BE49-F238E27FC236}">
                <a16:creationId xmlns:a16="http://schemas.microsoft.com/office/drawing/2014/main" id="{8DDB04F2-00A9-C08B-F641-C8419AB071E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52C31D66-3E40-ACB1-FEF5-E11A09494F34}"/>
              </a:ext>
            </a:extLst>
          </p:cNvPr>
          <p:cNvSpPr>
            <a:spLocks noGrp="1"/>
          </p:cNvSpPr>
          <p:nvPr>
            <p:ph type="sldNum" idx="12"/>
          </p:nvPr>
        </p:nvSpPr>
        <p:spPr>
          <a:xfrm>
            <a:off x="16291776" y="9326434"/>
            <a:ext cx="1097400" cy="787200"/>
          </a:xfrm>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13</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27923"/>
    </mc:Choice>
    <mc:Fallback xmlns="">
      <p:transition spd="slow" advTm="279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g3452e97c1f4_0_0"/>
          <p:cNvSpPr txBox="1"/>
          <p:nvPr/>
        </p:nvSpPr>
        <p:spPr>
          <a:xfrm>
            <a:off x="0" y="847725"/>
            <a:ext cx="18288000" cy="14778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1C84"/>
              </a:buClr>
              <a:buSzPts val="9600"/>
              <a:buFont typeface="Arial"/>
              <a:buNone/>
            </a:pPr>
            <a:r>
              <a:rPr lang="en-US" sz="4800" b="1" i="0" u="none" strike="noStrike" cap="none">
                <a:solidFill>
                  <a:srgbClr val="001C84"/>
                </a:solidFill>
                <a:latin typeface="Open Sans"/>
                <a:ea typeface="Open Sans"/>
                <a:cs typeface="Open Sans"/>
                <a:sym typeface="Open Sans"/>
              </a:rPr>
              <a:t>Demographic information is collected in administrative data in different formats and ways across systems</a:t>
            </a:r>
            <a:endParaRPr sz="700" b="0" i="0" u="none" strike="noStrike" cap="none">
              <a:solidFill>
                <a:srgbClr val="000000"/>
              </a:solidFill>
              <a:latin typeface="Open Sans"/>
              <a:ea typeface="Open Sans"/>
              <a:cs typeface="Open Sans"/>
              <a:sym typeface="Open Sans"/>
            </a:endParaRPr>
          </a:p>
        </p:txBody>
      </p:sp>
      <p:pic>
        <p:nvPicPr>
          <p:cNvPr id="354" name="Google Shape;354;g3452e97c1f4_0_0"/>
          <p:cNvPicPr preferRelativeResize="0"/>
          <p:nvPr/>
        </p:nvPicPr>
        <p:blipFill rotWithShape="1">
          <a:blip r:embed="rId5">
            <a:alphaModFix/>
          </a:blip>
          <a:srcRect/>
          <a:stretch/>
        </p:blipFill>
        <p:spPr>
          <a:xfrm>
            <a:off x="6602923" y="3476634"/>
            <a:ext cx="5124450" cy="4876800"/>
          </a:xfrm>
          <a:prstGeom prst="rect">
            <a:avLst/>
          </a:prstGeom>
          <a:noFill/>
          <a:ln>
            <a:noFill/>
          </a:ln>
        </p:spPr>
      </p:pic>
      <p:pic>
        <p:nvPicPr>
          <p:cNvPr id="355" name="Google Shape;355;g3452e97c1f4_0_0"/>
          <p:cNvPicPr preferRelativeResize="0"/>
          <p:nvPr/>
        </p:nvPicPr>
        <p:blipFill rotWithShape="1">
          <a:blip r:embed="rId6">
            <a:alphaModFix/>
          </a:blip>
          <a:srcRect/>
          <a:stretch/>
        </p:blipFill>
        <p:spPr>
          <a:xfrm>
            <a:off x="11792598" y="3737534"/>
            <a:ext cx="6393702" cy="4355004"/>
          </a:xfrm>
          <a:prstGeom prst="rect">
            <a:avLst/>
          </a:prstGeom>
          <a:noFill/>
          <a:ln>
            <a:noFill/>
          </a:ln>
        </p:spPr>
      </p:pic>
      <p:pic>
        <p:nvPicPr>
          <p:cNvPr id="356" name="Google Shape;356;g3452e97c1f4_0_0"/>
          <p:cNvPicPr preferRelativeResize="0"/>
          <p:nvPr/>
        </p:nvPicPr>
        <p:blipFill rotWithShape="1">
          <a:blip r:embed="rId7">
            <a:alphaModFix/>
          </a:blip>
          <a:srcRect/>
          <a:stretch/>
        </p:blipFill>
        <p:spPr>
          <a:xfrm>
            <a:off x="304800" y="3613359"/>
            <a:ext cx="6160248" cy="4603355"/>
          </a:xfrm>
          <a:prstGeom prst="rect">
            <a:avLst/>
          </a:prstGeom>
          <a:noFill/>
          <a:ln>
            <a:noFill/>
          </a:ln>
        </p:spPr>
      </p:pic>
      <p:pic>
        <p:nvPicPr>
          <p:cNvPr id="5" name="Audio 4">
            <a:extLst>
              <a:ext uri="{FF2B5EF4-FFF2-40B4-BE49-F238E27FC236}">
                <a16:creationId xmlns:a16="http://schemas.microsoft.com/office/drawing/2014/main" id="{8060CF1A-F093-9637-6179-6293F18DAC46}"/>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87B2D872-3D49-E356-4270-543DEC66936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14</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8954"/>
    </mc:Choice>
    <mc:Fallback xmlns="">
      <p:transition spd="slow" advTm="189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g3452e97c1f4_0_70"/>
          <p:cNvSpPr txBox="1"/>
          <p:nvPr/>
        </p:nvSpPr>
        <p:spPr>
          <a:xfrm>
            <a:off x="1028700" y="847725"/>
            <a:ext cx="16230600" cy="1662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1C84"/>
              </a:buClr>
              <a:buSzPts val="9600"/>
              <a:buFont typeface="Arial"/>
              <a:buNone/>
            </a:pPr>
            <a:r>
              <a:rPr lang="en-US" sz="5400" b="1" i="0" u="none" strike="noStrike" cap="none">
                <a:solidFill>
                  <a:srgbClr val="001C84"/>
                </a:solidFill>
                <a:latin typeface="Open Sans"/>
                <a:ea typeface="Open Sans"/>
                <a:cs typeface="Open Sans"/>
                <a:sym typeface="Open Sans"/>
              </a:rPr>
              <a:t>Sometimes classifications change over time within the same agency</a:t>
            </a:r>
            <a:endParaRPr sz="800" b="0" i="0" u="none" strike="noStrike" cap="none">
              <a:solidFill>
                <a:srgbClr val="000000"/>
              </a:solidFill>
              <a:latin typeface="Open Sans"/>
              <a:ea typeface="Open Sans"/>
              <a:cs typeface="Open Sans"/>
              <a:sym typeface="Open Sans"/>
            </a:endParaRPr>
          </a:p>
        </p:txBody>
      </p:sp>
      <p:pic>
        <p:nvPicPr>
          <p:cNvPr id="362" name="Google Shape;362;g3452e97c1f4_0_70"/>
          <p:cNvPicPr preferRelativeResize="0"/>
          <p:nvPr/>
        </p:nvPicPr>
        <p:blipFill rotWithShape="1">
          <a:blip r:embed="rId5">
            <a:alphaModFix/>
          </a:blip>
          <a:srcRect/>
          <a:stretch/>
        </p:blipFill>
        <p:spPr>
          <a:xfrm>
            <a:off x="5245200" y="2697156"/>
            <a:ext cx="7797600" cy="6948775"/>
          </a:xfrm>
          <a:prstGeom prst="rect">
            <a:avLst/>
          </a:prstGeom>
          <a:noFill/>
          <a:ln>
            <a:noFill/>
          </a:ln>
        </p:spPr>
      </p:pic>
      <p:pic>
        <p:nvPicPr>
          <p:cNvPr id="4" name="Audio 3">
            <a:extLst>
              <a:ext uri="{FF2B5EF4-FFF2-40B4-BE49-F238E27FC236}">
                <a16:creationId xmlns:a16="http://schemas.microsoft.com/office/drawing/2014/main" id="{8FCDB07E-2340-F65B-907B-5A6F43A87F39}"/>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54F78CB1-1C73-E3CA-3170-AC4A889C9F7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15</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29403"/>
    </mc:Choice>
    <mc:Fallback xmlns="">
      <p:transition spd="slow" advTm="2940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8" name="Google Shape;368;p3"/>
          <p:cNvSpPr txBox="1">
            <a:spLocks noGrp="1"/>
          </p:cNvSpPr>
          <p:nvPr>
            <p:ph type="title"/>
          </p:nvPr>
        </p:nvSpPr>
        <p:spPr>
          <a:xfrm>
            <a:off x="623400" y="494400"/>
            <a:ext cx="17041200" cy="1779600"/>
          </a:xfrm>
          <a:prstGeom prst="rect">
            <a:avLst/>
          </a:prstGeom>
          <a:noFill/>
          <a:ln>
            <a:noFill/>
          </a:ln>
        </p:spPr>
        <p:txBody>
          <a:bodyPr spcFirstLastPara="1" wrap="square" lIns="182850" tIns="182850" rIns="182850" bIns="182850" anchor="t" anchorCtr="0">
            <a:noAutofit/>
          </a:bodyPr>
          <a:lstStyle/>
          <a:p>
            <a:pPr marL="0" lvl="0" indent="0" algn="l" rtl="0">
              <a:lnSpc>
                <a:spcPct val="100000"/>
              </a:lnSpc>
              <a:spcBef>
                <a:spcPts val="0"/>
              </a:spcBef>
              <a:spcAft>
                <a:spcPts val="0"/>
              </a:spcAft>
              <a:buSzPct val="111111"/>
              <a:buNone/>
            </a:pPr>
            <a:r>
              <a:rPr lang="en-US" sz="4800" b="1" dirty="0">
                <a:solidFill>
                  <a:srgbClr val="001B83"/>
                </a:solidFill>
                <a:latin typeface="Open Sans"/>
                <a:ea typeface="Open Sans"/>
                <a:cs typeface="Open Sans"/>
                <a:sym typeface="Open Sans"/>
              </a:rPr>
              <a:t>Mapping different demographic categories into standardized, inclusive, common values  </a:t>
            </a:r>
            <a:endParaRPr sz="4800" dirty="0">
              <a:solidFill>
                <a:srgbClr val="001B83"/>
              </a:solidFill>
            </a:endParaRPr>
          </a:p>
        </p:txBody>
      </p:sp>
      <p:sp>
        <p:nvSpPr>
          <p:cNvPr id="369" name="Google Shape;369;p3"/>
          <p:cNvSpPr txBox="1">
            <a:spLocks noGrp="1"/>
          </p:cNvSpPr>
          <p:nvPr>
            <p:ph type="body" idx="1"/>
          </p:nvPr>
        </p:nvSpPr>
        <p:spPr>
          <a:xfrm>
            <a:off x="853875" y="2580694"/>
            <a:ext cx="16263300" cy="1954500"/>
          </a:xfrm>
          <a:prstGeom prst="rect">
            <a:avLst/>
          </a:prstGeom>
          <a:noFill/>
          <a:ln>
            <a:noFill/>
          </a:ln>
        </p:spPr>
        <p:txBody>
          <a:bodyPr spcFirstLastPara="1" wrap="square" lIns="168250" tIns="168250" rIns="168250" bIns="168250" anchor="t" anchorCtr="0">
            <a:normAutofit lnSpcReduction="10000"/>
          </a:bodyPr>
          <a:lstStyle/>
          <a:p>
            <a:pPr marL="475448" lvl="0" algn="l" rtl="0">
              <a:lnSpc>
                <a:spcPct val="115000"/>
              </a:lnSpc>
              <a:spcBef>
                <a:spcPts val="0"/>
              </a:spcBef>
              <a:spcAft>
                <a:spcPts val="0"/>
              </a:spcAft>
              <a:buClr>
                <a:schemeClr val="dk1"/>
              </a:buClr>
              <a:buSzPts val="3313"/>
              <a:buFont typeface="Arial" panose="020B0604020202020204" pitchFamily="34" charset="0"/>
              <a:buChar char="•"/>
            </a:pPr>
            <a:r>
              <a:rPr lang="en-US" sz="3312" dirty="0">
                <a:latin typeface="Open Sans"/>
                <a:ea typeface="Open Sans"/>
                <a:cs typeface="Open Sans"/>
                <a:sym typeface="Open Sans"/>
              </a:rPr>
              <a:t>We map each agency’s classification into a </a:t>
            </a:r>
            <a:r>
              <a:rPr lang="en-US" sz="3312" b="1" dirty="0">
                <a:solidFill>
                  <a:srgbClr val="001B83"/>
                </a:solidFill>
                <a:latin typeface="Open Sans"/>
                <a:ea typeface="Open Sans"/>
                <a:cs typeface="Open Sans"/>
                <a:sym typeface="Open Sans"/>
              </a:rPr>
              <a:t>standardized common categorization</a:t>
            </a:r>
            <a:r>
              <a:rPr lang="en-US" sz="3312" dirty="0">
                <a:latin typeface="Open Sans"/>
                <a:ea typeface="Open Sans"/>
                <a:cs typeface="Open Sans"/>
                <a:sym typeface="Open Sans"/>
              </a:rPr>
              <a:t> that </a:t>
            </a:r>
            <a:r>
              <a:rPr lang="en-US" sz="3312" b="1" dirty="0">
                <a:solidFill>
                  <a:srgbClr val="001B83"/>
                </a:solidFill>
                <a:latin typeface="Open Sans"/>
                <a:ea typeface="Open Sans"/>
                <a:cs typeface="Open Sans"/>
                <a:sym typeface="Open Sans"/>
              </a:rPr>
              <a:t>minimizes the loss of inclusive options</a:t>
            </a:r>
            <a:r>
              <a:rPr lang="en-US" sz="3312" dirty="0">
                <a:solidFill>
                  <a:srgbClr val="001B83"/>
                </a:solidFill>
                <a:latin typeface="Open Sans"/>
                <a:ea typeface="Open Sans"/>
                <a:cs typeface="Open Sans"/>
                <a:sym typeface="Open Sans"/>
              </a:rPr>
              <a:t> </a:t>
            </a:r>
            <a:r>
              <a:rPr lang="en-US" sz="3312" dirty="0">
                <a:latin typeface="Open Sans"/>
                <a:ea typeface="Open Sans"/>
                <a:cs typeface="Open Sans"/>
                <a:sym typeface="Open Sans"/>
              </a:rPr>
              <a:t>in the linked data to </a:t>
            </a:r>
            <a:r>
              <a:rPr lang="en-US" sz="3312" b="1" dirty="0">
                <a:solidFill>
                  <a:srgbClr val="001B83"/>
                </a:solidFill>
                <a:latin typeface="Open Sans"/>
                <a:ea typeface="Open Sans"/>
                <a:cs typeface="Open Sans"/>
                <a:sym typeface="Open Sans"/>
              </a:rPr>
              <a:t>maximize diverse identities</a:t>
            </a:r>
            <a:endParaRPr sz="3312" b="1" dirty="0">
              <a:solidFill>
                <a:srgbClr val="001B83"/>
              </a:solidFill>
              <a:latin typeface="Open Sans"/>
              <a:ea typeface="Open Sans"/>
              <a:cs typeface="Open Sans"/>
              <a:sym typeface="Open Sans"/>
            </a:endParaRPr>
          </a:p>
        </p:txBody>
      </p:sp>
      <p:grpSp>
        <p:nvGrpSpPr>
          <p:cNvPr id="2" name="Group 1">
            <a:extLst>
              <a:ext uri="{FF2B5EF4-FFF2-40B4-BE49-F238E27FC236}">
                <a16:creationId xmlns:a16="http://schemas.microsoft.com/office/drawing/2014/main" id="{8E703C6D-C826-E076-7762-4076DCA71F57}"/>
              </a:ext>
            </a:extLst>
          </p:cNvPr>
          <p:cNvGrpSpPr/>
          <p:nvPr/>
        </p:nvGrpSpPr>
        <p:grpSpPr>
          <a:xfrm>
            <a:off x="1433516" y="4586795"/>
            <a:ext cx="15104018" cy="5205805"/>
            <a:chOff x="1086825" y="4228511"/>
            <a:chExt cx="15833702" cy="5457300"/>
          </a:xfrm>
        </p:grpSpPr>
        <p:sp>
          <p:nvSpPr>
            <p:cNvPr id="367" name="Google Shape;367;p3"/>
            <p:cNvSpPr/>
            <p:nvPr/>
          </p:nvSpPr>
          <p:spPr>
            <a:xfrm>
              <a:off x="1086825" y="4397853"/>
              <a:ext cx="8405700" cy="5118600"/>
            </a:xfrm>
            <a:prstGeom prst="roundRect">
              <a:avLst>
                <a:gd name="adj" fmla="val 16667"/>
              </a:avLst>
            </a:prstGeom>
            <a:noFill/>
            <a:ln w="105175" cap="flat" cmpd="sng">
              <a:solidFill>
                <a:srgbClr val="FFDC5D"/>
              </a:solidFill>
              <a:prstDash val="solid"/>
              <a:round/>
              <a:headEnd type="none" w="sm" len="sm"/>
              <a:tailEnd type="none" w="sm" len="sm"/>
            </a:ln>
            <a:effectLst>
              <a:outerShdw blurRad="131470" dist="17529" dir="5400000" algn="bl" rotWithShape="0">
                <a:srgbClr val="FFDC5D"/>
              </a:outerShdw>
            </a:effectLst>
          </p:spPr>
          <p:txBody>
            <a:bodyPr spcFirstLastPara="1" wrap="square" lIns="84125" tIns="84125" rIns="84125" bIns="84125" anchor="ctr" anchorCtr="0">
              <a:noAutofit/>
            </a:bodyPr>
            <a:lstStyle/>
            <a:p>
              <a:pPr marL="0" marR="0" lvl="0" indent="0" algn="ctr" rtl="0">
                <a:lnSpc>
                  <a:spcPct val="100000"/>
                </a:lnSpc>
                <a:spcBef>
                  <a:spcPts val="0"/>
                </a:spcBef>
                <a:spcAft>
                  <a:spcPts val="0"/>
                </a:spcAft>
                <a:buClr>
                  <a:srgbClr val="000000"/>
                </a:buClr>
                <a:buSzPts val="1288"/>
                <a:buFont typeface="Arial"/>
                <a:buNone/>
              </a:pPr>
              <a:endParaRPr sz="1288" b="0" i="0" u="none" strike="noStrike" cap="none">
                <a:solidFill>
                  <a:srgbClr val="000000"/>
                </a:solidFill>
                <a:latin typeface="Arial"/>
                <a:ea typeface="Arial"/>
                <a:cs typeface="Arial"/>
                <a:sym typeface="Arial"/>
              </a:endParaRPr>
            </a:p>
          </p:txBody>
        </p:sp>
        <p:pic>
          <p:nvPicPr>
            <p:cNvPr id="370" name="Google Shape;370;p3"/>
            <p:cNvPicPr preferRelativeResize="0"/>
            <p:nvPr/>
          </p:nvPicPr>
          <p:blipFill rotWithShape="1">
            <a:blip r:embed="rId5">
              <a:alphaModFix/>
            </a:blip>
            <a:srcRect/>
            <a:stretch/>
          </p:blipFill>
          <p:spPr>
            <a:xfrm>
              <a:off x="6763101" y="4742755"/>
              <a:ext cx="2448768" cy="2375571"/>
            </a:xfrm>
            <a:prstGeom prst="rect">
              <a:avLst/>
            </a:prstGeom>
            <a:noFill/>
            <a:ln>
              <a:noFill/>
            </a:ln>
          </p:spPr>
        </p:pic>
        <p:pic>
          <p:nvPicPr>
            <p:cNvPr id="371" name="Google Shape;371;p3"/>
            <p:cNvPicPr preferRelativeResize="0"/>
            <p:nvPr/>
          </p:nvPicPr>
          <p:blipFill rotWithShape="1">
            <a:blip r:embed="rId6">
              <a:alphaModFix/>
            </a:blip>
            <a:srcRect/>
            <a:stretch/>
          </p:blipFill>
          <p:spPr>
            <a:xfrm>
              <a:off x="1500713" y="4742756"/>
              <a:ext cx="4178448" cy="3121787"/>
            </a:xfrm>
            <a:prstGeom prst="rect">
              <a:avLst/>
            </a:prstGeom>
            <a:noFill/>
            <a:ln>
              <a:noFill/>
            </a:ln>
          </p:spPr>
        </p:pic>
        <p:pic>
          <p:nvPicPr>
            <p:cNvPr id="372" name="Google Shape;372;p3"/>
            <p:cNvPicPr preferRelativeResize="0"/>
            <p:nvPr/>
          </p:nvPicPr>
          <p:blipFill rotWithShape="1">
            <a:blip r:embed="rId7">
              <a:alphaModFix/>
            </a:blip>
            <a:srcRect/>
            <a:stretch/>
          </p:blipFill>
          <p:spPr>
            <a:xfrm>
              <a:off x="12457430" y="4547467"/>
              <a:ext cx="4071021" cy="4927492"/>
            </a:xfrm>
            <a:prstGeom prst="rect">
              <a:avLst/>
            </a:prstGeom>
            <a:noFill/>
            <a:ln>
              <a:noFill/>
            </a:ln>
          </p:spPr>
        </p:pic>
        <p:pic>
          <p:nvPicPr>
            <p:cNvPr id="373" name="Google Shape;373;p3"/>
            <p:cNvPicPr preferRelativeResize="0"/>
            <p:nvPr/>
          </p:nvPicPr>
          <p:blipFill rotWithShape="1">
            <a:blip r:embed="rId8">
              <a:alphaModFix/>
            </a:blip>
            <a:srcRect/>
            <a:stretch/>
          </p:blipFill>
          <p:spPr>
            <a:xfrm>
              <a:off x="4651480" y="6600141"/>
              <a:ext cx="2336017" cy="2688283"/>
            </a:xfrm>
            <a:prstGeom prst="rect">
              <a:avLst/>
            </a:prstGeom>
            <a:noFill/>
            <a:ln>
              <a:noFill/>
            </a:ln>
          </p:spPr>
        </p:pic>
        <p:cxnSp>
          <p:nvCxnSpPr>
            <p:cNvPr id="374" name="Google Shape;374;p3"/>
            <p:cNvCxnSpPr/>
            <p:nvPr/>
          </p:nvCxnSpPr>
          <p:spPr>
            <a:xfrm rot="10800000" flipH="1">
              <a:off x="9999663" y="6956550"/>
              <a:ext cx="1579500" cy="1200"/>
            </a:xfrm>
            <a:prstGeom prst="straightConnector1">
              <a:avLst/>
            </a:prstGeom>
            <a:noFill/>
            <a:ln w="105175" cap="flat" cmpd="sng">
              <a:solidFill>
                <a:srgbClr val="FFDC5D"/>
              </a:solidFill>
              <a:prstDash val="solid"/>
              <a:round/>
              <a:headEnd type="none" w="sm" len="sm"/>
              <a:tailEnd type="triangle" w="med" len="med"/>
            </a:ln>
          </p:spPr>
        </p:cxnSp>
        <p:sp>
          <p:nvSpPr>
            <p:cNvPr id="375" name="Google Shape;375;p3"/>
            <p:cNvSpPr/>
            <p:nvPr/>
          </p:nvSpPr>
          <p:spPr>
            <a:xfrm>
              <a:off x="12086327" y="4228511"/>
              <a:ext cx="4834200" cy="5457300"/>
            </a:xfrm>
            <a:prstGeom prst="roundRect">
              <a:avLst>
                <a:gd name="adj" fmla="val 16667"/>
              </a:avLst>
            </a:prstGeom>
            <a:noFill/>
            <a:ln w="105175" cap="flat" cmpd="sng">
              <a:solidFill>
                <a:srgbClr val="FFDC5D"/>
              </a:solidFill>
              <a:prstDash val="solid"/>
              <a:round/>
              <a:headEnd type="none" w="sm" len="sm"/>
              <a:tailEnd type="none" w="sm" len="sm"/>
            </a:ln>
            <a:effectLst>
              <a:outerShdw blurRad="131470" dist="17529" dir="5400000" algn="bl" rotWithShape="0">
                <a:srgbClr val="FFDC5D"/>
              </a:outerShdw>
            </a:effectLst>
          </p:spPr>
          <p:txBody>
            <a:bodyPr spcFirstLastPara="1" wrap="square" lIns="84125" tIns="84125" rIns="84125" bIns="84125" anchor="ctr" anchorCtr="0">
              <a:noAutofit/>
            </a:bodyPr>
            <a:lstStyle/>
            <a:p>
              <a:pPr marL="0" marR="0" lvl="0" indent="0" algn="ctr" rtl="0">
                <a:lnSpc>
                  <a:spcPct val="100000"/>
                </a:lnSpc>
                <a:spcBef>
                  <a:spcPts val="0"/>
                </a:spcBef>
                <a:spcAft>
                  <a:spcPts val="0"/>
                </a:spcAft>
                <a:buClr>
                  <a:srgbClr val="000000"/>
                </a:buClr>
                <a:buSzPts val="1288"/>
                <a:buFont typeface="Arial"/>
                <a:buNone/>
              </a:pPr>
              <a:endParaRPr sz="1288" b="0" i="0" u="none" strike="noStrike" cap="none">
                <a:solidFill>
                  <a:srgbClr val="000000"/>
                </a:solidFill>
                <a:latin typeface="Arial"/>
                <a:ea typeface="Arial"/>
                <a:cs typeface="Arial"/>
                <a:sym typeface="Arial"/>
              </a:endParaRPr>
            </a:p>
          </p:txBody>
        </p:sp>
      </p:grpSp>
      <p:pic>
        <p:nvPicPr>
          <p:cNvPr id="5" name="Audio 4">
            <a:extLst>
              <a:ext uri="{FF2B5EF4-FFF2-40B4-BE49-F238E27FC236}">
                <a16:creationId xmlns:a16="http://schemas.microsoft.com/office/drawing/2014/main" id="{33BB9EDE-8056-7995-7776-A59F4D0826E8}"/>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7322800" y="9321800"/>
            <a:ext cx="812800" cy="812800"/>
          </a:xfrm>
          <a:prstGeom prst="rect">
            <a:avLst/>
          </a:prstGeom>
        </p:spPr>
      </p:pic>
      <p:sp>
        <p:nvSpPr>
          <p:cNvPr id="3" name="Slide Number Placeholder 2">
            <a:extLst>
              <a:ext uri="{FF2B5EF4-FFF2-40B4-BE49-F238E27FC236}">
                <a16:creationId xmlns:a16="http://schemas.microsoft.com/office/drawing/2014/main" id="{29947BFB-2A80-BCF2-A8D5-FCBDAD755860}"/>
              </a:ext>
            </a:extLst>
          </p:cNvPr>
          <p:cNvSpPr>
            <a:spLocks noGrp="1"/>
          </p:cNvSpPr>
          <p:nvPr>
            <p:ph type="sldNum" idx="12"/>
          </p:nvPr>
        </p:nvSpPr>
        <p:spPr>
          <a:xfrm>
            <a:off x="16347762" y="9326434"/>
            <a:ext cx="1097400" cy="787200"/>
          </a:xfrm>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16</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9587"/>
    </mc:Choice>
    <mc:Fallback xmlns="">
      <p:transition spd="slow" advTm="1958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g3452e97c1f4_0_647"/>
          <p:cNvSpPr txBox="1">
            <a:spLocks noGrp="1"/>
          </p:cNvSpPr>
          <p:nvPr>
            <p:ph type="ctrTitle"/>
          </p:nvPr>
        </p:nvSpPr>
        <p:spPr>
          <a:xfrm>
            <a:off x="1351548" y="477190"/>
            <a:ext cx="15584904" cy="1470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ct val="45454"/>
              <a:buNone/>
            </a:pPr>
            <a:r>
              <a:rPr lang="en-US" sz="3600" b="1" dirty="0">
                <a:solidFill>
                  <a:srgbClr val="001C84"/>
                </a:solidFill>
                <a:latin typeface="Open Sans"/>
                <a:ea typeface="Open Sans"/>
                <a:cs typeface="Open Sans"/>
                <a:sym typeface="Open Sans"/>
              </a:rPr>
              <a:t>Even after standardizing categories, for some people, demographic information changes across multiple administrative records</a:t>
            </a:r>
            <a:endParaRPr sz="3600" dirty="0">
              <a:solidFill>
                <a:srgbClr val="001C84"/>
              </a:solidFill>
              <a:latin typeface="Open Sans"/>
              <a:ea typeface="Open Sans"/>
              <a:cs typeface="Open Sans"/>
              <a:sym typeface="Open Sans"/>
            </a:endParaRPr>
          </a:p>
        </p:txBody>
      </p:sp>
      <p:sp>
        <p:nvSpPr>
          <p:cNvPr id="381" name="Google Shape;381;g3452e97c1f4_0_647"/>
          <p:cNvSpPr txBox="1"/>
          <p:nvPr/>
        </p:nvSpPr>
        <p:spPr>
          <a:xfrm>
            <a:off x="10245289" y="8615687"/>
            <a:ext cx="7048800" cy="10156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2000" b="1" i="0" u="none" strike="noStrike" cap="none" dirty="0">
                <a:solidFill>
                  <a:srgbClr val="D63D1F"/>
                </a:solidFill>
                <a:latin typeface="Open Sans"/>
                <a:ea typeface="Open Sans"/>
                <a:cs typeface="Open Sans"/>
                <a:sym typeface="Open Sans"/>
              </a:rPr>
              <a:t>Female/male and male/transgender are most common patterns of gender reporting that changes for the same person</a:t>
            </a:r>
            <a:endParaRPr sz="1600" b="1" i="0" u="none" strike="noStrike" cap="none" dirty="0">
              <a:solidFill>
                <a:srgbClr val="D63D1F"/>
              </a:solidFill>
              <a:latin typeface="Arial"/>
              <a:ea typeface="Arial"/>
              <a:cs typeface="Arial"/>
              <a:sym typeface="Arial"/>
            </a:endParaRPr>
          </a:p>
        </p:txBody>
      </p:sp>
      <p:pic>
        <p:nvPicPr>
          <p:cNvPr id="382" name="Google Shape;382;g3452e97c1f4_0_647" descr="A graph with different colored squares&#10;&#10;AI-generated content may be incorrect."/>
          <p:cNvPicPr preferRelativeResize="0"/>
          <p:nvPr/>
        </p:nvPicPr>
        <p:blipFill rotWithShape="1">
          <a:blip r:embed="rId5">
            <a:alphaModFix/>
          </a:blip>
          <a:srcRect/>
          <a:stretch/>
        </p:blipFill>
        <p:spPr>
          <a:xfrm>
            <a:off x="9792050" y="2587757"/>
            <a:ext cx="7955279" cy="5111496"/>
          </a:xfrm>
          <a:prstGeom prst="rect">
            <a:avLst/>
          </a:prstGeom>
          <a:noFill/>
          <a:ln>
            <a:noFill/>
          </a:ln>
        </p:spPr>
      </p:pic>
      <p:pic>
        <p:nvPicPr>
          <p:cNvPr id="383" name="Google Shape;383;g3452e97c1f4_0_647" descr="A graph of a bar chart&#10;&#10;AI-generated content may be incorrect."/>
          <p:cNvPicPr preferRelativeResize="0"/>
          <p:nvPr/>
        </p:nvPicPr>
        <p:blipFill rotWithShape="1">
          <a:blip r:embed="rId6">
            <a:alphaModFix/>
          </a:blip>
          <a:srcRect/>
          <a:stretch/>
        </p:blipFill>
        <p:spPr>
          <a:xfrm>
            <a:off x="1052278" y="2578095"/>
            <a:ext cx="7955850" cy="5114475"/>
          </a:xfrm>
          <a:prstGeom prst="rect">
            <a:avLst/>
          </a:prstGeom>
          <a:noFill/>
          <a:ln>
            <a:noFill/>
          </a:ln>
        </p:spPr>
      </p:pic>
      <p:sp>
        <p:nvSpPr>
          <p:cNvPr id="384" name="Google Shape;384;g3452e97c1f4_0_647"/>
          <p:cNvSpPr txBox="1"/>
          <p:nvPr/>
        </p:nvSpPr>
        <p:spPr>
          <a:xfrm>
            <a:off x="1004015" y="8615687"/>
            <a:ext cx="7785000" cy="708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rgbClr val="D63D1F"/>
                </a:solidFill>
                <a:latin typeface="Open Sans"/>
                <a:ea typeface="Open Sans"/>
                <a:cs typeface="Open Sans"/>
                <a:sym typeface="Open Sans"/>
              </a:rPr>
              <a:t>Black/White/Multiracial comprise the majority of cases where race data reporting changes for the same person</a:t>
            </a:r>
            <a:endParaRPr sz="1400" b="1" i="0" u="none" strike="noStrike" cap="none" dirty="0">
              <a:solidFill>
                <a:srgbClr val="D63D1F"/>
              </a:solidFill>
              <a:latin typeface="Arial"/>
              <a:ea typeface="Arial"/>
              <a:cs typeface="Arial"/>
              <a:sym typeface="Arial"/>
            </a:endParaRPr>
          </a:p>
        </p:txBody>
      </p:sp>
      <p:sp>
        <p:nvSpPr>
          <p:cNvPr id="385" name="Google Shape;385;g3452e97c1f4_0_647"/>
          <p:cNvSpPr/>
          <p:nvPr/>
        </p:nvSpPr>
        <p:spPr>
          <a:xfrm>
            <a:off x="1836200" y="2176950"/>
            <a:ext cx="2441400" cy="17292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300" b="1">
                <a:solidFill>
                  <a:srgbClr val="001B83"/>
                </a:solidFill>
                <a:latin typeface="Open Sans"/>
                <a:ea typeface="Open Sans"/>
                <a:cs typeface="Open Sans"/>
                <a:sym typeface="Open Sans"/>
              </a:rPr>
              <a:t>Up to 5% with race category mismatch</a:t>
            </a:r>
            <a:endParaRPr sz="2300" b="1">
              <a:solidFill>
                <a:srgbClr val="001B83"/>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500"/>
              <a:buFont typeface="Arial"/>
              <a:buNone/>
            </a:pPr>
            <a:endParaRPr sz="500" b="0" i="0" u="none" strike="noStrike" cap="none">
              <a:solidFill>
                <a:srgbClr val="000000"/>
              </a:solidFill>
              <a:latin typeface="Calibri"/>
              <a:ea typeface="Calibri"/>
              <a:cs typeface="Calibri"/>
              <a:sym typeface="Calibri"/>
            </a:endParaRPr>
          </a:p>
        </p:txBody>
      </p:sp>
      <p:sp>
        <p:nvSpPr>
          <p:cNvPr id="386" name="Google Shape;386;g3452e97c1f4_0_647"/>
          <p:cNvSpPr/>
          <p:nvPr/>
        </p:nvSpPr>
        <p:spPr>
          <a:xfrm>
            <a:off x="10883975" y="2308500"/>
            <a:ext cx="2441400" cy="17292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300" b="1" dirty="0">
                <a:solidFill>
                  <a:srgbClr val="001B83"/>
                </a:solidFill>
                <a:latin typeface="Open Sans"/>
                <a:ea typeface="Open Sans"/>
                <a:cs typeface="Open Sans"/>
                <a:sym typeface="Open Sans"/>
              </a:rPr>
              <a:t>Up to 0.4% with gender category mismatch</a:t>
            </a:r>
            <a:endParaRPr sz="2300" b="1" dirty="0">
              <a:solidFill>
                <a:srgbClr val="001B83"/>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500"/>
              <a:buFont typeface="Arial"/>
              <a:buNone/>
            </a:pPr>
            <a:endParaRPr sz="500" b="0" i="0" u="none" strike="noStrike" cap="none" dirty="0">
              <a:solidFill>
                <a:srgbClr val="000000"/>
              </a:solidFill>
              <a:latin typeface="Calibri"/>
              <a:ea typeface="Calibri"/>
              <a:cs typeface="Calibri"/>
              <a:sym typeface="Calibri"/>
            </a:endParaRPr>
          </a:p>
        </p:txBody>
      </p:sp>
      <p:pic>
        <p:nvPicPr>
          <p:cNvPr id="4" name="Audio 3">
            <a:extLst>
              <a:ext uri="{FF2B5EF4-FFF2-40B4-BE49-F238E27FC236}">
                <a16:creationId xmlns:a16="http://schemas.microsoft.com/office/drawing/2014/main" id="{6333C780-CB0B-7B28-2000-A300064E6150}"/>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836EBE2B-9771-17C5-BC0D-ED14EE8B25B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17</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41842"/>
    </mc:Choice>
    <mc:Fallback xmlns="">
      <p:transition spd="slow" advTm="418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g37a5118f112_0_3"/>
          <p:cNvSpPr txBox="1"/>
          <p:nvPr/>
        </p:nvSpPr>
        <p:spPr>
          <a:xfrm>
            <a:off x="1028700" y="847725"/>
            <a:ext cx="16230600" cy="93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5000" b="1" i="0" u="none" strike="noStrike" cap="none" dirty="0">
                <a:solidFill>
                  <a:srgbClr val="001C84"/>
                </a:solidFill>
                <a:latin typeface="Open Sans"/>
                <a:ea typeface="Open Sans"/>
                <a:cs typeface="Open Sans"/>
                <a:sym typeface="Open Sans"/>
              </a:rPr>
              <a:t>These discrepancies arise for reasons that DC participants helped us uncover or contextualize</a:t>
            </a:r>
            <a:endParaRPr sz="100" b="0" i="0" u="none" strike="noStrike" cap="none" dirty="0">
              <a:solidFill>
                <a:srgbClr val="000000"/>
              </a:solidFill>
              <a:latin typeface="Open Sans"/>
              <a:ea typeface="Open Sans"/>
              <a:cs typeface="Open Sans"/>
              <a:sym typeface="Open Sans"/>
            </a:endParaRPr>
          </a:p>
        </p:txBody>
      </p:sp>
      <p:sp>
        <p:nvSpPr>
          <p:cNvPr id="392" name="Google Shape;392;g37a5118f112_0_3"/>
          <p:cNvSpPr txBox="1"/>
          <p:nvPr/>
        </p:nvSpPr>
        <p:spPr>
          <a:xfrm>
            <a:off x="888520" y="2736300"/>
            <a:ext cx="8826300" cy="7796976"/>
          </a:xfrm>
          <a:prstGeom prst="rect">
            <a:avLst/>
          </a:prstGeom>
          <a:noFill/>
          <a:ln>
            <a:noFill/>
          </a:ln>
        </p:spPr>
        <p:txBody>
          <a:bodyPr spcFirstLastPara="1" wrap="square" lIns="91425" tIns="91425" rIns="91425" bIns="91425" anchor="t" anchorCtr="0">
            <a:spAutoFit/>
          </a:bodyPr>
          <a:lstStyle/>
          <a:p>
            <a:pPr marL="514350" marR="0" lvl="0" indent="-501650" algn="l" rtl="0">
              <a:lnSpc>
                <a:spcPct val="100000"/>
              </a:lnSpc>
              <a:spcBef>
                <a:spcPts val="1000"/>
              </a:spcBef>
              <a:spcAft>
                <a:spcPts val="0"/>
              </a:spcAft>
              <a:buClr>
                <a:srgbClr val="000000"/>
              </a:buClr>
              <a:buSzPts val="2600"/>
              <a:buFont typeface="Arial"/>
              <a:buAutoNum type="arabicPeriod"/>
            </a:pPr>
            <a:r>
              <a:rPr lang="en-US" sz="2600" b="1" i="0" u="none" strike="noStrike" cap="none" dirty="0">
                <a:solidFill>
                  <a:srgbClr val="001B83"/>
                </a:solidFill>
                <a:latin typeface="Open Sans"/>
                <a:ea typeface="Open Sans"/>
                <a:cs typeface="Open Sans"/>
                <a:sym typeface="Open Sans"/>
              </a:rPr>
              <a:t>Agency-defined demographic categories: </a:t>
            </a:r>
            <a:endParaRPr sz="2600" b="1" i="0" u="none" strike="noStrike" cap="none" dirty="0">
              <a:solidFill>
                <a:srgbClr val="001B83"/>
              </a:solidFill>
              <a:latin typeface="Open Sans"/>
              <a:ea typeface="Open Sans"/>
              <a:cs typeface="Open Sans"/>
              <a:sym typeface="Open Sans"/>
            </a:endParaRPr>
          </a:p>
          <a:p>
            <a:pPr marL="977900" marR="0" lvl="1" indent="-457200" algn="l" rtl="0">
              <a:lnSpc>
                <a:spcPct val="100000"/>
              </a:lnSpc>
              <a:spcBef>
                <a:spcPts val="1000"/>
              </a:spcBef>
              <a:spcAft>
                <a:spcPts val="0"/>
              </a:spcAft>
              <a:buClr>
                <a:srgbClr val="000000"/>
              </a:buClr>
              <a:buSzPts val="2600"/>
              <a:buFont typeface="Arial" panose="020B0604020202020204" pitchFamily="34" charset="0"/>
              <a:buChar char="•"/>
            </a:pPr>
            <a:r>
              <a:rPr lang="en-US" sz="2600" b="0" i="0" u="none" strike="noStrike" cap="none" dirty="0">
                <a:solidFill>
                  <a:schemeClr val="dk1"/>
                </a:solidFill>
                <a:latin typeface="Open Sans"/>
                <a:ea typeface="Open Sans"/>
                <a:cs typeface="Open Sans"/>
                <a:sym typeface="Open Sans"/>
              </a:rPr>
              <a:t>Demographic fields in administrative data are </a:t>
            </a:r>
            <a:r>
              <a:rPr lang="en-US" sz="2600" b="1" i="0" u="none" strike="noStrike" cap="none" dirty="0">
                <a:solidFill>
                  <a:srgbClr val="001B83"/>
                </a:solidFill>
                <a:latin typeface="Open Sans"/>
                <a:ea typeface="Open Sans"/>
                <a:cs typeface="Open Sans"/>
                <a:sym typeface="Open Sans"/>
              </a:rPr>
              <a:t>not inherent or fixed characteristics</a:t>
            </a:r>
            <a:r>
              <a:rPr lang="en-US" sz="2600" b="0" i="0" u="none" strike="noStrike" cap="none" dirty="0">
                <a:solidFill>
                  <a:srgbClr val="001B83"/>
                </a:solidFill>
                <a:latin typeface="Open Sans"/>
                <a:ea typeface="Open Sans"/>
                <a:cs typeface="Open Sans"/>
                <a:sym typeface="Open Sans"/>
              </a:rPr>
              <a:t> </a:t>
            </a:r>
            <a:r>
              <a:rPr lang="en-US" sz="2600" b="0" i="0" u="none" strike="noStrike" cap="none" dirty="0">
                <a:solidFill>
                  <a:schemeClr val="dk1"/>
                </a:solidFill>
                <a:latin typeface="Open Sans"/>
                <a:ea typeface="Open Sans"/>
                <a:cs typeface="Open Sans"/>
                <a:sym typeface="Open Sans"/>
              </a:rPr>
              <a:t>of individuals </a:t>
            </a:r>
            <a:endParaRPr sz="2600" b="0" i="0" u="none" strike="noStrike" cap="none" dirty="0">
              <a:solidFill>
                <a:schemeClr val="dk1"/>
              </a:solidFill>
              <a:latin typeface="Open Sans"/>
              <a:ea typeface="Open Sans"/>
              <a:cs typeface="Open Sans"/>
              <a:sym typeface="Open Sans"/>
            </a:endParaRPr>
          </a:p>
          <a:p>
            <a:pPr marL="977900" marR="0" lvl="1" indent="-457200" algn="l" rtl="0">
              <a:lnSpc>
                <a:spcPct val="100000"/>
              </a:lnSpc>
              <a:spcBef>
                <a:spcPts val="1000"/>
              </a:spcBef>
              <a:spcAft>
                <a:spcPts val="0"/>
              </a:spcAft>
              <a:buClr>
                <a:srgbClr val="000000"/>
              </a:buClr>
              <a:buSzPts val="2600"/>
              <a:buFont typeface="Arial" panose="020B0604020202020204" pitchFamily="34" charset="0"/>
              <a:buChar char="•"/>
            </a:pPr>
            <a:r>
              <a:rPr lang="en-US" sz="2600" b="0" i="0" u="none" strike="noStrike" cap="none" dirty="0">
                <a:solidFill>
                  <a:schemeClr val="dk1"/>
                </a:solidFill>
                <a:latin typeface="Open Sans"/>
                <a:ea typeface="Open Sans"/>
                <a:cs typeface="Open Sans"/>
                <a:sym typeface="Open Sans"/>
              </a:rPr>
              <a:t>Demographic fields represent agency-defined classification schemes rooted in social norms and history that may differ across agencies or change over time</a:t>
            </a:r>
            <a:endParaRPr sz="2600" b="0" i="0" u="none" strike="noStrike" cap="none" dirty="0">
              <a:solidFill>
                <a:schemeClr val="dk1"/>
              </a:solidFill>
              <a:latin typeface="Open Sans"/>
              <a:ea typeface="Open Sans"/>
              <a:cs typeface="Open Sans"/>
              <a:sym typeface="Open Sans"/>
            </a:endParaRPr>
          </a:p>
          <a:p>
            <a:pPr marL="514350" marR="0" lvl="0" indent="-501650" algn="l" rtl="0">
              <a:lnSpc>
                <a:spcPct val="100000"/>
              </a:lnSpc>
              <a:spcBef>
                <a:spcPts val="1000"/>
              </a:spcBef>
              <a:spcAft>
                <a:spcPts val="0"/>
              </a:spcAft>
              <a:buClr>
                <a:srgbClr val="000000"/>
              </a:buClr>
              <a:buSzPts val="2600"/>
              <a:buFont typeface="Arial"/>
              <a:buAutoNum type="arabicPeriod"/>
            </a:pPr>
            <a:r>
              <a:rPr lang="en-US" sz="2600" b="1" i="0" u="none" strike="noStrike" cap="none" dirty="0">
                <a:solidFill>
                  <a:srgbClr val="001B83"/>
                </a:solidFill>
                <a:latin typeface="Open Sans"/>
                <a:ea typeface="Open Sans"/>
                <a:cs typeface="Open Sans"/>
                <a:sym typeface="Open Sans"/>
              </a:rPr>
              <a:t>Changes in names due to adoption or identity transition: </a:t>
            </a:r>
            <a:endParaRPr sz="2600" b="1" i="0" u="none" strike="noStrike" cap="none" dirty="0">
              <a:solidFill>
                <a:srgbClr val="001B83"/>
              </a:solidFill>
              <a:latin typeface="Open Sans"/>
              <a:ea typeface="Open Sans"/>
              <a:cs typeface="Open Sans"/>
              <a:sym typeface="Open Sans"/>
            </a:endParaRPr>
          </a:p>
          <a:p>
            <a:pPr marL="977900" marR="0" lvl="1" indent="-457200" algn="l" rtl="0">
              <a:lnSpc>
                <a:spcPct val="100000"/>
              </a:lnSpc>
              <a:spcBef>
                <a:spcPts val="1000"/>
              </a:spcBef>
              <a:spcAft>
                <a:spcPts val="0"/>
              </a:spcAft>
              <a:buClr>
                <a:srgbClr val="000000"/>
              </a:buClr>
              <a:buSzPts val="2600"/>
              <a:buFont typeface="Arial" panose="020B0604020202020204" pitchFamily="34" charset="0"/>
              <a:buChar char="•"/>
            </a:pPr>
            <a:r>
              <a:rPr lang="en-US" sz="2600" b="0" i="0" u="none" strike="noStrike" cap="none" dirty="0">
                <a:solidFill>
                  <a:schemeClr val="dk1"/>
                </a:solidFill>
                <a:latin typeface="Open Sans"/>
                <a:ea typeface="Open Sans"/>
                <a:cs typeface="Open Sans"/>
                <a:sym typeface="Open Sans"/>
              </a:rPr>
              <a:t>Records of people who changed their name due to a change in gender id or adoption will </a:t>
            </a:r>
            <a:r>
              <a:rPr lang="en-US" sz="2600" b="0" i="0" u="sng" strike="noStrike" cap="none" dirty="0">
                <a:solidFill>
                  <a:schemeClr val="dk1"/>
                </a:solidFill>
                <a:latin typeface="Open Sans"/>
                <a:ea typeface="Open Sans"/>
                <a:cs typeface="Open Sans"/>
                <a:sym typeface="Open Sans"/>
              </a:rPr>
              <a:t>not</a:t>
            </a:r>
            <a:r>
              <a:rPr lang="en-US" sz="2600" b="0" i="0" u="none" strike="noStrike" cap="none" dirty="0">
                <a:solidFill>
                  <a:schemeClr val="dk1"/>
                </a:solidFill>
                <a:latin typeface="Open Sans"/>
                <a:ea typeface="Open Sans"/>
                <a:cs typeface="Open Sans"/>
                <a:sym typeface="Open Sans"/>
              </a:rPr>
              <a:t> be linked</a:t>
            </a:r>
            <a:endParaRPr sz="2600" b="0" i="0" u="none" strike="noStrike" cap="none" dirty="0">
              <a:solidFill>
                <a:schemeClr val="dk1"/>
              </a:solidFill>
              <a:latin typeface="Open Sans"/>
              <a:ea typeface="Open Sans"/>
              <a:cs typeface="Open Sans"/>
              <a:sym typeface="Open Sans"/>
            </a:endParaRPr>
          </a:p>
          <a:p>
            <a:pPr marL="977900" marR="0" lvl="1" indent="-457200" algn="l" rtl="0">
              <a:lnSpc>
                <a:spcPct val="100000"/>
              </a:lnSpc>
              <a:spcBef>
                <a:spcPts val="1000"/>
              </a:spcBef>
              <a:spcAft>
                <a:spcPts val="0"/>
              </a:spcAft>
              <a:buClr>
                <a:srgbClr val="000000"/>
              </a:buClr>
              <a:buSzPts val="2600"/>
              <a:buFont typeface="Arial" panose="020B0604020202020204" pitchFamily="34" charset="0"/>
              <a:buChar char="•"/>
            </a:pPr>
            <a:r>
              <a:rPr lang="en-US" sz="2600" b="0" i="0" u="none" strike="noStrike" cap="none" dirty="0">
                <a:solidFill>
                  <a:schemeClr val="dk1"/>
                </a:solidFill>
                <a:latin typeface="Open Sans"/>
                <a:ea typeface="Open Sans"/>
                <a:cs typeface="Open Sans"/>
                <a:sym typeface="Open Sans"/>
              </a:rPr>
              <a:t>These records may be counted as belonging to two different individuals, leading to an undercount representation of trans or gender diverse individuals in the linked data</a:t>
            </a:r>
            <a:endParaRPr sz="2600" b="0" i="0" u="none" strike="noStrike" cap="none" dirty="0">
              <a:solidFill>
                <a:schemeClr val="dk1"/>
              </a:solidFill>
              <a:latin typeface="Open Sans"/>
              <a:ea typeface="Open Sans"/>
              <a:cs typeface="Open Sans"/>
              <a:sym typeface="Open Sans"/>
            </a:endParaRPr>
          </a:p>
          <a:p>
            <a:pPr marL="0" marR="0" lvl="0" indent="0" algn="l" rtl="0">
              <a:lnSpc>
                <a:spcPct val="100000"/>
              </a:lnSpc>
              <a:spcBef>
                <a:spcPts val="1000"/>
              </a:spcBef>
              <a:spcAft>
                <a:spcPts val="1000"/>
              </a:spcAft>
              <a:buClr>
                <a:srgbClr val="000000"/>
              </a:buClr>
              <a:buSzPts val="2800"/>
              <a:buFont typeface="Arial"/>
              <a:buNone/>
            </a:pPr>
            <a:endParaRPr sz="1200" b="0" i="0" u="none" strike="noStrike" cap="none" dirty="0">
              <a:solidFill>
                <a:srgbClr val="000000"/>
              </a:solidFill>
              <a:latin typeface="Open Sans"/>
              <a:ea typeface="Open Sans"/>
              <a:cs typeface="Open Sans"/>
              <a:sym typeface="Open Sans"/>
            </a:endParaRPr>
          </a:p>
        </p:txBody>
      </p:sp>
      <p:sp>
        <p:nvSpPr>
          <p:cNvPr id="393" name="Google Shape;393;g37a5118f112_0_3"/>
          <p:cNvSpPr/>
          <p:nvPr/>
        </p:nvSpPr>
        <p:spPr>
          <a:xfrm>
            <a:off x="14214980" y="2897182"/>
            <a:ext cx="3184500" cy="2562900"/>
          </a:xfrm>
          <a:prstGeom prst="wedgeRoundRectCallout">
            <a:avLst>
              <a:gd name="adj1" fmla="val -35393"/>
              <a:gd name="adj2" fmla="val 71903"/>
              <a:gd name="adj3" fmla="val 0"/>
            </a:avLst>
          </a:prstGeom>
          <a:solidFill>
            <a:srgbClr val="FFDC5D"/>
          </a:solidFill>
          <a:ln w="9525" cap="flat" cmpd="sng">
            <a:solidFill>
              <a:srgbClr val="FFDC5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1B83"/>
                </a:solidFill>
                <a:latin typeface="Open Sans"/>
                <a:ea typeface="Open Sans"/>
                <a:cs typeface="Open Sans"/>
                <a:sym typeface="Open Sans"/>
              </a:rPr>
              <a:t>“My personal feelings … is that the only thing that needs to be identified is ‘Yes, I’m human.’”</a:t>
            </a:r>
            <a:endParaRPr sz="2400" b="1" i="0" u="none" strike="noStrike" cap="none">
              <a:solidFill>
                <a:srgbClr val="001B83"/>
              </a:solidFill>
              <a:latin typeface="Open Sans"/>
              <a:ea typeface="Open Sans"/>
              <a:cs typeface="Open Sans"/>
              <a:sym typeface="Open Sans"/>
            </a:endParaRPr>
          </a:p>
        </p:txBody>
      </p:sp>
      <p:sp>
        <p:nvSpPr>
          <p:cNvPr id="394" name="Google Shape;394;g37a5118f112_0_3"/>
          <p:cNvSpPr/>
          <p:nvPr/>
        </p:nvSpPr>
        <p:spPr>
          <a:xfrm>
            <a:off x="11444977" y="6226397"/>
            <a:ext cx="5327400" cy="3143100"/>
          </a:xfrm>
          <a:prstGeom prst="wedgeRoundRectCallout">
            <a:avLst>
              <a:gd name="adj1" fmla="val -4816"/>
              <a:gd name="adj2" fmla="val 73417"/>
              <a:gd name="adj3" fmla="val 0"/>
            </a:avLst>
          </a:prstGeom>
          <a:solidFill>
            <a:srgbClr val="FFDC5D"/>
          </a:solidFill>
          <a:ln w="9525" cap="flat" cmpd="sng">
            <a:solidFill>
              <a:srgbClr val="FFDC5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1B83"/>
                </a:solidFill>
                <a:latin typeface="Open Sans"/>
                <a:ea typeface="Open Sans"/>
                <a:cs typeface="Open Sans"/>
                <a:sym typeface="Open Sans"/>
              </a:rPr>
              <a:t>“I feel like I am my own, an entity, and that is good enough for me. So, I never see myself represented on there, and I'm never going to, because they don't put [participant's name] … that's not an identity, right?</a:t>
            </a:r>
            <a:r>
              <a:rPr lang="en-US" sz="2400" b="1">
                <a:solidFill>
                  <a:srgbClr val="001B83"/>
                </a:solidFill>
                <a:latin typeface="Open Sans"/>
                <a:ea typeface="Open Sans"/>
                <a:cs typeface="Open Sans"/>
                <a:sym typeface="Open Sans"/>
              </a:rPr>
              <a:t>”</a:t>
            </a:r>
            <a:endParaRPr sz="2400" b="1" i="0" u="none" strike="noStrike" cap="none">
              <a:solidFill>
                <a:srgbClr val="001B83"/>
              </a:solidFill>
              <a:latin typeface="Open Sans"/>
              <a:ea typeface="Open Sans"/>
              <a:cs typeface="Open Sans"/>
              <a:sym typeface="Open Sans"/>
            </a:endParaRPr>
          </a:p>
        </p:txBody>
      </p:sp>
      <p:sp>
        <p:nvSpPr>
          <p:cNvPr id="395" name="Google Shape;395;g37a5118f112_0_3"/>
          <p:cNvSpPr/>
          <p:nvPr/>
        </p:nvSpPr>
        <p:spPr>
          <a:xfrm>
            <a:off x="9978475" y="2736291"/>
            <a:ext cx="3493200" cy="3143100"/>
          </a:xfrm>
          <a:prstGeom prst="wedgeRoundRectCallout">
            <a:avLst>
              <a:gd name="adj1" fmla="val -35393"/>
              <a:gd name="adj2" fmla="val 71903"/>
              <a:gd name="adj3" fmla="val 0"/>
            </a:avLst>
          </a:prstGeom>
          <a:solidFill>
            <a:srgbClr val="FFDC5D"/>
          </a:solidFill>
          <a:ln w="9525" cap="flat" cmpd="sng">
            <a:solidFill>
              <a:srgbClr val="FFDC5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1B83"/>
                </a:solidFill>
                <a:latin typeface="Open Sans"/>
                <a:ea typeface="Open Sans"/>
                <a:cs typeface="Open Sans"/>
                <a:sym typeface="Open Sans"/>
              </a:rPr>
              <a:t>“That was me. I changed my name” … they kind of give me like a hard time, because then they'd be like. </a:t>
            </a:r>
            <a:r>
              <a:rPr lang="en-US" sz="2400" b="1" dirty="0">
                <a:solidFill>
                  <a:srgbClr val="001B83"/>
                </a:solidFill>
                <a:latin typeface="Open Sans"/>
                <a:ea typeface="Open Sans"/>
                <a:cs typeface="Open Sans"/>
                <a:sym typeface="Open Sans"/>
              </a:rPr>
              <a:t>‘W</a:t>
            </a:r>
            <a:r>
              <a:rPr lang="en-US" sz="2400" b="1" i="0" u="none" strike="noStrike" cap="none" dirty="0">
                <a:solidFill>
                  <a:srgbClr val="001B83"/>
                </a:solidFill>
                <a:latin typeface="Open Sans"/>
                <a:ea typeface="Open Sans"/>
                <a:cs typeface="Open Sans"/>
                <a:sym typeface="Open Sans"/>
              </a:rPr>
              <a:t>ell, this doesn't match up</a:t>
            </a:r>
            <a:r>
              <a:rPr lang="en-US" sz="2400" b="1" dirty="0">
                <a:solidFill>
                  <a:srgbClr val="001B83"/>
                </a:solidFill>
                <a:latin typeface="Open Sans"/>
                <a:ea typeface="Open Sans"/>
                <a:cs typeface="Open Sans"/>
                <a:sym typeface="Open Sans"/>
              </a:rPr>
              <a:t>.’”</a:t>
            </a:r>
            <a:endParaRPr sz="2400" b="1" i="0" u="none" strike="noStrike" cap="none" dirty="0">
              <a:solidFill>
                <a:srgbClr val="001B83"/>
              </a:solidFill>
              <a:latin typeface="Open Sans"/>
              <a:ea typeface="Open Sans"/>
              <a:cs typeface="Open Sans"/>
              <a:sym typeface="Open Sans"/>
            </a:endParaRPr>
          </a:p>
        </p:txBody>
      </p:sp>
      <p:pic>
        <p:nvPicPr>
          <p:cNvPr id="4" name="Audio 3">
            <a:extLst>
              <a:ext uri="{FF2B5EF4-FFF2-40B4-BE49-F238E27FC236}">
                <a16:creationId xmlns:a16="http://schemas.microsoft.com/office/drawing/2014/main" id="{2C4F1B6D-288B-A841-F511-884DBF30B27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CED37204-1BEF-9FF7-F86C-5A9BC365ABF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18</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86293"/>
    </mc:Choice>
    <mc:Fallback xmlns="">
      <p:transition spd="slow" advTm="862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sp>
        <p:nvSpPr>
          <p:cNvPr id="400" name="Google Shape;400;p4"/>
          <p:cNvSpPr txBox="1">
            <a:spLocks noGrp="1"/>
          </p:cNvSpPr>
          <p:nvPr>
            <p:ph type="body" idx="1"/>
          </p:nvPr>
        </p:nvSpPr>
        <p:spPr>
          <a:xfrm>
            <a:off x="623400" y="2304950"/>
            <a:ext cx="9663600" cy="7399500"/>
          </a:xfrm>
          <a:prstGeom prst="rect">
            <a:avLst/>
          </a:prstGeom>
          <a:noFill/>
          <a:ln>
            <a:noFill/>
          </a:ln>
        </p:spPr>
        <p:txBody>
          <a:bodyPr spcFirstLastPara="1" wrap="square" lIns="182850" tIns="182850" rIns="182850" bIns="182850" anchor="t" anchorCtr="0">
            <a:normAutofit/>
          </a:bodyPr>
          <a:lstStyle/>
          <a:p>
            <a:pPr marL="0" lvl="0" indent="0" algn="l" rtl="0">
              <a:lnSpc>
                <a:spcPct val="115000"/>
              </a:lnSpc>
              <a:spcBef>
                <a:spcPts val="0"/>
              </a:spcBef>
              <a:spcAft>
                <a:spcPts val="0"/>
              </a:spcAft>
              <a:buNone/>
            </a:pPr>
            <a:r>
              <a:rPr lang="en-US" sz="2800" b="1" dirty="0">
                <a:solidFill>
                  <a:schemeClr val="dk1"/>
                </a:solidFill>
                <a:latin typeface="Open Sans"/>
                <a:ea typeface="Open Sans"/>
                <a:cs typeface="Open Sans"/>
                <a:sym typeface="Open Sans"/>
              </a:rPr>
              <a:t>3. </a:t>
            </a:r>
            <a:r>
              <a:rPr lang="en-US" sz="2800" b="1" dirty="0">
                <a:solidFill>
                  <a:srgbClr val="001B83"/>
                </a:solidFill>
                <a:latin typeface="Open Sans"/>
                <a:ea typeface="Open Sans"/>
                <a:cs typeface="Open Sans"/>
                <a:sym typeface="Open Sans"/>
              </a:rPr>
              <a:t>The Data Intake Experience:</a:t>
            </a:r>
            <a:r>
              <a:rPr lang="en-US" sz="2800" dirty="0">
                <a:solidFill>
                  <a:srgbClr val="001B83"/>
                </a:solidFill>
                <a:latin typeface="Open Sans"/>
                <a:ea typeface="Open Sans"/>
                <a:cs typeface="Open Sans"/>
                <a:sym typeface="Open Sans"/>
              </a:rPr>
              <a:t> </a:t>
            </a:r>
            <a:r>
              <a:rPr lang="en-US" sz="2800" dirty="0">
                <a:solidFill>
                  <a:schemeClr val="dk1"/>
                </a:solidFill>
                <a:latin typeface="Open Sans"/>
                <a:ea typeface="Open Sans"/>
                <a:cs typeface="Open Sans"/>
                <a:sym typeface="Open Sans"/>
              </a:rPr>
              <a:t>Data reporting will be impacted by… </a:t>
            </a:r>
            <a:endParaRPr sz="2800" dirty="0">
              <a:solidFill>
                <a:schemeClr val="dk1"/>
              </a:solidFill>
              <a:latin typeface="Open Sans"/>
              <a:ea typeface="Open Sans"/>
              <a:cs typeface="Open Sans"/>
              <a:sym typeface="Open Sans"/>
            </a:endParaRPr>
          </a:p>
          <a:p>
            <a:pPr lvl="1" algn="l" rtl="0">
              <a:lnSpc>
                <a:spcPct val="115000"/>
              </a:lnSpc>
              <a:spcBef>
                <a:spcPts val="0"/>
              </a:spcBef>
              <a:spcAft>
                <a:spcPts val="0"/>
              </a:spcAft>
              <a:buClr>
                <a:schemeClr val="dk1"/>
              </a:buClr>
              <a:buSzPts val="2800"/>
              <a:buFont typeface="Arial" panose="020B0604020202020204" pitchFamily="34" charset="0"/>
              <a:buChar char="•"/>
            </a:pPr>
            <a:r>
              <a:rPr lang="en-US" sz="2800" dirty="0">
                <a:solidFill>
                  <a:schemeClr val="dk1"/>
                </a:solidFill>
                <a:latin typeface="Open Sans"/>
                <a:ea typeface="Open Sans"/>
                <a:cs typeface="Open Sans"/>
                <a:sym typeface="Open Sans"/>
              </a:rPr>
              <a:t>What, when and how data is collected</a:t>
            </a:r>
            <a:endParaRPr sz="2800" dirty="0">
              <a:solidFill>
                <a:schemeClr val="dk1"/>
              </a:solidFill>
              <a:latin typeface="Open Sans"/>
              <a:ea typeface="Open Sans"/>
              <a:cs typeface="Open Sans"/>
              <a:sym typeface="Open Sans"/>
            </a:endParaRPr>
          </a:p>
          <a:p>
            <a:pPr lvl="1" algn="l" rtl="0">
              <a:lnSpc>
                <a:spcPct val="115000"/>
              </a:lnSpc>
              <a:spcBef>
                <a:spcPts val="0"/>
              </a:spcBef>
              <a:spcAft>
                <a:spcPts val="0"/>
              </a:spcAft>
              <a:buClr>
                <a:schemeClr val="dk1"/>
              </a:buClr>
              <a:buSzPts val="2800"/>
              <a:buFont typeface="Arial" panose="020B0604020202020204" pitchFamily="34" charset="0"/>
              <a:buChar char="•"/>
            </a:pPr>
            <a:r>
              <a:rPr lang="en-US" sz="2800" dirty="0">
                <a:solidFill>
                  <a:schemeClr val="dk1"/>
                </a:solidFill>
                <a:latin typeface="Open Sans"/>
                <a:ea typeface="Open Sans"/>
                <a:cs typeface="Open Sans"/>
                <a:sym typeface="Open Sans"/>
              </a:rPr>
              <a:t>Concerns for </a:t>
            </a:r>
            <a:r>
              <a:rPr lang="en-US" sz="2800" b="1" dirty="0">
                <a:solidFill>
                  <a:srgbClr val="001B83"/>
                </a:solidFill>
                <a:latin typeface="Open Sans"/>
                <a:ea typeface="Open Sans"/>
                <a:cs typeface="Open Sans"/>
                <a:sym typeface="Open Sans"/>
              </a:rPr>
              <a:t>safety</a:t>
            </a:r>
            <a:r>
              <a:rPr lang="en-US" sz="2800" dirty="0">
                <a:solidFill>
                  <a:srgbClr val="001B83"/>
                </a:solidFill>
                <a:latin typeface="Open Sans"/>
                <a:ea typeface="Open Sans"/>
                <a:cs typeface="Open Sans"/>
                <a:sym typeface="Open Sans"/>
              </a:rPr>
              <a:t>, </a:t>
            </a:r>
            <a:r>
              <a:rPr lang="en-US" sz="2800" b="1" dirty="0">
                <a:solidFill>
                  <a:srgbClr val="001B83"/>
                </a:solidFill>
                <a:latin typeface="Open Sans"/>
                <a:ea typeface="Open Sans"/>
                <a:cs typeface="Open Sans"/>
                <a:sym typeface="Open Sans"/>
              </a:rPr>
              <a:t>stigmatization</a:t>
            </a:r>
            <a:r>
              <a:rPr lang="en-US" sz="2800" dirty="0">
                <a:solidFill>
                  <a:srgbClr val="001B83"/>
                </a:solidFill>
                <a:latin typeface="Open Sans"/>
                <a:ea typeface="Open Sans"/>
                <a:cs typeface="Open Sans"/>
                <a:sym typeface="Open Sans"/>
              </a:rPr>
              <a:t>, </a:t>
            </a:r>
            <a:r>
              <a:rPr lang="en-US" sz="2800" b="1" dirty="0">
                <a:solidFill>
                  <a:srgbClr val="001B83"/>
                </a:solidFill>
                <a:latin typeface="Open Sans"/>
                <a:ea typeface="Open Sans"/>
                <a:cs typeface="Open Sans"/>
                <a:sym typeface="Open Sans"/>
              </a:rPr>
              <a:t>service needs</a:t>
            </a:r>
            <a:endParaRPr sz="2800" dirty="0">
              <a:solidFill>
                <a:srgbClr val="001B83"/>
              </a:solidFill>
              <a:latin typeface="Open Sans"/>
              <a:ea typeface="Open Sans"/>
              <a:cs typeface="Open Sans"/>
              <a:sym typeface="Open Sans"/>
            </a:endParaRPr>
          </a:p>
          <a:p>
            <a:pPr lvl="1" algn="l" rtl="0">
              <a:lnSpc>
                <a:spcPct val="115000"/>
              </a:lnSpc>
              <a:spcBef>
                <a:spcPts val="0"/>
              </a:spcBef>
              <a:spcAft>
                <a:spcPts val="0"/>
              </a:spcAft>
              <a:buClr>
                <a:schemeClr val="dk1"/>
              </a:buClr>
              <a:buSzPts val="2800"/>
              <a:buFont typeface="Arial" panose="020B0604020202020204" pitchFamily="34" charset="0"/>
              <a:buChar char="•"/>
            </a:pPr>
            <a:r>
              <a:rPr lang="en-US" sz="2800" b="1" dirty="0">
                <a:solidFill>
                  <a:srgbClr val="001B83"/>
                </a:solidFill>
                <a:latin typeface="Open Sans"/>
                <a:ea typeface="Open Sans"/>
                <a:cs typeface="Open Sans"/>
                <a:sym typeface="Open Sans"/>
              </a:rPr>
              <a:t>Burden of data collection</a:t>
            </a:r>
            <a:endParaRPr sz="2800" dirty="0">
              <a:solidFill>
                <a:srgbClr val="001B83"/>
              </a:solidFill>
              <a:latin typeface="Open Sans"/>
              <a:ea typeface="Open Sans"/>
              <a:cs typeface="Open Sans"/>
              <a:sym typeface="Open Sans"/>
            </a:endParaRPr>
          </a:p>
          <a:p>
            <a:pPr lvl="0" algn="l" rtl="0">
              <a:lnSpc>
                <a:spcPct val="115000"/>
              </a:lnSpc>
              <a:spcBef>
                <a:spcPts val="0"/>
              </a:spcBef>
              <a:spcAft>
                <a:spcPts val="0"/>
              </a:spcAft>
              <a:buFont typeface="Arial" panose="020B0604020202020204" pitchFamily="34" charset="0"/>
              <a:buChar char="•"/>
            </a:pPr>
            <a:endParaRPr sz="2800" dirty="0">
              <a:solidFill>
                <a:schemeClr val="dk1"/>
              </a:solidFill>
              <a:latin typeface="Open Sans"/>
              <a:ea typeface="Open Sans"/>
              <a:cs typeface="Open Sans"/>
              <a:sym typeface="Open Sans"/>
            </a:endParaRPr>
          </a:p>
          <a:p>
            <a:pPr marL="508000" lvl="0" algn="l" rtl="0">
              <a:lnSpc>
                <a:spcPct val="115000"/>
              </a:lnSpc>
              <a:spcBef>
                <a:spcPts val="0"/>
              </a:spcBef>
              <a:spcAft>
                <a:spcPts val="0"/>
              </a:spcAft>
              <a:buClr>
                <a:schemeClr val="dk1"/>
              </a:buClr>
              <a:buSzPts val="2800"/>
              <a:buFont typeface="Arial" panose="020B0604020202020204" pitchFamily="34" charset="0"/>
              <a:buChar char="•"/>
            </a:pPr>
            <a:r>
              <a:rPr lang="en-US" sz="2800" dirty="0">
                <a:solidFill>
                  <a:schemeClr val="dk1"/>
                </a:solidFill>
                <a:latin typeface="Open Sans"/>
                <a:ea typeface="Open Sans"/>
                <a:cs typeface="Open Sans"/>
                <a:sym typeface="Open Sans"/>
              </a:rPr>
              <a:t>We unpack these points with insights and recommendations from participants to ease the burden of data collection and use data in ways that uplifts everyone and promotes community engagement</a:t>
            </a:r>
            <a:endParaRPr sz="2800" dirty="0">
              <a:latin typeface="Open Sans"/>
              <a:ea typeface="Open Sans"/>
              <a:cs typeface="Open Sans"/>
              <a:sym typeface="Open Sans"/>
            </a:endParaRPr>
          </a:p>
        </p:txBody>
      </p:sp>
      <p:sp>
        <p:nvSpPr>
          <p:cNvPr id="401" name="Google Shape;401;p4"/>
          <p:cNvSpPr/>
          <p:nvPr/>
        </p:nvSpPr>
        <p:spPr>
          <a:xfrm>
            <a:off x="11364625" y="6107025"/>
            <a:ext cx="4121700" cy="3058800"/>
          </a:xfrm>
          <a:prstGeom prst="wedgeRoundRectCallout">
            <a:avLst>
              <a:gd name="adj1" fmla="val -35393"/>
              <a:gd name="adj2" fmla="val 71903"/>
              <a:gd name="adj3" fmla="val 0"/>
            </a:avLst>
          </a:prstGeom>
          <a:solidFill>
            <a:srgbClr val="FFDC5D"/>
          </a:solidFill>
          <a:ln w="9525" cap="flat" cmpd="sng">
            <a:solidFill>
              <a:srgbClr val="FFDC5D"/>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1C84"/>
                </a:solidFill>
                <a:latin typeface="Open Sans"/>
                <a:ea typeface="Open Sans"/>
                <a:cs typeface="Open Sans"/>
                <a:sym typeface="Open Sans"/>
              </a:rPr>
              <a:t>​“Being on the street, we’re not thinking about the color we are, so why is the government thinking about what color we are?”</a:t>
            </a:r>
            <a:endParaRPr sz="2400" b="1" i="0" u="none" strike="noStrike" cap="none">
              <a:solidFill>
                <a:srgbClr val="001C84"/>
              </a:solidFill>
              <a:latin typeface="Open Sans"/>
              <a:ea typeface="Open Sans"/>
              <a:cs typeface="Open Sans"/>
              <a:sym typeface="Open Sans"/>
            </a:endParaRPr>
          </a:p>
        </p:txBody>
      </p:sp>
      <p:sp>
        <p:nvSpPr>
          <p:cNvPr id="402" name="Google Shape;402;p4"/>
          <p:cNvSpPr/>
          <p:nvPr/>
        </p:nvSpPr>
        <p:spPr>
          <a:xfrm>
            <a:off x="11490925" y="936300"/>
            <a:ext cx="5683800" cy="3582600"/>
          </a:xfrm>
          <a:prstGeom prst="wedgeRoundRectCallout">
            <a:avLst>
              <a:gd name="adj1" fmla="val -10374"/>
              <a:gd name="adj2" fmla="val 68194"/>
              <a:gd name="adj3" fmla="val 0"/>
            </a:avLst>
          </a:prstGeom>
          <a:solidFill>
            <a:srgbClr val="FFDC5D"/>
          </a:solidFill>
          <a:ln w="9525" cap="flat" cmpd="sng">
            <a:solidFill>
              <a:srgbClr val="FFDC5D"/>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US" sz="2400" b="1">
                <a:solidFill>
                  <a:srgbClr val="001C84"/>
                </a:solidFill>
                <a:latin typeface="Open Sans"/>
                <a:ea typeface="Open Sans"/>
                <a:cs typeface="Open Sans"/>
                <a:sym typeface="Open Sans"/>
              </a:rPr>
              <a:t>“The worst thing is that you share your information with somebody </a:t>
            </a:r>
            <a:endParaRPr sz="2400" b="1">
              <a:solidFill>
                <a:srgbClr val="001C84"/>
              </a:solidFill>
              <a:latin typeface="Open Sans"/>
              <a:ea typeface="Open Sans"/>
              <a:cs typeface="Open Sans"/>
              <a:sym typeface="Open Sans"/>
            </a:endParaRPr>
          </a:p>
          <a:p>
            <a:pPr marL="0" lvl="0" indent="0" algn="ctr" rtl="0">
              <a:spcBef>
                <a:spcPts val="0"/>
              </a:spcBef>
              <a:spcAft>
                <a:spcPts val="0"/>
              </a:spcAft>
              <a:buClr>
                <a:schemeClr val="dk1"/>
              </a:buClr>
              <a:buSzPts val="1100"/>
              <a:buFont typeface="Arial"/>
              <a:buNone/>
            </a:pPr>
            <a:r>
              <a:rPr lang="en-US" sz="2400" b="1">
                <a:solidFill>
                  <a:srgbClr val="001C84"/>
                </a:solidFill>
                <a:latin typeface="Open Sans"/>
                <a:ea typeface="Open Sans"/>
                <a:cs typeface="Open Sans"/>
                <a:sym typeface="Open Sans"/>
              </a:rPr>
              <a:t>and instead of them helping,</a:t>
            </a:r>
            <a:endParaRPr sz="2400" b="1">
              <a:solidFill>
                <a:srgbClr val="001C84"/>
              </a:solidFill>
              <a:latin typeface="Open Sans"/>
              <a:ea typeface="Open Sans"/>
              <a:cs typeface="Open Sans"/>
              <a:sym typeface="Open Sans"/>
            </a:endParaRPr>
          </a:p>
          <a:p>
            <a:pPr marL="0" lvl="0" indent="0" algn="ctr" rtl="0">
              <a:spcBef>
                <a:spcPts val="0"/>
              </a:spcBef>
              <a:spcAft>
                <a:spcPts val="0"/>
              </a:spcAft>
              <a:buClr>
                <a:schemeClr val="dk1"/>
              </a:buClr>
              <a:buSzPts val="1100"/>
              <a:buFont typeface="Arial"/>
              <a:buNone/>
            </a:pPr>
            <a:r>
              <a:rPr lang="en-US" sz="2400" b="1">
                <a:solidFill>
                  <a:srgbClr val="001C84"/>
                </a:solidFill>
                <a:latin typeface="Open Sans"/>
                <a:ea typeface="Open Sans"/>
                <a:cs typeface="Open Sans"/>
                <a:sym typeface="Open Sans"/>
              </a:rPr>
              <a:t>they’re judging and categorizing you…  And this is the person that’s going to help me, so you’re relying on them to really be trustworthy.”</a:t>
            </a:r>
            <a:endParaRPr sz="2400" b="1">
              <a:solidFill>
                <a:srgbClr val="001C84"/>
              </a:solidFill>
              <a:latin typeface="Open Sans"/>
              <a:ea typeface="Open Sans"/>
              <a:cs typeface="Open Sans"/>
              <a:sym typeface="Open Sans"/>
            </a:endParaRPr>
          </a:p>
        </p:txBody>
      </p:sp>
      <p:pic>
        <p:nvPicPr>
          <p:cNvPr id="4" name="Audio 3">
            <a:extLst>
              <a:ext uri="{FF2B5EF4-FFF2-40B4-BE49-F238E27FC236}">
                <a16:creationId xmlns:a16="http://schemas.microsoft.com/office/drawing/2014/main" id="{EF3B61DD-DDAC-726A-D20D-D176DF46875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AFE321AE-5FA9-FA79-7AE3-A4D371073F4B}"/>
              </a:ext>
            </a:extLst>
          </p:cNvPr>
          <p:cNvSpPr>
            <a:spLocks noGrp="1"/>
          </p:cNvSpPr>
          <p:nvPr>
            <p:ph type="sldNum" idx="12"/>
          </p:nvPr>
        </p:nvSpPr>
        <p:spPr>
          <a:xfrm>
            <a:off x="16273116" y="9326434"/>
            <a:ext cx="1097400" cy="787200"/>
          </a:xfrm>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19</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56353"/>
    </mc:Choice>
    <mc:Fallback xmlns="">
      <p:transition spd="slow" advTm="563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8" name="Google Shape;408;g3a335ef999a_0_206"/>
          <p:cNvSpPr/>
          <p:nvPr/>
        </p:nvSpPr>
        <p:spPr>
          <a:xfrm>
            <a:off x="1184675" y="2362146"/>
            <a:ext cx="1989900" cy="1161300"/>
          </a:xfrm>
          <a:prstGeom prst="roundRect">
            <a:avLst>
              <a:gd name="adj" fmla="val 14182"/>
            </a:avLst>
          </a:prstGeom>
          <a:solidFill>
            <a:srgbClr val="001B83"/>
          </a:solidFill>
          <a:ln>
            <a:noFill/>
          </a:ln>
        </p:spPr>
        <p:txBody>
          <a:bodyPr spcFirstLastPara="1" wrap="square" lIns="92125" tIns="92125" rIns="92125" bIns="92125" anchor="ctr"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2357" b="1" i="0" u="none" strike="noStrike" cap="none">
                <a:solidFill>
                  <a:srgbClr val="FFDC5D"/>
                </a:solidFill>
                <a:latin typeface="Open Sans"/>
                <a:ea typeface="Open Sans"/>
                <a:cs typeface="Open Sans"/>
                <a:sym typeface="Open Sans"/>
              </a:rPr>
              <a:t>Population</a:t>
            </a:r>
            <a:endParaRPr sz="2357" b="1" i="0" u="none" strike="noStrike" cap="none">
              <a:solidFill>
                <a:srgbClr val="FFDC5D"/>
              </a:solidFill>
              <a:latin typeface="Open Sans"/>
              <a:ea typeface="Open Sans"/>
              <a:cs typeface="Open Sans"/>
              <a:sym typeface="Open Sans"/>
            </a:endParaRPr>
          </a:p>
        </p:txBody>
      </p:sp>
      <p:sp>
        <p:nvSpPr>
          <p:cNvPr id="409" name="Google Shape;409;g3a335ef999a_0_206"/>
          <p:cNvSpPr/>
          <p:nvPr/>
        </p:nvSpPr>
        <p:spPr>
          <a:xfrm>
            <a:off x="3506132" y="2362146"/>
            <a:ext cx="1989900" cy="7130100"/>
          </a:xfrm>
          <a:prstGeom prst="roundRect">
            <a:avLst>
              <a:gd name="adj" fmla="val 16667"/>
            </a:avLst>
          </a:prstGeom>
          <a:solidFill>
            <a:srgbClr val="FFDC5D">
              <a:alpha val="41570"/>
            </a:srgbClr>
          </a:solidFill>
          <a:ln>
            <a:noFill/>
          </a:ln>
        </p:spPr>
        <p:txBody>
          <a:bodyPr spcFirstLastPara="1" wrap="square" lIns="92125" tIns="92125" rIns="92125" bIns="92125" anchor="t"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1994" b="1" i="0" u="none" strike="noStrike" cap="none" dirty="0">
                <a:solidFill>
                  <a:srgbClr val="001C84"/>
                </a:solidFill>
                <a:latin typeface="Open Sans"/>
                <a:ea typeface="Open Sans"/>
                <a:cs typeface="Open Sans"/>
                <a:sym typeface="Open Sans"/>
              </a:rPr>
              <a:t>Registration &amp; Recording</a:t>
            </a:r>
            <a:endParaRPr sz="1994" b="1" i="0" u="none" strike="noStrike" cap="none" dirty="0">
              <a:solidFill>
                <a:srgbClr val="001C84"/>
              </a:solidFill>
              <a:latin typeface="Open Sans"/>
              <a:ea typeface="Open Sans"/>
              <a:cs typeface="Open Sans"/>
              <a:sym typeface="Open Sans"/>
            </a:endParaRPr>
          </a:p>
        </p:txBody>
      </p:sp>
      <p:sp>
        <p:nvSpPr>
          <p:cNvPr id="410" name="Google Shape;410;g3a335ef999a_0_206"/>
          <p:cNvSpPr/>
          <p:nvPr/>
        </p:nvSpPr>
        <p:spPr>
          <a:xfrm>
            <a:off x="5827589" y="2362146"/>
            <a:ext cx="1989900" cy="1161300"/>
          </a:xfrm>
          <a:prstGeom prst="roundRect">
            <a:avLst>
              <a:gd name="adj" fmla="val 12940"/>
            </a:avLst>
          </a:prstGeom>
          <a:solidFill>
            <a:srgbClr val="001C84"/>
          </a:solidFill>
          <a:ln>
            <a:noFill/>
          </a:ln>
        </p:spPr>
        <p:txBody>
          <a:bodyPr spcFirstLastPara="1" wrap="square" lIns="92125" tIns="92125" rIns="92125" bIns="92125" anchor="ctr"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2357" b="1" i="0" u="none" strike="noStrike" cap="none">
                <a:solidFill>
                  <a:srgbClr val="FFDC5D"/>
                </a:solidFill>
                <a:latin typeface="Open Sans"/>
                <a:ea typeface="Open Sans"/>
                <a:cs typeface="Open Sans"/>
                <a:sym typeface="Open Sans"/>
              </a:rPr>
              <a:t>Databases</a:t>
            </a:r>
            <a:endParaRPr sz="2357" b="1" i="0" u="none" strike="noStrike" cap="none">
              <a:solidFill>
                <a:srgbClr val="FFDC5D"/>
              </a:solidFill>
              <a:latin typeface="Open Sans"/>
              <a:ea typeface="Open Sans"/>
              <a:cs typeface="Open Sans"/>
              <a:sym typeface="Open Sans"/>
            </a:endParaRPr>
          </a:p>
        </p:txBody>
      </p:sp>
      <p:sp>
        <p:nvSpPr>
          <p:cNvPr id="411" name="Google Shape;411;g3a335ef999a_0_206"/>
          <p:cNvSpPr/>
          <p:nvPr/>
        </p:nvSpPr>
        <p:spPr>
          <a:xfrm>
            <a:off x="8149046" y="2362146"/>
            <a:ext cx="1989900" cy="7130100"/>
          </a:xfrm>
          <a:prstGeom prst="roundRect">
            <a:avLst>
              <a:gd name="adj" fmla="val 16667"/>
            </a:avLst>
          </a:prstGeom>
          <a:solidFill>
            <a:srgbClr val="FFDC5D">
              <a:alpha val="41570"/>
            </a:srgbClr>
          </a:solidFill>
          <a:ln>
            <a:noFill/>
          </a:ln>
        </p:spPr>
        <p:txBody>
          <a:bodyPr spcFirstLastPara="1" wrap="square" lIns="92125" tIns="92125" rIns="92125" bIns="92125" anchor="t"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2357" b="1" i="0" u="none" strike="noStrike" cap="none">
                <a:solidFill>
                  <a:srgbClr val="001C84"/>
                </a:solidFill>
                <a:latin typeface="Open Sans"/>
                <a:ea typeface="Open Sans"/>
                <a:cs typeface="Open Sans"/>
                <a:sym typeface="Open Sans"/>
              </a:rPr>
              <a:t>Linkage</a:t>
            </a:r>
            <a:endParaRPr sz="2357" b="1" i="0" u="none" strike="noStrike" cap="none">
              <a:solidFill>
                <a:srgbClr val="001C84"/>
              </a:solidFill>
              <a:latin typeface="Open Sans"/>
              <a:ea typeface="Open Sans"/>
              <a:cs typeface="Open Sans"/>
              <a:sym typeface="Open Sans"/>
            </a:endParaRPr>
          </a:p>
        </p:txBody>
      </p:sp>
      <p:sp>
        <p:nvSpPr>
          <p:cNvPr id="412" name="Google Shape;412;g3a335ef999a_0_206"/>
          <p:cNvSpPr/>
          <p:nvPr/>
        </p:nvSpPr>
        <p:spPr>
          <a:xfrm>
            <a:off x="10470503" y="2362146"/>
            <a:ext cx="1989900" cy="1161300"/>
          </a:xfrm>
          <a:prstGeom prst="roundRect">
            <a:avLst>
              <a:gd name="adj" fmla="val 14183"/>
            </a:avLst>
          </a:prstGeom>
          <a:solidFill>
            <a:srgbClr val="001C84"/>
          </a:solidFill>
          <a:ln>
            <a:noFill/>
          </a:ln>
        </p:spPr>
        <p:txBody>
          <a:bodyPr spcFirstLastPara="1" wrap="square" lIns="92125" tIns="92125" rIns="92125" bIns="92125" anchor="ctr"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2149" b="1" i="0" u="none" strike="noStrike" cap="none">
                <a:solidFill>
                  <a:srgbClr val="FFDC5D"/>
                </a:solidFill>
                <a:latin typeface="Open Sans"/>
                <a:ea typeface="Open Sans"/>
                <a:cs typeface="Open Sans"/>
                <a:sym typeface="Open Sans"/>
              </a:rPr>
              <a:t>Integrated Data System (IDS)</a:t>
            </a:r>
            <a:endParaRPr sz="2149" b="1" i="0" u="none" strike="noStrike" cap="none">
              <a:solidFill>
                <a:srgbClr val="FFDC5D"/>
              </a:solidFill>
              <a:latin typeface="Open Sans"/>
              <a:ea typeface="Open Sans"/>
              <a:cs typeface="Open Sans"/>
              <a:sym typeface="Open Sans"/>
            </a:endParaRPr>
          </a:p>
        </p:txBody>
      </p:sp>
      <p:sp>
        <p:nvSpPr>
          <p:cNvPr id="413" name="Google Shape;413;g3a335ef999a_0_206"/>
          <p:cNvSpPr/>
          <p:nvPr/>
        </p:nvSpPr>
        <p:spPr>
          <a:xfrm>
            <a:off x="12791960" y="2362146"/>
            <a:ext cx="1989900" cy="7130100"/>
          </a:xfrm>
          <a:prstGeom prst="roundRect">
            <a:avLst>
              <a:gd name="adj" fmla="val 16667"/>
            </a:avLst>
          </a:prstGeom>
          <a:solidFill>
            <a:srgbClr val="FFDC5D">
              <a:alpha val="41570"/>
            </a:srgbClr>
          </a:solidFill>
          <a:ln>
            <a:noFill/>
          </a:ln>
        </p:spPr>
        <p:txBody>
          <a:bodyPr spcFirstLastPara="1" wrap="square" lIns="92125" tIns="92125" rIns="92125" bIns="92125" anchor="t"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2357" b="1" i="0" u="none" strike="noStrike" cap="none">
                <a:solidFill>
                  <a:srgbClr val="001C84"/>
                </a:solidFill>
                <a:latin typeface="Open Sans"/>
                <a:ea typeface="Open Sans"/>
                <a:cs typeface="Open Sans"/>
                <a:sym typeface="Open Sans"/>
              </a:rPr>
              <a:t>Cleaning &amp; Coding</a:t>
            </a:r>
            <a:endParaRPr sz="2357" b="1" i="0" u="none" strike="noStrike" cap="none">
              <a:solidFill>
                <a:srgbClr val="001C84"/>
              </a:solidFill>
              <a:latin typeface="Open Sans"/>
              <a:ea typeface="Open Sans"/>
              <a:cs typeface="Open Sans"/>
              <a:sym typeface="Open Sans"/>
            </a:endParaRPr>
          </a:p>
        </p:txBody>
      </p:sp>
      <p:sp>
        <p:nvSpPr>
          <p:cNvPr id="414" name="Google Shape;414;g3a335ef999a_0_206"/>
          <p:cNvSpPr/>
          <p:nvPr/>
        </p:nvSpPr>
        <p:spPr>
          <a:xfrm>
            <a:off x="15113418" y="2362146"/>
            <a:ext cx="1989900" cy="1161300"/>
          </a:xfrm>
          <a:prstGeom prst="roundRect">
            <a:avLst>
              <a:gd name="adj" fmla="val 12940"/>
            </a:avLst>
          </a:prstGeom>
          <a:solidFill>
            <a:srgbClr val="001C84"/>
          </a:solidFill>
          <a:ln>
            <a:noFill/>
          </a:ln>
        </p:spPr>
        <p:txBody>
          <a:bodyPr spcFirstLastPara="1" wrap="square" lIns="92125" tIns="92125" rIns="92125" bIns="92125" anchor="ctr" anchorCtr="0">
            <a:noAutofit/>
          </a:bodyPr>
          <a:lstStyle/>
          <a:p>
            <a:pPr marL="0" marR="0" lvl="0" indent="0" algn="ctr" rtl="0">
              <a:lnSpc>
                <a:spcPct val="100000"/>
              </a:lnSpc>
              <a:spcBef>
                <a:spcPts val="0"/>
              </a:spcBef>
              <a:spcAft>
                <a:spcPts val="0"/>
              </a:spcAft>
              <a:buClr>
                <a:srgbClr val="000000"/>
              </a:buClr>
              <a:buSzPts val="2357"/>
              <a:buFont typeface="Arial"/>
              <a:buNone/>
            </a:pPr>
            <a:r>
              <a:rPr lang="en-US" sz="2357" b="1" i="0" u="none" strike="noStrike" cap="none">
                <a:solidFill>
                  <a:srgbClr val="FFDC5D"/>
                </a:solidFill>
                <a:latin typeface="Open Sans"/>
                <a:ea typeface="Open Sans"/>
                <a:cs typeface="Open Sans"/>
                <a:sym typeface="Open Sans"/>
              </a:rPr>
              <a:t>Variables</a:t>
            </a:r>
            <a:endParaRPr sz="2357" b="1" i="0" u="none" strike="noStrike" cap="none">
              <a:solidFill>
                <a:srgbClr val="FFDC5D"/>
              </a:solidFill>
              <a:latin typeface="Open Sans"/>
              <a:ea typeface="Open Sans"/>
              <a:cs typeface="Open Sans"/>
              <a:sym typeface="Open Sans"/>
            </a:endParaRPr>
          </a:p>
        </p:txBody>
      </p:sp>
      <p:sp>
        <p:nvSpPr>
          <p:cNvPr id="415" name="Google Shape;415;g3a335ef999a_0_206"/>
          <p:cNvSpPr/>
          <p:nvPr/>
        </p:nvSpPr>
        <p:spPr>
          <a:xfrm>
            <a:off x="1184675" y="3854505"/>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Person experiencing </a:t>
            </a:r>
            <a:r>
              <a:rPr lang="en-US" sz="1812">
                <a:solidFill>
                  <a:srgbClr val="001C84"/>
                </a:solidFill>
                <a:latin typeface="Open Sans"/>
                <a:ea typeface="Open Sans"/>
                <a:cs typeface="Open Sans"/>
                <a:sym typeface="Open Sans"/>
              </a:rPr>
              <a:t>housing insecurity</a:t>
            </a:r>
            <a:endParaRPr sz="1812" b="0" i="0" u="none" strike="noStrike" cap="none">
              <a:solidFill>
                <a:srgbClr val="001C84"/>
              </a:solidFill>
              <a:latin typeface="Open Sans"/>
              <a:ea typeface="Open Sans"/>
              <a:cs typeface="Open Sans"/>
              <a:sym typeface="Open Sans"/>
            </a:endParaRPr>
          </a:p>
        </p:txBody>
      </p:sp>
      <p:sp>
        <p:nvSpPr>
          <p:cNvPr id="416" name="Google Shape;416;g3a335ef999a_0_206"/>
          <p:cNvSpPr/>
          <p:nvPr/>
        </p:nvSpPr>
        <p:spPr>
          <a:xfrm>
            <a:off x="1184675" y="5844317"/>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a:solidFill>
                  <a:srgbClr val="001C84"/>
                </a:solidFill>
                <a:latin typeface="Open Sans"/>
                <a:ea typeface="Open Sans"/>
                <a:cs typeface="Open Sans"/>
                <a:sym typeface="Open Sans"/>
              </a:rPr>
              <a:t>Student</a:t>
            </a:r>
            <a:endParaRPr sz="1812" b="0" i="0" u="none" strike="noStrike" cap="none">
              <a:solidFill>
                <a:srgbClr val="001C84"/>
              </a:solidFill>
              <a:latin typeface="Open Sans"/>
              <a:ea typeface="Open Sans"/>
              <a:cs typeface="Open Sans"/>
              <a:sym typeface="Open Sans"/>
            </a:endParaRPr>
          </a:p>
        </p:txBody>
      </p:sp>
      <p:sp>
        <p:nvSpPr>
          <p:cNvPr id="417" name="Google Shape;417;g3a335ef999a_0_206"/>
          <p:cNvSpPr/>
          <p:nvPr/>
        </p:nvSpPr>
        <p:spPr>
          <a:xfrm>
            <a:off x="1184675" y="7834129"/>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Person experiencing food insecurity</a:t>
            </a:r>
            <a:endParaRPr sz="1812" b="0" i="0" u="none" strike="noStrike" cap="none">
              <a:solidFill>
                <a:srgbClr val="001C84"/>
              </a:solidFill>
              <a:latin typeface="Open Sans"/>
              <a:ea typeface="Open Sans"/>
              <a:cs typeface="Open Sans"/>
              <a:sym typeface="Open Sans"/>
            </a:endParaRPr>
          </a:p>
        </p:txBody>
      </p:sp>
      <p:sp>
        <p:nvSpPr>
          <p:cNvPr id="418" name="Google Shape;418;g3a335ef999a_0_206"/>
          <p:cNvSpPr/>
          <p:nvPr/>
        </p:nvSpPr>
        <p:spPr>
          <a:xfrm>
            <a:off x="5827589" y="3854505"/>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a:solidFill>
                  <a:srgbClr val="001C84"/>
                </a:solidFill>
                <a:latin typeface="Open Sans"/>
                <a:ea typeface="Open Sans"/>
                <a:cs typeface="Open Sans"/>
                <a:sym typeface="Open Sans"/>
              </a:rPr>
              <a:t>Homeless Management Information System (HMIS)</a:t>
            </a:r>
            <a:endParaRPr sz="1812" b="0" i="0" u="none" strike="noStrike" cap="none">
              <a:solidFill>
                <a:srgbClr val="001C84"/>
              </a:solidFill>
              <a:latin typeface="Open Sans"/>
              <a:ea typeface="Open Sans"/>
              <a:cs typeface="Open Sans"/>
              <a:sym typeface="Open Sans"/>
            </a:endParaRPr>
          </a:p>
        </p:txBody>
      </p:sp>
      <p:sp>
        <p:nvSpPr>
          <p:cNvPr id="419" name="Google Shape;419;g3a335ef999a_0_206"/>
          <p:cNvSpPr/>
          <p:nvPr/>
        </p:nvSpPr>
        <p:spPr>
          <a:xfrm>
            <a:off x="5827589" y="5844317"/>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a:solidFill>
                  <a:srgbClr val="001C84"/>
                </a:solidFill>
                <a:latin typeface="Open Sans"/>
                <a:ea typeface="Open Sans"/>
                <a:cs typeface="Open Sans"/>
                <a:sym typeface="Open Sans"/>
              </a:rPr>
              <a:t>School system</a:t>
            </a:r>
            <a:endParaRPr sz="1812" b="0" i="0" u="none" strike="noStrike" cap="none">
              <a:solidFill>
                <a:srgbClr val="001C84"/>
              </a:solidFill>
              <a:latin typeface="Open Sans"/>
              <a:ea typeface="Open Sans"/>
              <a:cs typeface="Open Sans"/>
              <a:sym typeface="Open Sans"/>
            </a:endParaRPr>
          </a:p>
        </p:txBody>
      </p:sp>
      <p:sp>
        <p:nvSpPr>
          <p:cNvPr id="420" name="Google Shape;420;g3a335ef999a_0_206"/>
          <p:cNvSpPr/>
          <p:nvPr/>
        </p:nvSpPr>
        <p:spPr>
          <a:xfrm>
            <a:off x="5827589" y="7834129"/>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Supplemental Nutrition Assistance Program (SNAP)</a:t>
            </a:r>
            <a:endParaRPr sz="1812" b="0" i="0" u="none" strike="noStrike" cap="none">
              <a:solidFill>
                <a:srgbClr val="001C84"/>
              </a:solidFill>
              <a:latin typeface="Open Sans"/>
              <a:ea typeface="Open Sans"/>
              <a:cs typeface="Open Sans"/>
              <a:sym typeface="Open Sans"/>
            </a:endParaRPr>
          </a:p>
        </p:txBody>
      </p:sp>
      <p:sp>
        <p:nvSpPr>
          <p:cNvPr id="421" name="Google Shape;421;g3a335ef999a_0_206"/>
          <p:cNvSpPr/>
          <p:nvPr/>
        </p:nvSpPr>
        <p:spPr>
          <a:xfrm>
            <a:off x="10470503" y="3854505"/>
            <a:ext cx="1989900" cy="56376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a:solidFill>
                  <a:srgbClr val="001C84"/>
                </a:solidFill>
                <a:latin typeface="Open Sans"/>
                <a:ea typeface="Open Sans"/>
                <a:cs typeface="Open Sans"/>
                <a:sym typeface="Open Sans"/>
              </a:rPr>
              <a:t>Integrated Data System (IDS) with p</a:t>
            </a:r>
            <a:r>
              <a:rPr lang="en-US" sz="1812" b="0" i="0" u="none" strike="noStrike" cap="none">
                <a:solidFill>
                  <a:srgbClr val="001C84"/>
                </a:solidFill>
                <a:latin typeface="Open Sans"/>
                <a:ea typeface="Open Sans"/>
                <a:cs typeface="Open Sans"/>
                <a:sym typeface="Open Sans"/>
              </a:rPr>
              <a:t>erson-event</a:t>
            </a:r>
            <a:r>
              <a:rPr lang="en-US" sz="1812">
                <a:solidFill>
                  <a:srgbClr val="001C84"/>
                </a:solidFill>
                <a:latin typeface="Open Sans"/>
                <a:ea typeface="Open Sans"/>
                <a:cs typeface="Open Sans"/>
                <a:sym typeface="Open Sans"/>
              </a:rPr>
              <a:t> level data</a:t>
            </a:r>
            <a:endParaRPr sz="1812" b="0" i="0" u="none" strike="noStrike" cap="none">
              <a:solidFill>
                <a:srgbClr val="001C84"/>
              </a:solidFill>
              <a:latin typeface="Open Sans"/>
              <a:ea typeface="Open Sans"/>
              <a:cs typeface="Open Sans"/>
              <a:sym typeface="Open Sans"/>
            </a:endParaRPr>
          </a:p>
        </p:txBody>
      </p:sp>
      <p:cxnSp>
        <p:nvCxnSpPr>
          <p:cNvPr id="422" name="Google Shape;422;g3a335ef999a_0_206"/>
          <p:cNvCxnSpPr>
            <a:stCxn id="415" idx="3"/>
            <a:endCxn id="418" idx="1"/>
          </p:cNvCxnSpPr>
          <p:nvPr/>
        </p:nvCxnSpPr>
        <p:spPr>
          <a:xfrm>
            <a:off x="3174575" y="4683555"/>
            <a:ext cx="2652900" cy="0"/>
          </a:xfrm>
          <a:prstGeom prst="straightConnector1">
            <a:avLst/>
          </a:prstGeom>
          <a:noFill/>
          <a:ln w="46075" cap="flat" cmpd="sng">
            <a:solidFill>
              <a:srgbClr val="001C84"/>
            </a:solidFill>
            <a:prstDash val="dot"/>
            <a:round/>
            <a:headEnd type="none" w="sm" len="sm"/>
            <a:tailEnd type="triangle" w="lg" len="lg"/>
          </a:ln>
        </p:spPr>
      </p:cxnSp>
      <p:cxnSp>
        <p:nvCxnSpPr>
          <p:cNvPr id="423" name="Google Shape;423;g3a335ef999a_0_206"/>
          <p:cNvCxnSpPr>
            <a:stCxn id="416" idx="3"/>
            <a:endCxn id="419" idx="1"/>
          </p:cNvCxnSpPr>
          <p:nvPr/>
        </p:nvCxnSpPr>
        <p:spPr>
          <a:xfrm>
            <a:off x="3174575" y="6673367"/>
            <a:ext cx="2652900" cy="0"/>
          </a:xfrm>
          <a:prstGeom prst="straightConnector1">
            <a:avLst/>
          </a:prstGeom>
          <a:noFill/>
          <a:ln w="38350" cap="flat" cmpd="sng">
            <a:solidFill>
              <a:srgbClr val="001C84"/>
            </a:solidFill>
            <a:prstDash val="solid"/>
            <a:round/>
            <a:headEnd type="none" w="sm" len="sm"/>
            <a:tailEnd type="triangle" w="lg" len="lg"/>
          </a:ln>
        </p:spPr>
      </p:cxnSp>
      <p:cxnSp>
        <p:nvCxnSpPr>
          <p:cNvPr id="424" name="Google Shape;424;g3a335ef999a_0_206"/>
          <p:cNvCxnSpPr>
            <a:stCxn id="417" idx="3"/>
            <a:endCxn id="420" idx="1"/>
          </p:cNvCxnSpPr>
          <p:nvPr/>
        </p:nvCxnSpPr>
        <p:spPr>
          <a:xfrm>
            <a:off x="3174575" y="8663179"/>
            <a:ext cx="2652900" cy="0"/>
          </a:xfrm>
          <a:prstGeom prst="straightConnector1">
            <a:avLst/>
          </a:prstGeom>
          <a:noFill/>
          <a:ln w="46075" cap="flat" cmpd="sng">
            <a:solidFill>
              <a:srgbClr val="001C84"/>
            </a:solidFill>
            <a:prstDash val="dot"/>
            <a:round/>
            <a:headEnd type="none" w="sm" len="sm"/>
            <a:tailEnd type="triangle" w="lg" len="lg"/>
          </a:ln>
        </p:spPr>
      </p:cxnSp>
      <p:sp>
        <p:nvSpPr>
          <p:cNvPr id="425" name="Google Shape;425;g3a335ef999a_0_206"/>
          <p:cNvSpPr/>
          <p:nvPr/>
        </p:nvSpPr>
        <p:spPr>
          <a:xfrm>
            <a:off x="8314867" y="4683776"/>
            <a:ext cx="1658100" cy="3813900"/>
          </a:xfrm>
          <a:prstGeom prst="roundRect">
            <a:avLst>
              <a:gd name="adj" fmla="val 16667"/>
            </a:avLst>
          </a:prstGeom>
          <a:solidFill>
            <a:srgbClr val="FFDC5D">
              <a:alpha val="41570"/>
            </a:srgbClr>
          </a:solidFill>
          <a:ln>
            <a:noFill/>
          </a:ln>
        </p:spPr>
        <p:txBody>
          <a:bodyPr spcFirstLastPara="1" wrap="square" lIns="82850" tIns="82850" rIns="82850" bIns="82850"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Link records using</a:t>
            </a:r>
            <a:r>
              <a:rPr lang="en-US" sz="1812">
                <a:solidFill>
                  <a:srgbClr val="001C84"/>
                </a:solidFill>
                <a:latin typeface="Open Sans"/>
                <a:ea typeface="Open Sans"/>
                <a:cs typeface="Open Sans"/>
                <a:sym typeface="Open Sans"/>
              </a:rPr>
              <a:t> </a:t>
            </a:r>
            <a:r>
              <a:rPr lang="en-US" sz="1812" b="1">
                <a:solidFill>
                  <a:srgbClr val="001C84"/>
                </a:solidFill>
                <a:latin typeface="Open Sans"/>
                <a:ea typeface="Open Sans"/>
                <a:cs typeface="Open Sans"/>
                <a:sym typeface="Open Sans"/>
              </a:rPr>
              <a:t>name </a:t>
            </a:r>
            <a:r>
              <a:rPr lang="en-US" sz="1812">
                <a:solidFill>
                  <a:srgbClr val="001C84"/>
                </a:solidFill>
                <a:latin typeface="Open Sans"/>
                <a:ea typeface="Open Sans"/>
                <a:cs typeface="Open Sans"/>
                <a:sym typeface="Open Sans"/>
              </a:rPr>
              <a:t>&amp; </a:t>
            </a:r>
            <a:r>
              <a:rPr lang="en-US" sz="1812" b="1">
                <a:solidFill>
                  <a:srgbClr val="001C84"/>
                </a:solidFill>
                <a:latin typeface="Open Sans"/>
                <a:ea typeface="Open Sans"/>
                <a:cs typeface="Open Sans"/>
                <a:sym typeface="Open Sans"/>
              </a:rPr>
              <a:t>date of birth</a:t>
            </a:r>
            <a:endParaRPr sz="1812" b="1" i="0" u="none" strike="noStrike" cap="none">
              <a:solidFill>
                <a:srgbClr val="001C84"/>
              </a:solidFill>
              <a:latin typeface="Open Sans"/>
              <a:ea typeface="Open Sans"/>
              <a:cs typeface="Open Sans"/>
              <a:sym typeface="Open Sans"/>
            </a:endParaRPr>
          </a:p>
        </p:txBody>
      </p:sp>
      <p:cxnSp>
        <p:nvCxnSpPr>
          <p:cNvPr id="426" name="Google Shape;426;g3a335ef999a_0_206"/>
          <p:cNvCxnSpPr>
            <a:stCxn id="418" idx="3"/>
          </p:cNvCxnSpPr>
          <p:nvPr/>
        </p:nvCxnSpPr>
        <p:spPr>
          <a:xfrm>
            <a:off x="7817489" y="4683555"/>
            <a:ext cx="496800" cy="1845900"/>
          </a:xfrm>
          <a:prstGeom prst="straightConnector1">
            <a:avLst/>
          </a:prstGeom>
          <a:noFill/>
          <a:ln w="46075" cap="flat" cmpd="sng">
            <a:solidFill>
              <a:srgbClr val="001C84"/>
            </a:solidFill>
            <a:prstDash val="solid"/>
            <a:round/>
            <a:headEnd type="none" w="sm" len="sm"/>
            <a:tailEnd type="triangle" w="med" len="med"/>
          </a:ln>
        </p:spPr>
      </p:cxnSp>
      <p:cxnSp>
        <p:nvCxnSpPr>
          <p:cNvPr id="427" name="Google Shape;427;g3a335ef999a_0_206"/>
          <p:cNvCxnSpPr>
            <a:stCxn id="419" idx="3"/>
            <a:endCxn id="425" idx="1"/>
          </p:cNvCxnSpPr>
          <p:nvPr/>
        </p:nvCxnSpPr>
        <p:spPr>
          <a:xfrm rot="10800000" flipH="1">
            <a:off x="7817489" y="6590867"/>
            <a:ext cx="497400" cy="82500"/>
          </a:xfrm>
          <a:prstGeom prst="straightConnector1">
            <a:avLst/>
          </a:prstGeom>
          <a:noFill/>
          <a:ln w="46075" cap="flat" cmpd="sng">
            <a:solidFill>
              <a:srgbClr val="001C84"/>
            </a:solidFill>
            <a:prstDash val="solid"/>
            <a:round/>
            <a:headEnd type="none" w="sm" len="sm"/>
            <a:tailEnd type="triangle" w="med" len="med"/>
          </a:ln>
        </p:spPr>
      </p:cxnSp>
      <p:cxnSp>
        <p:nvCxnSpPr>
          <p:cNvPr id="428" name="Google Shape;428;g3a335ef999a_0_206"/>
          <p:cNvCxnSpPr>
            <a:stCxn id="420" idx="3"/>
          </p:cNvCxnSpPr>
          <p:nvPr/>
        </p:nvCxnSpPr>
        <p:spPr>
          <a:xfrm rot="10800000" flipH="1">
            <a:off x="7817489" y="6817279"/>
            <a:ext cx="496800" cy="1845900"/>
          </a:xfrm>
          <a:prstGeom prst="straightConnector1">
            <a:avLst/>
          </a:prstGeom>
          <a:noFill/>
          <a:ln w="46075" cap="flat" cmpd="sng">
            <a:solidFill>
              <a:srgbClr val="001C84"/>
            </a:solidFill>
            <a:prstDash val="solid"/>
            <a:round/>
            <a:headEnd type="none" w="sm" len="sm"/>
            <a:tailEnd type="triangle" w="med" len="med"/>
          </a:ln>
        </p:spPr>
      </p:cxnSp>
      <p:cxnSp>
        <p:nvCxnSpPr>
          <p:cNvPr id="429" name="Google Shape;429;g3a335ef999a_0_206"/>
          <p:cNvCxnSpPr>
            <a:stCxn id="425" idx="3"/>
            <a:endCxn id="421" idx="1"/>
          </p:cNvCxnSpPr>
          <p:nvPr/>
        </p:nvCxnSpPr>
        <p:spPr>
          <a:xfrm>
            <a:off x="9972967" y="6590726"/>
            <a:ext cx="497400" cy="82500"/>
          </a:xfrm>
          <a:prstGeom prst="straightConnector1">
            <a:avLst/>
          </a:prstGeom>
          <a:noFill/>
          <a:ln w="46075" cap="flat" cmpd="sng">
            <a:solidFill>
              <a:srgbClr val="001C84"/>
            </a:solidFill>
            <a:prstDash val="solid"/>
            <a:round/>
            <a:headEnd type="none" w="sm" len="sm"/>
            <a:tailEnd type="triangle" w="lg" len="lg"/>
          </a:ln>
        </p:spPr>
      </p:cxnSp>
      <p:sp>
        <p:nvSpPr>
          <p:cNvPr id="430" name="Google Shape;430;g3a335ef999a_0_206"/>
          <p:cNvSpPr/>
          <p:nvPr/>
        </p:nvSpPr>
        <p:spPr>
          <a:xfrm>
            <a:off x="12957779" y="4849411"/>
            <a:ext cx="1658100" cy="3648300"/>
          </a:xfrm>
          <a:prstGeom prst="roundRect">
            <a:avLst>
              <a:gd name="adj" fmla="val 16667"/>
            </a:avLst>
          </a:prstGeom>
          <a:solidFill>
            <a:srgbClr val="FFDC5D">
              <a:alpha val="41570"/>
            </a:srgbClr>
          </a:solidFill>
          <a:ln>
            <a:noFill/>
          </a:ln>
        </p:spPr>
        <p:txBody>
          <a:bodyPr spcFirstLastPara="1" wrap="square" lIns="82850" tIns="82850" rIns="82850" bIns="82850"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Standardize race, ethnicity, &amp; gender variables</a:t>
            </a:r>
            <a:endParaRPr sz="1812" b="0" i="0" u="none" strike="noStrike" cap="none">
              <a:solidFill>
                <a:srgbClr val="001C84"/>
              </a:solidFill>
              <a:latin typeface="Open Sans"/>
              <a:ea typeface="Open Sans"/>
              <a:cs typeface="Open Sans"/>
              <a:sym typeface="Open Sans"/>
            </a:endParaRPr>
          </a:p>
        </p:txBody>
      </p:sp>
      <p:cxnSp>
        <p:nvCxnSpPr>
          <p:cNvPr id="431" name="Google Shape;431;g3a335ef999a_0_206"/>
          <p:cNvCxnSpPr>
            <a:stCxn id="421" idx="3"/>
            <a:endCxn id="430" idx="1"/>
          </p:cNvCxnSpPr>
          <p:nvPr/>
        </p:nvCxnSpPr>
        <p:spPr>
          <a:xfrm>
            <a:off x="12460403" y="6673305"/>
            <a:ext cx="497400" cy="300"/>
          </a:xfrm>
          <a:prstGeom prst="straightConnector1">
            <a:avLst/>
          </a:prstGeom>
          <a:noFill/>
          <a:ln w="46075" cap="flat" cmpd="sng">
            <a:solidFill>
              <a:srgbClr val="001C84"/>
            </a:solidFill>
            <a:prstDash val="solid"/>
            <a:round/>
            <a:headEnd type="none" w="sm" len="sm"/>
            <a:tailEnd type="triangle" w="lg" len="lg"/>
          </a:ln>
        </p:spPr>
      </p:cxnSp>
      <p:sp>
        <p:nvSpPr>
          <p:cNvPr id="432" name="Google Shape;432;g3a335ef999a_0_206"/>
          <p:cNvSpPr/>
          <p:nvPr/>
        </p:nvSpPr>
        <p:spPr>
          <a:xfrm>
            <a:off x="15113418" y="3854505"/>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Race options</a:t>
            </a:r>
            <a:endParaRPr sz="1812" b="0" i="0" u="none" strike="noStrike" cap="none">
              <a:solidFill>
                <a:srgbClr val="001C84"/>
              </a:solidFill>
              <a:latin typeface="Open Sans"/>
              <a:ea typeface="Open Sans"/>
              <a:cs typeface="Open Sans"/>
              <a:sym typeface="Open Sans"/>
            </a:endParaRPr>
          </a:p>
        </p:txBody>
      </p:sp>
      <p:sp>
        <p:nvSpPr>
          <p:cNvPr id="433" name="Google Shape;433;g3a335ef999a_0_206"/>
          <p:cNvSpPr/>
          <p:nvPr/>
        </p:nvSpPr>
        <p:spPr>
          <a:xfrm>
            <a:off x="15113418" y="5844317"/>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Ethnicity options</a:t>
            </a:r>
            <a:endParaRPr sz="1812" b="0" i="0" u="none" strike="noStrike" cap="none">
              <a:solidFill>
                <a:srgbClr val="001C84"/>
              </a:solidFill>
              <a:latin typeface="Open Sans"/>
              <a:ea typeface="Open Sans"/>
              <a:cs typeface="Open Sans"/>
              <a:sym typeface="Open Sans"/>
            </a:endParaRPr>
          </a:p>
        </p:txBody>
      </p:sp>
      <p:sp>
        <p:nvSpPr>
          <p:cNvPr id="434" name="Google Shape;434;g3a335ef999a_0_206"/>
          <p:cNvSpPr/>
          <p:nvPr/>
        </p:nvSpPr>
        <p:spPr>
          <a:xfrm>
            <a:off x="15113418" y="7834129"/>
            <a:ext cx="1989900" cy="1658100"/>
          </a:xfrm>
          <a:prstGeom prst="roundRect">
            <a:avLst>
              <a:gd name="adj" fmla="val 16667"/>
            </a:avLst>
          </a:prstGeom>
          <a:solidFill>
            <a:srgbClr val="FFDC5D"/>
          </a:solidFill>
          <a:ln>
            <a:noFill/>
          </a:ln>
        </p:spPr>
        <p:txBody>
          <a:bodyPr spcFirstLastPara="1" wrap="square" lIns="132675" tIns="92125" rIns="92125" bIns="92125" anchor="ctr" anchorCtr="0">
            <a:noAutofit/>
          </a:bodyPr>
          <a:lstStyle/>
          <a:p>
            <a:pPr marL="0" marR="0" lvl="0" indent="0" algn="l" rtl="0">
              <a:lnSpc>
                <a:spcPct val="100000"/>
              </a:lnSpc>
              <a:spcBef>
                <a:spcPts val="0"/>
              </a:spcBef>
              <a:spcAft>
                <a:spcPts val="0"/>
              </a:spcAft>
              <a:buClr>
                <a:srgbClr val="000000"/>
              </a:buClr>
              <a:buSzPts val="2357"/>
              <a:buFont typeface="Arial"/>
              <a:buNone/>
            </a:pPr>
            <a:r>
              <a:rPr lang="en-US" sz="1812" b="0" i="0" u="none" strike="noStrike" cap="none">
                <a:solidFill>
                  <a:srgbClr val="001C84"/>
                </a:solidFill>
                <a:latin typeface="Open Sans"/>
                <a:ea typeface="Open Sans"/>
                <a:cs typeface="Open Sans"/>
                <a:sym typeface="Open Sans"/>
              </a:rPr>
              <a:t>Gender options</a:t>
            </a:r>
            <a:endParaRPr sz="1812" b="0" i="0" u="none" strike="noStrike" cap="none">
              <a:solidFill>
                <a:srgbClr val="001C84"/>
              </a:solidFill>
              <a:latin typeface="Open Sans"/>
              <a:ea typeface="Open Sans"/>
              <a:cs typeface="Open Sans"/>
              <a:sym typeface="Open Sans"/>
            </a:endParaRPr>
          </a:p>
        </p:txBody>
      </p:sp>
      <p:cxnSp>
        <p:nvCxnSpPr>
          <p:cNvPr id="435" name="Google Shape;435;g3a335ef999a_0_206"/>
          <p:cNvCxnSpPr>
            <a:stCxn id="430" idx="3"/>
            <a:endCxn id="433" idx="1"/>
          </p:cNvCxnSpPr>
          <p:nvPr/>
        </p:nvCxnSpPr>
        <p:spPr>
          <a:xfrm rot="10800000" flipH="1">
            <a:off x="14615879" y="6673261"/>
            <a:ext cx="497400" cy="300"/>
          </a:xfrm>
          <a:prstGeom prst="straightConnector1">
            <a:avLst/>
          </a:prstGeom>
          <a:noFill/>
          <a:ln w="46075" cap="flat" cmpd="sng">
            <a:solidFill>
              <a:srgbClr val="001C84"/>
            </a:solidFill>
            <a:prstDash val="solid"/>
            <a:round/>
            <a:headEnd type="none" w="sm" len="sm"/>
            <a:tailEnd type="triangle" w="lg" len="lg"/>
          </a:ln>
        </p:spPr>
      </p:cxnSp>
      <p:cxnSp>
        <p:nvCxnSpPr>
          <p:cNvPr id="436" name="Google Shape;436;g3a335ef999a_0_206"/>
          <p:cNvCxnSpPr>
            <a:stCxn id="430" idx="3"/>
            <a:endCxn id="434" idx="1"/>
          </p:cNvCxnSpPr>
          <p:nvPr/>
        </p:nvCxnSpPr>
        <p:spPr>
          <a:xfrm>
            <a:off x="14615879" y="6673561"/>
            <a:ext cx="497539" cy="1989618"/>
          </a:xfrm>
          <a:prstGeom prst="straightConnector1">
            <a:avLst/>
          </a:prstGeom>
          <a:noFill/>
          <a:ln w="46075" cap="flat" cmpd="sng">
            <a:solidFill>
              <a:srgbClr val="001C84"/>
            </a:solidFill>
            <a:prstDash val="solid"/>
            <a:round/>
            <a:headEnd type="none" w="sm" len="sm"/>
            <a:tailEnd type="triangle" w="lg" len="lg"/>
          </a:ln>
        </p:spPr>
      </p:cxnSp>
      <p:cxnSp>
        <p:nvCxnSpPr>
          <p:cNvPr id="437" name="Google Shape;437;g3a335ef999a_0_206"/>
          <p:cNvCxnSpPr>
            <a:stCxn id="430" idx="3"/>
            <a:endCxn id="432" idx="1"/>
          </p:cNvCxnSpPr>
          <p:nvPr/>
        </p:nvCxnSpPr>
        <p:spPr>
          <a:xfrm flipV="1">
            <a:off x="14615879" y="4683555"/>
            <a:ext cx="497539" cy="1990006"/>
          </a:xfrm>
          <a:prstGeom prst="straightConnector1">
            <a:avLst/>
          </a:prstGeom>
          <a:noFill/>
          <a:ln w="46075" cap="flat" cmpd="sng">
            <a:solidFill>
              <a:srgbClr val="001C84"/>
            </a:solidFill>
            <a:prstDash val="solid"/>
            <a:round/>
            <a:headEnd type="none" w="sm" len="sm"/>
            <a:tailEnd type="triangle" w="lg" len="lg"/>
          </a:ln>
        </p:spPr>
      </p:cxnSp>
      <p:sp>
        <p:nvSpPr>
          <p:cNvPr id="438" name="Google Shape;438;g3a335ef999a_0_206"/>
          <p:cNvSpPr/>
          <p:nvPr/>
        </p:nvSpPr>
        <p:spPr>
          <a:xfrm>
            <a:off x="12568800" y="2063121"/>
            <a:ext cx="2437200" cy="7769400"/>
          </a:xfrm>
          <a:prstGeom prst="roundRect">
            <a:avLst>
              <a:gd name="adj" fmla="val 16667"/>
            </a:avLst>
          </a:prstGeom>
          <a:noFill/>
          <a:ln w="76200" cap="flat" cmpd="sng">
            <a:solidFill>
              <a:srgbClr val="FF00FF"/>
            </a:solidFill>
            <a:prstDash val="solid"/>
            <a:round/>
            <a:headEnd type="none" w="sm" len="sm"/>
            <a:tailEnd type="none" w="sm" len="sm"/>
          </a:ln>
          <a:effectLst>
            <a:outerShdw blurRad="171450" dist="19050" algn="bl" rotWithShape="0">
              <a:srgbClr val="FF00FF"/>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439" name="Google Shape;439;g3a335ef999a_0_206"/>
          <p:cNvSpPr/>
          <p:nvPr/>
        </p:nvSpPr>
        <p:spPr>
          <a:xfrm>
            <a:off x="5603938" y="2042496"/>
            <a:ext cx="2437200" cy="7769400"/>
          </a:xfrm>
          <a:prstGeom prst="roundRect">
            <a:avLst>
              <a:gd name="adj" fmla="val 16667"/>
            </a:avLst>
          </a:prstGeom>
          <a:noFill/>
          <a:ln w="76200" cap="flat" cmpd="sng">
            <a:solidFill>
              <a:srgbClr val="FF00FF"/>
            </a:solidFill>
            <a:prstDash val="solid"/>
            <a:round/>
            <a:headEnd type="none" w="sm" len="sm"/>
            <a:tailEnd type="none" w="sm" len="sm"/>
          </a:ln>
          <a:effectLst>
            <a:outerShdw blurRad="171450" dist="19050" algn="bl" rotWithShape="0">
              <a:srgbClr val="FF00FF"/>
            </a:outerShdw>
          </a:effectLst>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Open Sans"/>
              <a:ea typeface="Open Sans"/>
              <a:cs typeface="Open Sans"/>
              <a:sym typeface="Open Sans"/>
            </a:endParaRPr>
          </a:p>
        </p:txBody>
      </p:sp>
      <p:sp>
        <p:nvSpPr>
          <p:cNvPr id="440" name="Google Shape;440;g3a335ef999a_0_206"/>
          <p:cNvSpPr txBox="1"/>
          <p:nvPr/>
        </p:nvSpPr>
        <p:spPr>
          <a:xfrm>
            <a:off x="13296125" y="9935558"/>
            <a:ext cx="44820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US" sz="1800" b="0" i="0" u="none" strike="noStrike" cap="none" dirty="0">
                <a:solidFill>
                  <a:srgbClr val="001C84"/>
                </a:solidFill>
                <a:latin typeface="Open Sans"/>
                <a:ea typeface="Open Sans"/>
                <a:cs typeface="Open Sans"/>
                <a:sym typeface="Open Sans"/>
              </a:rPr>
              <a:t>Table adapted from Shaw et al. (2022)</a:t>
            </a:r>
            <a:endParaRPr sz="1800" b="0" i="0" u="none" strike="noStrike" cap="none" dirty="0">
              <a:solidFill>
                <a:srgbClr val="001C84"/>
              </a:solidFill>
              <a:latin typeface="Open Sans"/>
              <a:ea typeface="Open Sans"/>
              <a:cs typeface="Open Sans"/>
              <a:sym typeface="Open Sans"/>
            </a:endParaRPr>
          </a:p>
        </p:txBody>
      </p:sp>
      <p:sp>
        <p:nvSpPr>
          <p:cNvPr id="3" name="TextBox 2">
            <a:extLst>
              <a:ext uri="{FF2B5EF4-FFF2-40B4-BE49-F238E27FC236}">
                <a16:creationId xmlns:a16="http://schemas.microsoft.com/office/drawing/2014/main" id="{A507E681-8E4A-6AC1-AFFD-849B1CF51FA1}"/>
              </a:ext>
            </a:extLst>
          </p:cNvPr>
          <p:cNvSpPr txBox="1"/>
          <p:nvPr/>
        </p:nvSpPr>
        <p:spPr>
          <a:xfrm>
            <a:off x="587829" y="185067"/>
            <a:ext cx="17190296" cy="1754326"/>
          </a:xfrm>
          <a:prstGeom prst="rect">
            <a:avLst/>
          </a:prstGeom>
          <a:noFill/>
        </p:spPr>
        <p:txBody>
          <a:bodyPr wrap="square">
            <a:spAutoFit/>
          </a:bodyPr>
          <a:lstStyle/>
          <a:p>
            <a:r>
              <a:rPr lang="en-US" sz="36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Human choices shape race and gender data at </a:t>
            </a:r>
            <a:r>
              <a:rPr lang="en-US" sz="3600" b="1" dirty="0">
                <a:solidFill>
                  <a:srgbClr val="AB25AB"/>
                </a:solidFill>
                <a:latin typeface="Open Sans" panose="020B0606030504020204" pitchFamily="34" charset="0"/>
                <a:ea typeface="Open Sans" panose="020B0606030504020204" pitchFamily="34" charset="0"/>
                <a:cs typeface="Open Sans" panose="020B0606030504020204" pitchFamily="34" charset="0"/>
              </a:rPr>
              <a:t>two points</a:t>
            </a:r>
            <a:r>
              <a:rPr lang="en-US" sz="3600" b="1" dirty="0">
                <a:solidFill>
                  <a:srgbClr val="001B83"/>
                </a:solidFill>
                <a:latin typeface="Open Sans" panose="020B0606030504020204" pitchFamily="34" charset="0"/>
                <a:ea typeface="Open Sans" panose="020B0606030504020204" pitchFamily="34" charset="0"/>
                <a:cs typeface="Open Sans" panose="020B0606030504020204" pitchFamily="34" charset="0"/>
              </a:rPr>
              <a:t>: when agencies define the categories on their forms, and when researchers standardize those categories to link records across systems.</a:t>
            </a:r>
          </a:p>
        </p:txBody>
      </p:sp>
      <p:pic>
        <p:nvPicPr>
          <p:cNvPr id="5" name="Audio 4">
            <a:extLst>
              <a:ext uri="{FF2B5EF4-FFF2-40B4-BE49-F238E27FC236}">
                <a16:creationId xmlns:a16="http://schemas.microsoft.com/office/drawing/2014/main" id="{182515B6-A16D-842C-517C-38F0631EF89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EC78C547-161E-2438-4AA9-5DF8C0F5E45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20</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25239"/>
    </mc:Choice>
    <mc:Fallback xmlns="">
      <p:transition spd="slow" advTm="2523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g3452e97c1f4_0_730"/>
          <p:cNvSpPr txBox="1"/>
          <p:nvPr/>
        </p:nvSpPr>
        <p:spPr>
          <a:xfrm>
            <a:off x="1028700" y="847725"/>
            <a:ext cx="16230600" cy="1571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8000" b="1" dirty="0">
                <a:solidFill>
                  <a:srgbClr val="001C84"/>
                </a:solidFill>
                <a:latin typeface="Open Sans"/>
                <a:ea typeface="Open Sans"/>
                <a:cs typeface="Open Sans"/>
                <a:sym typeface="Open Sans"/>
              </a:rPr>
              <a:t>Data Chat Participants’ Insights</a:t>
            </a:r>
            <a:endParaRPr sz="1100" b="0" i="0" u="none" strike="noStrike" cap="none" dirty="0">
              <a:solidFill>
                <a:srgbClr val="000000"/>
              </a:solidFill>
              <a:latin typeface="Open Sans"/>
              <a:ea typeface="Open Sans"/>
              <a:cs typeface="Open Sans"/>
              <a:sym typeface="Open Sans"/>
            </a:endParaRPr>
          </a:p>
        </p:txBody>
      </p:sp>
      <p:sp>
        <p:nvSpPr>
          <p:cNvPr id="446" name="Google Shape;446;g3452e97c1f4_0_730"/>
          <p:cNvSpPr txBox="1"/>
          <p:nvPr/>
        </p:nvSpPr>
        <p:spPr>
          <a:xfrm>
            <a:off x="4421785" y="3246094"/>
            <a:ext cx="12562800" cy="5313600"/>
          </a:xfrm>
          <a:prstGeom prst="rect">
            <a:avLst/>
          </a:prstGeom>
          <a:noFill/>
          <a:ln>
            <a:noFill/>
          </a:ln>
        </p:spPr>
        <p:txBody>
          <a:bodyPr spcFirstLastPara="1" wrap="square" lIns="0" tIns="0" rIns="0" bIns="0" anchor="t" anchorCtr="0">
            <a:noAutofit/>
          </a:bodyPr>
          <a:lstStyle/>
          <a:p>
            <a:pPr marL="690881" marR="0" lvl="1" indent="-345438" algn="l" rtl="0">
              <a:lnSpc>
                <a:spcPct val="140000"/>
              </a:lnSpc>
              <a:spcBef>
                <a:spcPts val="0"/>
              </a:spcBef>
              <a:spcAft>
                <a:spcPts val="0"/>
              </a:spcAft>
              <a:buClr>
                <a:srgbClr val="000000"/>
              </a:buClr>
              <a:buSzPts val="3200"/>
              <a:buFont typeface="Arial"/>
              <a:buChar char="•"/>
            </a:pPr>
            <a:r>
              <a:rPr lang="en-US" sz="4000" dirty="0">
                <a:latin typeface="Open Sans"/>
                <a:ea typeface="Open Sans"/>
                <a:cs typeface="Open Sans"/>
                <a:sym typeface="Open Sans"/>
              </a:rPr>
              <a:t>Give</a:t>
            </a:r>
            <a:r>
              <a:rPr lang="en-US" sz="4000" b="0" i="0" u="none" strike="noStrike" cap="none" dirty="0">
                <a:solidFill>
                  <a:srgbClr val="000000"/>
                </a:solidFill>
                <a:latin typeface="Open Sans"/>
                <a:ea typeface="Open Sans"/>
                <a:cs typeface="Open Sans"/>
                <a:sym typeface="Open Sans"/>
              </a:rPr>
              <a:t>n your experience with demographic data collection, </a:t>
            </a:r>
            <a:r>
              <a:rPr lang="en-US" sz="4000" b="1" dirty="0">
                <a:solidFill>
                  <a:srgbClr val="001B83"/>
                </a:solidFill>
                <a:latin typeface="Open Sans"/>
                <a:ea typeface="Open Sans"/>
                <a:cs typeface="Open Sans"/>
                <a:sym typeface="Open Sans"/>
              </a:rPr>
              <a:t>what would you suggest to improve the data collection process</a:t>
            </a:r>
            <a:r>
              <a:rPr lang="en-US" sz="4000" b="1" i="0" u="none" strike="noStrike" cap="none" dirty="0">
                <a:solidFill>
                  <a:srgbClr val="001B83"/>
                </a:solidFill>
                <a:latin typeface="Open Sans"/>
                <a:ea typeface="Open Sans"/>
                <a:cs typeface="Open Sans"/>
                <a:sym typeface="Open Sans"/>
              </a:rPr>
              <a:t>?</a:t>
            </a:r>
            <a:endParaRPr sz="1400" b="0" i="0" u="none" strike="noStrike" cap="none" dirty="0">
              <a:solidFill>
                <a:srgbClr val="001B83"/>
              </a:solidFill>
              <a:latin typeface="Arial"/>
              <a:ea typeface="Arial"/>
              <a:cs typeface="Arial"/>
              <a:sym typeface="Arial"/>
            </a:endParaRPr>
          </a:p>
          <a:p>
            <a:pPr marL="0" marR="0" lvl="0" indent="0" algn="l" rtl="0">
              <a:lnSpc>
                <a:spcPct val="14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a:p>
            <a:pPr marL="690881" marR="0" lvl="2" indent="-142237" algn="l" rtl="0">
              <a:lnSpc>
                <a:spcPct val="140000"/>
              </a:lnSpc>
              <a:spcBef>
                <a:spcPts val="0"/>
              </a:spcBef>
              <a:spcAft>
                <a:spcPts val="0"/>
              </a:spcAft>
              <a:buClr>
                <a:srgbClr val="000000"/>
              </a:buClr>
              <a:buSzPts val="3200"/>
              <a:buFont typeface="Arial"/>
              <a:buNone/>
            </a:pPr>
            <a:endParaRPr sz="1800" b="0" i="0" u="none" strike="noStrike" cap="none" dirty="0">
              <a:solidFill>
                <a:srgbClr val="000000"/>
              </a:solidFill>
              <a:latin typeface="Open Sans"/>
              <a:ea typeface="Open Sans"/>
              <a:cs typeface="Open Sans"/>
              <a:sym typeface="Open Sans"/>
            </a:endParaRPr>
          </a:p>
          <a:p>
            <a:pPr marL="0" marR="0" lvl="0" indent="0" algn="l" rtl="0">
              <a:lnSpc>
                <a:spcPct val="140000"/>
              </a:lnSpc>
              <a:spcBef>
                <a:spcPts val="0"/>
              </a:spcBef>
              <a:spcAft>
                <a:spcPts val="0"/>
              </a:spcAft>
              <a:buClr>
                <a:srgbClr val="000000"/>
              </a:buClr>
              <a:buSzPts val="3200"/>
              <a:buFont typeface="Arial"/>
              <a:buNone/>
            </a:pPr>
            <a:endParaRPr sz="4000" b="0" i="0" u="none" strike="noStrike" cap="none" dirty="0">
              <a:solidFill>
                <a:srgbClr val="000000"/>
              </a:solidFill>
              <a:latin typeface="Arial"/>
              <a:ea typeface="Arial"/>
              <a:cs typeface="Arial"/>
              <a:sym typeface="Arial"/>
            </a:endParaRPr>
          </a:p>
        </p:txBody>
      </p:sp>
      <p:sp>
        <p:nvSpPr>
          <p:cNvPr id="447" name="Google Shape;447;g3452e97c1f4_0_730"/>
          <p:cNvSpPr/>
          <p:nvPr/>
        </p:nvSpPr>
        <p:spPr>
          <a:xfrm>
            <a:off x="12534098" y="7717801"/>
            <a:ext cx="5313782" cy="2069726"/>
          </a:xfrm>
          <a:custGeom>
            <a:avLst/>
            <a:gdLst/>
            <a:ahLst/>
            <a:cxnLst/>
            <a:rect l="l" t="t" r="r" b="b"/>
            <a:pathLst>
              <a:path w="8270478" h="2705524" extrusionOk="0">
                <a:moveTo>
                  <a:pt x="7648178" y="2135294"/>
                </a:moveTo>
                <a:cubicBezTo>
                  <a:pt x="7648178" y="2128944"/>
                  <a:pt x="7649449" y="2123864"/>
                  <a:pt x="7649449" y="2116244"/>
                </a:cubicBezTo>
                <a:lnTo>
                  <a:pt x="7649449" y="490220"/>
                </a:lnTo>
                <a:cubicBezTo>
                  <a:pt x="7649449" y="220980"/>
                  <a:pt x="7439899" y="0"/>
                  <a:pt x="7183358" y="0"/>
                </a:cubicBezTo>
                <a:lnTo>
                  <a:pt x="467360" y="0"/>
                </a:lnTo>
                <a:cubicBezTo>
                  <a:pt x="210820" y="0"/>
                  <a:pt x="0" y="220980"/>
                  <a:pt x="0" y="490220"/>
                </a:cubicBezTo>
                <a:lnTo>
                  <a:pt x="0" y="2116244"/>
                </a:lnTo>
                <a:cubicBezTo>
                  <a:pt x="0" y="2385484"/>
                  <a:pt x="209550" y="2606464"/>
                  <a:pt x="466090" y="2606464"/>
                </a:cubicBezTo>
                <a:lnTo>
                  <a:pt x="7182088" y="2606464"/>
                </a:lnTo>
                <a:cubicBezTo>
                  <a:pt x="7295118" y="2606464"/>
                  <a:pt x="7399258" y="2563284"/>
                  <a:pt x="7479268" y="2493434"/>
                </a:cubicBezTo>
                <a:cubicBezTo>
                  <a:pt x="7610078" y="2564554"/>
                  <a:pt x="7922498" y="2705524"/>
                  <a:pt x="8269208" y="2498514"/>
                </a:cubicBezTo>
                <a:cubicBezTo>
                  <a:pt x="8270478" y="2498514"/>
                  <a:pt x="7958058" y="2499784"/>
                  <a:pt x="7648178" y="2135294"/>
                </a:cubicBezTo>
                <a:lnTo>
                  <a:pt x="7648178" y="2135294"/>
                </a:lnTo>
                <a:close/>
              </a:path>
            </a:pathLst>
          </a:custGeom>
          <a:solidFill>
            <a:srgbClr val="001C8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448" name="Google Shape;448;g3452e97c1f4_0_730"/>
          <p:cNvSpPr txBox="1"/>
          <p:nvPr/>
        </p:nvSpPr>
        <p:spPr>
          <a:xfrm>
            <a:off x="13038693" y="8297596"/>
            <a:ext cx="3859800" cy="7389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Clr>
                <a:srgbClr val="FFFFFF"/>
              </a:buClr>
              <a:buSzPts val="8000"/>
              <a:buFont typeface="Arial"/>
              <a:buNone/>
            </a:pPr>
            <a:r>
              <a:rPr lang="en-US" sz="4800" b="1" i="0" u="none" strike="noStrike" cap="none">
                <a:solidFill>
                  <a:srgbClr val="FFFFFF"/>
                </a:solidFill>
                <a:latin typeface="Open Sans"/>
                <a:ea typeface="Open Sans"/>
                <a:cs typeface="Open Sans"/>
                <a:sym typeface="Open Sans"/>
              </a:rPr>
              <a:t>Discussion</a:t>
            </a:r>
            <a:endParaRPr sz="900" b="0" i="0" u="none" strike="noStrike" cap="none">
              <a:solidFill>
                <a:srgbClr val="000000"/>
              </a:solidFill>
              <a:latin typeface="Open Sans"/>
              <a:ea typeface="Open Sans"/>
              <a:cs typeface="Open Sans"/>
              <a:sym typeface="Open Sans"/>
            </a:endParaRPr>
          </a:p>
        </p:txBody>
      </p:sp>
      <p:pic>
        <p:nvPicPr>
          <p:cNvPr id="449" name="Google Shape;449;g3452e97c1f4_0_730" descr="A group of people holding up speech bubbles&#10;&#10;AI-generated content may be incorrect."/>
          <p:cNvPicPr preferRelativeResize="0"/>
          <p:nvPr/>
        </p:nvPicPr>
        <p:blipFill rotWithShape="1">
          <a:blip r:embed="rId5">
            <a:alphaModFix/>
          </a:blip>
          <a:srcRect/>
          <a:stretch/>
        </p:blipFill>
        <p:spPr>
          <a:xfrm>
            <a:off x="462895" y="2786566"/>
            <a:ext cx="4283086" cy="4731938"/>
          </a:xfrm>
          <a:prstGeom prst="rect">
            <a:avLst/>
          </a:prstGeom>
          <a:noFill/>
          <a:ln>
            <a:noFill/>
          </a:ln>
        </p:spPr>
      </p:pic>
      <p:pic>
        <p:nvPicPr>
          <p:cNvPr id="4" name="Audio 3">
            <a:extLst>
              <a:ext uri="{FF2B5EF4-FFF2-40B4-BE49-F238E27FC236}">
                <a16:creationId xmlns:a16="http://schemas.microsoft.com/office/drawing/2014/main" id="{EA70FD65-3168-61AD-D221-1CEC81F480B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A533727A-C541-276E-F09D-AFB6D0039948}"/>
              </a:ext>
            </a:extLst>
          </p:cNvPr>
          <p:cNvSpPr>
            <a:spLocks noGrp="1"/>
          </p:cNvSpPr>
          <p:nvPr>
            <p:ph type="sldNum" sz="quarter" idx="12"/>
          </p:nvPr>
        </p:nvSpPr>
        <p:spPr>
          <a:xfrm>
            <a:off x="12915900" y="9646492"/>
            <a:ext cx="4114800" cy="547688"/>
          </a:xfrm>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21</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6456"/>
    </mc:Choice>
    <mc:Fallback xmlns="">
      <p:transition spd="slow" advTm="164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g3730fe60eb7_1_13"/>
          <p:cNvSpPr txBox="1"/>
          <p:nvPr/>
        </p:nvSpPr>
        <p:spPr>
          <a:xfrm>
            <a:off x="1028700" y="847725"/>
            <a:ext cx="16230600" cy="93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5000" b="1" i="0" u="none" strike="noStrike" cap="none">
                <a:solidFill>
                  <a:srgbClr val="001C84"/>
                </a:solidFill>
                <a:latin typeface="Open Sans"/>
                <a:ea typeface="Open Sans"/>
                <a:cs typeface="Open Sans"/>
                <a:sym typeface="Open Sans"/>
              </a:rPr>
              <a:t>Data Collection Process</a:t>
            </a:r>
            <a:endParaRPr sz="100" b="0" i="0" u="none" strike="noStrike" cap="none">
              <a:solidFill>
                <a:srgbClr val="000000"/>
              </a:solidFill>
              <a:latin typeface="Open Sans"/>
              <a:ea typeface="Open Sans"/>
              <a:cs typeface="Open Sans"/>
              <a:sym typeface="Open Sans"/>
            </a:endParaRPr>
          </a:p>
        </p:txBody>
      </p:sp>
      <p:sp>
        <p:nvSpPr>
          <p:cNvPr id="455" name="Google Shape;455;g3730fe60eb7_1_13"/>
          <p:cNvSpPr/>
          <p:nvPr/>
        </p:nvSpPr>
        <p:spPr>
          <a:xfrm>
            <a:off x="2397950" y="2783850"/>
            <a:ext cx="40479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4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Need for Inclusive &amp; Standardized Options</a:t>
            </a:r>
            <a:endParaRPr sz="24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456" name="Google Shape;456;g3730fe60eb7_1_13"/>
          <p:cNvSpPr/>
          <p:nvPr/>
        </p:nvSpPr>
        <p:spPr>
          <a:xfrm>
            <a:off x="7120050" y="2783850"/>
            <a:ext cx="40479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Standardize Data Collection Process</a:t>
            </a:r>
            <a:endParaRPr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457" name="Google Shape;457;g3730fe60eb7_1_13"/>
          <p:cNvSpPr/>
          <p:nvPr/>
        </p:nvSpPr>
        <p:spPr>
          <a:xfrm>
            <a:off x="11842150" y="2783850"/>
            <a:ext cx="40479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Improve Training for Providers</a:t>
            </a:r>
            <a:endParaRPr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458" name="Google Shape;458;g3730fe60eb7_1_13"/>
          <p:cNvSpPr/>
          <p:nvPr/>
        </p:nvSpPr>
        <p:spPr>
          <a:xfrm>
            <a:off x="2397950" y="4146450"/>
            <a:ext cx="4047900" cy="3556376"/>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Ex. Some forms say “sex,” some say “gender”</a:t>
            </a:r>
            <a:endParaRPr sz="2400" b="0"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Not all identities are represented in options</a:t>
            </a:r>
            <a:endParaRPr sz="1400" b="0" i="0" u="none" strike="noStrike" cap="none" dirty="0">
              <a:solidFill>
                <a:srgbClr val="001B83"/>
              </a:solidFill>
              <a:latin typeface="Calibri"/>
              <a:ea typeface="Calibri"/>
              <a:cs typeface="Calibri"/>
              <a:sym typeface="Calibri"/>
            </a:endParaRPr>
          </a:p>
        </p:txBody>
      </p:sp>
      <p:sp>
        <p:nvSpPr>
          <p:cNvPr id="459" name="Google Shape;459;g3730fe60eb7_1_13"/>
          <p:cNvSpPr/>
          <p:nvPr/>
        </p:nvSpPr>
        <p:spPr>
          <a:xfrm>
            <a:off x="7120050" y="4146450"/>
            <a:ext cx="4047900" cy="144928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Self-report vs. provider asking questions</a:t>
            </a:r>
            <a:endParaRPr sz="1400" b="0" i="0" u="none" strike="noStrike" cap="none" dirty="0">
              <a:solidFill>
                <a:srgbClr val="001B83"/>
              </a:solidFill>
              <a:latin typeface="Calibri"/>
              <a:ea typeface="Calibri"/>
              <a:cs typeface="Calibri"/>
              <a:sym typeface="Calibri"/>
            </a:endParaRPr>
          </a:p>
        </p:txBody>
      </p:sp>
      <p:sp>
        <p:nvSpPr>
          <p:cNvPr id="460" name="Google Shape;460;g3730fe60eb7_1_13"/>
          <p:cNvSpPr/>
          <p:nvPr/>
        </p:nvSpPr>
        <p:spPr>
          <a:xfrm>
            <a:off x="11842150" y="4146449"/>
            <a:ext cx="4047900" cy="2055567"/>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Training on how to ask sensitive questions</a:t>
            </a:r>
            <a:endParaRPr sz="2400" b="0"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Reduce implicit bias</a:t>
            </a:r>
            <a:endParaRPr sz="2400" b="0" i="0" u="none" strike="noStrike" cap="none" dirty="0">
              <a:solidFill>
                <a:srgbClr val="001B83"/>
              </a:solidFill>
              <a:latin typeface="Open Sans"/>
              <a:ea typeface="Open Sans"/>
              <a:cs typeface="Open Sans"/>
              <a:sym typeface="Open Sans"/>
            </a:endParaRPr>
          </a:p>
        </p:txBody>
      </p:sp>
      <p:pic>
        <p:nvPicPr>
          <p:cNvPr id="4" name="Audio 3">
            <a:extLst>
              <a:ext uri="{FF2B5EF4-FFF2-40B4-BE49-F238E27FC236}">
                <a16:creationId xmlns:a16="http://schemas.microsoft.com/office/drawing/2014/main" id="{55F4EDD1-6E88-0F46-31F8-E13EF4A147C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EA3DD110-45A1-592D-764B-9654B68BC37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22</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46599"/>
    </mc:Choice>
    <mc:Fallback xmlns="">
      <p:transition spd="slow" advTm="465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g3452e97c1f4_0_209"/>
          <p:cNvSpPr txBox="1"/>
          <p:nvPr/>
        </p:nvSpPr>
        <p:spPr>
          <a:xfrm>
            <a:off x="4416287" y="3251990"/>
            <a:ext cx="13286100" cy="4063500"/>
          </a:xfrm>
          <a:prstGeom prst="rect">
            <a:avLst/>
          </a:prstGeom>
          <a:noFill/>
          <a:ln>
            <a:noFill/>
          </a:ln>
        </p:spPr>
        <p:txBody>
          <a:bodyPr spcFirstLastPara="1" wrap="square" lIns="0" tIns="0" rIns="0" bIns="0" anchor="t" anchorCtr="0">
            <a:noAutofit/>
          </a:bodyPr>
          <a:lstStyle/>
          <a:p>
            <a:pPr marL="690881" marR="0" lvl="1" indent="-345438" algn="l" rtl="0">
              <a:lnSpc>
                <a:spcPct val="140000"/>
              </a:lnSpc>
              <a:spcBef>
                <a:spcPts val="0"/>
              </a:spcBef>
              <a:spcAft>
                <a:spcPts val="0"/>
              </a:spcAft>
              <a:buClr>
                <a:srgbClr val="000000"/>
              </a:buClr>
              <a:buSzPts val="3200"/>
              <a:buFont typeface="Arial"/>
              <a:buChar char="•"/>
            </a:pPr>
            <a:r>
              <a:rPr lang="en-US" sz="4000" b="0" i="0" u="none" strike="noStrike" cap="none" dirty="0">
                <a:solidFill>
                  <a:srgbClr val="000000"/>
                </a:solidFill>
                <a:latin typeface="Open Sans"/>
                <a:ea typeface="Open Sans"/>
                <a:cs typeface="Open Sans"/>
                <a:sym typeface="Open Sans"/>
              </a:rPr>
              <a:t>Are there situations in the data intake process for homeless services that may cause you to </a:t>
            </a:r>
            <a:r>
              <a:rPr lang="en-US" sz="4000" b="1" i="0" u="none" strike="noStrike" cap="none" dirty="0">
                <a:solidFill>
                  <a:srgbClr val="001B83"/>
                </a:solidFill>
                <a:latin typeface="Open Sans"/>
                <a:ea typeface="Open Sans"/>
                <a:cs typeface="Open Sans"/>
                <a:sym typeface="Open Sans"/>
              </a:rPr>
              <a:t>not</a:t>
            </a:r>
            <a:r>
              <a:rPr lang="en-US" sz="4000" b="0" i="0" u="none" strike="noStrike" cap="none" dirty="0">
                <a:solidFill>
                  <a:srgbClr val="000000"/>
                </a:solidFill>
                <a:latin typeface="Open Sans"/>
                <a:ea typeface="Open Sans"/>
                <a:cs typeface="Open Sans"/>
                <a:sym typeface="Open Sans"/>
              </a:rPr>
              <a:t> want to answer to questions about race identity, ethnicity, and/or gender (</a:t>
            </a:r>
            <a:r>
              <a:rPr lang="en-US" sz="4000" b="1" i="0" u="none" strike="noStrike" cap="none" dirty="0">
                <a:solidFill>
                  <a:srgbClr val="001B83"/>
                </a:solidFill>
                <a:latin typeface="Open Sans"/>
                <a:ea typeface="Open Sans"/>
                <a:cs typeface="Open Sans"/>
                <a:sym typeface="Open Sans"/>
              </a:rPr>
              <a:t>disc</a:t>
            </a:r>
            <a:r>
              <a:rPr lang="en-US" sz="4000" b="1" dirty="0">
                <a:solidFill>
                  <a:srgbClr val="001B83"/>
                </a:solidFill>
                <a:latin typeface="Open Sans"/>
                <a:ea typeface="Open Sans"/>
                <a:cs typeface="Open Sans"/>
                <a:sym typeface="Open Sans"/>
              </a:rPr>
              <a:t>losure of personal information</a:t>
            </a:r>
            <a:r>
              <a:rPr lang="en-US" sz="4000" dirty="0">
                <a:latin typeface="Open Sans"/>
                <a:ea typeface="Open Sans"/>
                <a:cs typeface="Open Sans"/>
                <a:sym typeface="Open Sans"/>
              </a:rPr>
              <a:t>)</a:t>
            </a:r>
            <a:r>
              <a:rPr lang="en-US" sz="4000" b="0" i="0" u="none" strike="noStrike" cap="none" dirty="0">
                <a:solidFill>
                  <a:srgbClr val="000000"/>
                </a:solidFill>
                <a:latin typeface="Open Sans"/>
                <a:ea typeface="Open Sans"/>
                <a:cs typeface="Open Sans"/>
                <a:sym typeface="Open Sans"/>
              </a:rPr>
              <a:t>?</a:t>
            </a:r>
            <a:endParaRPr sz="4000" b="0" i="0" u="none" strike="noStrike" cap="none" dirty="0">
              <a:solidFill>
                <a:srgbClr val="000000"/>
              </a:solidFill>
              <a:latin typeface="Arial"/>
              <a:ea typeface="Arial"/>
              <a:cs typeface="Arial"/>
              <a:sym typeface="Arial"/>
            </a:endParaRPr>
          </a:p>
        </p:txBody>
      </p:sp>
      <p:sp>
        <p:nvSpPr>
          <p:cNvPr id="466" name="Google Shape;466;g3452e97c1f4_0_209"/>
          <p:cNvSpPr txBox="1"/>
          <p:nvPr/>
        </p:nvSpPr>
        <p:spPr>
          <a:xfrm>
            <a:off x="1028700" y="847725"/>
            <a:ext cx="16230600" cy="1571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9600" b="1" i="0" u="none" strike="noStrike" cap="none">
                <a:solidFill>
                  <a:srgbClr val="001C84"/>
                </a:solidFill>
                <a:latin typeface="Open Sans"/>
                <a:ea typeface="Open Sans"/>
                <a:cs typeface="Open Sans"/>
                <a:sym typeface="Open Sans"/>
              </a:rPr>
              <a:t>Data Intake Experience</a:t>
            </a:r>
            <a:endParaRPr sz="1400" b="0" i="0" u="none" strike="noStrike" cap="none">
              <a:solidFill>
                <a:srgbClr val="000000"/>
              </a:solidFill>
              <a:latin typeface="Open Sans"/>
              <a:ea typeface="Open Sans"/>
              <a:cs typeface="Open Sans"/>
              <a:sym typeface="Open Sans"/>
            </a:endParaRPr>
          </a:p>
        </p:txBody>
      </p:sp>
      <p:pic>
        <p:nvPicPr>
          <p:cNvPr id="467" name="Google Shape;467;g3452e97c1f4_0_209" descr="A group of people holding up speech bubbles&#10;&#10;AI-generated content may be incorrect."/>
          <p:cNvPicPr preferRelativeResize="0"/>
          <p:nvPr/>
        </p:nvPicPr>
        <p:blipFill rotWithShape="1">
          <a:blip r:embed="rId5">
            <a:alphaModFix/>
          </a:blip>
          <a:srcRect/>
          <a:stretch/>
        </p:blipFill>
        <p:spPr>
          <a:xfrm>
            <a:off x="462895" y="2786566"/>
            <a:ext cx="4283086" cy="4731938"/>
          </a:xfrm>
          <a:prstGeom prst="rect">
            <a:avLst/>
          </a:prstGeom>
          <a:noFill/>
          <a:ln>
            <a:noFill/>
          </a:ln>
        </p:spPr>
      </p:pic>
      <p:sp>
        <p:nvSpPr>
          <p:cNvPr id="468" name="Google Shape;468;g3452e97c1f4_0_209"/>
          <p:cNvSpPr/>
          <p:nvPr/>
        </p:nvSpPr>
        <p:spPr>
          <a:xfrm>
            <a:off x="12534098" y="7717801"/>
            <a:ext cx="5313782" cy="2069726"/>
          </a:xfrm>
          <a:custGeom>
            <a:avLst/>
            <a:gdLst/>
            <a:ahLst/>
            <a:cxnLst/>
            <a:rect l="l" t="t" r="r" b="b"/>
            <a:pathLst>
              <a:path w="8270478" h="2705524" extrusionOk="0">
                <a:moveTo>
                  <a:pt x="7648178" y="2135294"/>
                </a:moveTo>
                <a:cubicBezTo>
                  <a:pt x="7648178" y="2128944"/>
                  <a:pt x="7649449" y="2123864"/>
                  <a:pt x="7649449" y="2116244"/>
                </a:cubicBezTo>
                <a:lnTo>
                  <a:pt x="7649449" y="490220"/>
                </a:lnTo>
                <a:cubicBezTo>
                  <a:pt x="7649449" y="220980"/>
                  <a:pt x="7439899" y="0"/>
                  <a:pt x="7183358" y="0"/>
                </a:cubicBezTo>
                <a:lnTo>
                  <a:pt x="467360" y="0"/>
                </a:lnTo>
                <a:cubicBezTo>
                  <a:pt x="210820" y="0"/>
                  <a:pt x="0" y="220980"/>
                  <a:pt x="0" y="490220"/>
                </a:cubicBezTo>
                <a:lnTo>
                  <a:pt x="0" y="2116244"/>
                </a:lnTo>
                <a:cubicBezTo>
                  <a:pt x="0" y="2385484"/>
                  <a:pt x="209550" y="2606464"/>
                  <a:pt x="466090" y="2606464"/>
                </a:cubicBezTo>
                <a:lnTo>
                  <a:pt x="7182088" y="2606464"/>
                </a:lnTo>
                <a:cubicBezTo>
                  <a:pt x="7295118" y="2606464"/>
                  <a:pt x="7399258" y="2563284"/>
                  <a:pt x="7479268" y="2493434"/>
                </a:cubicBezTo>
                <a:cubicBezTo>
                  <a:pt x="7610078" y="2564554"/>
                  <a:pt x="7922498" y="2705524"/>
                  <a:pt x="8269208" y="2498514"/>
                </a:cubicBezTo>
                <a:cubicBezTo>
                  <a:pt x="8270478" y="2498514"/>
                  <a:pt x="7958058" y="2499784"/>
                  <a:pt x="7648178" y="2135294"/>
                </a:cubicBezTo>
                <a:lnTo>
                  <a:pt x="7648178" y="2135294"/>
                </a:lnTo>
                <a:close/>
              </a:path>
            </a:pathLst>
          </a:custGeom>
          <a:solidFill>
            <a:srgbClr val="001C8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469" name="Google Shape;469;g3452e97c1f4_0_209"/>
          <p:cNvSpPr txBox="1"/>
          <p:nvPr/>
        </p:nvSpPr>
        <p:spPr>
          <a:xfrm>
            <a:off x="13038693" y="8297596"/>
            <a:ext cx="3859800" cy="7389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Clr>
                <a:srgbClr val="FFFFFF"/>
              </a:buClr>
              <a:buSzPts val="8000"/>
              <a:buFont typeface="Arial"/>
              <a:buNone/>
            </a:pPr>
            <a:r>
              <a:rPr lang="en-US" sz="4800" b="1" i="0" u="none" strike="noStrike" cap="none">
                <a:solidFill>
                  <a:srgbClr val="FFFFFF"/>
                </a:solidFill>
                <a:latin typeface="Open Sans"/>
                <a:ea typeface="Open Sans"/>
                <a:cs typeface="Open Sans"/>
                <a:sym typeface="Open Sans"/>
              </a:rPr>
              <a:t>Discussion</a:t>
            </a:r>
            <a:endParaRPr sz="900" b="0" i="0" u="none" strike="noStrike" cap="none">
              <a:solidFill>
                <a:srgbClr val="000000"/>
              </a:solidFill>
              <a:latin typeface="Open Sans"/>
              <a:ea typeface="Open Sans"/>
              <a:cs typeface="Open Sans"/>
              <a:sym typeface="Open Sans"/>
            </a:endParaRPr>
          </a:p>
        </p:txBody>
      </p:sp>
      <p:pic>
        <p:nvPicPr>
          <p:cNvPr id="4" name="Audio 3">
            <a:extLst>
              <a:ext uri="{FF2B5EF4-FFF2-40B4-BE49-F238E27FC236}">
                <a16:creationId xmlns:a16="http://schemas.microsoft.com/office/drawing/2014/main" id="{C5843E5C-79DB-068B-53D7-BC2F7D23FB3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481BD491-407E-A101-B0FB-C2072362DD4B}"/>
              </a:ext>
            </a:extLst>
          </p:cNvPr>
          <p:cNvSpPr>
            <a:spLocks noGrp="1"/>
          </p:cNvSpPr>
          <p:nvPr>
            <p:ph type="sldNum" sz="quarter" idx="12"/>
          </p:nvPr>
        </p:nvSpPr>
        <p:spPr>
          <a:xfrm>
            <a:off x="12915900" y="9665153"/>
            <a:ext cx="4114800" cy="547688"/>
          </a:xfrm>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23</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8883"/>
    </mc:Choice>
    <mc:Fallback xmlns="">
      <p:transition spd="slow" advTm="188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g3730fe60eb7_1_0"/>
          <p:cNvSpPr txBox="1"/>
          <p:nvPr/>
        </p:nvSpPr>
        <p:spPr>
          <a:xfrm>
            <a:off x="1028700" y="847725"/>
            <a:ext cx="16230600" cy="93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5000" b="1" i="0" u="none" strike="noStrike" cap="none">
                <a:solidFill>
                  <a:srgbClr val="001C84"/>
                </a:solidFill>
                <a:latin typeface="Open Sans"/>
                <a:ea typeface="Open Sans"/>
                <a:cs typeface="Open Sans"/>
                <a:sym typeface="Open Sans"/>
              </a:rPr>
              <a:t>Disclosure of Personal Information</a:t>
            </a:r>
            <a:endParaRPr sz="100" b="0" i="0" u="none" strike="noStrike" cap="none">
              <a:solidFill>
                <a:srgbClr val="000000"/>
              </a:solidFill>
              <a:latin typeface="Open Sans"/>
              <a:ea typeface="Open Sans"/>
              <a:cs typeface="Open Sans"/>
              <a:sym typeface="Open Sans"/>
            </a:endParaRPr>
          </a:p>
        </p:txBody>
      </p:sp>
      <p:sp>
        <p:nvSpPr>
          <p:cNvPr id="475" name="Google Shape;475;g3730fe60eb7_1_0"/>
          <p:cNvSpPr/>
          <p:nvPr/>
        </p:nvSpPr>
        <p:spPr>
          <a:xfrm>
            <a:off x="736650" y="2362975"/>
            <a:ext cx="72405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8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Influenced by Safety &amp; Stigma</a:t>
            </a:r>
            <a:endParaRPr sz="28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476" name="Google Shape;476;g3730fe60eb7_1_0"/>
          <p:cNvSpPr/>
          <p:nvPr/>
        </p:nvSpPr>
        <p:spPr>
          <a:xfrm>
            <a:off x="8683638" y="2362975"/>
            <a:ext cx="40479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4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Affects Receipt of Services</a:t>
            </a:r>
            <a:endParaRPr sz="24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477" name="Google Shape;477;g3730fe60eb7_1_0"/>
          <p:cNvSpPr/>
          <p:nvPr/>
        </p:nvSpPr>
        <p:spPr>
          <a:xfrm>
            <a:off x="13405738" y="2362975"/>
            <a:ext cx="40479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Influenced by Level and Urgency of Need</a:t>
            </a:r>
            <a:endParaRPr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478" name="Google Shape;478;g3730fe60eb7_1_0"/>
          <p:cNvSpPr/>
          <p:nvPr/>
        </p:nvSpPr>
        <p:spPr>
          <a:xfrm>
            <a:off x="736650" y="3725575"/>
            <a:ext cx="7240500" cy="46668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Decision to disclose personal information (particularly for LGBTQ+ folks) is influenced by safety </a:t>
            </a:r>
            <a:endParaRPr sz="2400" b="0"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Particularly a concern for trans women</a:t>
            </a:r>
            <a:endParaRPr sz="2400" b="0"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a:t>
            </a:r>
            <a:r>
              <a:rPr lang="en-US" sz="2400" b="0" i="1" u="none" strike="noStrike" cap="none" dirty="0">
                <a:solidFill>
                  <a:srgbClr val="001B83"/>
                </a:solidFill>
                <a:latin typeface="Open Sans"/>
                <a:ea typeface="Open Sans"/>
                <a:cs typeface="Open Sans"/>
                <a:sym typeface="Open Sans"/>
              </a:rPr>
              <a:t>If you’re not a cisgender person, </a:t>
            </a:r>
            <a:r>
              <a:rPr lang="en-US" sz="2400" b="1" i="1" u="none" strike="noStrike" cap="none" dirty="0">
                <a:solidFill>
                  <a:srgbClr val="001B83"/>
                </a:solidFill>
                <a:latin typeface="Open Sans"/>
                <a:ea typeface="Open Sans"/>
                <a:cs typeface="Open Sans"/>
                <a:sym typeface="Open Sans"/>
              </a:rPr>
              <a:t>you are looked at as the most dangerous person</a:t>
            </a:r>
            <a:r>
              <a:rPr lang="en-US" sz="2400" b="0" i="1" u="none" strike="noStrike" cap="none" dirty="0">
                <a:solidFill>
                  <a:srgbClr val="001B83"/>
                </a:solidFill>
                <a:latin typeface="Open Sans"/>
                <a:ea typeface="Open Sans"/>
                <a:cs typeface="Open Sans"/>
                <a:sym typeface="Open Sans"/>
              </a:rPr>
              <a:t>, but in my eyes, a cisgender person is the most dangerous person to me.</a:t>
            </a:r>
            <a:r>
              <a:rPr lang="en-US" sz="2400" b="0" i="0" u="none" strike="noStrike" cap="none" dirty="0">
                <a:solidFill>
                  <a:srgbClr val="001B83"/>
                </a:solidFill>
                <a:latin typeface="Open Sans"/>
                <a:ea typeface="Open Sans"/>
                <a:cs typeface="Open Sans"/>
                <a:sym typeface="Open Sans"/>
              </a:rPr>
              <a:t>”</a:t>
            </a:r>
            <a:endParaRPr sz="2400" b="0" i="0" u="none" strike="noStrike" cap="none" dirty="0">
              <a:solidFill>
                <a:srgbClr val="001B83"/>
              </a:solidFill>
              <a:latin typeface="Open Sans"/>
              <a:ea typeface="Open Sans"/>
              <a:cs typeface="Open Sans"/>
              <a:sym typeface="Open Sans"/>
            </a:endParaRPr>
          </a:p>
        </p:txBody>
      </p:sp>
      <p:sp>
        <p:nvSpPr>
          <p:cNvPr id="479" name="Google Shape;479;g3730fe60eb7_1_0"/>
          <p:cNvSpPr/>
          <p:nvPr/>
        </p:nvSpPr>
        <p:spPr>
          <a:xfrm>
            <a:off x="8683638" y="3725575"/>
            <a:ext cx="4047900" cy="49572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May not disclose for concern of not receiving adequate services</a:t>
            </a:r>
            <a:endParaRPr sz="2400" b="0"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Oftentimes, documents (i.e., gender marker, name) have to match to receive services </a:t>
            </a:r>
            <a:endParaRPr sz="2400" b="0" i="0" u="none" strike="noStrike" cap="none" dirty="0">
              <a:solidFill>
                <a:srgbClr val="001B83"/>
              </a:solidFill>
              <a:latin typeface="Calibri"/>
              <a:ea typeface="Calibri"/>
              <a:cs typeface="Calibri"/>
              <a:sym typeface="Calibri"/>
            </a:endParaRPr>
          </a:p>
        </p:txBody>
      </p:sp>
      <p:sp>
        <p:nvSpPr>
          <p:cNvPr id="480" name="Google Shape;480;g3730fe60eb7_1_0"/>
          <p:cNvSpPr/>
          <p:nvPr/>
        </p:nvSpPr>
        <p:spPr>
          <a:xfrm>
            <a:off x="13405738" y="3725575"/>
            <a:ext cx="4047900" cy="42267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a:solidFill>
                  <a:srgbClr val="001B83"/>
                </a:solidFill>
                <a:latin typeface="Open Sans"/>
                <a:ea typeface="Open Sans"/>
                <a:cs typeface="Open Sans"/>
                <a:sym typeface="Open Sans"/>
              </a:rPr>
              <a:t>If someone’s needs are high or urgent, they may choose what to disclose based on what they think will get them help fastest </a:t>
            </a:r>
            <a:endParaRPr sz="2400" b="0" i="0" u="none" strike="noStrike" cap="none">
              <a:solidFill>
                <a:srgbClr val="001B83"/>
              </a:solidFill>
              <a:latin typeface="Open Sans"/>
              <a:ea typeface="Open Sans"/>
              <a:cs typeface="Open Sans"/>
              <a:sym typeface="Open Sans"/>
            </a:endParaRPr>
          </a:p>
        </p:txBody>
      </p:sp>
      <p:pic>
        <p:nvPicPr>
          <p:cNvPr id="4" name="Audio 3">
            <a:extLst>
              <a:ext uri="{FF2B5EF4-FFF2-40B4-BE49-F238E27FC236}">
                <a16:creationId xmlns:a16="http://schemas.microsoft.com/office/drawing/2014/main" id="{47176290-EEE7-D8A3-D9E0-048213FCB7CB}"/>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B3F375C0-BA00-69CF-9FE5-902F777D596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24</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99826"/>
    </mc:Choice>
    <mc:Fallback xmlns="">
      <p:transition spd="slow" advTm="998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g3452e97c1f4_0_138"/>
          <p:cNvSpPr txBox="1"/>
          <p:nvPr/>
        </p:nvSpPr>
        <p:spPr>
          <a:xfrm>
            <a:off x="1028700" y="847725"/>
            <a:ext cx="16230600" cy="15717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9600" b="1" i="0" u="none" strike="noStrike" cap="none">
                <a:solidFill>
                  <a:srgbClr val="001C84"/>
                </a:solidFill>
                <a:latin typeface="Open Sans"/>
                <a:ea typeface="Open Sans"/>
                <a:cs typeface="Open Sans"/>
                <a:sym typeface="Open Sans"/>
              </a:rPr>
              <a:t>Data Intake Experience</a:t>
            </a:r>
            <a:endParaRPr sz="1400" b="0" i="0" u="none" strike="noStrike" cap="none">
              <a:solidFill>
                <a:srgbClr val="000000"/>
              </a:solidFill>
              <a:latin typeface="Open Sans"/>
              <a:ea typeface="Open Sans"/>
              <a:cs typeface="Open Sans"/>
              <a:sym typeface="Open Sans"/>
            </a:endParaRPr>
          </a:p>
        </p:txBody>
      </p:sp>
      <p:sp>
        <p:nvSpPr>
          <p:cNvPr id="486" name="Google Shape;486;g3452e97c1f4_0_138"/>
          <p:cNvSpPr txBox="1"/>
          <p:nvPr/>
        </p:nvSpPr>
        <p:spPr>
          <a:xfrm>
            <a:off x="4421785" y="3246094"/>
            <a:ext cx="12562800" cy="5313600"/>
          </a:xfrm>
          <a:prstGeom prst="rect">
            <a:avLst/>
          </a:prstGeom>
          <a:noFill/>
          <a:ln>
            <a:noFill/>
          </a:ln>
        </p:spPr>
        <p:txBody>
          <a:bodyPr spcFirstLastPara="1" wrap="square" lIns="0" tIns="0" rIns="0" bIns="0" anchor="t" anchorCtr="0">
            <a:noAutofit/>
          </a:bodyPr>
          <a:lstStyle/>
          <a:p>
            <a:pPr marL="690881" marR="0" lvl="1" indent="-345438" algn="l" rtl="0">
              <a:lnSpc>
                <a:spcPct val="140000"/>
              </a:lnSpc>
              <a:spcBef>
                <a:spcPts val="0"/>
              </a:spcBef>
              <a:spcAft>
                <a:spcPts val="0"/>
              </a:spcAft>
              <a:buClr>
                <a:srgbClr val="000000"/>
              </a:buClr>
              <a:buSzPts val="3200"/>
              <a:buFont typeface="Arial"/>
              <a:buChar char="•"/>
            </a:pPr>
            <a:r>
              <a:rPr lang="en-US" sz="4000" b="1" i="0" u="none" strike="noStrike" cap="none" dirty="0">
                <a:solidFill>
                  <a:srgbClr val="001B83"/>
                </a:solidFill>
                <a:latin typeface="Open Sans"/>
                <a:ea typeface="Open Sans"/>
                <a:cs typeface="Open Sans"/>
                <a:sym typeface="Open Sans"/>
              </a:rPr>
              <a:t>How important is it </a:t>
            </a:r>
            <a:r>
              <a:rPr lang="en-US" sz="4000" b="0" i="0" u="none" strike="noStrike" cap="none" dirty="0">
                <a:solidFill>
                  <a:srgbClr val="000000"/>
                </a:solidFill>
                <a:latin typeface="Open Sans"/>
                <a:ea typeface="Open Sans"/>
                <a:cs typeface="Open Sans"/>
                <a:sym typeface="Open Sans"/>
              </a:rPr>
              <a:t>to collect these demographic variables?</a:t>
            </a:r>
            <a:r>
              <a:rPr lang="en-US" sz="4000" b="1" i="0" u="none" strike="noStrike" cap="none" dirty="0">
                <a:solidFill>
                  <a:srgbClr val="000000"/>
                </a:solidFill>
                <a:latin typeface="Open Sans"/>
                <a:ea typeface="Open Sans"/>
                <a:cs typeface="Open Sans"/>
                <a:sym typeface="Open Sans"/>
              </a:rPr>
              <a:t> </a:t>
            </a:r>
            <a:r>
              <a:rPr lang="en-US" sz="4000" b="1" i="0" u="none" strike="noStrike" cap="none" dirty="0">
                <a:solidFill>
                  <a:srgbClr val="001B83"/>
                </a:solidFill>
                <a:latin typeface="Open Sans"/>
                <a:ea typeface="Open Sans"/>
                <a:cs typeface="Open Sans"/>
                <a:sym typeface="Open Sans"/>
              </a:rPr>
              <a:t>Why?</a:t>
            </a:r>
            <a:endParaRPr sz="4000" b="1" i="0" u="none" strike="noStrike" cap="none" dirty="0">
              <a:solidFill>
                <a:srgbClr val="001B83"/>
              </a:solidFill>
              <a:latin typeface="Open Sans"/>
              <a:ea typeface="Open Sans"/>
              <a:cs typeface="Open Sans"/>
              <a:sym typeface="Open Sans"/>
            </a:endParaRPr>
          </a:p>
          <a:p>
            <a:pPr marL="914400" marR="0" lvl="1" indent="-482600" algn="l" rtl="0">
              <a:lnSpc>
                <a:spcPct val="140000"/>
              </a:lnSpc>
              <a:spcBef>
                <a:spcPts val="0"/>
              </a:spcBef>
              <a:spcAft>
                <a:spcPts val="0"/>
              </a:spcAft>
              <a:buClr>
                <a:srgbClr val="000000"/>
              </a:buClr>
              <a:buSzPts val="4000"/>
              <a:buFont typeface="Open Sans"/>
              <a:buChar char="•"/>
            </a:pPr>
            <a:r>
              <a:rPr lang="en-US" sz="4000" b="0" i="0" u="none" strike="noStrike" cap="none" dirty="0">
                <a:solidFill>
                  <a:schemeClr val="dk1"/>
                </a:solidFill>
                <a:latin typeface="Open Sans"/>
                <a:ea typeface="Open Sans"/>
                <a:cs typeface="Open Sans"/>
                <a:sym typeface="Open Sans"/>
              </a:rPr>
              <a:t>How does the data intake experience </a:t>
            </a:r>
            <a:r>
              <a:rPr lang="en-US" sz="4000" b="1" i="0" u="none" strike="noStrike" cap="none" dirty="0">
                <a:solidFill>
                  <a:srgbClr val="001B83"/>
                </a:solidFill>
                <a:latin typeface="Open Sans"/>
                <a:ea typeface="Open Sans"/>
                <a:cs typeface="Open Sans"/>
                <a:sym typeface="Open Sans"/>
              </a:rPr>
              <a:t>address your needs</a:t>
            </a:r>
            <a:r>
              <a:rPr lang="en-US" sz="4000" b="0" i="0" u="none" strike="noStrike" cap="none" dirty="0">
                <a:solidFill>
                  <a:schemeClr val="dk1"/>
                </a:solidFill>
                <a:latin typeface="Open Sans"/>
                <a:ea typeface="Open Sans"/>
                <a:cs typeface="Open Sans"/>
                <a:sym typeface="Open Sans"/>
              </a:rPr>
              <a:t>? Where does it fall short?</a:t>
            </a:r>
            <a:endParaRPr sz="4000" b="1" i="0" u="none" strike="noStrike" cap="none" dirty="0">
              <a:solidFill>
                <a:srgbClr val="000000"/>
              </a:solidFill>
              <a:latin typeface="Open Sans"/>
              <a:ea typeface="Open Sans"/>
              <a:cs typeface="Open Sans"/>
              <a:sym typeface="Open Sans"/>
            </a:endParaRPr>
          </a:p>
          <a:p>
            <a:pPr marL="690881" marR="0" lvl="2" indent="-142237" algn="l" rtl="0">
              <a:lnSpc>
                <a:spcPct val="140000"/>
              </a:lnSpc>
              <a:spcBef>
                <a:spcPts val="0"/>
              </a:spcBef>
              <a:spcAft>
                <a:spcPts val="0"/>
              </a:spcAft>
              <a:buClr>
                <a:srgbClr val="000000"/>
              </a:buClr>
              <a:buSzPts val="3200"/>
              <a:buFont typeface="Arial"/>
              <a:buNone/>
            </a:pPr>
            <a:endParaRPr sz="1800" b="0" i="0" u="none" strike="noStrike" cap="none" dirty="0">
              <a:solidFill>
                <a:srgbClr val="000000"/>
              </a:solidFill>
              <a:latin typeface="Open Sans"/>
              <a:ea typeface="Open Sans"/>
              <a:cs typeface="Open Sans"/>
              <a:sym typeface="Open Sans"/>
            </a:endParaRPr>
          </a:p>
          <a:p>
            <a:pPr marL="0" marR="0" lvl="0" indent="0" algn="l" rtl="0">
              <a:lnSpc>
                <a:spcPct val="140000"/>
              </a:lnSpc>
              <a:spcBef>
                <a:spcPts val="0"/>
              </a:spcBef>
              <a:spcAft>
                <a:spcPts val="0"/>
              </a:spcAft>
              <a:buClr>
                <a:srgbClr val="000000"/>
              </a:buClr>
              <a:buSzPts val="3200"/>
              <a:buFont typeface="Arial"/>
              <a:buNone/>
            </a:pPr>
            <a:endParaRPr sz="4000" b="0" i="0" u="none" strike="noStrike" cap="none" dirty="0">
              <a:solidFill>
                <a:srgbClr val="000000"/>
              </a:solidFill>
              <a:latin typeface="Arial"/>
              <a:ea typeface="Arial"/>
              <a:cs typeface="Arial"/>
              <a:sym typeface="Arial"/>
            </a:endParaRPr>
          </a:p>
        </p:txBody>
      </p:sp>
      <p:sp>
        <p:nvSpPr>
          <p:cNvPr id="487" name="Google Shape;487;g3452e97c1f4_0_138"/>
          <p:cNvSpPr/>
          <p:nvPr/>
        </p:nvSpPr>
        <p:spPr>
          <a:xfrm>
            <a:off x="12534098" y="7717801"/>
            <a:ext cx="5313782" cy="2069726"/>
          </a:xfrm>
          <a:custGeom>
            <a:avLst/>
            <a:gdLst/>
            <a:ahLst/>
            <a:cxnLst/>
            <a:rect l="l" t="t" r="r" b="b"/>
            <a:pathLst>
              <a:path w="8270478" h="2705524" extrusionOk="0">
                <a:moveTo>
                  <a:pt x="7648178" y="2135294"/>
                </a:moveTo>
                <a:cubicBezTo>
                  <a:pt x="7648178" y="2128944"/>
                  <a:pt x="7649449" y="2123864"/>
                  <a:pt x="7649449" y="2116244"/>
                </a:cubicBezTo>
                <a:lnTo>
                  <a:pt x="7649449" y="490220"/>
                </a:lnTo>
                <a:cubicBezTo>
                  <a:pt x="7649449" y="220980"/>
                  <a:pt x="7439899" y="0"/>
                  <a:pt x="7183358" y="0"/>
                </a:cubicBezTo>
                <a:lnTo>
                  <a:pt x="467360" y="0"/>
                </a:lnTo>
                <a:cubicBezTo>
                  <a:pt x="210820" y="0"/>
                  <a:pt x="0" y="220980"/>
                  <a:pt x="0" y="490220"/>
                </a:cubicBezTo>
                <a:lnTo>
                  <a:pt x="0" y="2116244"/>
                </a:lnTo>
                <a:cubicBezTo>
                  <a:pt x="0" y="2385484"/>
                  <a:pt x="209550" y="2606464"/>
                  <a:pt x="466090" y="2606464"/>
                </a:cubicBezTo>
                <a:lnTo>
                  <a:pt x="7182088" y="2606464"/>
                </a:lnTo>
                <a:cubicBezTo>
                  <a:pt x="7295118" y="2606464"/>
                  <a:pt x="7399258" y="2563284"/>
                  <a:pt x="7479268" y="2493434"/>
                </a:cubicBezTo>
                <a:cubicBezTo>
                  <a:pt x="7610078" y="2564554"/>
                  <a:pt x="7922498" y="2705524"/>
                  <a:pt x="8269208" y="2498514"/>
                </a:cubicBezTo>
                <a:cubicBezTo>
                  <a:pt x="8270478" y="2498514"/>
                  <a:pt x="7958058" y="2499784"/>
                  <a:pt x="7648178" y="2135294"/>
                </a:cubicBezTo>
                <a:lnTo>
                  <a:pt x="7648178" y="2135294"/>
                </a:lnTo>
                <a:close/>
              </a:path>
            </a:pathLst>
          </a:custGeom>
          <a:solidFill>
            <a:srgbClr val="001C8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rgbClr val="000000"/>
              </a:solidFill>
              <a:latin typeface="Arial"/>
              <a:ea typeface="Arial"/>
              <a:cs typeface="Arial"/>
              <a:sym typeface="Arial"/>
            </a:endParaRPr>
          </a:p>
        </p:txBody>
      </p:sp>
      <p:sp>
        <p:nvSpPr>
          <p:cNvPr id="488" name="Google Shape;488;g3452e97c1f4_0_138"/>
          <p:cNvSpPr txBox="1"/>
          <p:nvPr/>
        </p:nvSpPr>
        <p:spPr>
          <a:xfrm>
            <a:off x="13038693" y="8297596"/>
            <a:ext cx="3859800" cy="73890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Clr>
                <a:srgbClr val="FFFFFF"/>
              </a:buClr>
              <a:buSzPts val="8000"/>
              <a:buFont typeface="Arial"/>
              <a:buNone/>
            </a:pPr>
            <a:r>
              <a:rPr lang="en-US" sz="4800" b="1" i="0" u="none" strike="noStrike" cap="none">
                <a:solidFill>
                  <a:srgbClr val="FFFFFF"/>
                </a:solidFill>
                <a:latin typeface="Open Sans"/>
                <a:ea typeface="Open Sans"/>
                <a:cs typeface="Open Sans"/>
                <a:sym typeface="Open Sans"/>
              </a:rPr>
              <a:t>Discussion</a:t>
            </a:r>
            <a:endParaRPr sz="900" b="0" i="0" u="none" strike="noStrike" cap="none">
              <a:solidFill>
                <a:srgbClr val="000000"/>
              </a:solidFill>
              <a:latin typeface="Open Sans"/>
              <a:ea typeface="Open Sans"/>
              <a:cs typeface="Open Sans"/>
              <a:sym typeface="Open Sans"/>
            </a:endParaRPr>
          </a:p>
        </p:txBody>
      </p:sp>
      <p:pic>
        <p:nvPicPr>
          <p:cNvPr id="489" name="Google Shape;489;g3452e97c1f4_0_138" descr="A group of people holding up speech bubbles&#10;&#10;AI-generated content may be incorrect."/>
          <p:cNvPicPr preferRelativeResize="0"/>
          <p:nvPr/>
        </p:nvPicPr>
        <p:blipFill rotWithShape="1">
          <a:blip r:embed="rId5">
            <a:alphaModFix/>
          </a:blip>
          <a:srcRect/>
          <a:stretch/>
        </p:blipFill>
        <p:spPr>
          <a:xfrm>
            <a:off x="462895" y="2786566"/>
            <a:ext cx="4283086" cy="4731938"/>
          </a:xfrm>
          <a:prstGeom prst="rect">
            <a:avLst/>
          </a:prstGeom>
          <a:noFill/>
          <a:ln>
            <a:noFill/>
          </a:ln>
        </p:spPr>
      </p:pic>
      <p:pic>
        <p:nvPicPr>
          <p:cNvPr id="4" name="Audio 3">
            <a:extLst>
              <a:ext uri="{FF2B5EF4-FFF2-40B4-BE49-F238E27FC236}">
                <a16:creationId xmlns:a16="http://schemas.microsoft.com/office/drawing/2014/main" id="{9DA6B42E-437A-D925-108B-94FF300B7E0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7CEF9E98-5B65-1994-A968-1B18DB6C0D95}"/>
              </a:ext>
            </a:extLst>
          </p:cNvPr>
          <p:cNvSpPr>
            <a:spLocks noGrp="1"/>
          </p:cNvSpPr>
          <p:nvPr>
            <p:ph type="sldNum" sz="quarter" idx="12"/>
          </p:nvPr>
        </p:nvSpPr>
        <p:spPr>
          <a:xfrm>
            <a:off x="12915900" y="9683814"/>
            <a:ext cx="4114800" cy="547688"/>
          </a:xfrm>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25</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6845"/>
    </mc:Choice>
    <mc:Fallback xmlns="">
      <p:transition spd="slow" advTm="168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g373518e3478_0_231"/>
          <p:cNvSpPr txBox="1"/>
          <p:nvPr/>
        </p:nvSpPr>
        <p:spPr>
          <a:xfrm>
            <a:off x="1028700" y="847725"/>
            <a:ext cx="16230600" cy="93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5000" b="1" i="0" u="none" strike="noStrike" cap="none">
                <a:solidFill>
                  <a:srgbClr val="001C84"/>
                </a:solidFill>
                <a:latin typeface="Open Sans"/>
                <a:ea typeface="Open Sans"/>
                <a:cs typeface="Open Sans"/>
                <a:sym typeface="Open Sans"/>
              </a:rPr>
              <a:t>Necessity of Data Collection</a:t>
            </a:r>
            <a:endParaRPr sz="100" b="0" i="0" u="none" strike="noStrike" cap="none">
              <a:solidFill>
                <a:srgbClr val="000000"/>
              </a:solidFill>
              <a:latin typeface="Open Sans"/>
              <a:ea typeface="Open Sans"/>
              <a:cs typeface="Open Sans"/>
              <a:sym typeface="Open Sans"/>
            </a:endParaRPr>
          </a:p>
        </p:txBody>
      </p:sp>
      <p:sp>
        <p:nvSpPr>
          <p:cNvPr id="495" name="Google Shape;495;g373518e3478_0_231"/>
          <p:cNvSpPr/>
          <p:nvPr/>
        </p:nvSpPr>
        <p:spPr>
          <a:xfrm>
            <a:off x="3113638" y="1990175"/>
            <a:ext cx="49965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8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Important for Funding</a:t>
            </a:r>
            <a:endParaRPr sz="28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496" name="Google Shape;496;g373518e3478_0_231"/>
          <p:cNvSpPr/>
          <p:nvPr/>
        </p:nvSpPr>
        <p:spPr>
          <a:xfrm>
            <a:off x="8784363" y="1990175"/>
            <a:ext cx="63900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8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Important in Identifying Gaps</a:t>
            </a:r>
            <a:endParaRPr sz="28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497" name="Google Shape;497;g373518e3478_0_231"/>
          <p:cNvSpPr/>
          <p:nvPr/>
        </p:nvSpPr>
        <p:spPr>
          <a:xfrm>
            <a:off x="3113638" y="3352775"/>
            <a:ext cx="4996500" cy="47484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Funding requires organizations to report on who they are servicing</a:t>
            </a:r>
            <a:endParaRPr sz="2400" b="0"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Funds may be </a:t>
            </a:r>
            <a:r>
              <a:rPr lang="en-US" sz="2400" b="1" i="0" u="none" strike="noStrike" cap="none" dirty="0">
                <a:solidFill>
                  <a:srgbClr val="001B83"/>
                </a:solidFill>
                <a:latin typeface="Open Sans"/>
                <a:ea typeface="Open Sans"/>
                <a:cs typeface="Open Sans"/>
                <a:sym typeface="Open Sans"/>
              </a:rPr>
              <a:t>available for certain populations</a:t>
            </a:r>
            <a:r>
              <a:rPr lang="en-US" sz="2400" b="0" i="0" u="none" strike="noStrike" cap="none" dirty="0">
                <a:solidFill>
                  <a:srgbClr val="001B83"/>
                </a:solidFill>
                <a:latin typeface="Open Sans"/>
                <a:ea typeface="Open Sans"/>
                <a:cs typeface="Open Sans"/>
                <a:sym typeface="Open Sans"/>
              </a:rPr>
              <a:t>, so it’s important to know what populations are serviced</a:t>
            </a:r>
            <a:endParaRPr sz="2400" b="0" i="0" u="none" strike="noStrike" cap="none" dirty="0">
              <a:solidFill>
                <a:srgbClr val="001B83"/>
              </a:solidFill>
              <a:latin typeface="Open Sans"/>
              <a:ea typeface="Open Sans"/>
              <a:cs typeface="Open Sans"/>
              <a:sym typeface="Open Sans"/>
            </a:endParaRPr>
          </a:p>
        </p:txBody>
      </p:sp>
      <p:sp>
        <p:nvSpPr>
          <p:cNvPr id="498" name="Google Shape;498;g373518e3478_0_231"/>
          <p:cNvSpPr/>
          <p:nvPr/>
        </p:nvSpPr>
        <p:spPr>
          <a:xfrm>
            <a:off x="8784363" y="3352775"/>
            <a:ext cx="6390000" cy="64593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a:solidFill>
                  <a:srgbClr val="001B83"/>
                </a:solidFill>
                <a:latin typeface="Open Sans"/>
                <a:ea typeface="Open Sans"/>
                <a:cs typeface="Open Sans"/>
                <a:sym typeface="Open Sans"/>
              </a:rPr>
              <a:t>Collecting demographic data can help identify care gaps, which populations are not serviced equally and equitably</a:t>
            </a:r>
            <a:endParaRPr sz="2400" b="0" i="0" u="none" strike="noStrike" cap="none">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a:solidFill>
                  <a:srgbClr val="001B83"/>
                </a:solidFill>
                <a:latin typeface="Open Sans"/>
                <a:ea typeface="Open Sans"/>
                <a:cs typeface="Open Sans"/>
                <a:sym typeface="Open Sans"/>
              </a:rPr>
              <a:t>“</a:t>
            </a:r>
            <a:r>
              <a:rPr lang="en-US" sz="2400" b="0" i="1" u="none" strike="noStrike" cap="none">
                <a:solidFill>
                  <a:srgbClr val="001B83"/>
                </a:solidFill>
                <a:latin typeface="Open Sans"/>
                <a:ea typeface="Open Sans"/>
                <a:cs typeface="Open Sans"/>
                <a:sym typeface="Open Sans"/>
              </a:rPr>
              <a:t>[Race] still plays a huge part. History definitely ties into that because if you were given less from the beginning and then there’s people that were given more, then </a:t>
            </a:r>
            <a:r>
              <a:rPr lang="en-US" sz="2400" b="1" i="1" u="none" strike="noStrike" cap="none">
                <a:solidFill>
                  <a:srgbClr val="001B83"/>
                </a:solidFill>
                <a:latin typeface="Open Sans"/>
                <a:ea typeface="Open Sans"/>
                <a:cs typeface="Open Sans"/>
                <a:sym typeface="Open Sans"/>
              </a:rPr>
              <a:t>you’re constantly trying to play catch up in a system that wants you to stay down</a:t>
            </a:r>
            <a:r>
              <a:rPr lang="en-US" sz="2400" b="0" i="1" u="none" strike="noStrike" cap="none">
                <a:solidFill>
                  <a:srgbClr val="001B83"/>
                </a:solidFill>
                <a:latin typeface="Open Sans"/>
                <a:ea typeface="Open Sans"/>
                <a:cs typeface="Open Sans"/>
                <a:sym typeface="Open Sans"/>
              </a:rPr>
              <a:t>.</a:t>
            </a:r>
            <a:r>
              <a:rPr lang="en-US" sz="2400" b="0" i="0" u="none" strike="noStrike" cap="none">
                <a:solidFill>
                  <a:srgbClr val="001B83"/>
                </a:solidFill>
                <a:latin typeface="Open Sans"/>
                <a:ea typeface="Open Sans"/>
                <a:cs typeface="Open Sans"/>
                <a:sym typeface="Open Sans"/>
              </a:rPr>
              <a:t>”</a:t>
            </a:r>
            <a:endParaRPr sz="2400" b="0" i="0" u="none" strike="noStrike" cap="none">
              <a:solidFill>
                <a:srgbClr val="001B83"/>
              </a:solidFill>
              <a:latin typeface="Open Sans"/>
              <a:ea typeface="Open Sans"/>
              <a:cs typeface="Open Sans"/>
              <a:sym typeface="Open Sans"/>
            </a:endParaRPr>
          </a:p>
        </p:txBody>
      </p:sp>
      <p:pic>
        <p:nvPicPr>
          <p:cNvPr id="4" name="Audio 3">
            <a:extLst>
              <a:ext uri="{FF2B5EF4-FFF2-40B4-BE49-F238E27FC236}">
                <a16:creationId xmlns:a16="http://schemas.microsoft.com/office/drawing/2014/main" id="{1B4B7637-5374-B7AE-0A15-FD092EDB8169}"/>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D05AD071-25A1-5E74-06F5-76B7E6DBA38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26</a:t>
            </a:fld>
            <a:endParaRPr lang="en-US" dirty="0">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51284"/>
    </mc:Choice>
    <mc:Fallback xmlns="">
      <p:transition spd="slow" advTm="512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3730fe60eb7_1_61"/>
          <p:cNvSpPr txBox="1"/>
          <p:nvPr/>
        </p:nvSpPr>
        <p:spPr>
          <a:xfrm>
            <a:off x="1028700" y="847725"/>
            <a:ext cx="16230600" cy="93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5000" b="1" i="0" u="none" strike="noStrike" cap="none">
                <a:solidFill>
                  <a:srgbClr val="001C84"/>
                </a:solidFill>
                <a:latin typeface="Open Sans"/>
                <a:ea typeface="Open Sans"/>
                <a:cs typeface="Open Sans"/>
                <a:sym typeface="Open Sans"/>
              </a:rPr>
              <a:t>Necessity of Data Collection (Con</a:t>
            </a:r>
            <a:r>
              <a:rPr lang="en-US" sz="5000" b="1">
                <a:solidFill>
                  <a:srgbClr val="001C84"/>
                </a:solidFill>
                <a:latin typeface="Open Sans"/>
                <a:ea typeface="Open Sans"/>
                <a:cs typeface="Open Sans"/>
                <a:sym typeface="Open Sans"/>
              </a:rPr>
              <a:t>’t)</a:t>
            </a:r>
            <a:endParaRPr sz="100" b="0" i="0" u="none" strike="noStrike" cap="none">
              <a:solidFill>
                <a:srgbClr val="000000"/>
              </a:solidFill>
              <a:latin typeface="Open Sans"/>
              <a:ea typeface="Open Sans"/>
              <a:cs typeface="Open Sans"/>
              <a:sym typeface="Open Sans"/>
            </a:endParaRPr>
          </a:p>
        </p:txBody>
      </p:sp>
      <p:sp>
        <p:nvSpPr>
          <p:cNvPr id="504" name="Google Shape;504;g3730fe60eb7_1_61"/>
          <p:cNvSpPr/>
          <p:nvPr/>
        </p:nvSpPr>
        <p:spPr>
          <a:xfrm>
            <a:off x="2784311" y="2121675"/>
            <a:ext cx="12817927" cy="1088664"/>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32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Purpose Matters</a:t>
            </a:r>
            <a:endParaRPr sz="32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05" name="Google Shape;505;g3730fe60eb7_1_61"/>
          <p:cNvSpPr/>
          <p:nvPr/>
        </p:nvSpPr>
        <p:spPr>
          <a:xfrm>
            <a:off x="2784300" y="3414701"/>
            <a:ext cx="12719400" cy="6459300"/>
          </a:xfrm>
          <a:prstGeom prst="roundRect">
            <a:avLst>
              <a:gd name="adj" fmla="val 9281"/>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Could be beneficial if used for </a:t>
            </a:r>
            <a:r>
              <a:rPr lang="en-US" sz="2400" b="1" i="0" u="none" strike="noStrike" cap="none" dirty="0">
                <a:solidFill>
                  <a:srgbClr val="001B83"/>
                </a:solidFill>
                <a:latin typeface="Open Sans"/>
                <a:ea typeface="Open Sans"/>
                <a:cs typeface="Open Sans"/>
                <a:sym typeface="Open Sans"/>
              </a:rPr>
              <a:t>positive purposes</a:t>
            </a:r>
            <a:r>
              <a:rPr lang="en-US" sz="2400" b="0" i="0" u="none" strike="noStrike" cap="none" dirty="0">
                <a:solidFill>
                  <a:srgbClr val="001B83"/>
                </a:solidFill>
                <a:latin typeface="Open Sans"/>
                <a:ea typeface="Open Sans"/>
                <a:cs typeface="Open Sans"/>
                <a:sym typeface="Open Sans"/>
              </a:rPr>
              <a:t> (i.e., making sure you’re in a safe environment, </a:t>
            </a:r>
            <a:r>
              <a:rPr lang="en-US" sz="2400" b="1" i="0" u="none" strike="noStrike" cap="none" dirty="0">
                <a:solidFill>
                  <a:srgbClr val="001B83"/>
                </a:solidFill>
                <a:latin typeface="Open Sans"/>
                <a:ea typeface="Open Sans"/>
                <a:cs typeface="Open Sans"/>
                <a:sym typeface="Open Sans"/>
              </a:rPr>
              <a:t>LGBTQ+ inclusive</a:t>
            </a:r>
            <a:r>
              <a:rPr lang="en-US" sz="2400" b="0" i="0" u="none" strike="noStrike" cap="none" dirty="0">
                <a:solidFill>
                  <a:srgbClr val="001B83"/>
                </a:solidFill>
                <a:latin typeface="Open Sans"/>
                <a:ea typeface="Open Sans"/>
                <a:cs typeface="Open Sans"/>
                <a:sym typeface="Open Sans"/>
              </a:rPr>
              <a:t> housing)</a:t>
            </a:r>
            <a:endParaRPr sz="2400" b="0"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People want to know why you’re asking, otherwise it could be a </a:t>
            </a:r>
            <a:r>
              <a:rPr lang="en-US" sz="2400" b="1" i="0" u="none" strike="noStrike" cap="none" dirty="0">
                <a:solidFill>
                  <a:srgbClr val="001B83"/>
                </a:solidFill>
                <a:latin typeface="Open Sans"/>
                <a:ea typeface="Open Sans"/>
                <a:cs typeface="Open Sans"/>
                <a:sym typeface="Open Sans"/>
              </a:rPr>
              <a:t>safety concern</a:t>
            </a:r>
            <a:endParaRPr sz="2400" b="1"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Other metrics (</a:t>
            </a:r>
            <a:r>
              <a:rPr lang="en-US" sz="2400" b="1" i="0" u="none" strike="noStrike" cap="none" dirty="0">
                <a:solidFill>
                  <a:srgbClr val="001B83"/>
                </a:solidFill>
                <a:latin typeface="Open Sans"/>
                <a:ea typeface="Open Sans"/>
                <a:cs typeface="Open Sans"/>
                <a:sym typeface="Open Sans"/>
              </a:rPr>
              <a:t>support, resources</a:t>
            </a:r>
            <a:r>
              <a:rPr lang="en-US" sz="2400" b="0" i="0" u="none" strike="noStrike" cap="none" dirty="0">
                <a:solidFill>
                  <a:srgbClr val="001B83"/>
                </a:solidFill>
                <a:latin typeface="Open Sans"/>
                <a:ea typeface="Open Sans"/>
                <a:cs typeface="Open Sans"/>
                <a:sym typeface="Open Sans"/>
              </a:rPr>
              <a:t>) could be more important than demographics</a:t>
            </a:r>
            <a:endParaRPr sz="2400" b="0"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a:t>
            </a:r>
            <a:r>
              <a:rPr lang="en-US" sz="2400" b="0" i="1" u="none" strike="noStrike" cap="none" dirty="0">
                <a:solidFill>
                  <a:srgbClr val="001B83"/>
                </a:solidFill>
                <a:latin typeface="Open Sans"/>
                <a:ea typeface="Open Sans"/>
                <a:cs typeface="Open Sans"/>
                <a:sym typeface="Open Sans"/>
              </a:rPr>
              <a:t>When they do the questionnaires, they don’t ask your sexuality, so why is race played into seeking homeless services? </a:t>
            </a:r>
            <a:r>
              <a:rPr lang="en-US" sz="2400" b="1" i="1" u="none" strike="noStrike" cap="none" dirty="0">
                <a:solidFill>
                  <a:srgbClr val="001B83"/>
                </a:solidFill>
                <a:latin typeface="Open Sans"/>
                <a:ea typeface="Open Sans"/>
                <a:cs typeface="Open Sans"/>
                <a:sym typeface="Open Sans"/>
              </a:rPr>
              <a:t>Race shouldn’t really be a factor in someone needing shelter or food in their mouth</a:t>
            </a:r>
            <a:r>
              <a:rPr lang="en-US" sz="2400" b="0" i="0" u="none" strike="noStrike" cap="none" dirty="0">
                <a:solidFill>
                  <a:srgbClr val="001B83"/>
                </a:solidFill>
                <a:latin typeface="Open Sans"/>
                <a:ea typeface="Open Sans"/>
                <a:cs typeface="Open Sans"/>
                <a:sym typeface="Open Sans"/>
              </a:rPr>
              <a:t>.”</a:t>
            </a:r>
            <a:endParaRPr sz="1400" b="0" i="0" u="none" strike="noStrike" cap="none" dirty="0">
              <a:solidFill>
                <a:srgbClr val="001B83"/>
              </a:solidFill>
              <a:latin typeface="Arial"/>
              <a:ea typeface="Arial"/>
              <a:cs typeface="Arial"/>
              <a:sym typeface="Arial"/>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1" u="none" strike="noStrike" cap="none" dirty="0">
                <a:solidFill>
                  <a:srgbClr val="001B83"/>
                </a:solidFill>
                <a:latin typeface="Open Sans"/>
                <a:ea typeface="Open Sans"/>
                <a:cs typeface="Open Sans"/>
                <a:sym typeface="Open Sans"/>
              </a:rPr>
              <a:t>“… When I aged out of foster care, they have all these statistics about foster kids who complete college, who do not complete college, and how many of us are going to end up homeless, right? … </a:t>
            </a:r>
            <a:r>
              <a:rPr lang="en-US" sz="2400" b="1" i="1" dirty="0">
                <a:solidFill>
                  <a:srgbClr val="001B83"/>
                </a:solidFill>
                <a:latin typeface="Open Sans"/>
                <a:ea typeface="Open Sans"/>
                <a:cs typeface="Open Sans"/>
                <a:sym typeface="Open Sans"/>
              </a:rPr>
              <a:t>What is the</a:t>
            </a:r>
            <a:r>
              <a:rPr lang="en-US" sz="2400" b="1" i="1" u="none" strike="noStrike" cap="none" dirty="0">
                <a:solidFill>
                  <a:srgbClr val="001B83"/>
                </a:solidFill>
                <a:latin typeface="Open Sans"/>
                <a:ea typeface="Open Sans"/>
                <a:cs typeface="Open Sans"/>
                <a:sym typeface="Open Sans"/>
              </a:rPr>
              <a:t> point of putting that burden on someone at 18 who's about to venture off</a:t>
            </a:r>
            <a:r>
              <a:rPr lang="en-US" sz="2400" b="1" i="1" dirty="0">
                <a:solidFill>
                  <a:srgbClr val="001B83"/>
                </a:solidFill>
                <a:latin typeface="Open Sans"/>
                <a:ea typeface="Open Sans"/>
                <a:cs typeface="Open Sans"/>
                <a:sym typeface="Open Sans"/>
              </a:rPr>
              <a:t>? Saying t</a:t>
            </a:r>
            <a:r>
              <a:rPr lang="en-US" sz="2400" b="1" i="1" u="none" strike="noStrike" cap="none" dirty="0">
                <a:solidFill>
                  <a:srgbClr val="001B83"/>
                </a:solidFill>
                <a:latin typeface="Open Sans"/>
                <a:ea typeface="Open Sans"/>
                <a:cs typeface="Open Sans"/>
                <a:sym typeface="Open Sans"/>
              </a:rPr>
              <a:t>hese are the statistics of someone who is like you, who looks like you</a:t>
            </a:r>
            <a:r>
              <a:rPr lang="en-US" sz="2400" b="0" i="1" u="none" strike="noStrike" cap="none" dirty="0">
                <a:solidFill>
                  <a:srgbClr val="001B83"/>
                </a:solidFill>
                <a:latin typeface="Open Sans"/>
                <a:ea typeface="Open Sans"/>
                <a:cs typeface="Open Sans"/>
                <a:sym typeface="Open Sans"/>
              </a:rPr>
              <a:t>.”</a:t>
            </a:r>
            <a:endParaRPr sz="2400" b="0" i="1" u="none" strike="noStrike" cap="none" dirty="0">
              <a:solidFill>
                <a:srgbClr val="001B83"/>
              </a:solidFill>
              <a:latin typeface="Open Sans"/>
              <a:ea typeface="Open Sans"/>
              <a:cs typeface="Open Sans"/>
              <a:sym typeface="Open Sans"/>
            </a:endParaRPr>
          </a:p>
        </p:txBody>
      </p:sp>
      <p:pic>
        <p:nvPicPr>
          <p:cNvPr id="4" name="Audio 3">
            <a:extLst>
              <a:ext uri="{FF2B5EF4-FFF2-40B4-BE49-F238E27FC236}">
                <a16:creationId xmlns:a16="http://schemas.microsoft.com/office/drawing/2014/main" id="{DD5021D0-9DB6-D475-E7FB-A992790A249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5206A522-2001-5431-A960-8CD33EA9D57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27</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95521"/>
    </mc:Choice>
    <mc:Fallback xmlns="">
      <p:transition spd="slow" advTm="9552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g3452e97c1f4_0_280"/>
          <p:cNvSpPr txBox="1"/>
          <p:nvPr/>
        </p:nvSpPr>
        <p:spPr>
          <a:xfrm>
            <a:off x="1028700" y="847725"/>
            <a:ext cx="16230600" cy="1551300"/>
          </a:xfrm>
          <a:prstGeom prst="rect">
            <a:avLst/>
          </a:prstGeom>
          <a:noFill/>
          <a:ln>
            <a:noFill/>
          </a:ln>
        </p:spPr>
        <p:txBody>
          <a:bodyPr spcFirstLastPara="1" wrap="square" lIns="0" tIns="0" rIns="0" bIns="0" anchor="t" anchorCtr="0">
            <a:noAutofit/>
          </a:bodyPr>
          <a:lstStyle/>
          <a:p>
            <a:pPr marL="0" marR="0" lvl="0" indent="0" algn="ctr" rtl="0">
              <a:lnSpc>
                <a:spcPct val="139989"/>
              </a:lnSpc>
              <a:spcBef>
                <a:spcPts val="0"/>
              </a:spcBef>
              <a:spcAft>
                <a:spcPts val="0"/>
              </a:spcAft>
              <a:buClr>
                <a:srgbClr val="000000"/>
              </a:buClr>
              <a:buSzPts val="9600"/>
              <a:buFont typeface="Arial"/>
              <a:buNone/>
            </a:pPr>
            <a:r>
              <a:rPr lang="en-US" sz="9600" b="0" i="0" u="none" strike="noStrike" cap="none">
                <a:solidFill>
                  <a:srgbClr val="001C84"/>
                </a:solidFill>
                <a:latin typeface="Open Sans"/>
                <a:ea typeface="Open Sans"/>
                <a:cs typeface="Open Sans"/>
                <a:sym typeface="Open Sans"/>
              </a:rPr>
              <a:t>Your</a:t>
            </a:r>
            <a:r>
              <a:rPr lang="en-US" sz="9600" b="1" i="0" u="none" strike="noStrike" cap="none">
                <a:solidFill>
                  <a:srgbClr val="001C84"/>
                </a:solidFill>
                <a:latin typeface="Open Sans"/>
                <a:ea typeface="Open Sans"/>
                <a:cs typeface="Open Sans"/>
                <a:sym typeface="Open Sans"/>
              </a:rPr>
              <a:t> Advice</a:t>
            </a:r>
            <a:endParaRPr sz="9600" b="0" i="0" u="none" strike="noStrike" cap="none">
              <a:solidFill>
                <a:srgbClr val="000000"/>
              </a:solidFill>
              <a:latin typeface="Open Sans"/>
              <a:ea typeface="Open Sans"/>
              <a:cs typeface="Open Sans"/>
              <a:sym typeface="Open Sans"/>
            </a:endParaRPr>
          </a:p>
        </p:txBody>
      </p:sp>
      <p:sp>
        <p:nvSpPr>
          <p:cNvPr id="511" name="Google Shape;511;g3452e97c1f4_0_280"/>
          <p:cNvSpPr txBox="1"/>
          <p:nvPr/>
        </p:nvSpPr>
        <p:spPr>
          <a:xfrm>
            <a:off x="1143000" y="4671674"/>
            <a:ext cx="16002000" cy="2326791"/>
          </a:xfrm>
          <a:prstGeom prst="rect">
            <a:avLst/>
          </a:prstGeom>
          <a:noFill/>
          <a:ln>
            <a:noFill/>
          </a:ln>
        </p:spPr>
        <p:txBody>
          <a:bodyPr spcFirstLastPara="1" wrap="square" lIns="0" tIns="0" rIns="0" bIns="0" anchor="t" anchorCtr="0">
            <a:spAutoFit/>
          </a:bodyPr>
          <a:lstStyle/>
          <a:p>
            <a:pPr marL="690881" marR="0" lvl="1" indent="-345438" algn="l" rtl="0">
              <a:lnSpc>
                <a:spcPct val="140000"/>
              </a:lnSpc>
              <a:spcBef>
                <a:spcPts val="0"/>
              </a:spcBef>
              <a:spcAft>
                <a:spcPts val="0"/>
              </a:spcAft>
              <a:buClr>
                <a:srgbClr val="000000"/>
              </a:buClr>
              <a:buSzPts val="3200"/>
              <a:buFont typeface="Arial"/>
              <a:buChar char="•"/>
            </a:pPr>
            <a:r>
              <a:rPr lang="en-US" sz="3600" dirty="0">
                <a:latin typeface="Open Sans"/>
                <a:ea typeface="Open Sans"/>
                <a:cs typeface="Open Sans"/>
                <a:sym typeface="Open Sans"/>
              </a:rPr>
              <a:t>We asked Data Chat participants… Based on your experience,</a:t>
            </a:r>
            <a:r>
              <a:rPr lang="en-US" sz="3600" b="0" i="0" u="none" strike="noStrike" cap="none" dirty="0">
                <a:solidFill>
                  <a:srgbClr val="000000"/>
                </a:solidFill>
                <a:latin typeface="Open Sans"/>
                <a:ea typeface="Open Sans"/>
                <a:cs typeface="Open Sans"/>
                <a:sym typeface="Open Sans"/>
              </a:rPr>
              <a:t> what could help </a:t>
            </a:r>
            <a:r>
              <a:rPr lang="en-US" sz="3600" b="1" i="0" u="none" strike="noStrike" cap="none" dirty="0">
                <a:solidFill>
                  <a:srgbClr val="001B83"/>
                </a:solidFill>
                <a:latin typeface="Open Sans"/>
                <a:ea typeface="Open Sans"/>
                <a:cs typeface="Open Sans"/>
                <a:sym typeface="Open Sans"/>
              </a:rPr>
              <a:t>reduce </a:t>
            </a:r>
            <a:r>
              <a:rPr lang="en-US" sz="3600" b="1" dirty="0">
                <a:solidFill>
                  <a:srgbClr val="001B83"/>
                </a:solidFill>
                <a:latin typeface="Open Sans"/>
                <a:ea typeface="Open Sans"/>
                <a:cs typeface="Open Sans"/>
                <a:sym typeface="Open Sans"/>
              </a:rPr>
              <a:t>discrepancies in data </a:t>
            </a:r>
            <a:r>
              <a:rPr lang="en-US" sz="3600" dirty="0">
                <a:latin typeface="Open Sans"/>
                <a:ea typeface="Open Sans"/>
                <a:cs typeface="Open Sans"/>
                <a:sym typeface="Open Sans"/>
              </a:rPr>
              <a:t>for</a:t>
            </a:r>
            <a:r>
              <a:rPr lang="en-US" sz="3600" i="0" u="none" strike="noStrike" cap="none" dirty="0">
                <a:solidFill>
                  <a:srgbClr val="000000"/>
                </a:solidFill>
                <a:latin typeface="Open Sans"/>
                <a:ea typeface="Open Sans"/>
                <a:cs typeface="Open Sans"/>
                <a:sym typeface="Open Sans"/>
              </a:rPr>
              <a:t> </a:t>
            </a:r>
            <a:r>
              <a:rPr lang="en-US" sz="3600" b="0" i="0" u="none" strike="noStrike" cap="none" dirty="0">
                <a:solidFill>
                  <a:srgbClr val="000000"/>
                </a:solidFill>
                <a:latin typeface="Open Sans"/>
                <a:ea typeface="Open Sans"/>
                <a:cs typeface="Open Sans"/>
                <a:sym typeface="Open Sans"/>
              </a:rPr>
              <a:t>people facing homelessness?</a:t>
            </a:r>
            <a:endParaRPr sz="3600" b="0" i="0" u="none" strike="noStrike" cap="none" dirty="0">
              <a:solidFill>
                <a:srgbClr val="000000"/>
              </a:solidFill>
              <a:latin typeface="Open Sans"/>
              <a:ea typeface="Open Sans"/>
              <a:cs typeface="Open Sans"/>
              <a:sym typeface="Open Sans"/>
            </a:endParaRPr>
          </a:p>
        </p:txBody>
      </p:sp>
      <p:pic>
        <p:nvPicPr>
          <p:cNvPr id="512" name="Google Shape;512;g3452e97c1f4_0_280"/>
          <p:cNvPicPr preferRelativeResize="0"/>
          <p:nvPr/>
        </p:nvPicPr>
        <p:blipFill rotWithShape="1">
          <a:blip r:embed="rId5">
            <a:alphaModFix/>
          </a:blip>
          <a:srcRect/>
          <a:stretch/>
        </p:blipFill>
        <p:spPr>
          <a:xfrm>
            <a:off x="14077121" y="533412"/>
            <a:ext cx="3448875" cy="3503544"/>
          </a:xfrm>
          <a:prstGeom prst="rect">
            <a:avLst/>
          </a:prstGeom>
          <a:noFill/>
          <a:ln>
            <a:noFill/>
          </a:ln>
        </p:spPr>
      </p:pic>
      <p:pic>
        <p:nvPicPr>
          <p:cNvPr id="4" name="Audio 3">
            <a:extLst>
              <a:ext uri="{FF2B5EF4-FFF2-40B4-BE49-F238E27FC236}">
                <a16:creationId xmlns:a16="http://schemas.microsoft.com/office/drawing/2014/main" id="{43EC1757-6E77-A1CB-6C82-AA890679092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3502BE6F-7C6B-A519-734B-611AA1FC45B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28</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8046"/>
    </mc:Choice>
    <mc:Fallback xmlns="">
      <p:transition spd="slow" advTm="80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g3730fe60eb7_1_46"/>
          <p:cNvSpPr txBox="1"/>
          <p:nvPr/>
        </p:nvSpPr>
        <p:spPr>
          <a:xfrm>
            <a:off x="1028700" y="847725"/>
            <a:ext cx="16230600" cy="93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5000" b="1" i="0" u="none" strike="noStrike" cap="none">
                <a:solidFill>
                  <a:srgbClr val="001C84"/>
                </a:solidFill>
                <a:latin typeface="Open Sans"/>
                <a:ea typeface="Open Sans"/>
                <a:cs typeface="Open Sans"/>
                <a:sym typeface="Open Sans"/>
              </a:rPr>
              <a:t>Discrepancies in the Data</a:t>
            </a:r>
            <a:endParaRPr sz="100" b="0" i="0" u="none" strike="noStrike" cap="none">
              <a:solidFill>
                <a:srgbClr val="000000"/>
              </a:solidFill>
              <a:latin typeface="Open Sans"/>
              <a:ea typeface="Open Sans"/>
              <a:cs typeface="Open Sans"/>
              <a:sym typeface="Open Sans"/>
            </a:endParaRPr>
          </a:p>
        </p:txBody>
      </p:sp>
      <p:sp>
        <p:nvSpPr>
          <p:cNvPr id="518" name="Google Shape;518;g3730fe60eb7_1_46"/>
          <p:cNvSpPr/>
          <p:nvPr/>
        </p:nvSpPr>
        <p:spPr>
          <a:xfrm>
            <a:off x="2223725" y="2103900"/>
            <a:ext cx="66819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8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Need for Increased Safety</a:t>
            </a:r>
            <a:endParaRPr sz="28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19" name="Google Shape;519;g3730fe60eb7_1_46"/>
          <p:cNvSpPr/>
          <p:nvPr/>
        </p:nvSpPr>
        <p:spPr>
          <a:xfrm>
            <a:off x="9656875" y="2103900"/>
            <a:ext cx="64074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8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Consider Effect of Social Norms</a:t>
            </a:r>
            <a:endParaRPr sz="28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20" name="Google Shape;520;g3730fe60eb7_1_46"/>
          <p:cNvSpPr/>
          <p:nvPr/>
        </p:nvSpPr>
        <p:spPr>
          <a:xfrm>
            <a:off x="2223725" y="3466500"/>
            <a:ext cx="6681900" cy="45606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a:solidFill>
                  <a:srgbClr val="001B83"/>
                </a:solidFill>
                <a:latin typeface="Open Sans"/>
                <a:ea typeface="Open Sans"/>
                <a:cs typeface="Open Sans"/>
                <a:sym typeface="Open Sans"/>
              </a:rPr>
              <a:t>Safety changes across </a:t>
            </a:r>
            <a:r>
              <a:rPr lang="en-US" sz="2400" b="1" i="0" u="none" strike="noStrike" cap="none">
                <a:solidFill>
                  <a:srgbClr val="001B83"/>
                </a:solidFill>
                <a:latin typeface="Open Sans"/>
                <a:ea typeface="Open Sans"/>
                <a:cs typeface="Open Sans"/>
                <a:sym typeface="Open Sans"/>
              </a:rPr>
              <a:t>time and place</a:t>
            </a:r>
            <a:endParaRPr sz="2400" b="1" i="0" u="none" strike="noStrike" cap="none">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a:solidFill>
                  <a:srgbClr val="001B83"/>
                </a:solidFill>
                <a:latin typeface="Open Sans"/>
                <a:ea typeface="Open Sans"/>
                <a:cs typeface="Open Sans"/>
                <a:sym typeface="Open Sans"/>
              </a:rPr>
              <a:t>Marginalized populations, particularly undocumented immigrants, may not disclose information</a:t>
            </a:r>
            <a:endParaRPr sz="2400" b="0" i="0" u="none" strike="noStrike" cap="none">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a:solidFill>
                  <a:srgbClr val="001B83"/>
                </a:solidFill>
                <a:latin typeface="Open Sans"/>
                <a:ea typeface="Open Sans"/>
                <a:cs typeface="Open Sans"/>
                <a:sym typeface="Open Sans"/>
              </a:rPr>
              <a:t>“</a:t>
            </a:r>
            <a:r>
              <a:rPr lang="en-US" sz="2400" b="0" i="1" u="none" strike="noStrike" cap="none">
                <a:solidFill>
                  <a:srgbClr val="001B83"/>
                </a:solidFill>
                <a:latin typeface="Open Sans"/>
                <a:ea typeface="Open Sans"/>
                <a:cs typeface="Open Sans"/>
                <a:sym typeface="Open Sans"/>
              </a:rPr>
              <a:t>It’s not safe for them, especially undocumented immigrants. </a:t>
            </a:r>
            <a:r>
              <a:rPr lang="en-US" sz="2400" b="1" i="1" u="none" strike="noStrike" cap="none">
                <a:solidFill>
                  <a:srgbClr val="001B83"/>
                </a:solidFill>
                <a:latin typeface="Open Sans"/>
                <a:ea typeface="Open Sans"/>
                <a:cs typeface="Open Sans"/>
                <a:sym typeface="Open Sans"/>
              </a:rPr>
              <a:t>It’s not safe for them at all.</a:t>
            </a:r>
            <a:r>
              <a:rPr lang="en-US" sz="2400" b="0" i="0" u="none" strike="noStrike" cap="none">
                <a:solidFill>
                  <a:srgbClr val="001B83"/>
                </a:solidFill>
                <a:latin typeface="Open Sans"/>
                <a:ea typeface="Open Sans"/>
                <a:cs typeface="Open Sans"/>
                <a:sym typeface="Open Sans"/>
              </a:rPr>
              <a:t>”</a:t>
            </a:r>
            <a:endParaRPr sz="2400" b="0" i="0" u="none" strike="noStrike" cap="none">
              <a:solidFill>
                <a:srgbClr val="001B83"/>
              </a:solidFill>
              <a:latin typeface="Open Sans"/>
              <a:ea typeface="Open Sans"/>
              <a:cs typeface="Open Sans"/>
              <a:sym typeface="Open Sans"/>
            </a:endParaRPr>
          </a:p>
        </p:txBody>
      </p:sp>
      <p:sp>
        <p:nvSpPr>
          <p:cNvPr id="521" name="Google Shape;521;g3730fe60eb7_1_46"/>
          <p:cNvSpPr/>
          <p:nvPr/>
        </p:nvSpPr>
        <p:spPr>
          <a:xfrm>
            <a:off x="9656875" y="3466500"/>
            <a:ext cx="6407400" cy="54786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Social pressure to adhere to norms</a:t>
            </a:r>
            <a:endParaRPr sz="2400" b="0"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a:t>
            </a:r>
            <a:r>
              <a:rPr lang="en-US" sz="2400" b="0" i="1" u="none" strike="noStrike" cap="none" dirty="0">
                <a:solidFill>
                  <a:srgbClr val="001B83"/>
                </a:solidFill>
                <a:latin typeface="Open Sans"/>
                <a:ea typeface="Open Sans"/>
                <a:cs typeface="Open Sans"/>
                <a:sym typeface="Open Sans"/>
              </a:rPr>
              <a:t>Until very recently, </a:t>
            </a:r>
            <a:r>
              <a:rPr lang="en-US" sz="2400" b="1" i="1" u="none" strike="noStrike" cap="none" dirty="0">
                <a:solidFill>
                  <a:srgbClr val="001B83"/>
                </a:solidFill>
                <a:latin typeface="Open Sans"/>
                <a:ea typeface="Open Sans"/>
                <a:cs typeface="Open Sans"/>
                <a:sym typeface="Open Sans"/>
              </a:rPr>
              <a:t>the option to be [gender] inclusive was not a thing</a:t>
            </a:r>
            <a:r>
              <a:rPr lang="en-US" sz="2400" b="0" i="1" u="none" strike="noStrike" cap="none" dirty="0">
                <a:solidFill>
                  <a:srgbClr val="001B83"/>
                </a:solidFill>
                <a:latin typeface="Open Sans"/>
                <a:ea typeface="Open Sans"/>
                <a:cs typeface="Open Sans"/>
                <a:sym typeface="Open Sans"/>
              </a:rPr>
              <a:t> because our society wasn’t ready for that.</a:t>
            </a:r>
            <a:r>
              <a:rPr lang="en-US" sz="2400" b="0" i="0" u="none" strike="noStrike" cap="none" dirty="0">
                <a:solidFill>
                  <a:srgbClr val="001B83"/>
                </a:solidFill>
                <a:latin typeface="Open Sans"/>
                <a:ea typeface="Open Sans"/>
                <a:cs typeface="Open Sans"/>
                <a:sym typeface="Open Sans"/>
              </a:rPr>
              <a:t>”</a:t>
            </a:r>
            <a:endParaRPr sz="2400" b="0"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Binary trans folks may not mark “transgender” especially considering where they are in their medical transition</a:t>
            </a:r>
            <a:endParaRPr sz="2400" b="0" i="0" u="none" strike="noStrike" cap="none" dirty="0">
              <a:solidFill>
                <a:srgbClr val="001B83"/>
              </a:solidFill>
              <a:latin typeface="Open Sans"/>
              <a:ea typeface="Open Sans"/>
              <a:cs typeface="Open Sans"/>
              <a:sym typeface="Open Sans"/>
            </a:endParaRPr>
          </a:p>
        </p:txBody>
      </p:sp>
      <p:pic>
        <p:nvPicPr>
          <p:cNvPr id="4" name="Audio 3">
            <a:extLst>
              <a:ext uri="{FF2B5EF4-FFF2-40B4-BE49-F238E27FC236}">
                <a16:creationId xmlns:a16="http://schemas.microsoft.com/office/drawing/2014/main" id="{A5C3AACD-7F0C-79EE-E5DE-8A1DD2E241C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FB13307F-E0A3-4B68-343A-9CA624C8D45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29</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80798"/>
    </mc:Choice>
    <mc:Fallback xmlns="">
      <p:transition spd="slow" advTm="8079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g373518e3478_0_219"/>
          <p:cNvSpPr txBox="1"/>
          <p:nvPr/>
        </p:nvSpPr>
        <p:spPr>
          <a:xfrm>
            <a:off x="1028700" y="847725"/>
            <a:ext cx="16230600" cy="93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5000" b="1" i="0" u="none" strike="noStrike" cap="none">
                <a:solidFill>
                  <a:srgbClr val="001C84"/>
                </a:solidFill>
                <a:latin typeface="Open Sans"/>
                <a:ea typeface="Open Sans"/>
                <a:cs typeface="Open Sans"/>
                <a:sym typeface="Open Sans"/>
              </a:rPr>
              <a:t>Discrepancies in the Data (con’t)</a:t>
            </a:r>
            <a:endParaRPr sz="100" b="0" i="0" u="none" strike="noStrike" cap="none">
              <a:solidFill>
                <a:srgbClr val="000000"/>
              </a:solidFill>
              <a:latin typeface="Open Sans"/>
              <a:ea typeface="Open Sans"/>
              <a:cs typeface="Open Sans"/>
              <a:sym typeface="Open Sans"/>
            </a:endParaRPr>
          </a:p>
        </p:txBody>
      </p:sp>
      <p:sp>
        <p:nvSpPr>
          <p:cNvPr id="527" name="Google Shape;527;g373518e3478_0_219"/>
          <p:cNvSpPr/>
          <p:nvPr/>
        </p:nvSpPr>
        <p:spPr>
          <a:xfrm>
            <a:off x="2470188" y="2387325"/>
            <a:ext cx="77037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400" b="1"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Need for Administrative Consistency</a:t>
            </a:r>
            <a:endParaRPr sz="2400" b="1"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28" name="Google Shape;528;g373518e3478_0_219"/>
          <p:cNvSpPr/>
          <p:nvPr/>
        </p:nvSpPr>
        <p:spPr>
          <a:xfrm>
            <a:off x="2470200" y="3749925"/>
            <a:ext cx="7703700" cy="56856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1" i="0" u="none" strike="noStrike" cap="none">
                <a:solidFill>
                  <a:srgbClr val="001B83"/>
                </a:solidFill>
                <a:latin typeface="Open Sans"/>
                <a:ea typeface="Open Sans"/>
                <a:cs typeface="Open Sans"/>
                <a:sym typeface="Open Sans"/>
              </a:rPr>
              <a:t>Records not always updated</a:t>
            </a:r>
            <a:r>
              <a:rPr lang="en-US" sz="2400" b="0" i="0" u="none" strike="noStrike" cap="none">
                <a:solidFill>
                  <a:srgbClr val="001B83"/>
                </a:solidFill>
                <a:latin typeface="Open Sans"/>
                <a:ea typeface="Open Sans"/>
                <a:cs typeface="Open Sans"/>
                <a:sym typeface="Open Sans"/>
              </a:rPr>
              <a:t> by providers</a:t>
            </a:r>
            <a:endParaRPr sz="2400" b="0" i="0" u="none" strike="noStrike" cap="none">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1" i="0" u="none" strike="noStrike" cap="none">
                <a:solidFill>
                  <a:srgbClr val="001B83"/>
                </a:solidFill>
                <a:latin typeface="Open Sans"/>
                <a:ea typeface="Open Sans"/>
                <a:cs typeface="Open Sans"/>
                <a:sym typeface="Open Sans"/>
              </a:rPr>
              <a:t>Name changes</a:t>
            </a:r>
            <a:r>
              <a:rPr lang="en-US" sz="2400" b="0" i="0" u="none" strike="noStrike" cap="none">
                <a:solidFill>
                  <a:srgbClr val="001B83"/>
                </a:solidFill>
                <a:latin typeface="Open Sans"/>
                <a:ea typeface="Open Sans"/>
                <a:cs typeface="Open Sans"/>
                <a:sym typeface="Open Sans"/>
              </a:rPr>
              <a:t> may cause issues for researchers linking data; could result in both </a:t>
            </a:r>
            <a:r>
              <a:rPr lang="en-US" sz="2400" b="1" i="0" u="none" strike="noStrike" cap="none">
                <a:solidFill>
                  <a:srgbClr val="001B83"/>
                </a:solidFill>
                <a:latin typeface="Open Sans"/>
                <a:ea typeface="Open Sans"/>
                <a:cs typeface="Open Sans"/>
                <a:sym typeface="Open Sans"/>
              </a:rPr>
              <a:t>duplication </a:t>
            </a:r>
            <a:r>
              <a:rPr lang="en-US" sz="2400" b="0" i="0" u="none" strike="noStrike" cap="none">
                <a:solidFill>
                  <a:srgbClr val="001B83"/>
                </a:solidFill>
                <a:latin typeface="Open Sans"/>
                <a:ea typeface="Open Sans"/>
                <a:cs typeface="Open Sans"/>
                <a:sym typeface="Open Sans"/>
              </a:rPr>
              <a:t>and </a:t>
            </a:r>
            <a:r>
              <a:rPr lang="en-US" sz="2400" b="1" i="0" u="none" strike="noStrike" cap="none">
                <a:solidFill>
                  <a:srgbClr val="001B83"/>
                </a:solidFill>
                <a:latin typeface="Open Sans"/>
                <a:ea typeface="Open Sans"/>
                <a:cs typeface="Open Sans"/>
                <a:sym typeface="Open Sans"/>
              </a:rPr>
              <a:t>undercounting </a:t>
            </a:r>
            <a:r>
              <a:rPr lang="en-US" sz="2400" b="0" i="0" u="none" strike="noStrike" cap="none">
                <a:solidFill>
                  <a:srgbClr val="001B83"/>
                </a:solidFill>
                <a:latin typeface="Open Sans"/>
                <a:ea typeface="Open Sans"/>
                <a:cs typeface="Open Sans"/>
                <a:sym typeface="Open Sans"/>
              </a:rPr>
              <a:t>(ex. a trans person who changes their name may not be counted in the trans population but may be doubly counted in the binary gender populations</a:t>
            </a:r>
            <a:endParaRPr sz="2400" b="0" i="0" u="none" strike="noStrike" cap="none">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a:solidFill>
                  <a:srgbClr val="001B83"/>
                </a:solidFill>
                <a:latin typeface="Open Sans"/>
                <a:ea typeface="Open Sans"/>
                <a:cs typeface="Open Sans"/>
                <a:sym typeface="Open Sans"/>
              </a:rPr>
              <a:t>“</a:t>
            </a:r>
            <a:r>
              <a:rPr lang="en-US" sz="2400" b="0" i="1" u="none" strike="noStrike" cap="none">
                <a:solidFill>
                  <a:srgbClr val="001B83"/>
                </a:solidFill>
                <a:latin typeface="Open Sans"/>
                <a:ea typeface="Open Sans"/>
                <a:cs typeface="Open Sans"/>
                <a:sym typeface="Open Sans"/>
              </a:rPr>
              <a:t>I don't think the data itself is wrong… we need to do better at getting it more </a:t>
            </a:r>
            <a:r>
              <a:rPr lang="en-US" sz="2400" b="1" i="1" u="none" strike="noStrike" cap="none">
                <a:solidFill>
                  <a:srgbClr val="001B83"/>
                </a:solidFill>
                <a:latin typeface="Open Sans"/>
                <a:ea typeface="Open Sans"/>
                <a:cs typeface="Open Sans"/>
                <a:sym typeface="Open Sans"/>
              </a:rPr>
              <a:t>accurate</a:t>
            </a:r>
            <a:r>
              <a:rPr lang="en-US" sz="2400" b="0" i="1" u="none" strike="noStrike" cap="none">
                <a:solidFill>
                  <a:srgbClr val="001B83"/>
                </a:solidFill>
                <a:latin typeface="Open Sans"/>
                <a:ea typeface="Open Sans"/>
                <a:cs typeface="Open Sans"/>
                <a:sym typeface="Open Sans"/>
              </a:rPr>
              <a:t>.</a:t>
            </a:r>
            <a:r>
              <a:rPr lang="en-US" sz="2400" b="0" i="0" u="none" strike="noStrike" cap="none">
                <a:solidFill>
                  <a:srgbClr val="001B83"/>
                </a:solidFill>
                <a:latin typeface="Open Sans"/>
                <a:ea typeface="Open Sans"/>
                <a:cs typeface="Open Sans"/>
                <a:sym typeface="Open Sans"/>
              </a:rPr>
              <a:t>”</a:t>
            </a:r>
            <a:endParaRPr sz="2400" b="0" i="0" u="none" strike="noStrike" cap="none">
              <a:solidFill>
                <a:srgbClr val="001B83"/>
              </a:solidFill>
              <a:latin typeface="Open Sans"/>
              <a:ea typeface="Open Sans"/>
              <a:cs typeface="Open Sans"/>
              <a:sym typeface="Open Sans"/>
            </a:endParaRPr>
          </a:p>
        </p:txBody>
      </p:sp>
      <p:sp>
        <p:nvSpPr>
          <p:cNvPr id="529" name="Google Shape;529;g373518e3478_0_219"/>
          <p:cNvSpPr/>
          <p:nvPr/>
        </p:nvSpPr>
        <p:spPr>
          <a:xfrm>
            <a:off x="10847719" y="2387325"/>
            <a:ext cx="49701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400" b="1"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Consider Who is Reporting</a:t>
            </a:r>
            <a:endParaRPr sz="2400" b="1"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30" name="Google Shape;530;g373518e3478_0_219"/>
          <p:cNvSpPr/>
          <p:nvPr/>
        </p:nvSpPr>
        <p:spPr>
          <a:xfrm>
            <a:off x="10847725" y="3749925"/>
            <a:ext cx="4970100" cy="38541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Ex. </a:t>
            </a:r>
            <a:r>
              <a:rPr lang="en-US" sz="2400" dirty="0">
                <a:solidFill>
                  <a:srgbClr val="001B83"/>
                </a:solidFill>
                <a:latin typeface="Open Sans"/>
                <a:ea typeface="Open Sans"/>
                <a:cs typeface="Open Sans"/>
                <a:sym typeface="Open Sans"/>
              </a:rPr>
              <a:t>S</a:t>
            </a:r>
            <a:r>
              <a:rPr lang="en-US" sz="2400" b="0" i="0" u="none" strike="noStrike" cap="none" dirty="0">
                <a:solidFill>
                  <a:srgbClr val="001B83"/>
                </a:solidFill>
                <a:latin typeface="Open Sans"/>
                <a:ea typeface="Open Sans"/>
                <a:cs typeface="Open Sans"/>
                <a:sym typeface="Open Sans"/>
              </a:rPr>
              <a:t>ome children’s records may be parent-reported and other records may be that same child who has now grown up and is seeking services</a:t>
            </a:r>
            <a:endParaRPr sz="2400" b="0" i="0" u="none" strike="noStrike" cap="none" dirty="0">
              <a:solidFill>
                <a:srgbClr val="001B83"/>
              </a:solidFill>
              <a:latin typeface="Open Sans"/>
              <a:ea typeface="Open Sans"/>
              <a:cs typeface="Open Sans"/>
              <a:sym typeface="Open Sans"/>
            </a:endParaRPr>
          </a:p>
        </p:txBody>
      </p:sp>
      <p:pic>
        <p:nvPicPr>
          <p:cNvPr id="4" name="Audio 3">
            <a:extLst>
              <a:ext uri="{FF2B5EF4-FFF2-40B4-BE49-F238E27FC236}">
                <a16:creationId xmlns:a16="http://schemas.microsoft.com/office/drawing/2014/main" id="{D3465679-ED79-5BE7-77A6-71906A12D52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F4C17A3D-B917-4466-19E8-5A2ED064075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30</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49145"/>
    </mc:Choice>
    <mc:Fallback xmlns="">
      <p:transition spd="slow" advTm="491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g3a321bad408_0_4"/>
          <p:cNvSpPr txBox="1"/>
          <p:nvPr/>
        </p:nvSpPr>
        <p:spPr>
          <a:xfrm>
            <a:off x="1028700" y="847725"/>
            <a:ext cx="16230600" cy="1551300"/>
          </a:xfrm>
          <a:prstGeom prst="rect">
            <a:avLst/>
          </a:prstGeom>
          <a:noFill/>
          <a:ln>
            <a:noFill/>
          </a:ln>
        </p:spPr>
        <p:txBody>
          <a:bodyPr spcFirstLastPara="1" wrap="square" lIns="0" tIns="0" rIns="0" bIns="0" anchor="t" anchorCtr="0">
            <a:noAutofit/>
          </a:bodyPr>
          <a:lstStyle/>
          <a:p>
            <a:pPr marL="0" marR="0" lvl="0" indent="0" algn="ctr" rtl="0">
              <a:lnSpc>
                <a:spcPct val="139989"/>
              </a:lnSpc>
              <a:spcBef>
                <a:spcPts val="0"/>
              </a:spcBef>
              <a:spcAft>
                <a:spcPts val="0"/>
              </a:spcAft>
              <a:buClr>
                <a:srgbClr val="000000"/>
              </a:buClr>
              <a:buSzPts val="9600"/>
              <a:buFont typeface="Arial"/>
              <a:buNone/>
            </a:pPr>
            <a:r>
              <a:rPr lang="en-US" sz="9600" b="0" i="0" u="none" strike="noStrike" cap="none">
                <a:solidFill>
                  <a:srgbClr val="001C84"/>
                </a:solidFill>
                <a:latin typeface="Open Sans"/>
                <a:ea typeface="Open Sans"/>
                <a:cs typeface="Open Sans"/>
                <a:sym typeface="Open Sans"/>
              </a:rPr>
              <a:t>Your</a:t>
            </a:r>
            <a:r>
              <a:rPr lang="en-US" sz="9600" b="1" i="0" u="none" strike="noStrike" cap="none">
                <a:solidFill>
                  <a:srgbClr val="001C84"/>
                </a:solidFill>
                <a:latin typeface="Open Sans"/>
                <a:ea typeface="Open Sans"/>
                <a:cs typeface="Open Sans"/>
                <a:sym typeface="Open Sans"/>
              </a:rPr>
              <a:t> Advice</a:t>
            </a:r>
            <a:endParaRPr sz="9600" b="0" i="0" u="none" strike="noStrike" cap="none">
              <a:solidFill>
                <a:srgbClr val="000000"/>
              </a:solidFill>
              <a:latin typeface="Open Sans"/>
              <a:ea typeface="Open Sans"/>
              <a:cs typeface="Open Sans"/>
              <a:sym typeface="Open Sans"/>
            </a:endParaRPr>
          </a:p>
        </p:txBody>
      </p:sp>
      <p:sp>
        <p:nvSpPr>
          <p:cNvPr id="536" name="Google Shape;536;g3a321bad408_0_4"/>
          <p:cNvSpPr txBox="1"/>
          <p:nvPr/>
        </p:nvSpPr>
        <p:spPr>
          <a:xfrm>
            <a:off x="1143000" y="4671674"/>
            <a:ext cx="16002000" cy="2326791"/>
          </a:xfrm>
          <a:prstGeom prst="rect">
            <a:avLst/>
          </a:prstGeom>
          <a:noFill/>
          <a:ln>
            <a:noFill/>
          </a:ln>
        </p:spPr>
        <p:txBody>
          <a:bodyPr spcFirstLastPara="1" wrap="square" lIns="0" tIns="0" rIns="0" bIns="0" anchor="t" anchorCtr="0">
            <a:spAutoFit/>
          </a:bodyPr>
          <a:lstStyle/>
          <a:p>
            <a:pPr marL="690881" marR="0" lvl="1" indent="-345438" algn="l" rtl="0">
              <a:lnSpc>
                <a:spcPct val="140000"/>
              </a:lnSpc>
              <a:spcBef>
                <a:spcPts val="0"/>
              </a:spcBef>
              <a:spcAft>
                <a:spcPts val="0"/>
              </a:spcAft>
              <a:buClr>
                <a:srgbClr val="000000"/>
              </a:buClr>
              <a:buSzPts val="3200"/>
              <a:buFont typeface="Arial"/>
              <a:buChar char="•"/>
            </a:pPr>
            <a:r>
              <a:rPr lang="en-US" sz="3600" dirty="0">
                <a:latin typeface="Open Sans"/>
                <a:ea typeface="Open Sans"/>
                <a:cs typeface="Open Sans"/>
                <a:sym typeface="Open Sans"/>
              </a:rPr>
              <a:t>We asked Data Chat participants… Based on your experience,</a:t>
            </a:r>
            <a:r>
              <a:rPr lang="en-US" sz="3600" b="0" i="0" u="none" strike="noStrike" cap="none" dirty="0">
                <a:solidFill>
                  <a:srgbClr val="000000"/>
                </a:solidFill>
                <a:latin typeface="Open Sans"/>
                <a:ea typeface="Open Sans"/>
                <a:cs typeface="Open Sans"/>
                <a:sym typeface="Open Sans"/>
              </a:rPr>
              <a:t> what could help </a:t>
            </a:r>
            <a:r>
              <a:rPr lang="en-US" sz="3600" b="1" i="0" u="none" strike="noStrike" cap="none" dirty="0">
                <a:solidFill>
                  <a:srgbClr val="001B83"/>
                </a:solidFill>
                <a:latin typeface="Open Sans"/>
                <a:ea typeface="Open Sans"/>
                <a:cs typeface="Open Sans"/>
                <a:sym typeface="Open Sans"/>
              </a:rPr>
              <a:t>reduce the burden </a:t>
            </a:r>
            <a:r>
              <a:rPr lang="en-US" sz="3600" b="0" i="0" u="none" strike="noStrike" cap="none" dirty="0">
                <a:solidFill>
                  <a:srgbClr val="000000"/>
                </a:solidFill>
                <a:latin typeface="Open Sans"/>
                <a:ea typeface="Open Sans"/>
                <a:cs typeface="Open Sans"/>
                <a:sym typeface="Open Sans"/>
              </a:rPr>
              <a:t>of data intake for people facing homelessness?</a:t>
            </a:r>
            <a:endParaRPr sz="3600" b="0" i="0" u="none" strike="noStrike" cap="none" dirty="0">
              <a:solidFill>
                <a:srgbClr val="000000"/>
              </a:solidFill>
              <a:latin typeface="Open Sans"/>
              <a:ea typeface="Open Sans"/>
              <a:cs typeface="Open Sans"/>
              <a:sym typeface="Open Sans"/>
            </a:endParaRPr>
          </a:p>
        </p:txBody>
      </p:sp>
      <p:pic>
        <p:nvPicPr>
          <p:cNvPr id="537" name="Google Shape;537;g3a321bad408_0_4"/>
          <p:cNvPicPr preferRelativeResize="0"/>
          <p:nvPr/>
        </p:nvPicPr>
        <p:blipFill rotWithShape="1">
          <a:blip r:embed="rId5">
            <a:alphaModFix/>
          </a:blip>
          <a:srcRect/>
          <a:stretch/>
        </p:blipFill>
        <p:spPr>
          <a:xfrm>
            <a:off x="14077121" y="533412"/>
            <a:ext cx="3448875" cy="3503544"/>
          </a:xfrm>
          <a:prstGeom prst="rect">
            <a:avLst/>
          </a:prstGeom>
          <a:noFill/>
          <a:ln>
            <a:noFill/>
          </a:ln>
        </p:spPr>
      </p:pic>
      <p:pic>
        <p:nvPicPr>
          <p:cNvPr id="4" name="Audio 3">
            <a:extLst>
              <a:ext uri="{FF2B5EF4-FFF2-40B4-BE49-F238E27FC236}">
                <a16:creationId xmlns:a16="http://schemas.microsoft.com/office/drawing/2014/main" id="{F9FDC931-28A4-D005-61E3-756491F47170}"/>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11496157-B9F9-E3A5-09FA-222F967380E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31</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7925"/>
    </mc:Choice>
    <mc:Fallback xmlns="">
      <p:transition spd="slow" advTm="792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g38c6f036145_0_1"/>
          <p:cNvSpPr txBox="1"/>
          <p:nvPr/>
        </p:nvSpPr>
        <p:spPr>
          <a:xfrm>
            <a:off x="1028700" y="847725"/>
            <a:ext cx="16230600" cy="93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5000" b="1" i="0" u="none" strike="noStrike" cap="none">
                <a:solidFill>
                  <a:srgbClr val="001C84"/>
                </a:solidFill>
                <a:latin typeface="Open Sans"/>
                <a:ea typeface="Open Sans"/>
                <a:cs typeface="Open Sans"/>
                <a:sym typeface="Open Sans"/>
              </a:rPr>
              <a:t>Reducing the Burden of Data</a:t>
            </a:r>
            <a:endParaRPr sz="100" b="0" i="0" u="none" strike="noStrike" cap="none">
              <a:solidFill>
                <a:srgbClr val="000000"/>
              </a:solidFill>
              <a:latin typeface="Open Sans"/>
              <a:ea typeface="Open Sans"/>
              <a:cs typeface="Open Sans"/>
              <a:sym typeface="Open Sans"/>
            </a:endParaRPr>
          </a:p>
        </p:txBody>
      </p:sp>
      <p:sp>
        <p:nvSpPr>
          <p:cNvPr id="543" name="Google Shape;543;g38c6f036145_0_1"/>
          <p:cNvSpPr/>
          <p:nvPr/>
        </p:nvSpPr>
        <p:spPr>
          <a:xfrm>
            <a:off x="1783225" y="2350300"/>
            <a:ext cx="52773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You Can’t.</a:t>
            </a:r>
            <a:endParaRPr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44" name="Google Shape;544;g38c6f036145_0_1"/>
          <p:cNvSpPr/>
          <p:nvPr/>
        </p:nvSpPr>
        <p:spPr>
          <a:xfrm>
            <a:off x="7734775" y="2350300"/>
            <a:ext cx="40479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Consider Timing of Data Collection</a:t>
            </a:r>
            <a:endParaRPr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45" name="Google Shape;545;g38c6f036145_0_1"/>
          <p:cNvSpPr/>
          <p:nvPr/>
        </p:nvSpPr>
        <p:spPr>
          <a:xfrm>
            <a:off x="12456875" y="2350300"/>
            <a:ext cx="40479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Provide Resources, Compensation</a:t>
            </a:r>
            <a:endParaRPr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46" name="Google Shape;546;g38c6f036145_0_1"/>
          <p:cNvSpPr/>
          <p:nvPr/>
        </p:nvSpPr>
        <p:spPr>
          <a:xfrm>
            <a:off x="1783225" y="3712900"/>
            <a:ext cx="5277300" cy="51366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Data intake is</a:t>
            </a:r>
            <a:r>
              <a:rPr lang="en-US" sz="2400" b="1" i="0" u="none" strike="noStrike" cap="none" dirty="0">
                <a:solidFill>
                  <a:srgbClr val="001B83"/>
                </a:solidFill>
                <a:latin typeface="Open Sans"/>
                <a:ea typeface="Open Sans"/>
                <a:cs typeface="Open Sans"/>
                <a:sym typeface="Open Sans"/>
              </a:rPr>
              <a:t> inherently burdensome</a:t>
            </a:r>
            <a:r>
              <a:rPr lang="en-US" sz="2400" b="0" i="0" u="none" strike="noStrike" cap="none" dirty="0">
                <a:solidFill>
                  <a:srgbClr val="001B83"/>
                </a:solidFill>
                <a:latin typeface="Open Sans"/>
                <a:ea typeface="Open Sans"/>
                <a:cs typeface="Open Sans"/>
                <a:sym typeface="Open Sans"/>
              </a:rPr>
              <a:t> on marginalized populations</a:t>
            </a:r>
            <a:endParaRPr sz="2400" b="0"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a:t>
            </a:r>
            <a:r>
              <a:rPr lang="en-US" sz="2400" b="0" i="1" u="none" strike="noStrike" cap="none" dirty="0">
                <a:solidFill>
                  <a:srgbClr val="001B83"/>
                </a:solidFill>
                <a:latin typeface="Open Sans"/>
                <a:ea typeface="Open Sans"/>
                <a:cs typeface="Open Sans"/>
                <a:sym typeface="Open Sans"/>
              </a:rPr>
              <a:t>I’m conflicted because I think my job would want me to believe that it is necessary to get this information. </a:t>
            </a:r>
            <a:r>
              <a:rPr lang="en-US" sz="2400" b="1" i="1" u="none" strike="noStrike" cap="none" dirty="0">
                <a:solidFill>
                  <a:srgbClr val="001B83"/>
                </a:solidFill>
                <a:latin typeface="Open Sans"/>
                <a:ea typeface="Open Sans"/>
                <a:cs typeface="Open Sans"/>
                <a:sym typeface="Open Sans"/>
              </a:rPr>
              <a:t>I couldn't really give two F’s about data</a:t>
            </a:r>
            <a:r>
              <a:rPr lang="en-US" sz="2400" b="0" i="1" u="none" strike="noStrike" cap="none" dirty="0">
                <a:solidFill>
                  <a:srgbClr val="001B83"/>
                </a:solidFill>
                <a:latin typeface="Open Sans"/>
                <a:ea typeface="Open Sans"/>
                <a:cs typeface="Open Sans"/>
                <a:sym typeface="Open Sans"/>
              </a:rPr>
              <a:t>.</a:t>
            </a:r>
            <a:r>
              <a:rPr lang="en-US" sz="2400" b="0" i="0" u="none" strike="noStrike" cap="none" dirty="0">
                <a:solidFill>
                  <a:srgbClr val="001B83"/>
                </a:solidFill>
                <a:latin typeface="Open Sans"/>
                <a:ea typeface="Open Sans"/>
                <a:cs typeface="Open Sans"/>
                <a:sym typeface="Open Sans"/>
              </a:rPr>
              <a:t>”</a:t>
            </a:r>
            <a:endParaRPr sz="2400" b="0" i="0" u="none" strike="noStrike" cap="none" dirty="0">
              <a:solidFill>
                <a:srgbClr val="001B83"/>
              </a:solidFill>
              <a:latin typeface="Open Sans"/>
              <a:ea typeface="Open Sans"/>
              <a:cs typeface="Open Sans"/>
              <a:sym typeface="Open Sans"/>
            </a:endParaRPr>
          </a:p>
        </p:txBody>
      </p:sp>
      <p:sp>
        <p:nvSpPr>
          <p:cNvPr id="547" name="Google Shape;547;g38c6f036145_0_1"/>
          <p:cNvSpPr/>
          <p:nvPr/>
        </p:nvSpPr>
        <p:spPr>
          <a:xfrm>
            <a:off x="7734775" y="3712900"/>
            <a:ext cx="4047900" cy="34257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Collect data when folks are in a </a:t>
            </a:r>
            <a:r>
              <a:rPr lang="en-US" sz="2400" b="1" i="0" u="none" strike="noStrike" cap="none" dirty="0">
                <a:solidFill>
                  <a:srgbClr val="001B83"/>
                </a:solidFill>
                <a:latin typeface="Open Sans"/>
                <a:ea typeface="Open Sans"/>
                <a:cs typeface="Open Sans"/>
                <a:sym typeface="Open Sans"/>
              </a:rPr>
              <a:t>safe place</a:t>
            </a:r>
            <a:r>
              <a:rPr lang="en-US" sz="2400" b="0" i="0" u="none" strike="noStrike" cap="none" dirty="0">
                <a:solidFill>
                  <a:srgbClr val="001B83"/>
                </a:solidFill>
                <a:latin typeface="Open Sans"/>
                <a:ea typeface="Open Sans"/>
                <a:cs typeface="Open Sans"/>
                <a:sym typeface="Open Sans"/>
              </a:rPr>
              <a:t> (i.e., rehab facility, shelter, soup kitchen)</a:t>
            </a:r>
            <a:endParaRPr sz="2400" b="0" i="0" u="none" strike="noStrike" cap="none" dirty="0">
              <a:solidFill>
                <a:srgbClr val="001B83"/>
              </a:solidFill>
              <a:latin typeface="Open Sans"/>
              <a:ea typeface="Open Sans"/>
              <a:cs typeface="Open Sans"/>
              <a:sym typeface="Open Sans"/>
            </a:endParaRPr>
          </a:p>
        </p:txBody>
      </p:sp>
      <p:sp>
        <p:nvSpPr>
          <p:cNvPr id="548" name="Google Shape;548;g38c6f036145_0_1"/>
          <p:cNvSpPr/>
          <p:nvPr/>
        </p:nvSpPr>
        <p:spPr>
          <a:xfrm>
            <a:off x="12456875" y="3712900"/>
            <a:ext cx="4047900" cy="18336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a:solidFill>
                  <a:srgbClr val="001B83"/>
                </a:solidFill>
                <a:latin typeface="Open Sans"/>
                <a:ea typeface="Open Sans"/>
                <a:cs typeface="Open Sans"/>
                <a:sym typeface="Open Sans"/>
              </a:rPr>
              <a:t>Provide resources, compensation, food, transportation, etc.</a:t>
            </a:r>
            <a:endParaRPr sz="2400" b="0" i="0" u="none" strike="noStrike" cap="none">
              <a:solidFill>
                <a:srgbClr val="001B83"/>
              </a:solidFill>
              <a:latin typeface="Open Sans"/>
              <a:ea typeface="Open Sans"/>
              <a:cs typeface="Open Sans"/>
              <a:sym typeface="Open Sans"/>
            </a:endParaRPr>
          </a:p>
        </p:txBody>
      </p:sp>
      <p:pic>
        <p:nvPicPr>
          <p:cNvPr id="4" name="Audio 3">
            <a:extLst>
              <a:ext uri="{FF2B5EF4-FFF2-40B4-BE49-F238E27FC236}">
                <a16:creationId xmlns:a16="http://schemas.microsoft.com/office/drawing/2014/main" id="{032DE41E-B0F8-120E-02A3-D1943B5B64B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BAF94185-558F-F76B-2901-E0CDEE4CDF2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32</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46175"/>
    </mc:Choice>
    <mc:Fallback xmlns="">
      <p:transition spd="slow" advTm="461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g3730fe60eb7_1_83"/>
          <p:cNvSpPr txBox="1"/>
          <p:nvPr/>
        </p:nvSpPr>
        <p:spPr>
          <a:xfrm>
            <a:off x="1028700" y="847725"/>
            <a:ext cx="16230600" cy="93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5000" b="1" i="0" u="none" strike="noStrike" cap="none">
                <a:solidFill>
                  <a:srgbClr val="001C84"/>
                </a:solidFill>
                <a:latin typeface="Open Sans"/>
                <a:ea typeface="Open Sans"/>
                <a:cs typeface="Open Sans"/>
                <a:sym typeface="Open Sans"/>
              </a:rPr>
              <a:t>Reducing the Burden of Data (Con’t)</a:t>
            </a:r>
            <a:endParaRPr sz="100" b="0" i="0" u="none" strike="noStrike" cap="none">
              <a:solidFill>
                <a:srgbClr val="000000"/>
              </a:solidFill>
              <a:latin typeface="Open Sans"/>
              <a:ea typeface="Open Sans"/>
              <a:cs typeface="Open Sans"/>
              <a:sym typeface="Open Sans"/>
            </a:endParaRPr>
          </a:p>
        </p:txBody>
      </p:sp>
      <p:sp>
        <p:nvSpPr>
          <p:cNvPr id="554" name="Google Shape;554;g3730fe60eb7_1_83"/>
          <p:cNvSpPr/>
          <p:nvPr/>
        </p:nvSpPr>
        <p:spPr>
          <a:xfrm>
            <a:off x="755738" y="1990175"/>
            <a:ext cx="56112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Involve Those with Lived Experience and Shared Identities</a:t>
            </a:r>
            <a:endParaRPr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55" name="Google Shape;555;g3730fe60eb7_1_83"/>
          <p:cNvSpPr/>
          <p:nvPr/>
        </p:nvSpPr>
        <p:spPr>
          <a:xfrm>
            <a:off x="6943950" y="1990175"/>
            <a:ext cx="34383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Ensure Accessibility</a:t>
            </a:r>
            <a:endParaRPr sz="2400" b="1" i="0" u="none" strike="noStrike" cap="none">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56" name="Google Shape;556;g3730fe60eb7_1_83"/>
          <p:cNvSpPr/>
          <p:nvPr/>
        </p:nvSpPr>
        <p:spPr>
          <a:xfrm>
            <a:off x="10959263" y="1990175"/>
            <a:ext cx="6573000" cy="1210200"/>
          </a:xfrm>
          <a:prstGeom prst="roundRect">
            <a:avLst>
              <a:gd name="adj" fmla="val 16667"/>
            </a:avLst>
          </a:prstGeom>
          <a:solidFill>
            <a:srgbClr val="001C8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000"/>
              <a:buFont typeface="Arial"/>
              <a:buNone/>
            </a:pPr>
            <a:r>
              <a:rPr lang="en-US" sz="24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rPr>
              <a:t>People Behind the Data</a:t>
            </a:r>
            <a:endParaRPr sz="2400" b="1" i="0" u="none" strike="noStrike" cap="none" dirty="0">
              <a:solidFill>
                <a:srgbClr val="FFDC5D"/>
              </a:solidFill>
              <a:latin typeface="Open Sans" panose="020B0606030504020204" pitchFamily="34" charset="0"/>
              <a:ea typeface="Open Sans" panose="020B0606030504020204" pitchFamily="34" charset="0"/>
              <a:cs typeface="Open Sans" panose="020B0606030504020204" pitchFamily="34" charset="0"/>
              <a:sym typeface="Calibri"/>
            </a:endParaRPr>
          </a:p>
        </p:txBody>
      </p:sp>
      <p:sp>
        <p:nvSpPr>
          <p:cNvPr id="557" name="Google Shape;557;g3730fe60eb7_1_83"/>
          <p:cNvSpPr/>
          <p:nvPr/>
        </p:nvSpPr>
        <p:spPr>
          <a:xfrm>
            <a:off x="755738" y="3352775"/>
            <a:ext cx="5611200" cy="60837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Involve folks with</a:t>
            </a:r>
            <a:r>
              <a:rPr lang="en-US" sz="2400" b="1" i="0" u="none" strike="noStrike" cap="none" dirty="0">
                <a:solidFill>
                  <a:srgbClr val="001B83"/>
                </a:solidFill>
                <a:latin typeface="Open Sans"/>
                <a:ea typeface="Open Sans"/>
                <a:cs typeface="Open Sans"/>
                <a:sym typeface="Open Sans"/>
              </a:rPr>
              <a:t> lived experience</a:t>
            </a:r>
            <a:endParaRPr sz="2400" b="1"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People may be more comfortable with service providers with </a:t>
            </a:r>
            <a:r>
              <a:rPr lang="en-US" sz="2400" b="1" i="0" u="none" strike="noStrike" cap="none" dirty="0">
                <a:solidFill>
                  <a:srgbClr val="001B83"/>
                </a:solidFill>
                <a:latin typeface="Open Sans"/>
                <a:ea typeface="Open Sans"/>
                <a:cs typeface="Open Sans"/>
                <a:sym typeface="Open Sans"/>
              </a:rPr>
              <a:t>shared identities</a:t>
            </a:r>
            <a:endParaRPr sz="2400" b="1"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a:t>
            </a:r>
            <a:r>
              <a:rPr lang="en-US" sz="2400" b="0" i="1" u="none" strike="noStrike" cap="none" dirty="0">
                <a:solidFill>
                  <a:srgbClr val="001B83"/>
                </a:solidFill>
                <a:latin typeface="Open Sans"/>
                <a:ea typeface="Open Sans"/>
                <a:cs typeface="Open Sans"/>
                <a:sym typeface="Open Sans"/>
              </a:rPr>
              <a:t>Maybe in the future, as youth and young adults lead more of this type of work,</a:t>
            </a:r>
            <a:r>
              <a:rPr lang="en-US" sz="2400" b="1" i="1" u="none" strike="noStrike" cap="none" dirty="0">
                <a:solidFill>
                  <a:srgbClr val="001B83"/>
                </a:solidFill>
                <a:latin typeface="Open Sans"/>
                <a:ea typeface="Open Sans"/>
                <a:cs typeface="Open Sans"/>
                <a:sym typeface="Open Sans"/>
              </a:rPr>
              <a:t> my hope is that it does become a lot less burdensome</a:t>
            </a:r>
            <a:r>
              <a:rPr lang="en-US" sz="2400" b="0" i="1" u="none" strike="noStrike" cap="none" dirty="0">
                <a:solidFill>
                  <a:srgbClr val="001B83"/>
                </a:solidFill>
                <a:latin typeface="Open Sans"/>
                <a:ea typeface="Open Sans"/>
                <a:cs typeface="Open Sans"/>
                <a:sym typeface="Open Sans"/>
              </a:rPr>
              <a:t>.</a:t>
            </a:r>
            <a:r>
              <a:rPr lang="en-US" sz="2400" b="0" i="0" u="none" strike="noStrike" cap="none" dirty="0">
                <a:solidFill>
                  <a:srgbClr val="001B83"/>
                </a:solidFill>
                <a:latin typeface="Open Sans"/>
                <a:ea typeface="Open Sans"/>
                <a:cs typeface="Open Sans"/>
                <a:sym typeface="Open Sans"/>
              </a:rPr>
              <a:t>”</a:t>
            </a:r>
            <a:endParaRPr sz="2400" b="0" i="0" u="none" strike="noStrike" cap="none" dirty="0">
              <a:solidFill>
                <a:srgbClr val="001B83"/>
              </a:solidFill>
              <a:latin typeface="Calibri"/>
              <a:ea typeface="Calibri"/>
              <a:cs typeface="Calibri"/>
              <a:sym typeface="Calibri"/>
            </a:endParaRPr>
          </a:p>
        </p:txBody>
      </p:sp>
      <p:sp>
        <p:nvSpPr>
          <p:cNvPr id="558" name="Google Shape;558;g3730fe60eb7_1_83"/>
          <p:cNvSpPr/>
          <p:nvPr/>
        </p:nvSpPr>
        <p:spPr>
          <a:xfrm>
            <a:off x="6943950" y="3354425"/>
            <a:ext cx="3438300" cy="26184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Ensure services are accessible</a:t>
            </a:r>
            <a:endParaRPr sz="2400" b="0" i="0" u="none" strike="noStrike" cap="none" dirty="0">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dirty="0">
                <a:solidFill>
                  <a:srgbClr val="001B83"/>
                </a:solidFill>
                <a:latin typeface="Open Sans"/>
                <a:ea typeface="Open Sans"/>
                <a:cs typeface="Open Sans"/>
                <a:sym typeface="Open Sans"/>
              </a:rPr>
              <a:t>Ex. Literacy considerations</a:t>
            </a:r>
            <a:endParaRPr sz="2400" b="0" i="0" u="none" strike="noStrike" cap="none" dirty="0">
              <a:solidFill>
                <a:srgbClr val="001B83"/>
              </a:solidFill>
              <a:latin typeface="Open Sans"/>
              <a:ea typeface="Open Sans"/>
              <a:cs typeface="Open Sans"/>
              <a:sym typeface="Open Sans"/>
            </a:endParaRPr>
          </a:p>
        </p:txBody>
      </p:sp>
      <p:sp>
        <p:nvSpPr>
          <p:cNvPr id="559" name="Google Shape;559;g3730fe60eb7_1_83"/>
          <p:cNvSpPr/>
          <p:nvPr/>
        </p:nvSpPr>
        <p:spPr>
          <a:xfrm>
            <a:off x="10959263" y="3352775"/>
            <a:ext cx="6573000" cy="6188100"/>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a:solidFill>
                  <a:srgbClr val="001B83"/>
                </a:solidFill>
                <a:latin typeface="Open Sans"/>
                <a:ea typeface="Open Sans"/>
                <a:cs typeface="Open Sans"/>
                <a:sym typeface="Open Sans"/>
              </a:rPr>
              <a:t>Service providers may lack a relational component</a:t>
            </a:r>
            <a:endParaRPr sz="2400" b="0" i="0" u="none" strike="noStrike" cap="none">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a:solidFill>
                  <a:srgbClr val="001B83"/>
                </a:solidFill>
                <a:latin typeface="Open Sans"/>
                <a:ea typeface="Open Sans"/>
                <a:cs typeface="Open Sans"/>
                <a:sym typeface="Open Sans"/>
              </a:rPr>
              <a:t>Clients may feel like “just a number”</a:t>
            </a:r>
            <a:endParaRPr sz="2400" b="0" i="0" u="none" strike="noStrike" cap="none">
              <a:solidFill>
                <a:srgbClr val="001B83"/>
              </a:solidFill>
              <a:latin typeface="Open Sans"/>
              <a:ea typeface="Open Sans"/>
              <a:cs typeface="Open Sans"/>
              <a:sym typeface="Open Sans"/>
            </a:endParaRPr>
          </a:p>
          <a:p>
            <a:pPr marL="419100" marR="0" lvl="0" indent="-342900" algn="l" rtl="0">
              <a:lnSpc>
                <a:spcPct val="140000"/>
              </a:lnSpc>
              <a:spcBef>
                <a:spcPts val="0"/>
              </a:spcBef>
              <a:spcAft>
                <a:spcPts val="0"/>
              </a:spcAft>
              <a:buClr>
                <a:srgbClr val="001B83"/>
              </a:buClr>
              <a:buSzPts val="2400"/>
              <a:buFont typeface="Arial" panose="020B0604020202020204" pitchFamily="34" charset="0"/>
              <a:buChar char="•"/>
            </a:pPr>
            <a:r>
              <a:rPr lang="en-US" sz="2400" b="0" i="0" u="none" strike="noStrike" cap="none">
                <a:solidFill>
                  <a:srgbClr val="001B83"/>
                </a:solidFill>
                <a:latin typeface="Open Sans"/>
                <a:ea typeface="Open Sans"/>
                <a:cs typeface="Open Sans"/>
                <a:sym typeface="Open Sans"/>
              </a:rPr>
              <a:t>“</a:t>
            </a:r>
            <a:r>
              <a:rPr lang="en-US" sz="2400" b="0" i="1" u="none" strike="noStrike" cap="none">
                <a:solidFill>
                  <a:srgbClr val="001B83"/>
                </a:solidFill>
                <a:latin typeface="Open Sans"/>
                <a:ea typeface="Open Sans"/>
                <a:cs typeface="Open Sans"/>
                <a:sym typeface="Open Sans"/>
              </a:rPr>
              <a:t>[Providing food or transient support on the frontlines] does provide a certain warmth that there is still someone out there that cares, but at the same time, </a:t>
            </a:r>
            <a:r>
              <a:rPr lang="en-US" sz="2400" b="1" i="1" u="none" strike="noStrike" cap="none">
                <a:solidFill>
                  <a:srgbClr val="001B83"/>
                </a:solidFill>
                <a:latin typeface="Open Sans"/>
                <a:ea typeface="Open Sans"/>
                <a:cs typeface="Open Sans"/>
                <a:sym typeface="Open Sans"/>
              </a:rPr>
              <a:t>it’s kind of cruel because you know in the back of your head ‘I need more help than this. But thank you</a:t>
            </a:r>
            <a:r>
              <a:rPr lang="en-US" sz="2400" b="0" i="1" u="none" strike="noStrike" cap="none">
                <a:solidFill>
                  <a:srgbClr val="001B83"/>
                </a:solidFill>
                <a:latin typeface="Open Sans"/>
                <a:ea typeface="Open Sans"/>
                <a:cs typeface="Open Sans"/>
                <a:sym typeface="Open Sans"/>
              </a:rPr>
              <a:t>.’</a:t>
            </a:r>
            <a:r>
              <a:rPr lang="en-US" sz="2400" b="0" i="0" u="none" strike="noStrike" cap="none">
                <a:solidFill>
                  <a:srgbClr val="001B83"/>
                </a:solidFill>
                <a:latin typeface="Open Sans"/>
                <a:ea typeface="Open Sans"/>
                <a:cs typeface="Open Sans"/>
                <a:sym typeface="Open Sans"/>
              </a:rPr>
              <a:t>”</a:t>
            </a:r>
            <a:endParaRPr sz="2400" b="0" i="0" u="none" strike="noStrike" cap="none">
              <a:solidFill>
                <a:srgbClr val="001B83"/>
              </a:solidFill>
              <a:latin typeface="Open Sans"/>
              <a:ea typeface="Open Sans"/>
              <a:cs typeface="Open Sans"/>
              <a:sym typeface="Open Sans"/>
            </a:endParaRPr>
          </a:p>
        </p:txBody>
      </p:sp>
      <p:pic>
        <p:nvPicPr>
          <p:cNvPr id="4" name="Audio 3">
            <a:extLst>
              <a:ext uri="{FF2B5EF4-FFF2-40B4-BE49-F238E27FC236}">
                <a16:creationId xmlns:a16="http://schemas.microsoft.com/office/drawing/2014/main" id="{EC567F8A-32A5-EF65-6659-1ED08C59664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8233C4CE-F455-F62E-B8AE-A48EEDEED38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33</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64334"/>
    </mc:Choice>
    <mc:Fallback xmlns="">
      <p:transition spd="slow" advTm="6433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g373518e3478_0_0"/>
          <p:cNvSpPr txBox="1"/>
          <p:nvPr/>
        </p:nvSpPr>
        <p:spPr>
          <a:xfrm>
            <a:off x="1028700" y="847725"/>
            <a:ext cx="16230600" cy="93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5000" b="1" i="0" u="none" strike="noStrike" cap="none" dirty="0">
                <a:solidFill>
                  <a:srgbClr val="001C84"/>
                </a:solidFill>
                <a:latin typeface="Open Sans"/>
                <a:ea typeface="Open Sans"/>
                <a:cs typeface="Open Sans"/>
                <a:sym typeface="Open Sans"/>
              </a:rPr>
              <a:t>Data Chat Summary</a:t>
            </a:r>
          </a:p>
          <a:p>
            <a:pPr marL="0" marR="0" lvl="0" indent="0" algn="ctr" rtl="0">
              <a:lnSpc>
                <a:spcPct val="100000"/>
              </a:lnSpc>
              <a:spcBef>
                <a:spcPts val="0"/>
              </a:spcBef>
              <a:spcAft>
                <a:spcPts val="0"/>
              </a:spcAft>
              <a:buClr>
                <a:srgbClr val="001C84"/>
              </a:buClr>
              <a:buSzPts val="9600"/>
              <a:buFont typeface="Arial"/>
              <a:buNone/>
            </a:pPr>
            <a:endParaRPr sz="100" b="0" i="0" u="none" strike="noStrike" cap="none" dirty="0">
              <a:solidFill>
                <a:srgbClr val="000000"/>
              </a:solidFill>
              <a:latin typeface="Open Sans"/>
              <a:ea typeface="Open Sans"/>
              <a:cs typeface="Open Sans"/>
              <a:sym typeface="Open Sans"/>
            </a:endParaRPr>
          </a:p>
        </p:txBody>
      </p:sp>
      <p:sp>
        <p:nvSpPr>
          <p:cNvPr id="565" name="Google Shape;565;g373518e3478_0_0"/>
          <p:cNvSpPr txBox="1"/>
          <p:nvPr/>
        </p:nvSpPr>
        <p:spPr>
          <a:xfrm>
            <a:off x="1028700" y="1829330"/>
            <a:ext cx="11308107" cy="7940605"/>
          </a:xfrm>
          <a:prstGeom prst="rect">
            <a:avLst/>
          </a:prstGeom>
          <a:noFill/>
          <a:ln>
            <a:noFill/>
          </a:ln>
        </p:spPr>
        <p:txBody>
          <a:bodyPr spcFirstLastPara="1" wrap="square" lIns="91425" tIns="91425" rIns="91425" bIns="91425" anchor="t" anchorCtr="0">
            <a:spAutoFit/>
          </a:bodyPr>
          <a:lstStyle/>
          <a:p>
            <a:pPr marL="419100" marR="0" lvl="0" indent="-342900" algn="l" rtl="0">
              <a:lnSpc>
                <a:spcPct val="140000"/>
              </a:lnSpc>
              <a:spcBef>
                <a:spcPts val="0"/>
              </a:spcBef>
              <a:spcAft>
                <a:spcPts val="0"/>
              </a:spcAft>
              <a:buClr>
                <a:schemeClr val="dk1"/>
              </a:buClr>
              <a:buSzPts val="2400"/>
              <a:buFont typeface="Arial" panose="020B0604020202020204" pitchFamily="34" charset="0"/>
              <a:buChar char="•"/>
            </a:pPr>
            <a:r>
              <a:rPr lang="en-US" sz="2400" b="1" dirty="0">
                <a:solidFill>
                  <a:srgbClr val="001B83"/>
                </a:solidFill>
                <a:latin typeface="Open Sans"/>
                <a:ea typeface="Open Sans"/>
                <a:cs typeface="Open Sans"/>
                <a:sym typeface="Open Sans"/>
              </a:rPr>
              <a:t>Re: Administrative</a:t>
            </a:r>
            <a:r>
              <a:rPr lang="en-US" sz="2400" b="1" i="0" u="none" strike="noStrike" cap="none" dirty="0">
                <a:solidFill>
                  <a:srgbClr val="001B83"/>
                </a:solidFill>
                <a:latin typeface="Open Sans"/>
                <a:ea typeface="Open Sans"/>
                <a:cs typeface="Open Sans"/>
                <a:sym typeface="Open Sans"/>
              </a:rPr>
              <a:t> Data Systems, let’s advocate for: </a:t>
            </a:r>
            <a:endParaRPr lang="en-US" sz="2400" b="1" dirty="0">
              <a:solidFill>
                <a:srgbClr val="001B83"/>
              </a:solidFill>
              <a:latin typeface="Open Sans"/>
              <a:ea typeface="Open Sans"/>
              <a:cs typeface="Open Sans"/>
              <a:sym typeface="Open Sans"/>
            </a:endParaRPr>
          </a:p>
          <a:p>
            <a:pPr marL="876300" lvl="2" indent="-342900">
              <a:lnSpc>
                <a:spcPct val="140000"/>
              </a:lnSpc>
              <a:buClr>
                <a:schemeClr val="dk1"/>
              </a:buClr>
              <a:buSzPts val="2400"/>
              <a:buFont typeface="Arial" panose="020B0604020202020204" pitchFamily="34" charset="0"/>
              <a:buChar char="•"/>
            </a:pPr>
            <a:r>
              <a:rPr lang="en-US" sz="2400" dirty="0">
                <a:solidFill>
                  <a:schemeClr val="dk1"/>
                </a:solidFill>
                <a:latin typeface="Open Sans"/>
                <a:ea typeface="Open Sans"/>
                <a:cs typeface="Open Sans"/>
                <a:sym typeface="Open Sans"/>
              </a:rPr>
              <a:t>M</a:t>
            </a:r>
            <a:r>
              <a:rPr lang="en-US" sz="2400" b="0" i="0" u="none" strike="noStrike" cap="none" dirty="0">
                <a:solidFill>
                  <a:schemeClr val="dk1"/>
                </a:solidFill>
                <a:latin typeface="Open Sans"/>
                <a:ea typeface="Open Sans"/>
                <a:cs typeface="Open Sans"/>
                <a:sym typeface="Open Sans"/>
              </a:rPr>
              <a:t>ore inclusive and standard documentation of people’s identities</a:t>
            </a:r>
          </a:p>
          <a:p>
            <a:pPr marL="876300" lvl="4" indent="-342900">
              <a:lnSpc>
                <a:spcPct val="140000"/>
              </a:lnSpc>
              <a:buClr>
                <a:schemeClr val="dk1"/>
              </a:buClr>
              <a:buSzPts val="2400"/>
              <a:buFont typeface="Arial" panose="020B0604020202020204" pitchFamily="34" charset="0"/>
              <a:buChar char="•"/>
            </a:pPr>
            <a:r>
              <a:rPr lang="en-US" sz="2400" dirty="0">
                <a:solidFill>
                  <a:schemeClr val="dk1"/>
                </a:solidFill>
                <a:latin typeface="Open Sans"/>
                <a:ea typeface="Open Sans"/>
                <a:cs typeface="Open Sans"/>
                <a:sym typeface="Open Sans"/>
              </a:rPr>
              <a:t>P</a:t>
            </a:r>
            <a:r>
              <a:rPr lang="en-US" sz="2400" b="0" i="0" u="none" strike="noStrike" cap="none" dirty="0">
                <a:solidFill>
                  <a:schemeClr val="dk1"/>
                </a:solidFill>
                <a:latin typeface="Open Sans"/>
                <a:ea typeface="Open Sans"/>
                <a:cs typeface="Open Sans"/>
                <a:sym typeface="Open Sans"/>
              </a:rPr>
              <a:t>rovider training so that data intake is sensitive to people in vulnerable situations</a:t>
            </a:r>
          </a:p>
          <a:p>
            <a:pPr marL="876300" lvl="4" indent="-342900">
              <a:lnSpc>
                <a:spcPct val="140000"/>
              </a:lnSpc>
              <a:buClr>
                <a:schemeClr val="dk1"/>
              </a:buClr>
              <a:buSzPts val="2400"/>
              <a:buFont typeface="Arial" panose="020B0604020202020204" pitchFamily="34" charset="0"/>
              <a:buChar char="•"/>
            </a:pPr>
            <a:r>
              <a:rPr lang="en-US" sz="2400" dirty="0">
                <a:solidFill>
                  <a:schemeClr val="dk1"/>
                </a:solidFill>
                <a:latin typeface="Open Sans"/>
                <a:ea typeface="Open Sans"/>
                <a:cs typeface="Open Sans"/>
                <a:sym typeface="Open Sans"/>
              </a:rPr>
              <a:t>A</a:t>
            </a:r>
            <a:r>
              <a:rPr lang="en-US" sz="2400" b="0" i="0" u="none" strike="noStrike" cap="none" dirty="0">
                <a:solidFill>
                  <a:schemeClr val="dk1"/>
                </a:solidFill>
                <a:latin typeface="Open Sans"/>
                <a:ea typeface="Open Sans"/>
                <a:cs typeface="Open Sans"/>
                <a:sym typeface="Open Sans"/>
              </a:rPr>
              <a:t>ccessibility and safety as standards in service and data intake</a:t>
            </a:r>
            <a:endParaRPr sz="2400" b="0" i="0" u="none" strike="noStrike" cap="none" dirty="0">
              <a:solidFill>
                <a:schemeClr val="dk1"/>
              </a:solidFill>
              <a:latin typeface="Open Sans"/>
              <a:ea typeface="Open Sans"/>
              <a:cs typeface="Open Sans"/>
              <a:sym typeface="Open Sans"/>
            </a:endParaRPr>
          </a:p>
          <a:p>
            <a:pPr marL="419100" marR="0" lvl="0" indent="-342900" algn="l" rtl="0">
              <a:lnSpc>
                <a:spcPct val="140000"/>
              </a:lnSpc>
              <a:spcBef>
                <a:spcPts val="0"/>
              </a:spcBef>
              <a:spcAft>
                <a:spcPts val="0"/>
              </a:spcAft>
              <a:buClr>
                <a:schemeClr val="dk1"/>
              </a:buClr>
              <a:buSzPts val="2400"/>
              <a:buFont typeface="Arial" panose="020B0604020202020204" pitchFamily="34" charset="0"/>
              <a:buChar char="•"/>
            </a:pPr>
            <a:r>
              <a:rPr lang="en-US" sz="2400" b="1" i="0" u="none" strike="noStrike" cap="none" dirty="0">
                <a:solidFill>
                  <a:srgbClr val="001B83"/>
                </a:solidFill>
                <a:latin typeface="Open Sans"/>
                <a:ea typeface="Open Sans"/>
                <a:cs typeface="Open Sans"/>
                <a:sym typeface="Open Sans"/>
              </a:rPr>
              <a:t>When linking administrative data to inform positive social change:</a:t>
            </a:r>
          </a:p>
          <a:p>
            <a:pPr marL="876300" lvl="1" indent="-342900">
              <a:lnSpc>
                <a:spcPct val="140000"/>
              </a:lnSpc>
              <a:buClr>
                <a:schemeClr val="dk1"/>
              </a:buClr>
              <a:buSzPts val="2400"/>
              <a:buFont typeface="Arial" panose="020B0604020202020204" pitchFamily="34" charset="0"/>
              <a:buChar char="•"/>
            </a:pPr>
            <a:r>
              <a:rPr lang="en-US" sz="2400" b="0" i="0" u="none" strike="noStrike" cap="none" dirty="0">
                <a:solidFill>
                  <a:schemeClr val="dk1"/>
                </a:solidFill>
                <a:latin typeface="Open Sans"/>
                <a:ea typeface="Open Sans"/>
                <a:cs typeface="Open Sans"/>
                <a:sym typeface="Open Sans"/>
              </a:rPr>
              <a:t>Maximize inclusivity when standardizing categorizations of race and gender identities</a:t>
            </a:r>
          </a:p>
          <a:p>
            <a:pPr marL="876300" lvl="1" indent="-342900">
              <a:lnSpc>
                <a:spcPct val="140000"/>
              </a:lnSpc>
              <a:buClr>
                <a:schemeClr val="dk1"/>
              </a:buClr>
              <a:buSzPts val="2400"/>
              <a:buFont typeface="Arial" panose="020B0604020202020204" pitchFamily="34" charset="0"/>
              <a:buChar char="•"/>
            </a:pPr>
            <a:r>
              <a:rPr lang="en-US" sz="2400" b="0" i="0" u="none" strike="noStrike" cap="none" dirty="0">
                <a:solidFill>
                  <a:schemeClr val="dk1"/>
                </a:solidFill>
                <a:latin typeface="Open Sans"/>
                <a:ea typeface="Open Sans"/>
                <a:cs typeface="Open Sans"/>
                <a:sym typeface="Open Sans"/>
              </a:rPr>
              <a:t>Consider the role of society in generating the data we analyze</a:t>
            </a:r>
          </a:p>
          <a:p>
            <a:pPr marL="876300" lvl="6" indent="-342900">
              <a:lnSpc>
                <a:spcPct val="140000"/>
              </a:lnSpc>
              <a:buClr>
                <a:schemeClr val="dk1"/>
              </a:buClr>
              <a:buSzPts val="2400"/>
              <a:buFont typeface="Arial" panose="020B0604020202020204" pitchFamily="34" charset="0"/>
              <a:buChar char="•"/>
            </a:pPr>
            <a:r>
              <a:rPr lang="en-US" sz="2400" b="0" i="0" u="none" strike="noStrike" cap="none" dirty="0">
                <a:solidFill>
                  <a:schemeClr val="dk1"/>
                </a:solidFill>
                <a:latin typeface="Open Sans"/>
                <a:ea typeface="Open Sans"/>
                <a:cs typeface="Open Sans"/>
                <a:sym typeface="Open Sans"/>
              </a:rPr>
              <a:t>Who might be missing in the data due to stigma or safety concerns?</a:t>
            </a:r>
          </a:p>
          <a:p>
            <a:pPr marL="876300" lvl="6" indent="-342900">
              <a:lnSpc>
                <a:spcPct val="140000"/>
              </a:lnSpc>
              <a:buClr>
                <a:schemeClr val="dk1"/>
              </a:buClr>
              <a:buSzPts val="2400"/>
              <a:buFont typeface="Arial" panose="020B0604020202020204" pitchFamily="34" charset="0"/>
              <a:buChar char="•"/>
            </a:pPr>
            <a:r>
              <a:rPr lang="en-US" sz="2400" b="0" i="0" u="none" strike="noStrike" cap="none" dirty="0">
                <a:solidFill>
                  <a:schemeClr val="dk1"/>
                </a:solidFill>
                <a:latin typeface="Open Sans"/>
                <a:ea typeface="Open Sans"/>
                <a:cs typeface="Open Sans"/>
                <a:sym typeface="Open Sans"/>
              </a:rPr>
              <a:t>Historical context: why are some groups overrepresented in the data?</a:t>
            </a:r>
          </a:p>
          <a:p>
            <a:pPr marL="419100" marR="0" lvl="0" indent="-342900" algn="l" rtl="0">
              <a:lnSpc>
                <a:spcPct val="140000"/>
              </a:lnSpc>
              <a:spcBef>
                <a:spcPts val="0"/>
              </a:spcBef>
              <a:spcAft>
                <a:spcPts val="0"/>
              </a:spcAft>
              <a:buClr>
                <a:schemeClr val="dk1"/>
              </a:buClr>
              <a:buSzPts val="2400"/>
              <a:buFont typeface="Arial" panose="020B0604020202020204" pitchFamily="34" charset="0"/>
              <a:buChar char="•"/>
            </a:pPr>
            <a:r>
              <a:rPr lang="en-US" sz="2400" b="1" i="0" u="none" strike="noStrike" cap="none" dirty="0">
                <a:solidFill>
                  <a:srgbClr val="001B83"/>
                </a:solidFill>
                <a:latin typeface="Open Sans"/>
                <a:ea typeface="Open Sans"/>
                <a:cs typeface="Open Sans"/>
                <a:sym typeface="Open Sans"/>
              </a:rPr>
              <a:t>Remember the people who make up the data</a:t>
            </a:r>
            <a:endParaRPr sz="2400" b="1" i="0" u="none" strike="noStrike" cap="none" dirty="0">
              <a:solidFill>
                <a:srgbClr val="001B83"/>
              </a:solidFill>
              <a:latin typeface="Open Sans"/>
              <a:ea typeface="Open Sans"/>
              <a:cs typeface="Open Sans"/>
              <a:sym typeface="Open Sans"/>
            </a:endParaRPr>
          </a:p>
          <a:p>
            <a:pPr marL="876300" marR="0" lvl="1" indent="-342900" algn="l" rtl="0">
              <a:lnSpc>
                <a:spcPct val="140000"/>
              </a:lnSpc>
              <a:spcBef>
                <a:spcPts val="0"/>
              </a:spcBef>
              <a:spcAft>
                <a:spcPts val="0"/>
              </a:spcAft>
              <a:buClr>
                <a:schemeClr val="dk1"/>
              </a:buClr>
              <a:buSzPts val="2400"/>
              <a:buFont typeface="Arial" panose="020B0604020202020204" pitchFamily="34" charset="0"/>
              <a:buChar char="•"/>
            </a:pPr>
            <a:r>
              <a:rPr lang="en-US" sz="2400" dirty="0">
                <a:solidFill>
                  <a:schemeClr val="dk1"/>
                </a:solidFill>
                <a:latin typeface="Open Sans"/>
                <a:ea typeface="Open Sans"/>
                <a:cs typeface="Open Sans"/>
                <a:sym typeface="Open Sans"/>
              </a:rPr>
              <a:t>Contextualize numbers with</a:t>
            </a:r>
            <a:r>
              <a:rPr lang="en-US" sz="2400" b="0" i="0" u="none" strike="noStrike" cap="none" dirty="0">
                <a:solidFill>
                  <a:schemeClr val="dk1"/>
                </a:solidFill>
                <a:latin typeface="Open Sans"/>
                <a:ea typeface="Open Sans"/>
                <a:cs typeface="Open Sans"/>
                <a:sym typeface="Open Sans"/>
              </a:rPr>
              <a:t> </a:t>
            </a:r>
            <a:r>
              <a:rPr lang="en-US" sz="2400" b="1" i="0" u="none" strike="noStrike" cap="none" dirty="0">
                <a:solidFill>
                  <a:srgbClr val="001B83"/>
                </a:solidFill>
                <a:latin typeface="Open Sans"/>
                <a:ea typeface="Open Sans"/>
                <a:cs typeface="Open Sans"/>
                <a:sym typeface="Open Sans"/>
              </a:rPr>
              <a:t>experiences</a:t>
            </a:r>
          </a:p>
          <a:p>
            <a:pPr marL="876300" marR="0" lvl="1" indent="-342900" algn="l" rtl="0">
              <a:lnSpc>
                <a:spcPct val="140000"/>
              </a:lnSpc>
              <a:spcBef>
                <a:spcPts val="0"/>
              </a:spcBef>
              <a:spcAft>
                <a:spcPts val="0"/>
              </a:spcAft>
              <a:buClr>
                <a:schemeClr val="dk1"/>
              </a:buClr>
              <a:buSzPts val="2400"/>
              <a:buFont typeface="Arial" panose="020B0604020202020204" pitchFamily="34" charset="0"/>
              <a:buChar char="•"/>
            </a:pPr>
            <a:r>
              <a:rPr lang="en-US" sz="2400" b="0" i="0" u="none" strike="noStrike" cap="none" dirty="0">
                <a:solidFill>
                  <a:schemeClr val="dk1"/>
                </a:solidFill>
                <a:latin typeface="Open Sans"/>
                <a:ea typeface="Open Sans"/>
                <a:cs typeface="Open Sans"/>
                <a:sym typeface="Open Sans"/>
              </a:rPr>
              <a:t>Data tells </a:t>
            </a:r>
            <a:r>
              <a:rPr lang="en-US" sz="2400" b="1" i="0" u="none" strike="noStrike" cap="none" dirty="0">
                <a:solidFill>
                  <a:srgbClr val="001B83"/>
                </a:solidFill>
                <a:latin typeface="Open Sans"/>
                <a:ea typeface="Open Sans"/>
                <a:cs typeface="Open Sans"/>
                <a:sym typeface="Open Sans"/>
              </a:rPr>
              <a:t>someone’s story</a:t>
            </a:r>
          </a:p>
          <a:p>
            <a:pPr marL="876300" lvl="1" indent="-342900">
              <a:lnSpc>
                <a:spcPct val="140000"/>
              </a:lnSpc>
              <a:buClr>
                <a:schemeClr val="dk1"/>
              </a:buClr>
              <a:buSzPts val="2400"/>
              <a:buFont typeface="Arial" panose="020B0604020202020204" pitchFamily="34" charset="0"/>
              <a:buChar char="•"/>
            </a:pPr>
            <a:r>
              <a:rPr lang="en-US" sz="2400" dirty="0">
                <a:latin typeface="Open Sans"/>
                <a:ea typeface="Open Sans"/>
                <a:cs typeface="Open Sans"/>
                <a:sym typeface="Open Sans"/>
              </a:rPr>
              <a:t>Ask for their insights and </a:t>
            </a:r>
            <a:r>
              <a:rPr lang="en-US" sz="2400" b="1" dirty="0">
                <a:solidFill>
                  <a:srgbClr val="001B83"/>
                </a:solidFill>
                <a:latin typeface="Open Sans"/>
                <a:ea typeface="Open Sans"/>
                <a:cs typeface="Open Sans"/>
                <a:sym typeface="Open Sans"/>
              </a:rPr>
              <a:t>report back </a:t>
            </a:r>
            <a:r>
              <a:rPr lang="en-US" sz="2400" dirty="0">
                <a:latin typeface="Open Sans"/>
                <a:ea typeface="Open Sans"/>
                <a:cs typeface="Open Sans"/>
                <a:sym typeface="Open Sans"/>
              </a:rPr>
              <a:t>to them</a:t>
            </a:r>
            <a:endParaRPr sz="2400" i="0" u="none" strike="noStrike" cap="none" dirty="0">
              <a:latin typeface="Open Sans"/>
              <a:ea typeface="Open Sans"/>
              <a:cs typeface="Open Sans"/>
              <a:sym typeface="Open Sans"/>
            </a:endParaRPr>
          </a:p>
        </p:txBody>
      </p:sp>
      <p:sp>
        <p:nvSpPr>
          <p:cNvPr id="566" name="Google Shape;566;g373518e3478_0_0"/>
          <p:cNvSpPr/>
          <p:nvPr/>
        </p:nvSpPr>
        <p:spPr>
          <a:xfrm>
            <a:off x="12336807" y="6337138"/>
            <a:ext cx="5536096" cy="2257602"/>
          </a:xfrm>
          <a:prstGeom prst="roundRect">
            <a:avLst>
              <a:gd name="adj" fmla="val 16667"/>
            </a:avLst>
          </a:prstGeom>
          <a:solidFill>
            <a:srgbClr val="FFDC5D"/>
          </a:solidFill>
          <a:ln>
            <a:noFill/>
          </a:ln>
        </p:spPr>
        <p:txBody>
          <a:bodyPr spcFirstLastPara="1" wrap="square" lIns="91425" tIns="91425" rIns="91425" bIns="91425" anchor="ctr" anchorCtr="0">
            <a:noAutofit/>
          </a:bodyPr>
          <a:lstStyle/>
          <a:p>
            <a:pPr marL="0" marR="0" lvl="0" indent="0" algn="ctr" rtl="0">
              <a:lnSpc>
                <a:spcPct val="140000"/>
              </a:lnSpc>
              <a:spcBef>
                <a:spcPts val="0"/>
              </a:spcBef>
              <a:spcAft>
                <a:spcPts val="0"/>
              </a:spcAft>
              <a:buClr>
                <a:srgbClr val="000000"/>
              </a:buClr>
              <a:buSzPts val="2700"/>
              <a:buFont typeface="Arial"/>
              <a:buNone/>
            </a:pPr>
            <a:r>
              <a:rPr lang="en-US" sz="2700" b="0" i="1" u="none" strike="noStrike" cap="none" dirty="0">
                <a:solidFill>
                  <a:srgbClr val="001B83"/>
                </a:solidFill>
                <a:latin typeface="Open Sans"/>
                <a:ea typeface="Open Sans"/>
                <a:cs typeface="Open Sans"/>
                <a:sym typeface="Open Sans"/>
              </a:rPr>
              <a:t>“My personal feelings on it is that the only thing that </a:t>
            </a:r>
            <a:r>
              <a:rPr lang="en-US" sz="2400" b="0" i="1" u="none" strike="noStrike" cap="none" dirty="0">
                <a:solidFill>
                  <a:srgbClr val="001B83"/>
                </a:solidFill>
                <a:latin typeface="Open Sans"/>
                <a:ea typeface="Open Sans"/>
                <a:cs typeface="Open Sans"/>
                <a:sym typeface="Open Sans"/>
              </a:rPr>
              <a:t>needs</a:t>
            </a:r>
            <a:r>
              <a:rPr lang="en-US" sz="2700" b="0" i="1" u="none" strike="noStrike" cap="none" dirty="0">
                <a:solidFill>
                  <a:srgbClr val="001B83"/>
                </a:solidFill>
                <a:latin typeface="Open Sans"/>
                <a:ea typeface="Open Sans"/>
                <a:cs typeface="Open Sans"/>
                <a:sym typeface="Open Sans"/>
              </a:rPr>
              <a:t> to be identified is</a:t>
            </a:r>
            <a:r>
              <a:rPr lang="en-US" sz="2700" b="1" i="1" u="none" strike="noStrike" cap="none" dirty="0">
                <a:solidFill>
                  <a:srgbClr val="001B83"/>
                </a:solidFill>
                <a:latin typeface="Open Sans"/>
                <a:ea typeface="Open Sans"/>
                <a:cs typeface="Open Sans"/>
                <a:sym typeface="Open Sans"/>
              </a:rPr>
              <a:t> ‘Yes, I’m human.’</a:t>
            </a:r>
            <a:r>
              <a:rPr lang="en-US" sz="2700" b="0" i="1" u="none" strike="noStrike" cap="none" dirty="0">
                <a:solidFill>
                  <a:srgbClr val="001B83"/>
                </a:solidFill>
                <a:latin typeface="Open Sans"/>
                <a:ea typeface="Open Sans"/>
                <a:cs typeface="Open Sans"/>
                <a:sym typeface="Open Sans"/>
              </a:rPr>
              <a:t>”</a:t>
            </a:r>
            <a:endParaRPr sz="1700" b="0" i="0" u="none" strike="noStrike" cap="none" dirty="0">
              <a:solidFill>
                <a:srgbClr val="001B83"/>
              </a:solidFill>
              <a:latin typeface="Calibri"/>
              <a:ea typeface="Calibri"/>
              <a:cs typeface="Calibri"/>
              <a:sym typeface="Calibri"/>
            </a:endParaRPr>
          </a:p>
        </p:txBody>
      </p:sp>
      <p:sp>
        <p:nvSpPr>
          <p:cNvPr id="567" name="Google Shape;567;g373518e3478_0_0"/>
          <p:cNvSpPr/>
          <p:nvPr/>
        </p:nvSpPr>
        <p:spPr>
          <a:xfrm>
            <a:off x="12753388" y="2840894"/>
            <a:ext cx="4918386" cy="2433075"/>
          </a:xfrm>
          <a:prstGeom prst="roundRect">
            <a:avLst>
              <a:gd name="adj" fmla="val 16667"/>
            </a:avLst>
          </a:prstGeom>
          <a:solidFill>
            <a:srgbClr val="FFDC5D"/>
          </a:solidFill>
          <a:ln>
            <a:noFill/>
          </a:ln>
        </p:spPr>
        <p:txBody>
          <a:bodyPr spcFirstLastPara="1" wrap="square" lIns="182880" tIns="91425" rIns="182880" bIns="91425" anchor="ctr" anchorCtr="0">
            <a:noAutofit/>
          </a:bodyPr>
          <a:lstStyle/>
          <a:p>
            <a:pPr marL="0" marR="0" lvl="0" indent="0" algn="ctr" rtl="0">
              <a:lnSpc>
                <a:spcPct val="140000"/>
              </a:lnSpc>
              <a:spcBef>
                <a:spcPts val="0"/>
              </a:spcBef>
              <a:spcAft>
                <a:spcPts val="0"/>
              </a:spcAft>
              <a:buClr>
                <a:srgbClr val="000000"/>
              </a:buClr>
              <a:buSzPts val="2700"/>
              <a:buFont typeface="Arial"/>
              <a:buNone/>
            </a:pPr>
            <a:r>
              <a:rPr lang="en-US" sz="2400" b="0" i="1" u="none" strike="noStrike" cap="none" dirty="0">
                <a:solidFill>
                  <a:srgbClr val="001B83"/>
                </a:solidFill>
                <a:latin typeface="Open Sans"/>
                <a:ea typeface="Open Sans"/>
                <a:cs typeface="Open Sans"/>
                <a:sym typeface="Open Sans"/>
              </a:rPr>
              <a:t>“You’re</a:t>
            </a:r>
            <a:r>
              <a:rPr lang="en-US" sz="2400" b="1" i="1" u="none" strike="noStrike" cap="none" dirty="0">
                <a:solidFill>
                  <a:srgbClr val="001B83"/>
                </a:solidFill>
                <a:latin typeface="Open Sans"/>
                <a:ea typeface="Open Sans"/>
                <a:cs typeface="Open Sans"/>
                <a:sym typeface="Open Sans"/>
              </a:rPr>
              <a:t> already in survival mode</a:t>
            </a:r>
            <a:r>
              <a:rPr lang="en-US" sz="2400" b="0" i="1" u="none" strike="noStrike" cap="none" dirty="0">
                <a:solidFill>
                  <a:srgbClr val="001B83"/>
                </a:solidFill>
                <a:latin typeface="Open Sans"/>
                <a:ea typeface="Open Sans"/>
                <a:cs typeface="Open Sans"/>
                <a:sym typeface="Open Sans"/>
              </a:rPr>
              <a:t> to where even being at these places [service providers], you kind of just want to run.”</a:t>
            </a:r>
            <a:endParaRPr sz="1600" b="0" i="0" u="none" strike="noStrike" cap="none" dirty="0">
              <a:solidFill>
                <a:srgbClr val="001B83"/>
              </a:solidFill>
              <a:latin typeface="Calibri"/>
              <a:ea typeface="Calibri"/>
              <a:cs typeface="Calibri"/>
              <a:sym typeface="Calibri"/>
            </a:endParaRPr>
          </a:p>
        </p:txBody>
      </p:sp>
      <p:pic>
        <p:nvPicPr>
          <p:cNvPr id="3" name="Audio 2">
            <a:extLst>
              <a:ext uri="{FF2B5EF4-FFF2-40B4-BE49-F238E27FC236}">
                <a16:creationId xmlns:a16="http://schemas.microsoft.com/office/drawing/2014/main" id="{618525CE-6906-1275-2EE6-0358A11059D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15BAABA2-0B6F-A991-F554-DF05DFB18D6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34</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7441"/>
    </mc:Choice>
    <mc:Fallback xmlns="">
      <p:transition spd="slow" advTm="1744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g3a335ef999a_0_138"/>
          <p:cNvSpPr txBox="1"/>
          <p:nvPr/>
        </p:nvSpPr>
        <p:spPr>
          <a:xfrm>
            <a:off x="1399600" y="1464773"/>
            <a:ext cx="12188100" cy="7546651"/>
          </a:xfrm>
          <a:prstGeom prst="rect">
            <a:avLst/>
          </a:prstGeom>
          <a:noFill/>
          <a:ln>
            <a:noFill/>
          </a:ln>
        </p:spPr>
        <p:txBody>
          <a:bodyPr spcFirstLastPara="1" wrap="square" lIns="91425" tIns="91425" rIns="91425" bIns="91425" anchor="t" anchorCtr="0">
            <a:spAutoFit/>
          </a:bodyPr>
          <a:lstStyle/>
          <a:p>
            <a:pPr marL="482600" lvl="0" indent="-457200" algn="l" rtl="0">
              <a:lnSpc>
                <a:spcPct val="115000"/>
              </a:lnSpc>
              <a:spcBef>
                <a:spcPts val="0"/>
              </a:spcBef>
              <a:spcAft>
                <a:spcPts val="0"/>
              </a:spcAft>
              <a:buClr>
                <a:schemeClr val="dk1"/>
              </a:buClr>
              <a:buSzPts val="3200"/>
              <a:buFont typeface="Arial" panose="020B0604020202020204" pitchFamily="34" charset="0"/>
              <a:buChar char="•"/>
            </a:pPr>
            <a:r>
              <a:rPr lang="en-US" sz="3200" dirty="0">
                <a:solidFill>
                  <a:schemeClr val="dk1"/>
                </a:solidFill>
                <a:latin typeface="Open Sans"/>
                <a:ea typeface="Open Sans"/>
                <a:cs typeface="Open Sans"/>
                <a:sym typeface="Open Sans"/>
              </a:rPr>
              <a:t>What parts of </a:t>
            </a:r>
            <a:r>
              <a:rPr lang="en-US" sz="3200" b="1" dirty="0">
                <a:solidFill>
                  <a:srgbClr val="001B83"/>
                </a:solidFill>
                <a:latin typeface="Open Sans"/>
                <a:ea typeface="Open Sans"/>
                <a:cs typeface="Open Sans"/>
                <a:sym typeface="Open Sans"/>
              </a:rPr>
              <a:t>Aaron’s story </a:t>
            </a:r>
            <a:r>
              <a:rPr lang="en-US" sz="3200" dirty="0">
                <a:solidFill>
                  <a:schemeClr val="dk1"/>
                </a:solidFill>
                <a:latin typeface="Open Sans"/>
                <a:ea typeface="Open Sans"/>
                <a:cs typeface="Open Sans"/>
                <a:sym typeface="Open Sans"/>
              </a:rPr>
              <a:t>would have been </a:t>
            </a:r>
            <a:r>
              <a:rPr lang="en-US" sz="3200" b="1" dirty="0">
                <a:solidFill>
                  <a:srgbClr val="001B83"/>
                </a:solidFill>
                <a:latin typeface="Open Sans"/>
                <a:ea typeface="Open Sans"/>
                <a:cs typeface="Open Sans"/>
                <a:sym typeface="Open Sans"/>
              </a:rPr>
              <a:t>lost</a:t>
            </a:r>
            <a:r>
              <a:rPr lang="en-US" sz="3200" dirty="0">
                <a:solidFill>
                  <a:schemeClr val="dk1"/>
                </a:solidFill>
                <a:latin typeface="Open Sans"/>
                <a:ea typeface="Open Sans"/>
                <a:cs typeface="Open Sans"/>
                <a:sym typeface="Open Sans"/>
              </a:rPr>
              <a:t> if we only had the administrative data?</a:t>
            </a:r>
          </a:p>
          <a:p>
            <a:pPr marL="482600" lvl="0" indent="-457200" algn="l" rtl="0">
              <a:lnSpc>
                <a:spcPct val="115000"/>
              </a:lnSpc>
              <a:spcBef>
                <a:spcPts val="0"/>
              </a:spcBef>
              <a:spcAft>
                <a:spcPts val="0"/>
              </a:spcAft>
              <a:buClr>
                <a:schemeClr val="dk1"/>
              </a:buClr>
              <a:buSzPts val="3200"/>
              <a:buFont typeface="Arial" panose="020B0604020202020204" pitchFamily="34" charset="0"/>
              <a:buChar char="•"/>
            </a:pPr>
            <a:endParaRPr sz="3200" dirty="0">
              <a:solidFill>
                <a:schemeClr val="dk1"/>
              </a:solidFill>
              <a:latin typeface="Open Sans"/>
              <a:ea typeface="Open Sans"/>
              <a:cs typeface="Open Sans"/>
              <a:sym typeface="Open Sans"/>
            </a:endParaRPr>
          </a:p>
          <a:p>
            <a:pPr marL="482600" lvl="0" indent="-457200" algn="l" rtl="0">
              <a:lnSpc>
                <a:spcPct val="115000"/>
              </a:lnSpc>
              <a:spcBef>
                <a:spcPts val="0"/>
              </a:spcBef>
              <a:spcAft>
                <a:spcPts val="0"/>
              </a:spcAft>
              <a:buClr>
                <a:schemeClr val="dk1"/>
              </a:buClr>
              <a:buSzPts val="3200"/>
              <a:buFont typeface="Arial" panose="020B0604020202020204" pitchFamily="34" charset="0"/>
              <a:buChar char="•"/>
            </a:pPr>
            <a:r>
              <a:rPr lang="en-US" sz="3200" dirty="0">
                <a:solidFill>
                  <a:schemeClr val="dk1"/>
                </a:solidFill>
                <a:latin typeface="Open Sans"/>
                <a:ea typeface="Open Sans"/>
                <a:cs typeface="Open Sans"/>
                <a:sym typeface="Open Sans"/>
              </a:rPr>
              <a:t>How can systems </a:t>
            </a:r>
            <a:r>
              <a:rPr lang="en-US" sz="3200" b="1" dirty="0">
                <a:solidFill>
                  <a:srgbClr val="001B83"/>
                </a:solidFill>
                <a:latin typeface="Open Sans"/>
                <a:ea typeface="Open Sans"/>
                <a:cs typeface="Open Sans"/>
                <a:sym typeface="Open Sans"/>
              </a:rPr>
              <a:t>work together</a:t>
            </a:r>
            <a:r>
              <a:rPr lang="en-US" sz="3200" dirty="0">
                <a:solidFill>
                  <a:srgbClr val="001B83"/>
                </a:solidFill>
                <a:latin typeface="Open Sans"/>
                <a:ea typeface="Open Sans"/>
                <a:cs typeface="Open Sans"/>
                <a:sym typeface="Open Sans"/>
              </a:rPr>
              <a:t> </a:t>
            </a:r>
            <a:r>
              <a:rPr lang="en-US" sz="3200" dirty="0">
                <a:solidFill>
                  <a:schemeClr val="dk1"/>
                </a:solidFill>
                <a:latin typeface="Open Sans"/>
                <a:ea typeface="Open Sans"/>
                <a:cs typeface="Open Sans"/>
                <a:sym typeface="Open Sans"/>
              </a:rPr>
              <a:t>in ways that would have </a:t>
            </a:r>
            <a:r>
              <a:rPr lang="en-US" sz="3200" b="1" dirty="0">
                <a:solidFill>
                  <a:srgbClr val="001B83"/>
                </a:solidFill>
                <a:latin typeface="Open Sans"/>
                <a:ea typeface="Open Sans"/>
                <a:cs typeface="Open Sans"/>
                <a:sym typeface="Open Sans"/>
              </a:rPr>
              <a:t>better supported </a:t>
            </a:r>
            <a:r>
              <a:rPr lang="en-US" sz="3200" dirty="0">
                <a:solidFill>
                  <a:schemeClr val="dk1"/>
                </a:solidFill>
                <a:latin typeface="Open Sans"/>
                <a:ea typeface="Open Sans"/>
                <a:cs typeface="Open Sans"/>
                <a:sym typeface="Open Sans"/>
              </a:rPr>
              <a:t>Aaron?</a:t>
            </a:r>
          </a:p>
          <a:p>
            <a:pPr marL="482600" lvl="0" indent="-457200" algn="l" rtl="0">
              <a:lnSpc>
                <a:spcPct val="115000"/>
              </a:lnSpc>
              <a:spcBef>
                <a:spcPts val="0"/>
              </a:spcBef>
              <a:spcAft>
                <a:spcPts val="0"/>
              </a:spcAft>
              <a:buClr>
                <a:schemeClr val="dk1"/>
              </a:buClr>
              <a:buSzPts val="3200"/>
              <a:buFont typeface="Arial" panose="020B0604020202020204" pitchFamily="34" charset="0"/>
              <a:buChar char="•"/>
            </a:pPr>
            <a:endParaRPr sz="3200" dirty="0">
              <a:solidFill>
                <a:schemeClr val="dk1"/>
              </a:solidFill>
              <a:latin typeface="Open Sans"/>
              <a:ea typeface="Open Sans"/>
              <a:cs typeface="Open Sans"/>
              <a:sym typeface="Open Sans"/>
            </a:endParaRPr>
          </a:p>
          <a:p>
            <a:pPr marL="482600" lvl="0" indent="-457200" algn="l" rtl="0">
              <a:lnSpc>
                <a:spcPct val="115000"/>
              </a:lnSpc>
              <a:spcBef>
                <a:spcPts val="0"/>
              </a:spcBef>
              <a:spcAft>
                <a:spcPts val="0"/>
              </a:spcAft>
              <a:buClr>
                <a:schemeClr val="dk1"/>
              </a:buClr>
              <a:buSzPts val="3200"/>
              <a:buFont typeface="Arial" panose="020B0604020202020204" pitchFamily="34" charset="0"/>
              <a:buChar char="•"/>
            </a:pPr>
            <a:r>
              <a:rPr lang="en-US" sz="3200" dirty="0">
                <a:solidFill>
                  <a:schemeClr val="dk1"/>
                </a:solidFill>
                <a:latin typeface="Open Sans"/>
                <a:ea typeface="Open Sans"/>
                <a:cs typeface="Open Sans"/>
                <a:sym typeface="Open Sans"/>
              </a:rPr>
              <a:t>How would Aaron be </a:t>
            </a:r>
            <a:r>
              <a:rPr lang="en-US" sz="3200" b="1" dirty="0">
                <a:solidFill>
                  <a:srgbClr val="001B83"/>
                </a:solidFill>
                <a:latin typeface="Open Sans"/>
                <a:ea typeface="Open Sans"/>
                <a:cs typeface="Open Sans"/>
                <a:sym typeface="Open Sans"/>
              </a:rPr>
              <a:t>represented</a:t>
            </a:r>
            <a:r>
              <a:rPr lang="en-US" sz="3200" dirty="0">
                <a:solidFill>
                  <a:schemeClr val="dk1"/>
                </a:solidFill>
                <a:latin typeface="Open Sans"/>
                <a:ea typeface="Open Sans"/>
                <a:cs typeface="Open Sans"/>
                <a:sym typeface="Open Sans"/>
              </a:rPr>
              <a:t> if…</a:t>
            </a:r>
            <a:endParaRPr sz="3200" dirty="0">
              <a:solidFill>
                <a:schemeClr val="dk1"/>
              </a:solidFill>
              <a:latin typeface="Open Sans"/>
              <a:ea typeface="Open Sans"/>
              <a:cs typeface="Open Sans"/>
              <a:sym typeface="Open Sans"/>
            </a:endParaRPr>
          </a:p>
          <a:p>
            <a:pPr marL="939800" lvl="1" indent="-457200" algn="l" rtl="0">
              <a:lnSpc>
                <a:spcPct val="115000"/>
              </a:lnSpc>
              <a:spcBef>
                <a:spcPts val="0"/>
              </a:spcBef>
              <a:spcAft>
                <a:spcPts val="0"/>
              </a:spcAft>
              <a:buClr>
                <a:schemeClr val="dk1"/>
              </a:buClr>
              <a:buSzPts val="3200"/>
              <a:buFont typeface="Arial" panose="020B0604020202020204" pitchFamily="34" charset="0"/>
              <a:buChar char="•"/>
            </a:pPr>
            <a:r>
              <a:rPr lang="en-US" sz="3200" dirty="0">
                <a:solidFill>
                  <a:schemeClr val="dk1"/>
                </a:solidFill>
                <a:latin typeface="Open Sans"/>
                <a:ea typeface="Open Sans"/>
                <a:cs typeface="Open Sans"/>
                <a:sym typeface="Open Sans"/>
              </a:rPr>
              <a:t>We only had access to the SNAP data system?</a:t>
            </a:r>
            <a:endParaRPr sz="3200" dirty="0">
              <a:solidFill>
                <a:schemeClr val="dk1"/>
              </a:solidFill>
              <a:latin typeface="Open Sans"/>
              <a:ea typeface="Open Sans"/>
              <a:cs typeface="Open Sans"/>
              <a:sym typeface="Open Sans"/>
            </a:endParaRPr>
          </a:p>
          <a:p>
            <a:pPr marL="939800" lvl="1" indent="-457200" algn="l" rtl="0">
              <a:lnSpc>
                <a:spcPct val="115000"/>
              </a:lnSpc>
              <a:spcBef>
                <a:spcPts val="0"/>
              </a:spcBef>
              <a:spcAft>
                <a:spcPts val="0"/>
              </a:spcAft>
              <a:buClr>
                <a:schemeClr val="dk1"/>
              </a:buClr>
              <a:buSzPts val="3200"/>
              <a:buFont typeface="Arial" panose="020B0604020202020204" pitchFamily="34" charset="0"/>
              <a:buChar char="•"/>
            </a:pPr>
            <a:r>
              <a:rPr lang="en-US" sz="3200" dirty="0">
                <a:solidFill>
                  <a:schemeClr val="dk1"/>
                </a:solidFill>
                <a:latin typeface="Open Sans"/>
                <a:ea typeface="Open Sans"/>
                <a:cs typeface="Open Sans"/>
                <a:sym typeface="Open Sans"/>
              </a:rPr>
              <a:t>We only had access to the HMIS data system?</a:t>
            </a:r>
            <a:endParaRPr sz="3200" dirty="0">
              <a:solidFill>
                <a:schemeClr val="dk1"/>
              </a:solidFill>
              <a:latin typeface="Open Sans"/>
              <a:ea typeface="Open Sans"/>
              <a:cs typeface="Open Sans"/>
              <a:sym typeface="Open Sans"/>
            </a:endParaRPr>
          </a:p>
          <a:p>
            <a:pPr marL="939800" lvl="1" indent="-457200" algn="l" rtl="0">
              <a:lnSpc>
                <a:spcPct val="115000"/>
              </a:lnSpc>
              <a:spcBef>
                <a:spcPts val="0"/>
              </a:spcBef>
              <a:spcAft>
                <a:spcPts val="0"/>
              </a:spcAft>
              <a:buClr>
                <a:schemeClr val="dk1"/>
              </a:buClr>
              <a:buSzPts val="3200"/>
              <a:buFont typeface="Arial" panose="020B0604020202020204" pitchFamily="34" charset="0"/>
              <a:buChar char="•"/>
            </a:pPr>
            <a:r>
              <a:rPr lang="en-US" sz="3200" dirty="0">
                <a:solidFill>
                  <a:schemeClr val="dk1"/>
                </a:solidFill>
                <a:latin typeface="Open Sans"/>
                <a:ea typeface="Open Sans"/>
                <a:cs typeface="Open Sans"/>
                <a:sym typeface="Open Sans"/>
              </a:rPr>
              <a:t>We only had used the information their family reported about Aaron when they were a child versus the information Aaron reported about themselves as an adult?</a:t>
            </a:r>
            <a:endParaRPr sz="3200" dirty="0">
              <a:solidFill>
                <a:schemeClr val="dk1"/>
              </a:solidFill>
              <a:latin typeface="Open Sans"/>
              <a:ea typeface="Open Sans"/>
              <a:cs typeface="Open Sans"/>
              <a:sym typeface="Open Sans"/>
            </a:endParaRPr>
          </a:p>
        </p:txBody>
      </p:sp>
      <p:pic>
        <p:nvPicPr>
          <p:cNvPr id="573" name="Google Shape;573;g3a335ef999a_0_138" title="standing.jpg"/>
          <p:cNvPicPr preferRelativeResize="0"/>
          <p:nvPr/>
        </p:nvPicPr>
        <p:blipFill rotWithShape="1">
          <a:blip r:embed="rId5">
            <a:alphaModFix/>
          </a:blip>
          <a:srcRect l="28046" r="31903"/>
          <a:stretch/>
        </p:blipFill>
        <p:spPr>
          <a:xfrm>
            <a:off x="14279999" y="1275575"/>
            <a:ext cx="3098250" cy="7735849"/>
          </a:xfrm>
          <a:prstGeom prst="rect">
            <a:avLst/>
          </a:prstGeom>
          <a:noFill/>
          <a:ln>
            <a:noFill/>
          </a:ln>
        </p:spPr>
      </p:pic>
      <p:pic>
        <p:nvPicPr>
          <p:cNvPr id="4" name="Audio 3">
            <a:extLst>
              <a:ext uri="{FF2B5EF4-FFF2-40B4-BE49-F238E27FC236}">
                <a16:creationId xmlns:a16="http://schemas.microsoft.com/office/drawing/2014/main" id="{F5DBB7F0-4AC2-391C-B620-46A9AE39F6F2}"/>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959B5EB4-9C32-8949-0B17-AC29DDD9253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35</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50930"/>
    </mc:Choice>
    <mc:Fallback xmlns="">
      <p:transition spd="slow" advTm="509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grpSp>
        <p:nvGrpSpPr>
          <p:cNvPr id="578" name="Google Shape;578;g3730fe60eb7_1_114"/>
          <p:cNvGrpSpPr/>
          <p:nvPr/>
        </p:nvGrpSpPr>
        <p:grpSpPr>
          <a:xfrm>
            <a:off x="1690228" y="2150449"/>
            <a:ext cx="12498479" cy="5018639"/>
            <a:chOff x="1188775" y="2844424"/>
            <a:chExt cx="14907537" cy="5985972"/>
          </a:xfrm>
        </p:grpSpPr>
        <p:sp>
          <p:nvSpPr>
            <p:cNvPr id="579" name="Google Shape;579;g3730fe60eb7_1_114"/>
            <p:cNvSpPr/>
            <p:nvPr/>
          </p:nvSpPr>
          <p:spPr>
            <a:xfrm>
              <a:off x="1188775" y="2844424"/>
              <a:ext cx="14907537" cy="5985972"/>
            </a:xfrm>
            <a:custGeom>
              <a:avLst/>
              <a:gdLst/>
              <a:ahLst/>
              <a:cxnLst/>
              <a:rect l="l" t="t" r="r" b="b"/>
              <a:pathLst>
                <a:path w="8270478" h="2705524" extrusionOk="0">
                  <a:moveTo>
                    <a:pt x="7648178" y="2135294"/>
                  </a:moveTo>
                  <a:cubicBezTo>
                    <a:pt x="7648178" y="2128944"/>
                    <a:pt x="7649449" y="2123864"/>
                    <a:pt x="7649449" y="2116244"/>
                  </a:cubicBezTo>
                  <a:lnTo>
                    <a:pt x="7649449" y="490220"/>
                  </a:lnTo>
                  <a:cubicBezTo>
                    <a:pt x="7649449" y="220980"/>
                    <a:pt x="7439899" y="0"/>
                    <a:pt x="7183358" y="0"/>
                  </a:cubicBezTo>
                  <a:lnTo>
                    <a:pt x="467360" y="0"/>
                  </a:lnTo>
                  <a:cubicBezTo>
                    <a:pt x="210820" y="0"/>
                    <a:pt x="0" y="220980"/>
                    <a:pt x="0" y="490220"/>
                  </a:cubicBezTo>
                  <a:lnTo>
                    <a:pt x="0" y="2116244"/>
                  </a:lnTo>
                  <a:cubicBezTo>
                    <a:pt x="0" y="2385484"/>
                    <a:pt x="209550" y="2606464"/>
                    <a:pt x="466090" y="2606464"/>
                  </a:cubicBezTo>
                  <a:lnTo>
                    <a:pt x="7182088" y="2606464"/>
                  </a:lnTo>
                  <a:cubicBezTo>
                    <a:pt x="7295118" y="2606464"/>
                    <a:pt x="7399258" y="2563284"/>
                    <a:pt x="7479268" y="2493434"/>
                  </a:cubicBezTo>
                  <a:cubicBezTo>
                    <a:pt x="7610078" y="2564554"/>
                    <a:pt x="7922498" y="2705524"/>
                    <a:pt x="8269208" y="2498514"/>
                  </a:cubicBezTo>
                  <a:cubicBezTo>
                    <a:pt x="8270478" y="2498514"/>
                    <a:pt x="7958058" y="2499784"/>
                    <a:pt x="7648178" y="2135294"/>
                  </a:cubicBezTo>
                  <a:lnTo>
                    <a:pt x="7648178" y="2135294"/>
                  </a:lnTo>
                  <a:close/>
                </a:path>
              </a:pathLst>
            </a:custGeom>
            <a:solidFill>
              <a:srgbClr val="001C84">
                <a:alpha val="2745"/>
              </a:srgbClr>
            </a:solidFill>
            <a:ln w="28575" cap="flat" cmpd="sng">
              <a:solidFill>
                <a:srgbClr val="001C84"/>
              </a:solidFill>
              <a:prstDash val="solid"/>
              <a:round/>
              <a:headEnd type="none" w="sm" len="sm"/>
              <a:tailEnd type="none" w="sm" len="sm"/>
            </a:ln>
          </p:spPr>
          <p:txBody>
            <a:bodyPr spcFirstLastPara="1" wrap="square" lIns="76650" tIns="76650" rIns="76650" bIns="76650" anchor="ctr" anchorCtr="0">
              <a:noAutofit/>
            </a:bodyPr>
            <a:lstStyle/>
            <a:p>
              <a:pPr marL="0" marR="0" lvl="0" indent="0" algn="l" rtl="0">
                <a:lnSpc>
                  <a:spcPct val="100000"/>
                </a:lnSpc>
                <a:spcBef>
                  <a:spcPts val="0"/>
                </a:spcBef>
                <a:spcAft>
                  <a:spcPts val="0"/>
                </a:spcAft>
                <a:buClr>
                  <a:srgbClr val="000000"/>
                </a:buClr>
                <a:buSzPts val="922"/>
                <a:buFont typeface="Arial"/>
                <a:buNone/>
              </a:pPr>
              <a:endParaRPr sz="922" b="0" i="0" u="none" strike="noStrike" cap="none">
                <a:solidFill>
                  <a:srgbClr val="000000"/>
                </a:solidFill>
                <a:latin typeface="Arial"/>
                <a:ea typeface="Arial"/>
                <a:cs typeface="Arial"/>
                <a:sym typeface="Arial"/>
              </a:endParaRPr>
            </a:p>
          </p:txBody>
        </p:sp>
        <p:sp>
          <p:nvSpPr>
            <p:cNvPr id="580" name="Google Shape;580;g3730fe60eb7_1_114"/>
            <p:cNvSpPr txBox="1"/>
            <p:nvPr/>
          </p:nvSpPr>
          <p:spPr>
            <a:xfrm>
              <a:off x="1530750" y="3342600"/>
              <a:ext cx="12595500" cy="48024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chemeClr val="dk1"/>
                </a:buClr>
                <a:buSzPts val="11738"/>
                <a:buFont typeface="Arial"/>
                <a:buNone/>
              </a:pPr>
              <a:r>
                <a:rPr lang="en-US" sz="6539" b="1" i="0" u="none" strike="noStrike" cap="none" dirty="0">
                  <a:solidFill>
                    <a:srgbClr val="001C84"/>
                  </a:solidFill>
                  <a:latin typeface="Open Sans"/>
                  <a:ea typeface="Open Sans"/>
                  <a:cs typeface="Open Sans"/>
                  <a:sym typeface="Open Sans"/>
                </a:rPr>
                <a:t>“I feel like people are eager to share their experience if people are willing to listen.”</a:t>
              </a:r>
              <a:endParaRPr sz="6539" b="1" i="0" u="none" strike="noStrike" cap="none" dirty="0">
                <a:solidFill>
                  <a:srgbClr val="001C84"/>
                </a:solidFill>
                <a:latin typeface="Open Sans"/>
                <a:ea typeface="Open Sans"/>
                <a:cs typeface="Open Sans"/>
                <a:sym typeface="Open Sans"/>
              </a:endParaRPr>
            </a:p>
          </p:txBody>
        </p:sp>
      </p:grpSp>
      <p:pic>
        <p:nvPicPr>
          <p:cNvPr id="581" name="Google Shape;581;g3730fe60eb7_1_114" descr="A group of people holding up speech bubbles&#10;&#10;AI-generated content may be incorrect."/>
          <p:cNvPicPr preferRelativeResize="0"/>
          <p:nvPr/>
        </p:nvPicPr>
        <p:blipFill rotWithShape="1">
          <a:blip r:embed="rId5">
            <a:alphaModFix/>
          </a:blip>
          <a:srcRect/>
          <a:stretch/>
        </p:blipFill>
        <p:spPr>
          <a:xfrm>
            <a:off x="14505799" y="6211286"/>
            <a:ext cx="3430877" cy="3790425"/>
          </a:xfrm>
          <a:prstGeom prst="rect">
            <a:avLst/>
          </a:prstGeom>
          <a:noFill/>
          <a:ln>
            <a:noFill/>
          </a:ln>
        </p:spPr>
      </p:pic>
      <p:pic>
        <p:nvPicPr>
          <p:cNvPr id="3" name="Audio 2">
            <a:extLst>
              <a:ext uri="{FF2B5EF4-FFF2-40B4-BE49-F238E27FC236}">
                <a16:creationId xmlns:a16="http://schemas.microsoft.com/office/drawing/2014/main" id="{1020B1A0-1D1B-D9EB-4CD3-6A6DB3E17FD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7322800" y="9321800"/>
            <a:ext cx="812800" cy="812800"/>
          </a:xfrm>
          <a:prstGeom prst="rect">
            <a:avLst/>
          </a:prstGeom>
        </p:spPr>
      </p:pic>
      <p:sp>
        <p:nvSpPr>
          <p:cNvPr id="2" name="Slide Number Placeholder 1">
            <a:extLst>
              <a:ext uri="{FF2B5EF4-FFF2-40B4-BE49-F238E27FC236}">
                <a16:creationId xmlns:a16="http://schemas.microsoft.com/office/drawing/2014/main" id="{A90A4C6A-FD26-149D-C58E-4D90C8AF96B0}"/>
              </a:ext>
            </a:extLst>
          </p:cNvPr>
          <p:cNvSpPr>
            <a:spLocks noGrp="1"/>
          </p:cNvSpPr>
          <p:nvPr>
            <p:ph type="sldNum" sz="quarter" idx="12"/>
          </p:nvPr>
        </p:nvSpPr>
        <p:spPr>
          <a:xfrm>
            <a:off x="12915900" y="9702475"/>
            <a:ext cx="4114800" cy="547688"/>
          </a:xfrm>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36</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3819"/>
    </mc:Choice>
    <mc:Fallback xmlns="">
      <p:transition spd="slow" advTm="138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g3a321bad408_0_10"/>
          <p:cNvSpPr txBox="1"/>
          <p:nvPr/>
        </p:nvSpPr>
        <p:spPr>
          <a:xfrm>
            <a:off x="1028700" y="847725"/>
            <a:ext cx="16230600" cy="9300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1C84"/>
              </a:buClr>
              <a:buSzPts val="9600"/>
              <a:buFont typeface="Arial"/>
              <a:buNone/>
            </a:pPr>
            <a:r>
              <a:rPr lang="en-US" sz="5000" b="1">
                <a:solidFill>
                  <a:srgbClr val="001C84"/>
                </a:solidFill>
                <a:latin typeface="Open Sans"/>
                <a:ea typeface="Open Sans"/>
                <a:cs typeface="Open Sans"/>
                <a:sym typeface="Open Sans"/>
              </a:rPr>
              <a:t>References</a:t>
            </a:r>
            <a:endParaRPr sz="100" b="0" i="0" u="none" strike="noStrike" cap="none">
              <a:solidFill>
                <a:srgbClr val="000000"/>
              </a:solidFill>
              <a:latin typeface="Open Sans"/>
              <a:ea typeface="Open Sans"/>
              <a:cs typeface="Open Sans"/>
              <a:sym typeface="Open Sans"/>
            </a:endParaRPr>
          </a:p>
        </p:txBody>
      </p:sp>
      <p:sp>
        <p:nvSpPr>
          <p:cNvPr id="587" name="Google Shape;587;g3a321bad408_0_10"/>
          <p:cNvSpPr txBox="1"/>
          <p:nvPr/>
        </p:nvSpPr>
        <p:spPr>
          <a:xfrm>
            <a:off x="1152300" y="2450925"/>
            <a:ext cx="15992700" cy="322854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1000"/>
              </a:spcBef>
              <a:spcAft>
                <a:spcPts val="0"/>
              </a:spcAft>
              <a:buClr>
                <a:schemeClr val="dk1"/>
              </a:buClr>
              <a:buSzPts val="2880"/>
              <a:buFont typeface="Arial"/>
              <a:buNone/>
            </a:pPr>
            <a:r>
              <a:rPr lang="en-US" sz="2400" dirty="0">
                <a:solidFill>
                  <a:schemeClr val="dk1"/>
                </a:solidFill>
                <a:latin typeface="Open Sans"/>
                <a:ea typeface="Open Sans"/>
                <a:cs typeface="Open Sans"/>
                <a:sym typeface="Open Sans"/>
              </a:rPr>
              <a:t>Shaw, R. J., Harron, K. L., </a:t>
            </a:r>
            <a:r>
              <a:rPr lang="en-US" sz="2400" dirty="0" err="1">
                <a:solidFill>
                  <a:schemeClr val="dk1"/>
                </a:solidFill>
                <a:latin typeface="Open Sans"/>
                <a:ea typeface="Open Sans"/>
                <a:cs typeface="Open Sans"/>
                <a:sym typeface="Open Sans"/>
              </a:rPr>
              <a:t>Pescarini</a:t>
            </a:r>
            <a:r>
              <a:rPr lang="en-US" sz="2400" dirty="0">
                <a:solidFill>
                  <a:schemeClr val="dk1"/>
                </a:solidFill>
                <a:latin typeface="Open Sans"/>
                <a:ea typeface="Open Sans"/>
                <a:cs typeface="Open Sans"/>
                <a:sym typeface="Open Sans"/>
              </a:rPr>
              <a:t>, J. M., Pinto Junior, E. P., Allik, M., Siroky, A. N., Campbell, D., Dundas, R., Ichihara, M. Y., Leyland, A. H., Barreto, M. L., &amp; </a:t>
            </a:r>
            <a:r>
              <a:rPr lang="en-US" sz="2400" dirty="0" err="1">
                <a:solidFill>
                  <a:schemeClr val="dk1"/>
                </a:solidFill>
                <a:latin typeface="Open Sans"/>
                <a:ea typeface="Open Sans"/>
                <a:cs typeface="Open Sans"/>
                <a:sym typeface="Open Sans"/>
              </a:rPr>
              <a:t>Katikireddi</a:t>
            </a:r>
            <a:r>
              <a:rPr lang="en-US" sz="2400" dirty="0">
                <a:solidFill>
                  <a:schemeClr val="dk1"/>
                </a:solidFill>
                <a:latin typeface="Open Sans"/>
                <a:ea typeface="Open Sans"/>
                <a:cs typeface="Open Sans"/>
                <a:sym typeface="Open Sans"/>
              </a:rPr>
              <a:t>, S. V. (2022). Biases arising from linked administrative data for epidemiological research: a conceptual framework from registration to analyses. </a:t>
            </a:r>
            <a:r>
              <a:rPr lang="en-US" sz="2400" i="1" dirty="0">
                <a:solidFill>
                  <a:schemeClr val="dk1"/>
                </a:solidFill>
                <a:latin typeface="Open Sans"/>
                <a:ea typeface="Open Sans"/>
                <a:cs typeface="Open Sans"/>
                <a:sym typeface="Open Sans"/>
              </a:rPr>
              <a:t>European journal of epidemiology</a:t>
            </a:r>
            <a:r>
              <a:rPr lang="en-US" sz="2400" dirty="0">
                <a:solidFill>
                  <a:schemeClr val="dk1"/>
                </a:solidFill>
                <a:latin typeface="Open Sans"/>
                <a:ea typeface="Open Sans"/>
                <a:cs typeface="Open Sans"/>
                <a:sym typeface="Open Sans"/>
              </a:rPr>
              <a:t>, 37(12), 1215–1224. </a:t>
            </a:r>
            <a:r>
              <a:rPr lang="en-US" sz="2400" u="sng" dirty="0">
                <a:solidFill>
                  <a:srgbClr val="0563C1"/>
                </a:solid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https://doi.org/10.1007/s10654-022-00934-w</a:t>
            </a:r>
            <a:endParaRPr sz="2400" dirty="0">
              <a:solidFill>
                <a:schemeClr val="dk1"/>
              </a:solidFill>
              <a:latin typeface="Open Sans"/>
              <a:ea typeface="Open Sans"/>
              <a:cs typeface="Open Sans"/>
              <a:sym typeface="Open Sans"/>
            </a:endParaRPr>
          </a:p>
          <a:p>
            <a:pPr marL="0" lvl="0" indent="0" algn="l" rtl="0">
              <a:lnSpc>
                <a:spcPct val="90000"/>
              </a:lnSpc>
              <a:spcBef>
                <a:spcPts val="1000"/>
              </a:spcBef>
              <a:spcAft>
                <a:spcPts val="0"/>
              </a:spcAft>
              <a:buClr>
                <a:schemeClr val="dk1"/>
              </a:buClr>
              <a:buSzPts val="2880"/>
              <a:buFont typeface="Arial"/>
              <a:buNone/>
            </a:pPr>
            <a:endParaRPr sz="2400" dirty="0">
              <a:solidFill>
                <a:schemeClr val="dk1"/>
              </a:solidFill>
              <a:latin typeface="Open Sans"/>
              <a:ea typeface="Open Sans"/>
              <a:cs typeface="Open Sans"/>
              <a:sym typeface="Open Sans"/>
            </a:endParaRPr>
          </a:p>
          <a:p>
            <a:pPr marL="0" lvl="0" indent="0" algn="l" rtl="0">
              <a:lnSpc>
                <a:spcPct val="90000"/>
              </a:lnSpc>
              <a:spcBef>
                <a:spcPts val="1000"/>
              </a:spcBef>
              <a:spcAft>
                <a:spcPts val="0"/>
              </a:spcAft>
              <a:buClr>
                <a:schemeClr val="dk1"/>
              </a:buClr>
              <a:buSzPts val="2880"/>
              <a:buFont typeface="Arial"/>
              <a:buNone/>
            </a:pPr>
            <a:r>
              <a:rPr lang="en-US" sz="2400" dirty="0">
                <a:solidFill>
                  <a:schemeClr val="dk1"/>
                </a:solidFill>
                <a:latin typeface="Open Sans"/>
                <a:ea typeface="Open Sans"/>
                <a:cs typeface="Open Sans"/>
                <a:sym typeface="Open Sans"/>
              </a:rPr>
              <a:t>Richter, F.; Nelson, E.; Coury, N.; Bruckman, L.; Knighton, S. (2023). FAIR2: A framework for addressing discrimination bias in social data science. Editorial </a:t>
            </a:r>
            <a:r>
              <a:rPr lang="en-US" sz="2400" i="1" dirty="0" err="1">
                <a:solidFill>
                  <a:schemeClr val="dk1"/>
                </a:solidFill>
                <a:latin typeface="Open Sans"/>
                <a:ea typeface="Open Sans"/>
                <a:cs typeface="Open Sans"/>
                <a:sym typeface="Open Sans"/>
              </a:rPr>
              <a:t>Universitat</a:t>
            </a:r>
            <a:r>
              <a:rPr lang="en-US" sz="2400" i="1" dirty="0">
                <a:solidFill>
                  <a:schemeClr val="dk1"/>
                </a:solidFill>
                <a:latin typeface="Open Sans"/>
                <a:ea typeface="Open Sans"/>
                <a:cs typeface="Open Sans"/>
                <a:sym typeface="Open Sans"/>
              </a:rPr>
              <a:t> </a:t>
            </a:r>
            <a:r>
              <a:rPr lang="en-US" sz="2400" i="1" dirty="0" err="1">
                <a:solidFill>
                  <a:schemeClr val="dk1"/>
                </a:solidFill>
                <a:latin typeface="Open Sans"/>
                <a:ea typeface="Open Sans"/>
                <a:cs typeface="Open Sans"/>
                <a:sym typeface="Open Sans"/>
              </a:rPr>
              <a:t>Politècnica</a:t>
            </a:r>
            <a:r>
              <a:rPr lang="en-US" sz="2400" i="1" dirty="0">
                <a:solidFill>
                  <a:schemeClr val="dk1"/>
                </a:solidFill>
                <a:latin typeface="Open Sans"/>
                <a:ea typeface="Open Sans"/>
                <a:cs typeface="Open Sans"/>
                <a:sym typeface="Open Sans"/>
              </a:rPr>
              <a:t> de València</a:t>
            </a:r>
            <a:r>
              <a:rPr lang="en-US" sz="2400" dirty="0">
                <a:solidFill>
                  <a:schemeClr val="dk1"/>
                </a:solidFill>
                <a:latin typeface="Open Sans"/>
                <a:ea typeface="Open Sans"/>
                <a:cs typeface="Open Sans"/>
                <a:sym typeface="Open Sans"/>
              </a:rPr>
              <a:t>. 327-335. </a:t>
            </a:r>
            <a:r>
              <a:rPr lang="en-US" sz="2400" u="sng" dirty="0">
                <a:solidFill>
                  <a:srgbClr val="0563C1"/>
                </a:solid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https://doi.org/10.4995/CARMA2023.2023.16400</a:t>
            </a:r>
            <a:endParaRPr sz="2400" dirty="0">
              <a:solidFill>
                <a:schemeClr val="dk1"/>
              </a:solidFill>
              <a:highlight>
                <a:srgbClr val="FFFF00"/>
              </a:highlight>
              <a:latin typeface="Open Sans"/>
              <a:ea typeface="Open Sans"/>
              <a:cs typeface="Open Sans"/>
              <a:sym typeface="Open Sans"/>
            </a:endParaRPr>
          </a:p>
        </p:txBody>
      </p:sp>
      <p:sp>
        <p:nvSpPr>
          <p:cNvPr id="2" name="Slide Number Placeholder 1">
            <a:extLst>
              <a:ext uri="{FF2B5EF4-FFF2-40B4-BE49-F238E27FC236}">
                <a16:creationId xmlns:a16="http://schemas.microsoft.com/office/drawing/2014/main" id="{F348AACD-887D-2D27-B74C-21215C53A0C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latin typeface="Open Sans" panose="020B0606030504020204" pitchFamily="34" charset="0"/>
                <a:ea typeface="Open Sans" panose="020B0606030504020204" pitchFamily="34" charset="0"/>
                <a:cs typeface="Open Sans" panose="020B0606030504020204" pitchFamily="34" charset="0"/>
              </a:rPr>
              <a:t>37</a:t>
            </a:fld>
            <a:endParaRPr lang="en-US">
              <a:latin typeface="Open Sans" panose="020B0606030504020204" pitchFamily="34" charset="0"/>
              <a:ea typeface="Open Sans" panose="020B0606030504020204" pitchFamily="34" charset="0"/>
              <a:cs typeface="Open Sans" panose="020B0606030504020204" pitchFamily="34" charset="0"/>
            </a:endParaRP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941</TotalTime>
  <Words>8130</Words>
  <Application>Microsoft Office PowerPoint</Application>
  <PresentationFormat>Custom</PresentationFormat>
  <Paragraphs>533</Paragraphs>
  <Slides>37</Slides>
  <Notes>37</Notes>
  <HiddenSlides>0</HiddenSlides>
  <MMClips>35</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37</vt:i4>
      </vt:variant>
    </vt:vector>
  </HeadingPairs>
  <TitlesOfParts>
    <vt:vector size="45" baseType="lpstr">
      <vt:lpstr>Calibri</vt:lpstr>
      <vt:lpstr>Arial</vt:lpstr>
      <vt:lpstr>Play</vt:lpstr>
      <vt:lpstr>Open Sans</vt:lpstr>
      <vt:lpstr>Cambria Math</vt:lpstr>
      <vt:lpstr>Calibri Light</vt:lpstr>
      <vt:lpstr>Office 2013 - 2022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Integrated Administrative Data (IDS)?</vt:lpstr>
      <vt:lpstr>Learning from Linked Administrative Data and Experiential Knowledge</vt:lpstr>
      <vt:lpstr>PowerPoint Presentation</vt:lpstr>
      <vt:lpstr>PowerPoint Presentation</vt:lpstr>
      <vt:lpstr>What we shared with Data Chat participants</vt:lpstr>
      <vt:lpstr>PowerPoint Presentation</vt:lpstr>
      <vt:lpstr>PowerPoint Presentation</vt:lpstr>
      <vt:lpstr>Mapping different demographic categories into standardized, inclusive, common values  </vt:lpstr>
      <vt:lpstr>Even after standardizing categories, for some people, demographic information changes across multiple administrative records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Francisca Richter</dc:creator>
  <cp:lastModifiedBy>Christine Marlow</cp:lastModifiedBy>
  <cp:revision>21</cp:revision>
  <dcterms:created xsi:type="dcterms:W3CDTF">2006-08-16T00:00:00Z</dcterms:created>
  <dcterms:modified xsi:type="dcterms:W3CDTF">2026-01-31T18:56:19Z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0x010100FD8439562A4B14489A11B55CBC412A6C</vt:lpwstr>
  </property>
</Properties>
</file>