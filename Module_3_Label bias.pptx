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7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7" r:id="rId19"/>
    <p:sldId id="272" r:id="rId20"/>
    <p:sldId id="273" r:id="rId21"/>
  </p:sldIdLst>
  <p:sldSz cx="12192000" cy="6858000"/>
  <p:notesSz cx="6858000" cy="9144000"/>
  <p:embeddedFontLst>
    <p:embeddedFont>
      <p:font typeface="Open Sans" panose="020B0606030504020204"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iokxr2G+hAjAjIezaHL8B2IKStI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C84"/>
    <a:srgbClr val="00BFC4"/>
    <a:srgbClr val="F8766D"/>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D435500-5119-4B6E-8458-99270D50C21A}">
  <a:tblStyle styleId="{9D435500-5119-4B6E-8458-99270D50C21A}"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47" autoAdjust="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30"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cisca Richter" userId="748852301_tp_box_2" providerId="OAuth2" clId="{D7DBE78D-EE8F-4140-B1BE-F9108D0C41A8}"/>
    <pc:docChg chg="custSel modSld">
      <pc:chgData name="Francisca Richter" userId="748852301_tp_box_2" providerId="OAuth2" clId="{D7DBE78D-EE8F-4140-B1BE-F9108D0C41A8}" dt="2026-02-10T01:35:29.856" v="562" actId="20577"/>
      <pc:docMkLst>
        <pc:docMk/>
      </pc:docMkLst>
      <pc:sldChg chg="modSp mod">
        <pc:chgData name="Francisca Richter" userId="748852301_tp_box_2" providerId="OAuth2" clId="{D7DBE78D-EE8F-4140-B1BE-F9108D0C41A8}" dt="2026-01-23T22:07:05.193" v="0" actId="27636"/>
        <pc:sldMkLst>
          <pc:docMk/>
          <pc:sldMk cId="0" sldId="258"/>
        </pc:sldMkLst>
        <pc:spChg chg="mod">
          <ac:chgData name="Francisca Richter" userId="748852301_tp_box_2" providerId="OAuth2" clId="{D7DBE78D-EE8F-4140-B1BE-F9108D0C41A8}" dt="2026-01-23T22:07:05.193" v="0" actId="27636"/>
          <ac:spMkLst>
            <pc:docMk/>
            <pc:sldMk cId="0" sldId="258"/>
            <ac:spMk id="130" creationId="{00000000-0000-0000-0000-000000000000}"/>
          </ac:spMkLst>
        </pc:spChg>
      </pc:sldChg>
      <pc:sldChg chg="modSp mod">
        <pc:chgData name="Francisca Richter" userId="748852301_tp_box_2" providerId="OAuth2" clId="{D7DBE78D-EE8F-4140-B1BE-F9108D0C41A8}" dt="2026-01-30T16:35:03.251" v="8" actId="20577"/>
        <pc:sldMkLst>
          <pc:docMk/>
          <pc:sldMk cId="0" sldId="259"/>
        </pc:sldMkLst>
        <pc:spChg chg="mod">
          <ac:chgData name="Francisca Richter" userId="748852301_tp_box_2" providerId="OAuth2" clId="{D7DBE78D-EE8F-4140-B1BE-F9108D0C41A8}" dt="2026-01-30T16:35:03.251" v="8" actId="20577"/>
          <ac:spMkLst>
            <pc:docMk/>
            <pc:sldMk cId="0" sldId="259"/>
            <ac:spMk id="137" creationId="{00000000-0000-0000-0000-000000000000}"/>
          </ac:spMkLst>
        </pc:spChg>
      </pc:sldChg>
      <pc:sldChg chg="modSp mod">
        <pc:chgData name="Francisca Richter" userId="748852301_tp_box_2" providerId="OAuth2" clId="{D7DBE78D-EE8F-4140-B1BE-F9108D0C41A8}" dt="2026-01-30T17:03:33.943" v="561" actId="207"/>
        <pc:sldMkLst>
          <pc:docMk/>
          <pc:sldMk cId="0" sldId="269"/>
        </pc:sldMkLst>
      </pc:sldChg>
      <pc:sldChg chg="modSp mod">
        <pc:chgData name="Francisca Richter" userId="748852301_tp_box_2" providerId="OAuth2" clId="{D7DBE78D-EE8F-4140-B1BE-F9108D0C41A8}" dt="2026-02-10T01:35:29.856" v="562" actId="20577"/>
        <pc:sldMkLst>
          <pc:docMk/>
          <pc:sldMk cId="0" sldId="270"/>
        </pc:sldMkLst>
        <pc:spChg chg="mod">
          <ac:chgData name="Francisca Richter" userId="748852301_tp_box_2" providerId="OAuth2" clId="{D7DBE78D-EE8F-4140-B1BE-F9108D0C41A8}" dt="2026-02-10T01:35:29.856" v="562" actId="20577"/>
          <ac:spMkLst>
            <pc:docMk/>
            <pc:sldMk cId="0" sldId="270"/>
            <ac:spMk id="23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B981D491-0040-4849-B669-7F7416E1D6CC}"/>
            </a:ext>
          </a:extLst>
        </p:cNvPr>
        <p:cNvGrpSpPr/>
        <p:nvPr/>
      </p:nvGrpSpPr>
      <p:grpSpPr>
        <a:xfrm>
          <a:off x="0" y="0"/>
          <a:ext cx="0" cy="0"/>
          <a:chOff x="0" y="0"/>
          <a:chExt cx="0" cy="0"/>
        </a:xfrm>
      </p:grpSpPr>
      <p:sp>
        <p:nvSpPr>
          <p:cNvPr id="113" name="Google Shape;113;p2:notes">
            <a:extLst>
              <a:ext uri="{FF2B5EF4-FFF2-40B4-BE49-F238E27FC236}">
                <a16:creationId xmlns:a16="http://schemas.microsoft.com/office/drawing/2014/main" id="{6F2F079D-2D29-03B2-B17E-319BD74E060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
        <p:nvSpPr>
          <p:cNvPr id="114" name="Google Shape;114;p2:notes">
            <a:extLst>
              <a:ext uri="{FF2B5EF4-FFF2-40B4-BE49-F238E27FC236}">
                <a16:creationId xmlns:a16="http://schemas.microsoft.com/office/drawing/2014/main" id="{AAC651C3-33CC-503F-68FD-196F59E8A9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7566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8f0dd5db63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g38f0dd5db63_1_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
        <p:nvSpPr>
          <p:cNvPr id="94" name="Google Shape;94;g38f0dd5db63_1_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baea41ba6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 name="Google Shape;112;g3baea41ba6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
        <p:nvSpPr>
          <p:cNvPr id="113" name="Google Shape;113;g3baea41ba63_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
        <p:nvSpPr>
          <p:cNvPr id="134" name="Google Shape;134;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7c71f74161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 name="Google Shape;140;g37c71f74161_0_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Label bias has to do with the outcome variable of interest, i.e. what we are trying to predict.</a:t>
            </a:r>
            <a:endParaRPr/>
          </a:p>
        </p:txBody>
      </p:sp>
      <p:sp>
        <p:nvSpPr>
          <p:cNvPr id="141" name="Google Shape;141;g37c71f74161_0_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8cbc66050f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g38cbc66050f_1_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We are trying to predict homelessness (our outcome variable) by actually measuring shelter use. Homelessness itself is difficult to quantify, so we are choosing to quantify it by measuring those who use homeless shelters.</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However, not everyone who is experiencing homelessness is able to seek shelter. So, people experiencing homelessness get left out of the shelter use data. The bias that this creates is label bias.</a:t>
            </a:r>
            <a:endParaRPr/>
          </a:p>
        </p:txBody>
      </p:sp>
      <p:sp>
        <p:nvSpPr>
          <p:cNvPr id="151" name="Google Shape;151;g38cbc66050f_1_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8cbc66050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g38cbc66050f_1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Label bias occurs when the outcome variable is a proxy label of something that is difficult to measure.</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In our example, we want to measure homelessness, but we measure homelessness by using the proxy label of shelter use.</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Why is it important?</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Label bias may reflect historical inequities and human biases.</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Label bias may reproduce these biases. (Think about AI and machine learning.)</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Label bias may reflect disparities in society.</a:t>
            </a:r>
            <a:endParaRPr/>
          </a:p>
          <a:p>
            <a:pPr marL="0" lvl="0" indent="0" algn="l" rtl="0">
              <a:lnSpc>
                <a:spcPct val="100000"/>
              </a:lnSpc>
              <a:spcBef>
                <a:spcPts val="0"/>
              </a:spcBef>
              <a:spcAft>
                <a:spcPts val="0"/>
              </a:spcAft>
              <a:buSzPts val="1400"/>
              <a:buNone/>
            </a:pPr>
            <a:endParaRPr/>
          </a:p>
        </p:txBody>
      </p:sp>
      <p:sp>
        <p:nvSpPr>
          <p:cNvPr id="165" name="Google Shape;165;g38cbc66050f_1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8cbc66050f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38cbc66050f_1_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With our example, what consequences may label bias have? Who are we leaving out of our prediction model?</a:t>
            </a:r>
            <a:endParaRPr/>
          </a:p>
        </p:txBody>
      </p:sp>
      <p:sp>
        <p:nvSpPr>
          <p:cNvPr id="172" name="Google Shape;172;g38cbc66050f_1_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7c71f74161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g37c71f74161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Include a quote here - tired of data collection</a:t>
            </a:r>
            <a:endParaRPr/>
          </a:p>
          <a:p>
            <a:pPr marL="0" lvl="0" indent="0" algn="l" rtl="0">
              <a:lnSpc>
                <a:spcPct val="100000"/>
              </a:lnSpc>
              <a:spcBef>
                <a:spcPts val="0"/>
              </a:spcBef>
              <a:spcAft>
                <a:spcPts val="0"/>
              </a:spcAft>
              <a:buSzPts val="1400"/>
              <a:buNone/>
            </a:pPr>
            <a:r>
              <a:rPr lang="en-US"/>
              <a:t>in descriptive statistics, how do we describe these people who are less likely to show up in data ?</a:t>
            </a:r>
            <a:endParaRPr/>
          </a:p>
          <a:p>
            <a:pPr marL="0" lvl="0" indent="0" algn="l" rtl="0">
              <a:lnSpc>
                <a:spcPct val="100000"/>
              </a:lnSpc>
              <a:spcBef>
                <a:spcPts val="0"/>
              </a:spcBef>
              <a:spcAft>
                <a:spcPts val="0"/>
              </a:spcAft>
              <a:buSzPts val="1400"/>
              <a:buNone/>
            </a:pPr>
            <a:r>
              <a:rPr lang="en-US"/>
              <a:t>can give example of HUD paper (what we did to address who is missing)</a:t>
            </a:r>
            <a:endParaRPr/>
          </a:p>
        </p:txBody>
      </p:sp>
      <p:sp>
        <p:nvSpPr>
          <p:cNvPr id="182" name="Google Shape;182;g37c71f74161_0_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7c71f74161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g37c71f74161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 name="Google Shape;191;g37c71f74161_0_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8" name="Google Shape;19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Include a quote here - tired of data collection</a:t>
            </a:r>
            <a:endParaRPr/>
          </a:p>
          <a:p>
            <a:pPr marL="0" lvl="0" indent="0" algn="l" rtl="0">
              <a:lnSpc>
                <a:spcPct val="100000"/>
              </a:lnSpc>
              <a:spcBef>
                <a:spcPts val="0"/>
              </a:spcBef>
              <a:spcAft>
                <a:spcPts val="0"/>
              </a:spcAft>
              <a:buSzPts val="1400"/>
              <a:buNone/>
            </a:pPr>
            <a:r>
              <a:rPr lang="en-US"/>
              <a:t>in descriptive statistics, how do we describe these people who are less likely to show up in data ?</a:t>
            </a:r>
            <a:endParaRPr/>
          </a:p>
          <a:p>
            <a:pPr marL="0" lvl="0" indent="0" algn="l" rtl="0">
              <a:lnSpc>
                <a:spcPct val="100000"/>
              </a:lnSpc>
              <a:spcBef>
                <a:spcPts val="0"/>
              </a:spcBef>
              <a:spcAft>
                <a:spcPts val="0"/>
              </a:spcAft>
              <a:buSzPts val="1400"/>
              <a:buNone/>
            </a:pPr>
            <a:r>
              <a:rPr lang="en-US"/>
              <a:t>can give example of HUD paper (what we did to address who is missing)</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“My personal feelings on it is that the only thing that needs to be identified is ‘Yes, I’m human.’”</a:t>
            </a:r>
            <a:endParaRPr/>
          </a:p>
          <a:p>
            <a:pPr marL="0" lvl="0" indent="0" algn="l" rtl="0">
              <a:lnSpc>
                <a:spcPct val="100000"/>
              </a:lnSpc>
              <a:spcBef>
                <a:spcPts val="0"/>
              </a:spcBef>
              <a:spcAft>
                <a:spcPts val="0"/>
              </a:spcAft>
              <a:buSzPts val="1400"/>
              <a:buNone/>
            </a:pPr>
            <a:r>
              <a:rPr lang="en-US"/>
              <a:t>“Maybe in the future, as youth and young adults lead more of this type of work, my hope is that it does become a lot less burdensome.”</a:t>
            </a:r>
            <a:endParaRPr/>
          </a:p>
          <a:p>
            <a:pPr marL="0" lvl="0" indent="0" algn="l" rtl="0">
              <a:lnSpc>
                <a:spcPct val="100000"/>
              </a:lnSpc>
              <a:spcBef>
                <a:spcPts val="0"/>
              </a:spcBef>
              <a:spcAft>
                <a:spcPts val="0"/>
              </a:spcAft>
              <a:buClr>
                <a:schemeClr val="dk1"/>
              </a:buClr>
              <a:buSzPts val="1100"/>
              <a:buFont typeface="Arial"/>
              <a:buNone/>
            </a:pPr>
            <a:r>
              <a:rPr lang="en-US"/>
              <a:t>“Being on the street, we’re not thinking about the color we are, so why is the government thinking about what color we are?”</a:t>
            </a:r>
            <a:endParaRPr/>
          </a:p>
          <a:p>
            <a:pPr marL="0" lvl="0" indent="0" algn="l" rtl="0">
              <a:lnSpc>
                <a:spcPct val="100000"/>
              </a:lnSpc>
              <a:spcBef>
                <a:spcPts val="0"/>
              </a:spcBef>
              <a:spcAft>
                <a:spcPts val="0"/>
              </a:spcAft>
              <a:buClr>
                <a:schemeClr val="dk1"/>
              </a:buClr>
              <a:buSzPts val="1100"/>
              <a:buFont typeface="Arial"/>
              <a:buNone/>
            </a:pPr>
            <a:r>
              <a:rPr lang="en-US"/>
              <a:t>“You’re already in survival mode to where even being at these places [service providers], you kind of just want to run.”</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400"/>
              <a:buNone/>
            </a:pPr>
            <a:endParaRPr/>
          </a:p>
        </p:txBody>
      </p:sp>
      <p:sp>
        <p:nvSpPr>
          <p:cNvPr id="240" name="Google Shape;240;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F66BB761-10AA-384C-6D16-EB2ABAE8CB18}"/>
            </a:ext>
          </a:extLst>
        </p:cNvPr>
        <p:cNvGrpSpPr/>
        <p:nvPr/>
      </p:nvGrpSpPr>
      <p:grpSpPr>
        <a:xfrm>
          <a:off x="0" y="0"/>
          <a:ext cx="0" cy="0"/>
          <a:chOff x="0" y="0"/>
          <a:chExt cx="0" cy="0"/>
        </a:xfrm>
      </p:grpSpPr>
      <p:sp>
        <p:nvSpPr>
          <p:cNvPr id="238" name="Google Shape;238;p20:notes">
            <a:extLst>
              <a:ext uri="{FF2B5EF4-FFF2-40B4-BE49-F238E27FC236}">
                <a16:creationId xmlns:a16="http://schemas.microsoft.com/office/drawing/2014/main" id="{02AD85DE-557B-42E0-4D24-9575FCED31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p20:notes">
            <a:extLst>
              <a:ext uri="{FF2B5EF4-FFF2-40B4-BE49-F238E27FC236}">
                <a16:creationId xmlns:a16="http://schemas.microsoft.com/office/drawing/2014/main" id="{E9EBB4BD-0E5A-E05E-4C83-62E7BC50F44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endParaRPr dirty="0"/>
          </a:p>
          <a:p>
            <a:pPr marL="0" lvl="0" indent="0" algn="l" rtl="0">
              <a:lnSpc>
                <a:spcPct val="100000"/>
              </a:lnSpc>
              <a:spcBef>
                <a:spcPts val="0"/>
              </a:spcBef>
              <a:spcAft>
                <a:spcPts val="0"/>
              </a:spcAft>
              <a:buSzPts val="1400"/>
              <a:buNone/>
            </a:pPr>
            <a:endParaRPr dirty="0"/>
          </a:p>
        </p:txBody>
      </p:sp>
      <p:sp>
        <p:nvSpPr>
          <p:cNvPr id="240" name="Google Shape;240;p20:notes">
            <a:extLst>
              <a:ext uri="{FF2B5EF4-FFF2-40B4-BE49-F238E27FC236}">
                <a16:creationId xmlns:a16="http://schemas.microsoft.com/office/drawing/2014/main" id="{43F961B0-C431-9AB8-4320-9FBF6688337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extLst>
      <p:ext uri="{BB962C8B-B14F-4D97-AF65-F5344CB8AC3E}">
        <p14:creationId xmlns:p14="http://schemas.microsoft.com/office/powerpoint/2010/main" val="7220632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Google Shape;247;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Include a quote here - tired of data collection</a:t>
            </a:r>
            <a:endParaRPr/>
          </a:p>
          <a:p>
            <a:pPr marL="0" lvl="0" indent="0" algn="l" rtl="0">
              <a:lnSpc>
                <a:spcPct val="100000"/>
              </a:lnSpc>
              <a:spcBef>
                <a:spcPts val="0"/>
              </a:spcBef>
              <a:spcAft>
                <a:spcPts val="0"/>
              </a:spcAft>
              <a:buSzPts val="1400"/>
              <a:buNone/>
            </a:pPr>
            <a:r>
              <a:rPr lang="en-US"/>
              <a:t>in descriptive statistics, how do we describe these people who are less likely to show up in data ?</a:t>
            </a:r>
            <a:endParaRPr/>
          </a:p>
          <a:p>
            <a:pPr marL="0" lvl="0" indent="0" algn="l" rtl="0">
              <a:lnSpc>
                <a:spcPct val="100000"/>
              </a:lnSpc>
              <a:spcBef>
                <a:spcPts val="0"/>
              </a:spcBef>
              <a:spcAft>
                <a:spcPts val="0"/>
              </a:spcAft>
              <a:buSzPts val="1400"/>
              <a:buNone/>
            </a:pPr>
            <a:r>
              <a:rPr lang="en-US"/>
              <a:t>can give example of HUD paper (what we did to address who is missing)</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“My personal feelings on it is that the only thing that needs to be identified is ‘Yes, I’m human.’”</a:t>
            </a:r>
            <a:endParaRPr/>
          </a:p>
          <a:p>
            <a:pPr marL="0" lvl="0" indent="0" algn="l" rtl="0">
              <a:lnSpc>
                <a:spcPct val="100000"/>
              </a:lnSpc>
              <a:spcBef>
                <a:spcPts val="0"/>
              </a:spcBef>
              <a:spcAft>
                <a:spcPts val="0"/>
              </a:spcAft>
              <a:buSzPts val="1400"/>
              <a:buNone/>
            </a:pPr>
            <a:r>
              <a:rPr lang="en-US"/>
              <a:t>“Maybe in the future, as youth and young adults lead more of this type of work, my hope is that it does become a lot less burdensome.”</a:t>
            </a:r>
            <a:endParaRPr/>
          </a:p>
          <a:p>
            <a:pPr marL="0" lvl="0" indent="0" algn="l" rtl="0">
              <a:lnSpc>
                <a:spcPct val="100000"/>
              </a:lnSpc>
              <a:spcBef>
                <a:spcPts val="0"/>
              </a:spcBef>
              <a:spcAft>
                <a:spcPts val="0"/>
              </a:spcAft>
              <a:buClr>
                <a:schemeClr val="dk1"/>
              </a:buClr>
              <a:buSzPts val="1100"/>
              <a:buFont typeface="Arial"/>
              <a:buNone/>
            </a:pPr>
            <a:r>
              <a:rPr lang="en-US"/>
              <a:t>“Being on the street, we’re not thinking about the color we are, so why is the government thinking about what color we are?”</a:t>
            </a:r>
            <a:endParaRPr/>
          </a:p>
          <a:p>
            <a:pPr marL="0" lvl="0" indent="0" algn="l" rtl="0">
              <a:lnSpc>
                <a:spcPct val="100000"/>
              </a:lnSpc>
              <a:spcBef>
                <a:spcPts val="0"/>
              </a:spcBef>
              <a:spcAft>
                <a:spcPts val="0"/>
              </a:spcAft>
              <a:buClr>
                <a:schemeClr val="dk1"/>
              </a:buClr>
              <a:buSzPts val="1100"/>
              <a:buFont typeface="Arial"/>
              <a:buNone/>
            </a:pPr>
            <a:r>
              <a:rPr lang="en-US"/>
              <a:t>“You’re already in survival mode to where even being at these places [service providers], you kind of just want to run.”</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400"/>
              <a:buNone/>
            </a:pPr>
            <a:endParaRPr/>
          </a:p>
        </p:txBody>
      </p:sp>
      <p:sp>
        <p:nvSpPr>
          <p:cNvPr id="248" name="Google Shape;248;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48d5436fe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g348d5436fe2_0_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6" name="Google Shape;256;g348d5436fe2_0_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4" name="Google Shape;34;p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0" name="Google Shape;40;p6"/>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1" name="Google Shape;41;p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8" name="Google Shape;48;p7"/>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0" name="Google Shape;50;p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10"/>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1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a:spLocks noGrp="1"/>
          </p:cNvSpPr>
          <p:nvPr>
            <p:ph type="pic" idx="2"/>
          </p:nvPr>
        </p:nvSpPr>
        <p:spPr>
          <a:xfrm>
            <a:off x="2389717" y="612775"/>
            <a:ext cx="7315200" cy="4114800"/>
          </a:xfrm>
          <a:prstGeom prst="rect">
            <a:avLst/>
          </a:prstGeom>
          <a:noFill/>
          <a:ln>
            <a:noFill/>
          </a:ln>
        </p:spPr>
      </p:sp>
      <p:sp>
        <p:nvSpPr>
          <p:cNvPr id="68" name="Google Shape;68;p11"/>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1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2"/>
          <p:cNvSpPr txBox="1">
            <a:spLocks noGrp="1"/>
          </p:cNvSpPr>
          <p:nvPr>
            <p:ph type="body" idx="1"/>
          </p:nvPr>
        </p:nvSpPr>
        <p:spPr>
          <a:xfrm rot="5400000">
            <a:off x="3833020" y="-1623218"/>
            <a:ext cx="4525963" cy="10972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1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rot="5400000">
            <a:off x="7285039" y="1828801"/>
            <a:ext cx="5851525" cy="27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3"/>
          <p:cNvSpPr txBox="1">
            <a:spLocks noGrp="1"/>
          </p:cNvSpPr>
          <p:nvPr>
            <p:ph type="body" idx="1"/>
          </p:nvPr>
        </p:nvSpPr>
        <p:spPr>
          <a:xfrm rot="5400000">
            <a:off x="1697039" y="-812800"/>
            <a:ext cx="5851525" cy="80264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1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hyperlink" Target="https://povertycentercle.github.io/FAIR2-PIT-UN/Labels-bias.html" TargetMode="Externa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pubmed.ncbi.nlm.nih.gov/28287877/"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pmc.ncbi.nlm.nih.gov/articles/PMC7497435/"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1007/s10869-025-10022-x"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hyperlink" Target="https://doi.org/10.1007/s10508-020-01810-y" TargetMode="External"/><Relationship Id="rId5" Type="http://schemas.openxmlformats.org/officeDocument/2006/relationships/hyperlink" Target="https://doi.org/10.1145/3630106.3658972" TargetMode="External"/><Relationship Id="rId4" Type="http://schemas.openxmlformats.org/officeDocument/2006/relationships/hyperlink" Target="https://doi.org/10.1016/j.eswa.2025.12826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txBox="1">
            <a:spLocks noGrp="1"/>
          </p:cNvSpPr>
          <p:nvPr>
            <p:ph type="ctrTitle"/>
          </p:nvPr>
        </p:nvSpPr>
        <p:spPr>
          <a:xfrm>
            <a:off x="1677971" y="1131217"/>
            <a:ext cx="8644379" cy="201498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SzPct val="99773"/>
              <a:buNone/>
            </a:pPr>
            <a:r>
              <a:rPr lang="en-US" sz="4900" b="1">
                <a:solidFill>
                  <a:srgbClr val="001C84"/>
                </a:solidFill>
                <a:latin typeface="Open Sans"/>
                <a:ea typeface="Open Sans"/>
                <a:cs typeface="Open Sans"/>
                <a:sym typeface="Open Sans"/>
              </a:rPr>
              <a:t>An illustration of </a:t>
            </a:r>
            <a:br>
              <a:rPr lang="en-US" sz="4900" b="1">
                <a:solidFill>
                  <a:srgbClr val="001C84"/>
                </a:solidFill>
                <a:latin typeface="Open Sans"/>
                <a:ea typeface="Open Sans"/>
                <a:cs typeface="Open Sans"/>
                <a:sym typeface="Open Sans"/>
              </a:rPr>
            </a:br>
            <a:r>
              <a:rPr lang="en-US" sz="5400" b="1">
                <a:solidFill>
                  <a:srgbClr val="001C84"/>
                </a:solidFill>
                <a:latin typeface="Open Sans"/>
                <a:ea typeface="Open Sans"/>
                <a:cs typeface="Open Sans"/>
                <a:sym typeface="Open Sans"/>
              </a:rPr>
              <a:t>Label Bias </a:t>
            </a:r>
            <a:br>
              <a:rPr lang="en-US" sz="5400" b="1">
                <a:solidFill>
                  <a:srgbClr val="001C84"/>
                </a:solidFill>
                <a:latin typeface="Open Sans"/>
                <a:ea typeface="Open Sans"/>
                <a:cs typeface="Open Sans"/>
                <a:sym typeface="Open Sans"/>
              </a:rPr>
            </a:br>
            <a:r>
              <a:rPr lang="en-US" sz="4000" b="1">
                <a:solidFill>
                  <a:srgbClr val="001C84"/>
                </a:solidFill>
                <a:latin typeface="Open Sans"/>
                <a:ea typeface="Open Sans"/>
                <a:cs typeface="Open Sans"/>
                <a:sym typeface="Open Sans"/>
              </a:rPr>
              <a:t>in Homelessness Data Analytics</a:t>
            </a:r>
            <a:endParaRPr sz="5400" b="1">
              <a:solidFill>
                <a:srgbClr val="001C84"/>
              </a:solidFill>
              <a:latin typeface="Open Sans"/>
              <a:ea typeface="Open Sans"/>
              <a:cs typeface="Open Sans"/>
              <a:sym typeface="Open Sans"/>
            </a:endParaRPr>
          </a:p>
        </p:txBody>
      </p:sp>
      <p:sp>
        <p:nvSpPr>
          <p:cNvPr id="90" name="Google Shape;90;p1"/>
          <p:cNvSpPr txBox="1"/>
          <p:nvPr/>
        </p:nvSpPr>
        <p:spPr>
          <a:xfrm>
            <a:off x="716437" y="3525623"/>
            <a:ext cx="10595727" cy="2862322"/>
          </a:xfrm>
          <a:prstGeom prst="rect">
            <a:avLst/>
          </a:prstGeom>
          <a:noFill/>
          <a:ln>
            <a:noFill/>
          </a:ln>
        </p:spPr>
        <p:txBody>
          <a:bodyPr spcFirstLastPara="1" wrap="square" lIns="91425" tIns="45700" rIns="91425" bIns="45700" anchor="t" anchorCtr="0">
            <a:spAutoFit/>
          </a:bodyPr>
          <a:lstStyle/>
          <a:p>
            <a:pPr marL="457200" marR="0" lvl="0" indent="-342900" algn="ctr" rtl="0">
              <a:lnSpc>
                <a:spcPct val="100000"/>
              </a:lnSpc>
              <a:spcBef>
                <a:spcPts val="0"/>
              </a:spcBef>
              <a:spcAft>
                <a:spcPts val="0"/>
              </a:spcAft>
              <a:buClr>
                <a:srgbClr val="595959"/>
              </a:buClr>
              <a:buSzPts val="2800"/>
              <a:buFont typeface="Arial"/>
              <a:buNone/>
            </a:pPr>
            <a:r>
              <a:rPr lang="en-US" sz="3200" b="1" i="0" u="none" strike="noStrike" cap="none" dirty="0">
                <a:solidFill>
                  <a:srgbClr val="C00000"/>
                </a:solidFill>
                <a:latin typeface="Open Sans"/>
                <a:ea typeface="Open Sans"/>
                <a:cs typeface="Open Sans"/>
                <a:sym typeface="Open Sans"/>
              </a:rPr>
              <a:t>Centering the Public Interest in Integrated Administrative Data Analytics</a:t>
            </a:r>
            <a:endParaRPr dirty="0">
              <a:solidFill>
                <a:srgbClr val="C00000"/>
              </a:solidFill>
            </a:endParaRPr>
          </a:p>
          <a:p>
            <a:pPr marL="457200" marR="0" lvl="0" indent="-342900" algn="ctr" rtl="0">
              <a:lnSpc>
                <a:spcPct val="100000"/>
              </a:lnSpc>
              <a:spcBef>
                <a:spcPts val="0"/>
              </a:spcBef>
              <a:spcAft>
                <a:spcPts val="0"/>
              </a:spcAft>
              <a:buClr>
                <a:srgbClr val="595959"/>
              </a:buClr>
              <a:buSzPts val="2800"/>
              <a:buFont typeface="Arial"/>
              <a:buNone/>
            </a:pPr>
            <a:endParaRPr sz="2000" b="1" i="0" u="none" strike="noStrike" cap="none" dirty="0">
              <a:solidFill>
                <a:srgbClr val="C00000"/>
              </a:solidFill>
              <a:latin typeface="Open Sans"/>
              <a:ea typeface="Open Sans"/>
              <a:cs typeface="Open Sans"/>
              <a:sym typeface="Open Sans"/>
            </a:endParaRPr>
          </a:p>
          <a:p>
            <a:pPr marL="457200" marR="0" lvl="0" indent="-342900" algn="ctr" rtl="0">
              <a:lnSpc>
                <a:spcPct val="100000"/>
              </a:lnSpc>
              <a:spcBef>
                <a:spcPts val="0"/>
              </a:spcBef>
              <a:spcAft>
                <a:spcPts val="0"/>
              </a:spcAft>
              <a:buClr>
                <a:srgbClr val="595959"/>
              </a:buClr>
              <a:buSzPts val="2800"/>
              <a:buFont typeface="Arial"/>
              <a:buNone/>
            </a:pPr>
            <a:r>
              <a:rPr lang="en-US" sz="2000" b="1" i="0" u="none" strike="noStrike" cap="none" dirty="0">
                <a:solidFill>
                  <a:srgbClr val="C00000"/>
                </a:solidFill>
                <a:latin typeface="Open Sans"/>
                <a:ea typeface="Open Sans"/>
                <a:cs typeface="Open Sans"/>
                <a:sym typeface="Open Sans"/>
              </a:rPr>
              <a:t>Module </a:t>
            </a:r>
            <a:r>
              <a:rPr lang="en-US" sz="3600" b="1" i="0" u="none" strike="noStrike" cap="none" dirty="0">
                <a:solidFill>
                  <a:srgbClr val="C00000"/>
                </a:solidFill>
                <a:latin typeface="Open Sans"/>
                <a:ea typeface="Open Sans"/>
                <a:cs typeface="Open Sans"/>
                <a:sym typeface="Open Sans"/>
              </a:rPr>
              <a:t>3</a:t>
            </a:r>
            <a:r>
              <a:rPr lang="en-US" sz="2000" b="1" i="0" u="none" strike="noStrike" cap="none" dirty="0">
                <a:solidFill>
                  <a:srgbClr val="C00000"/>
                </a:solidFill>
                <a:latin typeface="Open Sans"/>
                <a:ea typeface="Open Sans"/>
                <a:cs typeface="Open Sans"/>
                <a:sym typeface="Open Sans"/>
              </a:rPr>
              <a:t> of 5</a:t>
            </a:r>
            <a:endParaRPr dirty="0">
              <a:solidFill>
                <a:srgbClr val="C00000"/>
              </a:solidFill>
            </a:endParaRPr>
          </a:p>
          <a:p>
            <a:pPr marL="457200" marR="0" lvl="0" indent="-342900" algn="ctr" rtl="0">
              <a:lnSpc>
                <a:spcPct val="100000"/>
              </a:lnSpc>
              <a:spcBef>
                <a:spcPts val="0"/>
              </a:spcBef>
              <a:spcAft>
                <a:spcPts val="0"/>
              </a:spcAft>
              <a:buClr>
                <a:srgbClr val="595959"/>
              </a:buClr>
              <a:buSzPts val="2800"/>
              <a:buFont typeface="Arial"/>
              <a:buNone/>
            </a:pPr>
            <a:endParaRPr sz="2000" b="1" i="0" u="none" strike="noStrike" cap="none" dirty="0">
              <a:solidFill>
                <a:srgbClr val="595959"/>
              </a:solidFill>
              <a:latin typeface="Open Sans"/>
              <a:ea typeface="Open Sans"/>
              <a:cs typeface="Open Sans"/>
              <a:sym typeface="Open Sans"/>
            </a:endParaRPr>
          </a:p>
          <a:p>
            <a:pPr marL="457200" lvl="0" indent="-342900" algn="ctr">
              <a:buClr>
                <a:srgbClr val="595959"/>
              </a:buClr>
              <a:buSzPts val="2800"/>
            </a:pPr>
            <a:r>
              <a:rPr lang="en-US" sz="2000" b="1" dirty="0">
                <a:solidFill>
                  <a:srgbClr val="001C84"/>
                </a:solidFill>
                <a:latin typeface="Open Sans"/>
                <a:ea typeface="Open Sans"/>
                <a:cs typeface="Open Sans"/>
                <a:sym typeface="Open Sans"/>
              </a:rPr>
              <a:t>Public Interest Technology University Network Year 6 Challenge</a:t>
            </a:r>
            <a:endParaRPr lang="en-US" sz="2000" dirty="0">
              <a:solidFill>
                <a:srgbClr val="001C84"/>
              </a:solidFill>
            </a:endParaRPr>
          </a:p>
          <a:p>
            <a:pPr marL="457200" lvl="0" indent="-342900" algn="ctr">
              <a:buClr>
                <a:srgbClr val="595959"/>
              </a:buClr>
              <a:buSzPts val="2800"/>
            </a:pPr>
            <a:r>
              <a:rPr lang="en-US" sz="1600" b="1" dirty="0">
                <a:solidFill>
                  <a:srgbClr val="001C84"/>
                </a:solidFill>
                <a:latin typeface="Open Sans"/>
                <a:ea typeface="Open Sans"/>
                <a:cs typeface="Open Sans"/>
                <a:sym typeface="Open Sans"/>
              </a:rPr>
              <a:t>January 2026</a:t>
            </a:r>
            <a:endParaRPr lang="en-US" b="1" dirty="0">
              <a:solidFill>
                <a:srgbClr val="001C84"/>
              </a:solidFill>
              <a:latin typeface="Open Sans"/>
              <a:ea typeface="Open Sans"/>
              <a:cs typeface="Open Sans"/>
              <a:sym typeface="Open Sans"/>
            </a:endParaRPr>
          </a:p>
        </p:txBody>
      </p:sp>
      <p:sp>
        <p:nvSpPr>
          <p:cNvPr id="2" name="Slide Number Placeholder 1">
            <a:extLst>
              <a:ext uri="{FF2B5EF4-FFF2-40B4-BE49-F238E27FC236}">
                <a16:creationId xmlns:a16="http://schemas.microsoft.com/office/drawing/2014/main" id="{05E54B24-2C5D-E253-7C16-9D27A0550BD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BE382F0E-A5F2-220D-2648-5ADF5DB3D315}"/>
            </a:ext>
          </a:extLst>
        </p:cNvPr>
        <p:cNvGrpSpPr/>
        <p:nvPr/>
      </p:nvGrpSpPr>
      <p:grpSpPr>
        <a:xfrm>
          <a:off x="0" y="0"/>
          <a:ext cx="0" cy="0"/>
          <a:chOff x="0" y="0"/>
          <a:chExt cx="0" cy="0"/>
        </a:xfrm>
      </p:grpSpPr>
      <p:sp>
        <p:nvSpPr>
          <p:cNvPr id="116" name="Google Shape;116;p2">
            <a:extLst>
              <a:ext uri="{FF2B5EF4-FFF2-40B4-BE49-F238E27FC236}">
                <a16:creationId xmlns:a16="http://schemas.microsoft.com/office/drawing/2014/main" id="{E20BBF75-88A8-245B-A80E-CBE5BC88304E}"/>
              </a:ext>
            </a:extLst>
          </p:cNvPr>
          <p:cNvSpPr/>
          <p:nvPr/>
        </p:nvSpPr>
        <p:spPr>
          <a:xfrm>
            <a:off x="-176979" y="807414"/>
            <a:ext cx="12708570" cy="5275776"/>
          </a:xfrm>
          <a:custGeom>
            <a:avLst/>
            <a:gdLst/>
            <a:ahLst/>
            <a:cxnLst/>
            <a:rect l="l" t="t" r="r" b="b"/>
            <a:pathLst>
              <a:path w="7324824" h="3192603" extrusionOk="0">
                <a:moveTo>
                  <a:pt x="0" y="0"/>
                </a:moveTo>
                <a:cubicBezTo>
                  <a:pt x="1309477" y="14717"/>
                  <a:pt x="1371532" y="1341630"/>
                  <a:pt x="2241982" y="1574153"/>
                </a:cubicBezTo>
                <a:cubicBezTo>
                  <a:pt x="3112432" y="1806676"/>
                  <a:pt x="4375560" y="1125395"/>
                  <a:pt x="5222700" y="1395137"/>
                </a:cubicBezTo>
                <a:cubicBezTo>
                  <a:pt x="6069840" y="1664879"/>
                  <a:pt x="6202905" y="3159140"/>
                  <a:pt x="7324824" y="3192603"/>
                </a:cubicBezTo>
              </a:path>
            </a:pathLst>
          </a:custGeom>
          <a:noFill/>
          <a:ln w="12700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sp>
        <p:nvSpPr>
          <p:cNvPr id="117" name="Google Shape;117;p2">
            <a:extLst>
              <a:ext uri="{FF2B5EF4-FFF2-40B4-BE49-F238E27FC236}">
                <a16:creationId xmlns:a16="http://schemas.microsoft.com/office/drawing/2014/main" id="{989418E0-6BE9-9376-B3A9-B66B36D11D5E}"/>
              </a:ext>
            </a:extLst>
          </p:cNvPr>
          <p:cNvSpPr/>
          <p:nvPr/>
        </p:nvSpPr>
        <p:spPr>
          <a:xfrm>
            <a:off x="-176979" y="807414"/>
            <a:ext cx="12708570" cy="5275776"/>
          </a:xfrm>
          <a:custGeom>
            <a:avLst/>
            <a:gdLst/>
            <a:ahLst/>
            <a:cxnLst/>
            <a:rect l="l" t="t" r="r" b="b"/>
            <a:pathLst>
              <a:path w="7324824" h="3192603" extrusionOk="0">
                <a:moveTo>
                  <a:pt x="0" y="0"/>
                </a:moveTo>
                <a:cubicBezTo>
                  <a:pt x="1309477" y="14717"/>
                  <a:pt x="1371532" y="1341630"/>
                  <a:pt x="2241982" y="1574153"/>
                </a:cubicBezTo>
                <a:cubicBezTo>
                  <a:pt x="3112432" y="1806676"/>
                  <a:pt x="4375560" y="1125395"/>
                  <a:pt x="5222700" y="1395137"/>
                </a:cubicBezTo>
                <a:cubicBezTo>
                  <a:pt x="6069840" y="1664879"/>
                  <a:pt x="6202905" y="3159140"/>
                  <a:pt x="7324824" y="3192603"/>
                </a:cubicBezTo>
              </a:path>
            </a:pathLst>
          </a:custGeom>
          <a:noFill/>
          <a:ln w="101600" cap="flat" cmpd="sng">
            <a:solidFill>
              <a:schemeClr val="lt1"/>
            </a:solidFill>
            <a:prstDash val="lg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a:ea typeface="Arial"/>
              <a:cs typeface="Arial"/>
              <a:sym typeface="Arial"/>
            </a:endParaRPr>
          </a:p>
        </p:txBody>
      </p:sp>
      <p:grpSp>
        <p:nvGrpSpPr>
          <p:cNvPr id="3" name="Group 2">
            <a:extLst>
              <a:ext uri="{FF2B5EF4-FFF2-40B4-BE49-F238E27FC236}">
                <a16:creationId xmlns:a16="http://schemas.microsoft.com/office/drawing/2014/main" id="{27617174-1E5E-1E70-EAC7-E83C8FB105F2}"/>
              </a:ext>
            </a:extLst>
          </p:cNvPr>
          <p:cNvGrpSpPr/>
          <p:nvPr/>
        </p:nvGrpSpPr>
        <p:grpSpPr>
          <a:xfrm>
            <a:off x="662660" y="2509930"/>
            <a:ext cx="3129378" cy="1235276"/>
            <a:chOff x="860675" y="2439143"/>
            <a:chExt cx="3129378" cy="1235276"/>
          </a:xfrm>
        </p:grpSpPr>
        <p:sp>
          <p:nvSpPr>
            <p:cNvPr id="16" name="Parallelogram 15">
              <a:extLst>
                <a:ext uri="{FF2B5EF4-FFF2-40B4-BE49-F238E27FC236}">
                  <a16:creationId xmlns:a16="http://schemas.microsoft.com/office/drawing/2014/main" id="{A10A1214-F6E0-151F-01DB-8D668D43FF8A}"/>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algn="r" rtl="0"/>
              <a:endParaRPr lang="en-US" sz="900" dirty="0">
                <a:cs typeface="Arial"/>
              </a:endParaRPr>
            </a:p>
          </p:txBody>
        </p:sp>
        <p:sp>
          <p:nvSpPr>
            <p:cNvPr id="2" name="TextBox 1">
              <a:extLst>
                <a:ext uri="{FF2B5EF4-FFF2-40B4-BE49-F238E27FC236}">
                  <a16:creationId xmlns:a16="http://schemas.microsoft.com/office/drawing/2014/main" id="{FF34D074-8E61-D5EB-F92B-09366E52B7E5}"/>
                </a:ext>
              </a:extLst>
            </p:cNvPr>
            <p:cNvSpPr txBox="1"/>
            <p:nvPr/>
          </p:nvSpPr>
          <p:spPr>
            <a:xfrm>
              <a:off x="2002894" y="2439144"/>
              <a:ext cx="1747582" cy="1235275"/>
            </a:xfrm>
            <a:prstGeom prst="rect">
              <a:avLst/>
            </a:prstGeom>
            <a:noFill/>
          </p:spPr>
          <p:txBody>
            <a:bodyPr wrap="square" rtlCol="0" anchor="ctr" anchorCtr="0">
              <a:normAutofit/>
            </a:bodyPr>
            <a:lstStyle/>
            <a:p>
              <a:pPr lvl="0" algn="r">
                <a:buClr>
                  <a:schemeClr val="dk1"/>
                </a:buClr>
                <a:buSzPct val="297213"/>
              </a:pPr>
              <a:r>
                <a:rPr lang="en-US" sz="160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Module 1</a:t>
              </a:r>
              <a:endParaRPr lang="en-US" sz="105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endParaRPr>
            </a:p>
            <a:p>
              <a:pPr lvl="0" algn="r">
                <a:buClr>
                  <a:schemeClr val="dk1"/>
                </a:buClr>
                <a:buSzPts val="4800"/>
              </a:pPr>
              <a:r>
                <a:rPr lang="en-US" sz="1000"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FAIR2: A framework for integrating community knowledge in data analytics and addressing discrimination bias</a:t>
              </a:r>
            </a:p>
          </p:txBody>
        </p:sp>
      </p:grpSp>
      <p:grpSp>
        <p:nvGrpSpPr>
          <p:cNvPr id="4" name="Group 3">
            <a:extLst>
              <a:ext uri="{FF2B5EF4-FFF2-40B4-BE49-F238E27FC236}">
                <a16:creationId xmlns:a16="http://schemas.microsoft.com/office/drawing/2014/main" id="{10D76ECB-4537-8A61-BACE-5FAFEA1169B0}"/>
              </a:ext>
            </a:extLst>
          </p:cNvPr>
          <p:cNvGrpSpPr/>
          <p:nvPr/>
        </p:nvGrpSpPr>
        <p:grpSpPr>
          <a:xfrm>
            <a:off x="155728" y="2213169"/>
            <a:ext cx="1828801" cy="1828800"/>
            <a:chOff x="201777" y="2142382"/>
            <a:chExt cx="1828801" cy="1828800"/>
          </a:xfrm>
        </p:grpSpPr>
        <p:sp>
          <p:nvSpPr>
            <p:cNvPr id="120" name="Google Shape;120;p2">
              <a:extLst>
                <a:ext uri="{FF2B5EF4-FFF2-40B4-BE49-F238E27FC236}">
                  <a16:creationId xmlns:a16="http://schemas.microsoft.com/office/drawing/2014/main" id="{F7C79203-0688-9054-9EF3-41DE48733269}"/>
                </a:ext>
              </a:extLst>
            </p:cNvPr>
            <p:cNvSpPr/>
            <p:nvPr/>
          </p:nvSpPr>
          <p:spPr>
            <a:xfrm rot="2700000" flipH="1">
              <a:off x="201778" y="2142381"/>
              <a:ext cx="1828800" cy="1828801"/>
            </a:xfrm>
            <a:prstGeom prst="teardrop">
              <a:avLst>
                <a:gd name="adj" fmla="val 131496"/>
              </a:avLst>
            </a:prstGeom>
            <a:solidFill>
              <a:schemeClr val="bg2">
                <a:lumMod val="10000"/>
                <a:lumOff val="90000"/>
              </a:schemeClr>
            </a:solidFill>
            <a:ln w="57150" cap="flat" cmpd="sng">
              <a:solidFill>
                <a:schemeClr val="bg2">
                  <a:lumMod val="25000"/>
                  <a:lumOff val="75000"/>
                </a:schemeClr>
              </a:solidFill>
              <a:prstDash val="solid"/>
              <a:round/>
              <a:headEnd type="none" w="sm" len="sm"/>
              <a:tailEnd type="none" w="sm" len="sm"/>
            </a:ln>
          </p:spPr>
          <p:txBody>
            <a:bodyPr spcFirstLastPara="1" wrap="square" lIns="71425" tIns="35700" rIns="71425" bIns="35700" anchor="ctr" anchorCtr="0">
              <a:noAutofit/>
            </a:bodyPr>
            <a:lstStyle/>
            <a:p>
              <a:pPr algn="ctr"/>
              <a:r>
                <a:rPr lang="en-US" dirty="0">
                  <a:solidFill>
                    <a:schemeClr val="lt1"/>
                  </a:solidFill>
                </a:rPr>
                <a:t>2 2</a:t>
              </a:r>
            </a:p>
            <a:p>
              <a:pPr algn="ctr"/>
              <a:endParaRPr lang="en-US" dirty="0">
                <a:solidFill>
                  <a:schemeClr val="lt1"/>
                </a:solidFill>
              </a:endParaRPr>
            </a:p>
          </p:txBody>
        </p:sp>
        <p:pic>
          <p:nvPicPr>
            <p:cNvPr id="121" name="Google Shape;121;p2" title="fair2.png">
              <a:extLst>
                <a:ext uri="{FF2B5EF4-FFF2-40B4-BE49-F238E27FC236}">
                  <a16:creationId xmlns:a16="http://schemas.microsoft.com/office/drawing/2014/main" id="{0C61743C-E3D4-A18E-9D29-17BCEA1B85F4}"/>
                </a:ext>
              </a:extLst>
            </p:cNvPr>
            <p:cNvPicPr preferRelativeResize="0"/>
            <p:nvPr/>
          </p:nvPicPr>
          <p:blipFill rotWithShape="1">
            <a:blip r:embed="rId3">
              <a:alphaModFix/>
            </a:blip>
            <a:srcRect/>
            <a:stretch/>
          </p:blipFill>
          <p:spPr>
            <a:xfrm>
              <a:off x="430646" y="2393607"/>
              <a:ext cx="1368680" cy="1376137"/>
            </a:xfrm>
            <a:prstGeom prst="rect">
              <a:avLst/>
            </a:prstGeom>
            <a:noFill/>
            <a:ln>
              <a:noFill/>
            </a:ln>
          </p:spPr>
        </p:pic>
      </p:grpSp>
      <p:grpSp>
        <p:nvGrpSpPr>
          <p:cNvPr id="18" name="Group 17">
            <a:extLst>
              <a:ext uri="{FF2B5EF4-FFF2-40B4-BE49-F238E27FC236}">
                <a16:creationId xmlns:a16="http://schemas.microsoft.com/office/drawing/2014/main" id="{CA210F0F-C5D7-6276-D350-5001DC550EBE}"/>
              </a:ext>
            </a:extLst>
          </p:cNvPr>
          <p:cNvGrpSpPr/>
          <p:nvPr/>
        </p:nvGrpSpPr>
        <p:grpSpPr>
          <a:xfrm>
            <a:off x="818818" y="4925408"/>
            <a:ext cx="3129378" cy="1235277"/>
            <a:chOff x="860675" y="2439143"/>
            <a:chExt cx="3129378" cy="1235277"/>
          </a:xfrm>
        </p:grpSpPr>
        <p:sp>
          <p:nvSpPr>
            <p:cNvPr id="19" name="Parallelogram 18">
              <a:extLst>
                <a:ext uri="{FF2B5EF4-FFF2-40B4-BE49-F238E27FC236}">
                  <a16:creationId xmlns:a16="http://schemas.microsoft.com/office/drawing/2014/main" id="{24AE814F-8D31-7C3B-DD0E-3F6819FD2BFA}"/>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algn="r" rtl="0"/>
              <a:endParaRPr lang="en-US" sz="900" dirty="0">
                <a:cs typeface="Arial"/>
              </a:endParaRPr>
            </a:p>
          </p:txBody>
        </p:sp>
        <p:sp>
          <p:nvSpPr>
            <p:cNvPr id="20" name="TextBox 19">
              <a:extLst>
                <a:ext uri="{FF2B5EF4-FFF2-40B4-BE49-F238E27FC236}">
                  <a16:creationId xmlns:a16="http://schemas.microsoft.com/office/drawing/2014/main" id="{B1451B5A-8A6E-6551-2D29-38F2FEF1D12B}"/>
                </a:ext>
              </a:extLst>
            </p:cNvPr>
            <p:cNvSpPr txBox="1"/>
            <p:nvPr/>
          </p:nvSpPr>
          <p:spPr>
            <a:xfrm>
              <a:off x="1236834" y="2439143"/>
              <a:ext cx="1747582" cy="1235277"/>
            </a:xfrm>
            <a:prstGeom prst="rect">
              <a:avLst/>
            </a:prstGeom>
            <a:noFill/>
          </p:spPr>
          <p:txBody>
            <a:bodyPr wrap="square" rtlCol="0" anchor="ctr" anchorCtr="0">
              <a:normAutofit/>
            </a:bodyPr>
            <a:lstStyle/>
            <a:p>
              <a:pPr lvl="0">
                <a:buClr>
                  <a:schemeClr val="dk1"/>
                </a:buClr>
                <a:buSzPct val="297213"/>
              </a:pPr>
              <a:r>
                <a:rPr lang="en-US" sz="160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Module 2</a:t>
              </a:r>
              <a:endParaRPr lang="en-US" sz="105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endParaRPr>
            </a:p>
            <a:p>
              <a:pPr lvl="0">
                <a:buClr>
                  <a:schemeClr val="dk1"/>
                </a:buClr>
                <a:buSzPts val="4800"/>
              </a:pPr>
              <a:r>
                <a:rPr lang="en-US" sz="1000"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Demographic Data in Integrated Data Systems: Seeking Experiential Knowledge to Inform Race and Gender Data</a:t>
              </a:r>
            </a:p>
          </p:txBody>
        </p:sp>
      </p:grpSp>
      <p:grpSp>
        <p:nvGrpSpPr>
          <p:cNvPr id="28" name="Group 27">
            <a:extLst>
              <a:ext uri="{FF2B5EF4-FFF2-40B4-BE49-F238E27FC236}">
                <a16:creationId xmlns:a16="http://schemas.microsoft.com/office/drawing/2014/main" id="{439DC00E-E554-5C7B-BFAA-1BF68B482B19}"/>
              </a:ext>
            </a:extLst>
          </p:cNvPr>
          <p:cNvGrpSpPr/>
          <p:nvPr/>
        </p:nvGrpSpPr>
        <p:grpSpPr>
          <a:xfrm>
            <a:off x="2919955" y="4613685"/>
            <a:ext cx="1828800" cy="1849086"/>
            <a:chOff x="3057427" y="4589179"/>
            <a:chExt cx="1828800" cy="1849086"/>
          </a:xfrm>
        </p:grpSpPr>
        <p:sp>
          <p:nvSpPr>
            <p:cNvPr id="15" name="Google Shape;120;p2">
              <a:extLst>
                <a:ext uri="{FF2B5EF4-FFF2-40B4-BE49-F238E27FC236}">
                  <a16:creationId xmlns:a16="http://schemas.microsoft.com/office/drawing/2014/main" id="{102D3C75-37B0-4974-832A-314E79EBDD3F}"/>
                </a:ext>
              </a:extLst>
            </p:cNvPr>
            <p:cNvSpPr/>
            <p:nvPr/>
          </p:nvSpPr>
          <p:spPr>
            <a:xfrm rot="2700000" flipH="1">
              <a:off x="3057427" y="4609465"/>
              <a:ext cx="1828800" cy="1828800"/>
            </a:xfrm>
            <a:prstGeom prst="teardrop">
              <a:avLst>
                <a:gd name="adj" fmla="val 131496"/>
              </a:avLst>
            </a:prstGeom>
            <a:solidFill>
              <a:schemeClr val="bg2">
                <a:lumMod val="10000"/>
                <a:lumOff val="90000"/>
              </a:schemeClr>
            </a:solidFill>
            <a:ln w="57150" cap="flat" cmpd="sng">
              <a:solidFill>
                <a:schemeClr val="bg2">
                  <a:lumMod val="25000"/>
                  <a:lumOff val="75000"/>
                </a:schemeClr>
              </a:solidFill>
              <a:prstDash val="solid"/>
              <a:round/>
              <a:headEnd type="none" w="sm" len="sm"/>
              <a:tailEnd type="none" w="sm" len="sm"/>
            </a:ln>
          </p:spPr>
          <p:txBody>
            <a:bodyPr spcFirstLastPara="1" wrap="square" lIns="71425" tIns="35700" rIns="71425" bIns="35700" anchor="ctr" anchorCtr="0">
              <a:noAutofit/>
            </a:bodyPr>
            <a:lstStyle/>
            <a:p>
              <a:pPr marL="0" marR="0" lvl="0" indent="0" algn="ctr" rtl="0">
                <a:spcBef>
                  <a:spcPts val="0"/>
                </a:spcBef>
                <a:spcAft>
                  <a:spcPts val="0"/>
                </a:spcAft>
                <a:buNone/>
              </a:pPr>
              <a:endParaRPr sz="1406" b="0" i="0" u="none" strike="noStrike" cap="none" dirty="0">
                <a:solidFill>
                  <a:schemeClr val="lt1"/>
                </a:solidFill>
                <a:latin typeface="Arial"/>
                <a:ea typeface="Arial"/>
                <a:cs typeface="Arial"/>
                <a:sym typeface="Arial"/>
              </a:endParaRPr>
            </a:p>
          </p:txBody>
        </p:sp>
        <p:pic>
          <p:nvPicPr>
            <p:cNvPr id="8" name="Picture 7" descr="A person wearing a white shirt and blue jeans&#10;&#10;AI-generated content may be incorrect.">
              <a:extLst>
                <a:ext uri="{FF2B5EF4-FFF2-40B4-BE49-F238E27FC236}">
                  <a16:creationId xmlns:a16="http://schemas.microsoft.com/office/drawing/2014/main" id="{D8EA413A-914C-E606-4196-40EF719F7213}"/>
                </a:ext>
              </a:extLst>
            </p:cNvPr>
            <p:cNvPicPr>
              <a:picLocks noChangeAspect="1"/>
            </p:cNvPicPr>
            <p:nvPr/>
          </p:nvPicPr>
          <p:blipFill>
            <a:blip r:embed="rId4"/>
            <a:srcRect l="4657" t="2322" r="-4831" b="57726"/>
            <a:stretch>
              <a:fillRect/>
            </a:stretch>
          </p:blipFill>
          <p:spPr>
            <a:xfrm>
              <a:off x="3103056" y="4589179"/>
              <a:ext cx="1737542" cy="1736762"/>
            </a:xfrm>
            <a:prstGeom prst="ellipse">
              <a:avLst/>
            </a:prstGeom>
          </p:spPr>
        </p:pic>
      </p:grpSp>
      <p:grpSp>
        <p:nvGrpSpPr>
          <p:cNvPr id="10" name="Group 9">
            <a:extLst>
              <a:ext uri="{FF2B5EF4-FFF2-40B4-BE49-F238E27FC236}">
                <a16:creationId xmlns:a16="http://schemas.microsoft.com/office/drawing/2014/main" id="{C389CD8F-47DC-20E7-F4F4-FF968D7C2D29}"/>
              </a:ext>
            </a:extLst>
          </p:cNvPr>
          <p:cNvGrpSpPr/>
          <p:nvPr/>
        </p:nvGrpSpPr>
        <p:grpSpPr>
          <a:xfrm>
            <a:off x="4619703" y="850769"/>
            <a:ext cx="3129378" cy="1235276"/>
            <a:chOff x="860675" y="2439143"/>
            <a:chExt cx="3129378" cy="1235276"/>
          </a:xfrm>
        </p:grpSpPr>
        <p:sp>
          <p:nvSpPr>
            <p:cNvPr id="21" name="Parallelogram 20">
              <a:extLst>
                <a:ext uri="{FF2B5EF4-FFF2-40B4-BE49-F238E27FC236}">
                  <a16:creationId xmlns:a16="http://schemas.microsoft.com/office/drawing/2014/main" id="{C53A4F51-7836-9CF6-044A-467034E49746}"/>
                </a:ext>
              </a:extLst>
            </p:cNvPr>
            <p:cNvSpPr/>
            <p:nvPr/>
          </p:nvSpPr>
          <p:spPr>
            <a:xfrm>
              <a:off x="860675" y="2439143"/>
              <a:ext cx="3129378" cy="1235276"/>
            </a:xfrm>
            <a:prstGeom prst="parallelogram">
              <a:avLst/>
            </a:prstGeom>
            <a:solidFill>
              <a:srgbClr val="EDAA00"/>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algn="r" rtl="0"/>
              <a:endParaRPr lang="en-US" sz="900" dirty="0">
                <a:cs typeface="Arial"/>
              </a:endParaRPr>
            </a:p>
          </p:txBody>
        </p:sp>
        <p:sp>
          <p:nvSpPr>
            <p:cNvPr id="22" name="TextBox 21">
              <a:extLst>
                <a:ext uri="{FF2B5EF4-FFF2-40B4-BE49-F238E27FC236}">
                  <a16:creationId xmlns:a16="http://schemas.microsoft.com/office/drawing/2014/main" id="{E9B75D06-D98E-2BDB-0B3F-A24795A444F5}"/>
                </a:ext>
              </a:extLst>
            </p:cNvPr>
            <p:cNvSpPr txBox="1"/>
            <p:nvPr/>
          </p:nvSpPr>
          <p:spPr>
            <a:xfrm>
              <a:off x="2260542" y="2439144"/>
              <a:ext cx="1489933" cy="1235275"/>
            </a:xfrm>
            <a:prstGeom prst="rect">
              <a:avLst/>
            </a:prstGeom>
            <a:noFill/>
          </p:spPr>
          <p:txBody>
            <a:bodyPr wrap="square" rtlCol="0" anchor="ctr" anchorCtr="0">
              <a:normAutofit/>
            </a:bodyPr>
            <a:lstStyle/>
            <a:p>
              <a:pPr lvl="0" algn="r">
                <a:buClr>
                  <a:schemeClr val="dk1"/>
                </a:buClr>
                <a:buSzPct val="297213"/>
              </a:pPr>
              <a:r>
                <a:rPr lang="en-US" sz="160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Module 3</a:t>
              </a:r>
              <a:endParaRPr lang="en-US" sz="105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endParaRPr>
            </a:p>
            <a:p>
              <a:pPr lvl="0" algn="r">
                <a:buClr>
                  <a:schemeClr val="dk1"/>
                </a:buClr>
                <a:buSzPts val="4800"/>
              </a:pPr>
              <a:r>
                <a:rPr lang="en-US" sz="1000"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An illustration of Label Bias in Homelessness </a:t>
              </a:r>
            </a:p>
            <a:p>
              <a:pPr lvl="0" algn="r">
                <a:buClr>
                  <a:schemeClr val="dk1"/>
                </a:buClr>
                <a:buSzPts val="4800"/>
              </a:pPr>
              <a:r>
                <a:rPr lang="en-US" sz="1000"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Data Analytics</a:t>
              </a:r>
            </a:p>
          </p:txBody>
        </p:sp>
      </p:grpSp>
      <p:grpSp>
        <p:nvGrpSpPr>
          <p:cNvPr id="23" name="Group 22">
            <a:extLst>
              <a:ext uri="{FF2B5EF4-FFF2-40B4-BE49-F238E27FC236}">
                <a16:creationId xmlns:a16="http://schemas.microsoft.com/office/drawing/2014/main" id="{2B75D4A9-C0C0-23A9-0CEA-251AA54C9182}"/>
              </a:ext>
            </a:extLst>
          </p:cNvPr>
          <p:cNvGrpSpPr/>
          <p:nvPr/>
        </p:nvGrpSpPr>
        <p:grpSpPr>
          <a:xfrm>
            <a:off x="4360937" y="541485"/>
            <a:ext cx="1828799" cy="1872794"/>
            <a:chOff x="4360937" y="541485"/>
            <a:chExt cx="1828799" cy="1872794"/>
          </a:xfrm>
        </p:grpSpPr>
        <p:sp>
          <p:nvSpPr>
            <p:cNvPr id="32" name="Google Shape;120;p2">
              <a:extLst>
                <a:ext uri="{FF2B5EF4-FFF2-40B4-BE49-F238E27FC236}">
                  <a16:creationId xmlns:a16="http://schemas.microsoft.com/office/drawing/2014/main" id="{54416918-424D-FE18-CF06-59E5FB0D4CF1}"/>
                </a:ext>
              </a:extLst>
            </p:cNvPr>
            <p:cNvSpPr/>
            <p:nvPr/>
          </p:nvSpPr>
          <p:spPr>
            <a:xfrm rot="13500000" flipH="1">
              <a:off x="4360937" y="541485"/>
              <a:ext cx="1828800" cy="1828799"/>
            </a:xfrm>
            <a:prstGeom prst="teardrop">
              <a:avLst>
                <a:gd name="adj" fmla="val 131496"/>
              </a:avLst>
            </a:prstGeom>
            <a:solidFill>
              <a:srgbClr val="FFDC5D"/>
            </a:solidFill>
            <a:ln w="57150" cap="flat" cmpd="sng">
              <a:solidFill>
                <a:srgbClr val="EDAA00"/>
              </a:solidFill>
              <a:prstDash val="solid"/>
              <a:round/>
              <a:headEnd type="none" w="sm" len="sm"/>
              <a:tailEnd type="none" w="sm" len="sm"/>
            </a:ln>
          </p:spPr>
          <p:txBody>
            <a:bodyPr spcFirstLastPara="1" wrap="square" lIns="71425" tIns="35700" rIns="71425" bIns="35700" anchor="ctr" anchorCtr="0">
              <a:noAutofit/>
            </a:bodyPr>
            <a:lstStyle/>
            <a:p>
              <a:pPr marL="0" marR="0" lvl="0" indent="0" algn="ctr" rtl="0">
                <a:spcBef>
                  <a:spcPts val="0"/>
                </a:spcBef>
                <a:spcAft>
                  <a:spcPts val="0"/>
                </a:spcAft>
                <a:buNone/>
              </a:pPr>
              <a:endParaRPr sz="1406" b="0" i="0" u="none" strike="noStrike" cap="none">
                <a:solidFill>
                  <a:schemeClr val="lt1"/>
                </a:solidFill>
                <a:latin typeface="Arial"/>
                <a:ea typeface="Arial"/>
                <a:cs typeface="Arial"/>
                <a:sym typeface="Arial"/>
              </a:endParaRPr>
            </a:p>
          </p:txBody>
        </p:sp>
        <p:pic>
          <p:nvPicPr>
            <p:cNvPr id="37" name="Picture 36" descr="A group of people in different colors&#10;&#10;AI-generated content may be incorrect.">
              <a:extLst>
                <a:ext uri="{FF2B5EF4-FFF2-40B4-BE49-F238E27FC236}">
                  <a16:creationId xmlns:a16="http://schemas.microsoft.com/office/drawing/2014/main" id="{0AD318BE-C0E7-2DDB-99D0-E598668DD267}"/>
                </a:ext>
              </a:extLst>
            </p:cNvPr>
            <p:cNvPicPr>
              <a:picLocks noChangeAspect="1"/>
            </p:cNvPicPr>
            <p:nvPr/>
          </p:nvPicPr>
          <p:blipFill>
            <a:blip r:embed="rId5"/>
            <a:srcRect l="62973" t="17640" r="8598" b="27183"/>
            <a:stretch>
              <a:fillRect/>
            </a:stretch>
          </p:blipFill>
          <p:spPr>
            <a:xfrm>
              <a:off x="4465200" y="634509"/>
              <a:ext cx="1630800" cy="1779770"/>
            </a:xfrm>
            <a:prstGeom prst="ellipse">
              <a:avLst/>
            </a:prstGeom>
          </p:spPr>
        </p:pic>
      </p:grpSp>
      <p:grpSp>
        <p:nvGrpSpPr>
          <p:cNvPr id="5" name="Group 4">
            <a:extLst>
              <a:ext uri="{FF2B5EF4-FFF2-40B4-BE49-F238E27FC236}">
                <a16:creationId xmlns:a16="http://schemas.microsoft.com/office/drawing/2014/main" id="{710E4F54-23D6-0F35-A7FA-805F31F967FE}"/>
              </a:ext>
            </a:extLst>
          </p:cNvPr>
          <p:cNvGrpSpPr/>
          <p:nvPr/>
        </p:nvGrpSpPr>
        <p:grpSpPr>
          <a:xfrm>
            <a:off x="5416048" y="4503771"/>
            <a:ext cx="3129378" cy="1235522"/>
            <a:chOff x="860675" y="2438897"/>
            <a:chExt cx="3129378" cy="1235522"/>
          </a:xfrm>
        </p:grpSpPr>
        <p:sp>
          <p:nvSpPr>
            <p:cNvPr id="9" name="Parallelogram 8">
              <a:extLst>
                <a:ext uri="{FF2B5EF4-FFF2-40B4-BE49-F238E27FC236}">
                  <a16:creationId xmlns:a16="http://schemas.microsoft.com/office/drawing/2014/main" id="{5C03B288-12A8-A2A7-F0DC-7E1B5697B49D}"/>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algn="r" rtl="0"/>
              <a:endParaRPr lang="en-US" sz="900" dirty="0">
                <a:cs typeface="Arial"/>
              </a:endParaRPr>
            </a:p>
          </p:txBody>
        </p:sp>
        <p:sp>
          <p:nvSpPr>
            <p:cNvPr id="11" name="TextBox 10">
              <a:extLst>
                <a:ext uri="{FF2B5EF4-FFF2-40B4-BE49-F238E27FC236}">
                  <a16:creationId xmlns:a16="http://schemas.microsoft.com/office/drawing/2014/main" id="{7A38E0D2-6FAD-713B-A51A-469D711B0563}"/>
                </a:ext>
              </a:extLst>
            </p:cNvPr>
            <p:cNvSpPr txBox="1"/>
            <p:nvPr/>
          </p:nvSpPr>
          <p:spPr>
            <a:xfrm>
              <a:off x="1230969" y="2438897"/>
              <a:ext cx="1747582" cy="1235277"/>
            </a:xfrm>
            <a:prstGeom prst="rect">
              <a:avLst/>
            </a:prstGeom>
            <a:noFill/>
          </p:spPr>
          <p:txBody>
            <a:bodyPr wrap="square" rtlCol="0" anchor="ctr" anchorCtr="0">
              <a:normAutofit/>
            </a:bodyPr>
            <a:lstStyle/>
            <a:p>
              <a:pPr lvl="0">
                <a:buClr>
                  <a:schemeClr val="dk1"/>
                </a:buClr>
                <a:buSzPct val="297213"/>
              </a:pPr>
              <a:r>
                <a:rPr lang="en-US" sz="160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Module 4</a:t>
              </a:r>
              <a:endParaRPr lang="en-US" sz="105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endParaRPr>
            </a:p>
            <a:p>
              <a:pPr lvl="0">
                <a:buClr>
                  <a:schemeClr val="dk1"/>
                </a:buClr>
                <a:buSzPts val="4800"/>
              </a:pPr>
              <a:r>
                <a:rPr lang="en-US" sz="1000"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An illustration of </a:t>
              </a:r>
            </a:p>
            <a:p>
              <a:pPr lvl="0">
                <a:buClr>
                  <a:schemeClr val="dk1"/>
                </a:buClr>
                <a:buSzPts val="4800"/>
              </a:pPr>
              <a:r>
                <a:rPr lang="en-US" sz="1000"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Collider Bias in </a:t>
              </a:r>
            </a:p>
            <a:p>
              <a:pPr lvl="0">
                <a:buClr>
                  <a:schemeClr val="dk1"/>
                </a:buClr>
                <a:buSzPts val="4800"/>
              </a:pPr>
              <a:r>
                <a:rPr lang="en-US" sz="1000"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housing research</a:t>
              </a:r>
            </a:p>
          </p:txBody>
        </p:sp>
      </p:grpSp>
      <p:grpSp>
        <p:nvGrpSpPr>
          <p:cNvPr id="14" name="Group 13">
            <a:extLst>
              <a:ext uri="{FF2B5EF4-FFF2-40B4-BE49-F238E27FC236}">
                <a16:creationId xmlns:a16="http://schemas.microsoft.com/office/drawing/2014/main" id="{4354BDD2-A4F1-A0DE-2AC3-6DFF02EBFD98}"/>
              </a:ext>
            </a:extLst>
          </p:cNvPr>
          <p:cNvGrpSpPr/>
          <p:nvPr/>
        </p:nvGrpSpPr>
        <p:grpSpPr>
          <a:xfrm>
            <a:off x="7091011" y="4221659"/>
            <a:ext cx="1828799" cy="1828800"/>
            <a:chOff x="7091011" y="4221659"/>
            <a:chExt cx="1828799" cy="1828800"/>
          </a:xfrm>
        </p:grpSpPr>
        <p:sp>
          <p:nvSpPr>
            <p:cNvPr id="17" name="Google Shape;120;p2">
              <a:extLst>
                <a:ext uri="{FF2B5EF4-FFF2-40B4-BE49-F238E27FC236}">
                  <a16:creationId xmlns:a16="http://schemas.microsoft.com/office/drawing/2014/main" id="{C3377BCE-E728-2845-A12F-CDE26C65A820}"/>
                </a:ext>
              </a:extLst>
            </p:cNvPr>
            <p:cNvSpPr/>
            <p:nvPr/>
          </p:nvSpPr>
          <p:spPr>
            <a:xfrm rot="2700000" flipH="1">
              <a:off x="7091011" y="4221659"/>
              <a:ext cx="1828800" cy="1828799"/>
            </a:xfrm>
            <a:prstGeom prst="teardrop">
              <a:avLst>
                <a:gd name="adj" fmla="val 131496"/>
              </a:avLst>
            </a:prstGeom>
            <a:solidFill>
              <a:schemeClr val="bg2">
                <a:lumMod val="10000"/>
                <a:lumOff val="90000"/>
              </a:schemeClr>
            </a:solidFill>
            <a:ln w="57150" cap="flat" cmpd="sng">
              <a:solidFill>
                <a:schemeClr val="bg2">
                  <a:lumMod val="25000"/>
                  <a:lumOff val="75000"/>
                </a:schemeClr>
              </a:solidFill>
              <a:prstDash val="solid"/>
              <a:round/>
              <a:headEnd type="none" w="sm" len="sm"/>
              <a:tailEnd type="none" w="sm" len="sm"/>
            </a:ln>
          </p:spPr>
          <p:txBody>
            <a:bodyPr spcFirstLastPara="1" wrap="square" lIns="71425" tIns="35700" rIns="71425" bIns="35700" anchor="ctr" anchorCtr="0">
              <a:noAutofit/>
            </a:bodyPr>
            <a:lstStyle/>
            <a:p>
              <a:pPr marL="0" marR="0" lvl="0" indent="0" algn="ctr" rtl="0">
                <a:spcBef>
                  <a:spcPts val="0"/>
                </a:spcBef>
                <a:spcAft>
                  <a:spcPts val="0"/>
                </a:spcAft>
                <a:buNone/>
              </a:pPr>
              <a:endParaRPr sz="1406" b="0" i="0" u="none" strike="noStrike" cap="none" dirty="0">
                <a:solidFill>
                  <a:schemeClr val="lt1"/>
                </a:solidFill>
                <a:latin typeface="Arial"/>
                <a:ea typeface="Arial"/>
                <a:cs typeface="Arial"/>
                <a:sym typeface="Arial"/>
              </a:endParaRPr>
            </a:p>
          </p:txBody>
        </p:sp>
        <p:grpSp>
          <p:nvGrpSpPr>
            <p:cNvPr id="35" name="Group 34">
              <a:extLst>
                <a:ext uri="{FF2B5EF4-FFF2-40B4-BE49-F238E27FC236}">
                  <a16:creationId xmlns:a16="http://schemas.microsoft.com/office/drawing/2014/main" id="{0E9BC698-FB07-5A71-F98B-9E011917B984}"/>
                </a:ext>
              </a:extLst>
            </p:cNvPr>
            <p:cNvGrpSpPr/>
            <p:nvPr/>
          </p:nvGrpSpPr>
          <p:grpSpPr>
            <a:xfrm>
              <a:off x="7229347" y="4409020"/>
              <a:ext cx="1564364" cy="1465506"/>
              <a:chOff x="3501616" y="1534157"/>
              <a:chExt cx="2328314" cy="2181179"/>
            </a:xfrm>
          </p:grpSpPr>
          <p:pic>
            <p:nvPicPr>
              <p:cNvPr id="38" name="Picture 37" descr="A group of people in different colors&#10;&#10;AI-generated content may be incorrect.">
                <a:extLst>
                  <a:ext uri="{FF2B5EF4-FFF2-40B4-BE49-F238E27FC236}">
                    <a16:creationId xmlns:a16="http://schemas.microsoft.com/office/drawing/2014/main" id="{5D958973-1C9C-D8CD-D7C6-F6F7D8914C0C}"/>
                  </a:ext>
                </a:extLst>
              </p:cNvPr>
              <p:cNvPicPr>
                <a:picLocks noChangeAspect="1"/>
              </p:cNvPicPr>
              <p:nvPr/>
            </p:nvPicPr>
            <p:blipFill>
              <a:blip r:embed="rId5"/>
              <a:srcRect l="14593" t="14370" r="55902" b="26199"/>
              <a:stretch>
                <a:fillRect/>
              </a:stretch>
            </p:blipFill>
            <p:spPr>
              <a:xfrm>
                <a:off x="3501616" y="1652038"/>
                <a:ext cx="1821602" cy="2063298"/>
              </a:xfrm>
              <a:prstGeom prst="ellipse">
                <a:avLst/>
              </a:prstGeom>
            </p:spPr>
          </p:pic>
          <p:pic>
            <p:nvPicPr>
              <p:cNvPr id="39" name="Picture 38" descr="A group of people in different colors&#10;&#10;AI-generated content may be incorrect.">
                <a:extLst>
                  <a:ext uri="{FF2B5EF4-FFF2-40B4-BE49-F238E27FC236}">
                    <a16:creationId xmlns:a16="http://schemas.microsoft.com/office/drawing/2014/main" id="{4A5F2F3A-C72B-6E3E-CEC0-C8FD5A102632}"/>
                  </a:ext>
                </a:extLst>
              </p:cNvPr>
              <p:cNvPicPr>
                <a:picLocks noChangeAspect="1"/>
              </p:cNvPicPr>
              <p:nvPr/>
            </p:nvPicPr>
            <p:blipFill>
              <a:blip r:embed="rId5"/>
              <a:srcRect l="33568" t="12909" r="39362" b="27097"/>
              <a:stretch>
                <a:fillRect/>
              </a:stretch>
            </p:blipFill>
            <p:spPr>
              <a:xfrm>
                <a:off x="4079780" y="1534157"/>
                <a:ext cx="1750150" cy="2181179"/>
              </a:xfrm>
              <a:prstGeom prst="ellipse">
                <a:avLst/>
              </a:prstGeom>
            </p:spPr>
          </p:pic>
        </p:grpSp>
      </p:grpSp>
      <p:grpSp>
        <p:nvGrpSpPr>
          <p:cNvPr id="7" name="Group 6">
            <a:extLst>
              <a:ext uri="{FF2B5EF4-FFF2-40B4-BE49-F238E27FC236}">
                <a16:creationId xmlns:a16="http://schemas.microsoft.com/office/drawing/2014/main" id="{F67F8607-A6D4-3977-4A72-6D3F9B1C66B2}"/>
              </a:ext>
            </a:extLst>
          </p:cNvPr>
          <p:cNvGrpSpPr/>
          <p:nvPr/>
        </p:nvGrpSpPr>
        <p:grpSpPr>
          <a:xfrm>
            <a:off x="8966445" y="850769"/>
            <a:ext cx="3129378" cy="1235276"/>
            <a:chOff x="860675" y="2439143"/>
            <a:chExt cx="3129378" cy="1235276"/>
          </a:xfrm>
        </p:grpSpPr>
        <p:sp>
          <p:nvSpPr>
            <p:cNvPr id="12" name="Parallelogram 11">
              <a:extLst>
                <a:ext uri="{FF2B5EF4-FFF2-40B4-BE49-F238E27FC236}">
                  <a16:creationId xmlns:a16="http://schemas.microsoft.com/office/drawing/2014/main" id="{5FCECDCF-BFF0-2194-95DA-8AEAF4E1A90E}"/>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548640" rIns="0" rtlCol="0" anchor="ctr"/>
            <a:lstStyle/>
            <a:p>
              <a:pPr marL="274320" algn="r" rtl="0"/>
              <a:endParaRPr lang="en-US" sz="900" dirty="0">
                <a:cs typeface="Arial"/>
              </a:endParaRPr>
            </a:p>
          </p:txBody>
        </p:sp>
        <p:sp>
          <p:nvSpPr>
            <p:cNvPr id="29" name="TextBox 28">
              <a:extLst>
                <a:ext uri="{FF2B5EF4-FFF2-40B4-BE49-F238E27FC236}">
                  <a16:creationId xmlns:a16="http://schemas.microsoft.com/office/drawing/2014/main" id="{354F4CA1-E7C3-13F7-728F-0594927D85A2}"/>
                </a:ext>
              </a:extLst>
            </p:cNvPr>
            <p:cNvSpPr txBox="1"/>
            <p:nvPr/>
          </p:nvSpPr>
          <p:spPr>
            <a:xfrm>
              <a:off x="2260542" y="2439144"/>
              <a:ext cx="1489933" cy="1235275"/>
            </a:xfrm>
            <a:prstGeom prst="rect">
              <a:avLst/>
            </a:prstGeom>
            <a:noFill/>
          </p:spPr>
          <p:txBody>
            <a:bodyPr wrap="square" rtlCol="0" anchor="ctr" anchorCtr="0">
              <a:normAutofit/>
            </a:bodyPr>
            <a:lstStyle/>
            <a:p>
              <a:pPr lvl="0" algn="r">
                <a:buClr>
                  <a:schemeClr val="dk1"/>
                </a:buClr>
                <a:buSzPct val="297213"/>
              </a:pPr>
              <a:r>
                <a:rPr lang="en-US" sz="160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Module 5</a:t>
              </a:r>
              <a:endParaRPr lang="en-US" sz="1050" b="1"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endParaRPr>
            </a:p>
            <a:p>
              <a:pPr lvl="0" algn="r">
                <a:buClr>
                  <a:schemeClr val="dk1"/>
                </a:buClr>
                <a:buSzPts val="4800"/>
              </a:pPr>
              <a:r>
                <a:rPr lang="en-US" sz="1000" dirty="0">
                  <a:solidFill>
                    <a:schemeClr val="accent4">
                      <a:lumMod val="50000"/>
                    </a:schemeClr>
                  </a:solidFill>
                  <a:latin typeface="Open Sans" panose="020B0606030504020204" pitchFamily="34" charset="0"/>
                  <a:ea typeface="Open Sans" panose="020B0606030504020204" pitchFamily="34" charset="0"/>
                  <a:cs typeface="Open Sans" panose="020B0606030504020204" pitchFamily="34" charset="0"/>
                  <a:sym typeface="Open Sans"/>
                </a:rPr>
                <a:t>Recommendations to address constraints and bias in Integrated Data Analytics</a:t>
              </a:r>
            </a:p>
          </p:txBody>
        </p:sp>
      </p:grpSp>
      <p:grpSp>
        <p:nvGrpSpPr>
          <p:cNvPr id="30" name="Group 29">
            <a:extLst>
              <a:ext uri="{FF2B5EF4-FFF2-40B4-BE49-F238E27FC236}">
                <a16:creationId xmlns:a16="http://schemas.microsoft.com/office/drawing/2014/main" id="{78DFC502-1009-9EB1-28D1-9C4112636C0E}"/>
              </a:ext>
            </a:extLst>
          </p:cNvPr>
          <p:cNvGrpSpPr/>
          <p:nvPr/>
        </p:nvGrpSpPr>
        <p:grpSpPr>
          <a:xfrm>
            <a:off x="8517537" y="460356"/>
            <a:ext cx="1828800" cy="1828800"/>
            <a:chOff x="8969838" y="563282"/>
            <a:chExt cx="1828800" cy="1828800"/>
          </a:xfrm>
        </p:grpSpPr>
        <p:sp>
          <p:nvSpPr>
            <p:cNvPr id="31" name="Google Shape;120;p2">
              <a:extLst>
                <a:ext uri="{FF2B5EF4-FFF2-40B4-BE49-F238E27FC236}">
                  <a16:creationId xmlns:a16="http://schemas.microsoft.com/office/drawing/2014/main" id="{1483304A-1915-2C14-FC9F-67DAAA8B6313}"/>
                </a:ext>
              </a:extLst>
            </p:cNvPr>
            <p:cNvSpPr/>
            <p:nvPr/>
          </p:nvSpPr>
          <p:spPr>
            <a:xfrm rot="13500000" flipH="1">
              <a:off x="8969838" y="563282"/>
              <a:ext cx="1828800" cy="1828800"/>
            </a:xfrm>
            <a:prstGeom prst="teardrop">
              <a:avLst>
                <a:gd name="adj" fmla="val 131496"/>
              </a:avLst>
            </a:prstGeom>
            <a:solidFill>
              <a:schemeClr val="bg2">
                <a:lumMod val="10000"/>
                <a:lumOff val="90000"/>
              </a:schemeClr>
            </a:solidFill>
            <a:ln w="57150" cap="flat" cmpd="sng">
              <a:solidFill>
                <a:schemeClr val="bg2">
                  <a:lumMod val="25000"/>
                  <a:lumOff val="75000"/>
                </a:schemeClr>
              </a:solidFill>
              <a:prstDash val="solid"/>
              <a:round/>
              <a:headEnd type="none" w="sm" len="sm"/>
              <a:tailEnd type="none" w="sm" len="sm"/>
            </a:ln>
          </p:spPr>
          <p:txBody>
            <a:bodyPr spcFirstLastPara="1" wrap="square" lIns="71425" tIns="35700" rIns="71425" bIns="35700" anchor="ctr" anchorCtr="0">
              <a:noAutofit/>
            </a:bodyPr>
            <a:lstStyle/>
            <a:p>
              <a:pPr marL="0" marR="0" lvl="0" indent="0" algn="ctr" rtl="0">
                <a:spcBef>
                  <a:spcPts val="0"/>
                </a:spcBef>
                <a:spcAft>
                  <a:spcPts val="0"/>
                </a:spcAft>
                <a:buNone/>
              </a:pPr>
              <a:endParaRPr sz="1406" b="0" i="0" u="none" strike="noStrike" cap="none" dirty="0">
                <a:solidFill>
                  <a:schemeClr val="lt1"/>
                </a:solidFill>
                <a:latin typeface="Arial"/>
                <a:ea typeface="Arial"/>
                <a:cs typeface="Arial"/>
                <a:sym typeface="Arial"/>
              </a:endParaRPr>
            </a:p>
          </p:txBody>
        </p:sp>
        <p:pic>
          <p:nvPicPr>
            <p:cNvPr id="33" name="Picture 32" descr="A diagram of data analysis&#10;&#10;AI-generated content may be incorrect.">
              <a:extLst>
                <a:ext uri="{FF2B5EF4-FFF2-40B4-BE49-F238E27FC236}">
                  <a16:creationId xmlns:a16="http://schemas.microsoft.com/office/drawing/2014/main" id="{4326991D-1456-E8E0-E245-11ECB93F7429}"/>
                </a:ext>
              </a:extLst>
            </p:cNvPr>
            <p:cNvPicPr>
              <a:picLocks noChangeAspect="1"/>
            </p:cNvPicPr>
            <p:nvPr/>
          </p:nvPicPr>
          <p:blipFill>
            <a:blip r:embed="rId6"/>
            <a:stretch>
              <a:fillRect/>
            </a:stretch>
          </p:blipFill>
          <p:spPr>
            <a:xfrm>
              <a:off x="9138924" y="1048721"/>
              <a:ext cx="1490628" cy="875916"/>
            </a:xfrm>
            <a:prstGeom prst="rect">
              <a:avLst/>
            </a:prstGeom>
          </p:spPr>
        </p:pic>
      </p:grpSp>
    </p:spTree>
    <p:extLst>
      <p:ext uri="{BB962C8B-B14F-4D97-AF65-F5344CB8AC3E}">
        <p14:creationId xmlns:p14="http://schemas.microsoft.com/office/powerpoint/2010/main" val="3651192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grpSp>
        <p:nvGrpSpPr>
          <p:cNvPr id="96" name="Google Shape;96;g38f0dd5db63_1_7"/>
          <p:cNvGrpSpPr/>
          <p:nvPr/>
        </p:nvGrpSpPr>
        <p:grpSpPr>
          <a:xfrm>
            <a:off x="651510" y="3354740"/>
            <a:ext cx="10888980" cy="3560589"/>
            <a:chOff x="651510" y="3007268"/>
            <a:chExt cx="10888980" cy="3560589"/>
          </a:xfrm>
        </p:grpSpPr>
        <p:pic>
          <p:nvPicPr>
            <p:cNvPr id="97" name="Google Shape;97;g38f0dd5db63_1_7" descr="A group of people in different poses&#10;&#10;AI-generated content may be incorrect."/>
            <p:cNvPicPr preferRelativeResize="0"/>
            <p:nvPr/>
          </p:nvPicPr>
          <p:blipFill rotWithShape="1">
            <a:blip r:embed="rId3">
              <a:alphaModFix/>
            </a:blip>
            <a:srcRect l="6163" t="14140" r="4525" b="49327"/>
            <a:stretch/>
          </p:blipFill>
          <p:spPr>
            <a:xfrm>
              <a:off x="651510" y="3007268"/>
              <a:ext cx="10888980" cy="2505456"/>
            </a:xfrm>
            <a:prstGeom prst="rect">
              <a:avLst/>
            </a:prstGeom>
            <a:noFill/>
            <a:ln>
              <a:noFill/>
            </a:ln>
          </p:spPr>
        </p:pic>
        <p:sp>
          <p:nvSpPr>
            <p:cNvPr id="98" name="Google Shape;98;g38f0dd5db63_1_7"/>
            <p:cNvSpPr txBox="1"/>
            <p:nvPr/>
          </p:nvSpPr>
          <p:spPr>
            <a:xfrm>
              <a:off x="722376" y="5367528"/>
              <a:ext cx="2084832"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Open Sans"/>
                  <a:ea typeface="Open Sans"/>
                  <a:cs typeface="Open Sans"/>
                  <a:sym typeface="Open Sans"/>
                </a:rPr>
                <a:t>Casey is a social worker tasked with doing a needs assessment. They have a hunch that LGBTQ+ folks are in need of more services.</a:t>
              </a:r>
              <a:endParaRPr/>
            </a:p>
          </p:txBody>
        </p:sp>
        <p:sp>
          <p:nvSpPr>
            <p:cNvPr id="99" name="Google Shape;99;g38f0dd5db63_1_7"/>
            <p:cNvSpPr txBox="1"/>
            <p:nvPr/>
          </p:nvSpPr>
          <p:spPr>
            <a:xfrm>
              <a:off x="2878074" y="5367528"/>
              <a:ext cx="2084832"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Open Sans"/>
                  <a:ea typeface="Open Sans"/>
                  <a:cs typeface="Open Sans"/>
                  <a:sym typeface="Open Sans"/>
                </a:rPr>
                <a:t>Casey pulls records from the biggest homeless shelter in the county for the past 5 years.</a:t>
              </a:r>
              <a:endParaRPr/>
            </a:p>
          </p:txBody>
        </p:sp>
        <p:sp>
          <p:nvSpPr>
            <p:cNvPr id="100" name="Google Shape;100;g38f0dd5db63_1_7"/>
            <p:cNvSpPr txBox="1"/>
            <p:nvPr/>
          </p:nvSpPr>
          <p:spPr>
            <a:xfrm>
              <a:off x="4974336" y="5413693"/>
              <a:ext cx="2020824"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Open Sans"/>
                  <a:ea typeface="Open Sans"/>
                  <a:cs typeface="Open Sans"/>
                  <a:sym typeface="Open Sans"/>
                </a:rPr>
                <a:t>They plan to compare demographics of those serviced by the shelter to demographics in their county.</a:t>
              </a:r>
              <a:endParaRPr/>
            </a:p>
          </p:txBody>
        </p:sp>
        <p:sp>
          <p:nvSpPr>
            <p:cNvPr id="101" name="Google Shape;101;g38f0dd5db63_1_7"/>
            <p:cNvSpPr txBox="1"/>
            <p:nvPr/>
          </p:nvSpPr>
          <p:spPr>
            <a:xfrm>
              <a:off x="7130034" y="5413693"/>
              <a:ext cx="2020824"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Open Sans"/>
                  <a:ea typeface="Open Sans"/>
                  <a:cs typeface="Open Sans"/>
                  <a:sym typeface="Open Sans"/>
                </a:rPr>
                <a:t>To Casey’s surprise, very few LGBTQ+ folks and nearly zero trans folks were in shelter.</a:t>
              </a:r>
              <a:endParaRPr/>
            </a:p>
          </p:txBody>
        </p:sp>
        <p:sp>
          <p:nvSpPr>
            <p:cNvPr id="102" name="Google Shape;102;g38f0dd5db63_1_7"/>
            <p:cNvSpPr txBox="1"/>
            <p:nvPr/>
          </p:nvSpPr>
          <p:spPr>
            <a:xfrm>
              <a:off x="9244584" y="5413693"/>
              <a:ext cx="2020824"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Open Sans"/>
                  <a:ea typeface="Open Sans"/>
                  <a:cs typeface="Open Sans"/>
                  <a:sym typeface="Open Sans"/>
                </a:rPr>
                <a:t>Casey concluded, “Wow! The LGBTQ+ community must be so strong that they find help within their community!”</a:t>
              </a:r>
              <a:endParaRPr/>
            </a:p>
          </p:txBody>
        </p:sp>
      </p:grpSp>
      <p:grpSp>
        <p:nvGrpSpPr>
          <p:cNvPr id="103" name="Google Shape;103;g38f0dd5db63_1_7"/>
          <p:cNvGrpSpPr/>
          <p:nvPr/>
        </p:nvGrpSpPr>
        <p:grpSpPr>
          <a:xfrm>
            <a:off x="524256" y="62775"/>
            <a:ext cx="11016234" cy="3558927"/>
            <a:chOff x="651510" y="0"/>
            <a:chExt cx="11016234" cy="3558927"/>
          </a:xfrm>
        </p:grpSpPr>
        <p:pic>
          <p:nvPicPr>
            <p:cNvPr id="104" name="Google Shape;104;g38f0dd5db63_1_7" descr="A cartoon of two people&#10;&#10;AI-generated content may be incorrect."/>
            <p:cNvPicPr preferRelativeResize="0"/>
            <p:nvPr/>
          </p:nvPicPr>
          <p:blipFill rotWithShape="1">
            <a:blip r:embed="rId4">
              <a:alphaModFix/>
            </a:blip>
            <a:srcRect l="5342" t="14548" r="4301" b="50000"/>
            <a:stretch/>
          </p:blipFill>
          <p:spPr>
            <a:xfrm>
              <a:off x="651510" y="0"/>
              <a:ext cx="11016234" cy="2431196"/>
            </a:xfrm>
            <a:prstGeom prst="rect">
              <a:avLst/>
            </a:prstGeom>
            <a:noFill/>
            <a:ln>
              <a:noFill/>
            </a:ln>
          </p:spPr>
        </p:pic>
        <p:sp>
          <p:nvSpPr>
            <p:cNvPr id="105" name="Google Shape;105;g38f0dd5db63_1_7"/>
            <p:cNvSpPr txBox="1"/>
            <p:nvPr/>
          </p:nvSpPr>
          <p:spPr>
            <a:xfrm>
              <a:off x="822960" y="2329934"/>
              <a:ext cx="2055114"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dirty="0">
                  <a:solidFill>
                    <a:srgbClr val="000000"/>
                  </a:solidFill>
                  <a:latin typeface="Open Sans"/>
                  <a:ea typeface="Open Sans"/>
                  <a:cs typeface="Open Sans"/>
                  <a:sym typeface="Open Sans"/>
                </a:rPr>
                <a:t>Jesse has been on her own since her parents kicked her out at 17 years old, after she came out as a trans woman.</a:t>
              </a:r>
              <a:endParaRPr dirty="0"/>
            </a:p>
          </p:txBody>
        </p:sp>
        <p:sp>
          <p:nvSpPr>
            <p:cNvPr id="106" name="Google Shape;106;g38f0dd5db63_1_7"/>
            <p:cNvSpPr txBox="1"/>
            <p:nvPr/>
          </p:nvSpPr>
          <p:spPr>
            <a:xfrm>
              <a:off x="2977134" y="2329934"/>
              <a:ext cx="1985772"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Open Sans"/>
                  <a:ea typeface="Open Sans"/>
                  <a:cs typeface="Open Sans"/>
                  <a:sym typeface="Open Sans"/>
                </a:rPr>
                <a:t>After staying with various friends, Jesse found herself in a relationship and moved in with her partner for several months.</a:t>
              </a:r>
              <a:endParaRPr/>
            </a:p>
          </p:txBody>
        </p:sp>
        <p:sp>
          <p:nvSpPr>
            <p:cNvPr id="107" name="Google Shape;107;g38f0dd5db63_1_7"/>
            <p:cNvSpPr txBox="1"/>
            <p:nvPr/>
          </p:nvSpPr>
          <p:spPr>
            <a:xfrm>
              <a:off x="5010913" y="2358598"/>
              <a:ext cx="2055113"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Open Sans"/>
                  <a:ea typeface="Open Sans"/>
                  <a:cs typeface="Open Sans"/>
                  <a:sym typeface="Open Sans"/>
                </a:rPr>
                <a:t>However, the relationship suddenly went downhill, and it was not safe for Jesse to live with her ex anymore.</a:t>
              </a:r>
              <a:endParaRPr/>
            </a:p>
          </p:txBody>
        </p:sp>
        <p:sp>
          <p:nvSpPr>
            <p:cNvPr id="108" name="Google Shape;108;g38f0dd5db63_1_7"/>
            <p:cNvSpPr txBox="1"/>
            <p:nvPr/>
          </p:nvSpPr>
          <p:spPr>
            <a:xfrm>
              <a:off x="7130034" y="2376314"/>
              <a:ext cx="2084832"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Open Sans"/>
                  <a:ea typeface="Open Sans"/>
                  <a:cs typeface="Open Sans"/>
                  <a:sym typeface="Open Sans"/>
                </a:rPr>
                <a:t>Jesse is not sure where to go and is running out of friends who will let her spend a night or two on their couch.</a:t>
              </a:r>
              <a:endParaRPr/>
            </a:p>
          </p:txBody>
        </p:sp>
        <p:sp>
          <p:nvSpPr>
            <p:cNvPr id="109" name="Google Shape;109;g38f0dd5db63_1_7"/>
            <p:cNvSpPr txBox="1"/>
            <p:nvPr/>
          </p:nvSpPr>
          <p:spPr>
            <a:xfrm>
              <a:off x="9278874" y="2358598"/>
              <a:ext cx="2084832"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Open Sans"/>
                  <a:ea typeface="Open Sans"/>
                  <a:cs typeface="Open Sans"/>
                  <a:sym typeface="Open Sans"/>
                </a:rPr>
                <a:t>Jesse is looking into shelters but is scared to go as a trans woman. Plus, her ID still says “Male,” and she doesn’t feel safe in a men’s shelter.</a:t>
              </a:r>
              <a:endParaRPr/>
            </a:p>
          </p:txBody>
        </p:sp>
      </p:grpSp>
      <p:sp>
        <p:nvSpPr>
          <p:cNvPr id="2" name="Slide Number Placeholder 1">
            <a:extLst>
              <a:ext uri="{FF2B5EF4-FFF2-40B4-BE49-F238E27FC236}">
                <a16:creationId xmlns:a16="http://schemas.microsoft.com/office/drawing/2014/main" id="{6E37D96B-9100-FE3C-FDA5-3562C92E0EA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30" name="Google Shape;130;g3baea41ba63_0_0"/>
          <p:cNvSpPr txBox="1">
            <a:spLocks noGrp="1"/>
          </p:cNvSpPr>
          <p:nvPr>
            <p:ph type="body" idx="1"/>
          </p:nvPr>
        </p:nvSpPr>
        <p:spPr>
          <a:xfrm>
            <a:off x="348800" y="552400"/>
            <a:ext cx="9247484" cy="5900700"/>
          </a:xfrm>
          <a:prstGeom prst="rect">
            <a:avLst/>
          </a:prstGeom>
          <a:noFill/>
          <a:ln>
            <a:noFill/>
          </a:ln>
        </p:spPr>
        <p:txBody>
          <a:bodyPr spcFirstLastPara="1" wrap="square" lIns="91425" tIns="45700" rIns="91425" bIns="45700" anchor="t" anchorCtr="0">
            <a:normAutofit/>
          </a:bodyPr>
          <a:lstStyle/>
          <a:p>
            <a:pPr marL="0" lvl="0" indent="0" algn="ctr" rtl="0">
              <a:lnSpc>
                <a:spcPct val="115000"/>
              </a:lnSpc>
              <a:spcBef>
                <a:spcPts val="2000"/>
              </a:spcBef>
              <a:spcAft>
                <a:spcPts val="0"/>
              </a:spcAft>
              <a:buSzPts val="714"/>
              <a:buNone/>
            </a:pPr>
            <a:r>
              <a:rPr lang="en-US" sz="1800" i="1" dirty="0">
                <a:latin typeface="Open Sans"/>
                <a:ea typeface="Open Sans"/>
                <a:cs typeface="Open Sans"/>
                <a:sym typeface="Open Sans"/>
              </a:rPr>
              <a:t>Jesse shows us that there are multiple reasons why someone may not seek shelter, such as </a:t>
            </a:r>
            <a:r>
              <a:rPr lang="en-US" sz="1800" b="1" i="1" dirty="0">
                <a:solidFill>
                  <a:srgbClr val="001C84"/>
                </a:solidFill>
                <a:latin typeface="Open Sans"/>
                <a:ea typeface="Open Sans"/>
                <a:cs typeface="Open Sans"/>
                <a:sym typeface="Open Sans"/>
              </a:rPr>
              <a:t>safety</a:t>
            </a:r>
            <a:r>
              <a:rPr lang="en-US" sz="1800" b="1" i="1" dirty="0">
                <a:solidFill>
                  <a:srgbClr val="C00000"/>
                </a:solidFill>
                <a:latin typeface="Open Sans"/>
                <a:ea typeface="Open Sans"/>
                <a:cs typeface="Open Sans"/>
                <a:sym typeface="Open Sans"/>
              </a:rPr>
              <a:t> </a:t>
            </a:r>
            <a:r>
              <a:rPr lang="en-US" sz="1800" i="1" dirty="0">
                <a:latin typeface="Open Sans"/>
                <a:ea typeface="Open Sans"/>
                <a:cs typeface="Open Sans"/>
                <a:sym typeface="Open Sans"/>
              </a:rPr>
              <a:t>and </a:t>
            </a:r>
            <a:r>
              <a:rPr lang="en-US" sz="1800" b="1" i="1" dirty="0">
                <a:solidFill>
                  <a:srgbClr val="001C84"/>
                </a:solidFill>
                <a:latin typeface="Open Sans"/>
                <a:ea typeface="Open Sans"/>
                <a:cs typeface="Open Sans"/>
                <a:sym typeface="Open Sans"/>
              </a:rPr>
              <a:t>stigma</a:t>
            </a:r>
            <a:r>
              <a:rPr lang="en-US" sz="1800" i="1" dirty="0">
                <a:latin typeface="Open Sans"/>
                <a:ea typeface="Open Sans"/>
                <a:cs typeface="Open Sans"/>
                <a:sym typeface="Open Sans"/>
              </a:rPr>
              <a:t>, which are particularly salient for marginalized populations.</a:t>
            </a:r>
            <a:endParaRPr sz="1800" i="1" dirty="0">
              <a:latin typeface="Open Sans"/>
              <a:ea typeface="Open Sans"/>
              <a:cs typeface="Open Sans"/>
              <a:sym typeface="Open Sans"/>
            </a:endParaRPr>
          </a:p>
          <a:p>
            <a:pPr marL="0" lvl="0" indent="0" algn="ctr" rtl="0">
              <a:lnSpc>
                <a:spcPct val="115000"/>
              </a:lnSpc>
              <a:spcBef>
                <a:spcPts val="2000"/>
              </a:spcBef>
              <a:spcAft>
                <a:spcPts val="0"/>
              </a:spcAft>
              <a:buSzPts val="714"/>
              <a:buNone/>
            </a:pPr>
            <a:r>
              <a:rPr lang="en-US" sz="1800" i="1" dirty="0">
                <a:latin typeface="Open Sans"/>
                <a:ea typeface="Open Sans"/>
                <a:cs typeface="Open Sans"/>
                <a:sym typeface="Open Sans"/>
              </a:rPr>
              <a:t>Think about other reasons why someone might not be able to seek shelter…</a:t>
            </a:r>
            <a:endParaRPr sz="1800" i="1" dirty="0">
              <a:latin typeface="Open Sans"/>
              <a:ea typeface="Open Sans"/>
              <a:cs typeface="Open Sans"/>
              <a:sym typeface="Open Sans"/>
            </a:endParaRPr>
          </a:p>
          <a:p>
            <a:pPr marL="3657600" lvl="0" indent="-342900" algn="l" rtl="0">
              <a:lnSpc>
                <a:spcPct val="115000"/>
              </a:lnSpc>
              <a:spcBef>
                <a:spcPts val="2000"/>
              </a:spcBef>
              <a:spcAft>
                <a:spcPts val="0"/>
              </a:spcAft>
              <a:buSzPts val="1800"/>
              <a:buFont typeface="Open Sans"/>
              <a:buChar char="•"/>
            </a:pPr>
            <a:r>
              <a:rPr lang="en-US" sz="1800" i="1" dirty="0">
                <a:latin typeface="Open Sans"/>
                <a:ea typeface="Open Sans"/>
                <a:cs typeface="Open Sans"/>
                <a:sym typeface="Open Sans"/>
              </a:rPr>
              <a:t>Safety</a:t>
            </a:r>
            <a:endParaRPr sz="1800" i="1" dirty="0">
              <a:latin typeface="Open Sans"/>
              <a:ea typeface="Open Sans"/>
              <a:cs typeface="Open Sans"/>
              <a:sym typeface="Open Sans"/>
            </a:endParaRPr>
          </a:p>
          <a:p>
            <a:pPr marL="3657600" lvl="0" indent="-342900" algn="l" rtl="0">
              <a:lnSpc>
                <a:spcPct val="115000"/>
              </a:lnSpc>
              <a:spcBef>
                <a:spcPts val="0"/>
              </a:spcBef>
              <a:spcAft>
                <a:spcPts val="0"/>
              </a:spcAft>
              <a:buSzPts val="1800"/>
              <a:buFont typeface="Open Sans"/>
              <a:buChar char="•"/>
            </a:pPr>
            <a:r>
              <a:rPr lang="en-US" sz="1800" i="1" dirty="0">
                <a:latin typeface="Open Sans"/>
                <a:ea typeface="Open Sans"/>
                <a:cs typeface="Open Sans"/>
                <a:sym typeface="Open Sans"/>
              </a:rPr>
              <a:t>Stigma</a:t>
            </a:r>
            <a:endParaRPr sz="1800" i="1" dirty="0">
              <a:latin typeface="Open Sans"/>
              <a:ea typeface="Open Sans"/>
              <a:cs typeface="Open Sans"/>
              <a:sym typeface="Open Sans"/>
            </a:endParaRPr>
          </a:p>
          <a:p>
            <a:pPr marL="3657600" lvl="0" indent="-342900" algn="l" rtl="0">
              <a:lnSpc>
                <a:spcPct val="115000"/>
              </a:lnSpc>
              <a:spcBef>
                <a:spcPts val="0"/>
              </a:spcBef>
              <a:spcAft>
                <a:spcPts val="0"/>
              </a:spcAft>
              <a:buSzPts val="1800"/>
              <a:buFont typeface="Open Sans"/>
              <a:buChar char="•"/>
            </a:pPr>
            <a:r>
              <a:rPr lang="en-US" sz="1800" i="1" dirty="0">
                <a:latin typeface="Open Sans"/>
                <a:ea typeface="Open Sans"/>
                <a:cs typeface="Open Sans"/>
                <a:sym typeface="Open Sans"/>
              </a:rPr>
              <a:t>Health issues</a:t>
            </a:r>
            <a:endParaRPr sz="1800" i="1" dirty="0">
              <a:latin typeface="Open Sans"/>
              <a:ea typeface="Open Sans"/>
              <a:cs typeface="Open Sans"/>
              <a:sym typeface="Open Sans"/>
            </a:endParaRPr>
          </a:p>
          <a:p>
            <a:pPr marL="3657600" lvl="0" indent="-342900" algn="l" rtl="0">
              <a:lnSpc>
                <a:spcPct val="115000"/>
              </a:lnSpc>
              <a:spcBef>
                <a:spcPts val="0"/>
              </a:spcBef>
              <a:spcAft>
                <a:spcPts val="0"/>
              </a:spcAft>
              <a:buSzPts val="1800"/>
              <a:buFont typeface="Open Sans"/>
              <a:buChar char="•"/>
            </a:pPr>
            <a:r>
              <a:rPr lang="en-US" sz="1800" i="1" dirty="0">
                <a:latin typeface="Open Sans"/>
                <a:ea typeface="Open Sans"/>
                <a:cs typeface="Open Sans"/>
                <a:sym typeface="Open Sans"/>
              </a:rPr>
              <a:t>(Dis)ability status</a:t>
            </a:r>
            <a:endParaRPr sz="1800" i="1" dirty="0">
              <a:latin typeface="Open Sans"/>
              <a:ea typeface="Open Sans"/>
              <a:cs typeface="Open Sans"/>
              <a:sym typeface="Open Sans"/>
            </a:endParaRPr>
          </a:p>
          <a:p>
            <a:pPr marL="3657600" lvl="0" indent="-342900" algn="l" rtl="0">
              <a:lnSpc>
                <a:spcPct val="115000"/>
              </a:lnSpc>
              <a:spcBef>
                <a:spcPts val="0"/>
              </a:spcBef>
              <a:spcAft>
                <a:spcPts val="0"/>
              </a:spcAft>
              <a:buSzPts val="1800"/>
              <a:buFont typeface="Open Sans"/>
              <a:buChar char="•"/>
            </a:pPr>
            <a:r>
              <a:rPr lang="en-US" sz="1800" i="1" dirty="0">
                <a:latin typeface="Open Sans"/>
                <a:ea typeface="Open Sans"/>
                <a:cs typeface="Open Sans"/>
                <a:sym typeface="Open Sans"/>
              </a:rPr>
              <a:t>Immigration status</a:t>
            </a:r>
            <a:endParaRPr sz="1800" i="1" dirty="0">
              <a:latin typeface="Open Sans"/>
              <a:ea typeface="Open Sans"/>
              <a:cs typeface="Open Sans"/>
              <a:sym typeface="Open Sans"/>
            </a:endParaRPr>
          </a:p>
          <a:p>
            <a:pPr marL="0" lvl="0" indent="0" algn="ctr" rtl="0">
              <a:lnSpc>
                <a:spcPct val="115000"/>
              </a:lnSpc>
              <a:spcBef>
                <a:spcPts val="2000"/>
              </a:spcBef>
              <a:spcAft>
                <a:spcPts val="0"/>
              </a:spcAft>
              <a:buNone/>
            </a:pPr>
            <a:r>
              <a:rPr lang="en-US" sz="1800" i="1" dirty="0">
                <a:latin typeface="Open Sans"/>
                <a:ea typeface="Open Sans"/>
                <a:cs typeface="Open Sans"/>
                <a:sym typeface="Open Sans"/>
              </a:rPr>
              <a:t>Remember what Casey concluded when looking </a:t>
            </a:r>
            <a:r>
              <a:rPr lang="en-US" sz="1800" i="1" u="sng" dirty="0">
                <a:latin typeface="Open Sans"/>
                <a:ea typeface="Open Sans"/>
                <a:cs typeface="Open Sans"/>
                <a:sym typeface="Open Sans"/>
              </a:rPr>
              <a:t>only at shelter use data</a:t>
            </a:r>
            <a:r>
              <a:rPr lang="en-US" sz="1800" i="1" dirty="0">
                <a:latin typeface="Open Sans"/>
                <a:ea typeface="Open Sans"/>
                <a:cs typeface="Open Sans"/>
                <a:sym typeface="Open Sans"/>
              </a:rPr>
              <a:t>: “Wow! The LGBTQ+ community must be so strong that they find help within their community!”</a:t>
            </a:r>
            <a:endParaRPr sz="1800" i="1" dirty="0">
              <a:latin typeface="Open Sans"/>
              <a:ea typeface="Open Sans"/>
              <a:cs typeface="Open Sans"/>
              <a:sym typeface="Open Sans"/>
            </a:endParaRPr>
          </a:p>
          <a:p>
            <a:pPr marL="0" lvl="0" indent="0" algn="ctr" rtl="0">
              <a:lnSpc>
                <a:spcPct val="115000"/>
              </a:lnSpc>
              <a:spcBef>
                <a:spcPts val="2000"/>
              </a:spcBef>
              <a:spcAft>
                <a:spcPts val="1000"/>
              </a:spcAft>
              <a:buNone/>
            </a:pPr>
            <a:r>
              <a:rPr lang="en-US" sz="1800" b="1" i="1" dirty="0">
                <a:solidFill>
                  <a:srgbClr val="001C84"/>
                </a:solidFill>
                <a:latin typeface="Open Sans"/>
                <a:ea typeface="Open Sans"/>
                <a:cs typeface="Open Sans"/>
                <a:sym typeface="Open Sans"/>
              </a:rPr>
              <a:t>What might Casey and other community workers be missing when looking at shelter data alone?</a:t>
            </a:r>
            <a:endParaRPr sz="1800" b="1" i="1" dirty="0">
              <a:solidFill>
                <a:srgbClr val="001C84"/>
              </a:solidFill>
              <a:latin typeface="Open Sans"/>
              <a:ea typeface="Open Sans"/>
              <a:cs typeface="Open Sans"/>
              <a:sym typeface="Open Sans"/>
            </a:endParaRPr>
          </a:p>
        </p:txBody>
      </p:sp>
      <p:sp>
        <p:nvSpPr>
          <p:cNvPr id="2" name="Slide Number Placeholder 1">
            <a:extLst>
              <a:ext uri="{FF2B5EF4-FFF2-40B4-BE49-F238E27FC236}">
                <a16:creationId xmlns:a16="http://schemas.microsoft.com/office/drawing/2014/main" id="{5512140C-72CE-777C-14BD-517C62CB0F4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pic>
        <p:nvPicPr>
          <p:cNvPr id="3" name="Picture 2" descr="A group of people in different colors&#10;&#10;AI-generated content may be incorrect.">
            <a:extLst>
              <a:ext uri="{FF2B5EF4-FFF2-40B4-BE49-F238E27FC236}">
                <a16:creationId xmlns:a16="http://schemas.microsoft.com/office/drawing/2014/main" id="{5FB2E353-8816-D289-C391-323A5EA886A1}"/>
              </a:ext>
            </a:extLst>
          </p:cNvPr>
          <p:cNvPicPr>
            <a:picLocks noChangeAspect="1"/>
          </p:cNvPicPr>
          <p:nvPr/>
        </p:nvPicPr>
        <p:blipFill>
          <a:blip r:embed="rId3"/>
          <a:srcRect l="62973" t="17640" r="8598" b="27183"/>
          <a:stretch>
            <a:fillRect/>
          </a:stretch>
        </p:blipFill>
        <p:spPr>
          <a:xfrm>
            <a:off x="9224012" y="1737028"/>
            <a:ext cx="2722181" cy="2970846"/>
          </a:xfrm>
          <a:prstGeom prst="ellipse">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6"/>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a:solidFill>
                  <a:srgbClr val="001C84"/>
                </a:solidFill>
                <a:latin typeface="Open Sans"/>
                <a:ea typeface="Open Sans"/>
                <a:cs typeface="Open Sans"/>
                <a:sym typeface="Open Sans"/>
              </a:rPr>
              <a:t>Introduction</a:t>
            </a:r>
            <a:endParaRPr b="1">
              <a:solidFill>
                <a:srgbClr val="001C84"/>
              </a:solidFill>
              <a:latin typeface="Open Sans"/>
              <a:ea typeface="Open Sans"/>
              <a:cs typeface="Open Sans"/>
              <a:sym typeface="Open Sans"/>
            </a:endParaRPr>
          </a:p>
        </p:txBody>
      </p:sp>
      <p:sp>
        <p:nvSpPr>
          <p:cNvPr id="137" name="Google Shape;137;p16"/>
          <p:cNvSpPr txBox="1">
            <a:spLocks noGrp="1"/>
          </p:cNvSpPr>
          <p:nvPr>
            <p:ph type="body" idx="1"/>
          </p:nvPr>
        </p:nvSpPr>
        <p:spPr>
          <a:xfrm>
            <a:off x="348792" y="1600200"/>
            <a:ext cx="11444140" cy="4526100"/>
          </a:xfrm>
          <a:prstGeom prst="rect">
            <a:avLst/>
          </a:prstGeom>
          <a:noFill/>
          <a:ln>
            <a:noFill/>
          </a:ln>
        </p:spPr>
        <p:txBody>
          <a:bodyPr spcFirstLastPara="1" wrap="square" lIns="91425" tIns="45700" rIns="91425" bIns="45700" anchor="t" anchorCtr="0">
            <a:normAutofit lnSpcReduction="10000"/>
          </a:bodyPr>
          <a:lstStyle/>
          <a:p>
            <a:pPr marL="0" lvl="0" indent="0" algn="ctr">
              <a:lnSpc>
                <a:spcPct val="115000"/>
              </a:lnSpc>
              <a:spcBef>
                <a:spcPts val="1000"/>
              </a:spcBef>
              <a:buSzPts val="714"/>
              <a:buNone/>
            </a:pPr>
            <a:r>
              <a:rPr lang="en-US" sz="1800" i="1" dirty="0">
                <a:latin typeface="Open Sans"/>
                <a:ea typeface="Open Sans"/>
                <a:cs typeface="Open Sans"/>
                <a:sym typeface="Open Sans"/>
              </a:rPr>
              <a:t>You’re a social worker who has worked with people who experienced </a:t>
            </a:r>
            <a:r>
              <a:rPr lang="en-US" sz="1800" b="1" i="1" dirty="0">
                <a:solidFill>
                  <a:srgbClr val="001C84"/>
                </a:solidFill>
                <a:latin typeface="Open Sans"/>
                <a:ea typeface="Open Sans"/>
                <a:cs typeface="Open Sans"/>
                <a:sym typeface="Open Sans"/>
              </a:rPr>
              <a:t>homelessness</a:t>
            </a:r>
            <a:r>
              <a:rPr lang="en-US" sz="1800" i="1" dirty="0">
                <a:latin typeface="Open Sans"/>
                <a:ea typeface="Open Sans"/>
                <a:cs typeface="Open Sans"/>
                <a:sym typeface="Open Sans"/>
              </a:rPr>
              <a:t>, and oftentimes, you see people with chronic health issues and in poverty experiencing homelessness. </a:t>
            </a:r>
            <a:endParaRPr dirty="0"/>
          </a:p>
          <a:p>
            <a:pPr marL="0" lvl="0" indent="0" algn="ctr" rtl="0">
              <a:lnSpc>
                <a:spcPct val="115000"/>
              </a:lnSpc>
              <a:spcBef>
                <a:spcPts val="1000"/>
              </a:spcBef>
              <a:spcAft>
                <a:spcPts val="0"/>
              </a:spcAft>
              <a:buSzPts val="714"/>
              <a:buNone/>
            </a:pPr>
            <a:endParaRPr sz="1800" i="1" dirty="0">
              <a:solidFill>
                <a:srgbClr val="C00000"/>
              </a:solidFill>
              <a:latin typeface="Open Sans"/>
              <a:ea typeface="Open Sans"/>
              <a:cs typeface="Open Sans"/>
              <a:sym typeface="Open Sans"/>
            </a:endParaRPr>
          </a:p>
          <a:p>
            <a:pPr marL="0" lvl="0" indent="0" algn="ctr" rtl="0">
              <a:lnSpc>
                <a:spcPct val="115000"/>
              </a:lnSpc>
              <a:spcBef>
                <a:spcPts val="1000"/>
              </a:spcBef>
              <a:spcAft>
                <a:spcPts val="0"/>
              </a:spcAft>
              <a:buSzPts val="714"/>
              <a:buNone/>
            </a:pPr>
            <a:r>
              <a:rPr lang="en-US" sz="1800" i="1" dirty="0">
                <a:solidFill>
                  <a:schemeClr val="tx1"/>
                </a:solidFill>
                <a:latin typeface="Open Sans"/>
                <a:ea typeface="Open Sans"/>
                <a:cs typeface="Open Sans"/>
                <a:sym typeface="Open Sans"/>
              </a:rPr>
              <a:t>Your team received administrative data on people who have used shelters in your county and is asked to analyze: </a:t>
            </a:r>
            <a:endParaRPr sz="1800" i="1" dirty="0">
              <a:solidFill>
                <a:schemeClr val="tx1"/>
              </a:solidFill>
              <a:latin typeface="Open Sans"/>
              <a:ea typeface="Open Sans"/>
              <a:cs typeface="Open Sans"/>
              <a:sym typeface="Open Sans"/>
            </a:endParaRPr>
          </a:p>
          <a:p>
            <a:pPr marL="457200" lvl="0" indent="-379202" algn="ctr" rtl="0">
              <a:lnSpc>
                <a:spcPct val="115000"/>
              </a:lnSpc>
              <a:spcBef>
                <a:spcPts val="1000"/>
              </a:spcBef>
              <a:spcAft>
                <a:spcPts val="0"/>
              </a:spcAft>
              <a:buSzPts val="1800"/>
              <a:buFont typeface="Open Sans"/>
              <a:buAutoNum type="arabicPeriod"/>
            </a:pPr>
            <a:r>
              <a:rPr lang="en-US" sz="1800" i="1" dirty="0">
                <a:latin typeface="Open Sans"/>
                <a:ea typeface="Open Sans"/>
                <a:cs typeface="Open Sans"/>
                <a:sym typeface="Open Sans"/>
              </a:rPr>
              <a:t>What are the </a:t>
            </a:r>
            <a:r>
              <a:rPr lang="en-US" sz="1800" b="1" i="1" dirty="0">
                <a:solidFill>
                  <a:srgbClr val="001C84"/>
                </a:solidFill>
                <a:latin typeface="Open Sans"/>
                <a:ea typeface="Open Sans"/>
                <a:cs typeface="Open Sans"/>
                <a:sym typeface="Open Sans"/>
              </a:rPr>
              <a:t>effects of poverty</a:t>
            </a:r>
            <a:r>
              <a:rPr lang="en-US" sz="1800" i="1" dirty="0">
                <a:solidFill>
                  <a:srgbClr val="001C84"/>
                </a:solidFill>
                <a:latin typeface="Open Sans"/>
                <a:ea typeface="Open Sans"/>
                <a:cs typeface="Open Sans"/>
                <a:sym typeface="Open Sans"/>
              </a:rPr>
              <a:t> </a:t>
            </a:r>
            <a:r>
              <a:rPr lang="en-US" sz="1800" i="1" dirty="0">
                <a:latin typeface="Open Sans"/>
                <a:ea typeface="Open Sans"/>
                <a:cs typeface="Open Sans"/>
                <a:sym typeface="Open Sans"/>
              </a:rPr>
              <a:t>on experiences of homelessness?</a:t>
            </a:r>
            <a:endParaRPr sz="1800" i="1" dirty="0">
              <a:latin typeface="Open Sans"/>
              <a:ea typeface="Open Sans"/>
              <a:cs typeface="Open Sans"/>
              <a:sym typeface="Open Sans"/>
            </a:endParaRPr>
          </a:p>
          <a:p>
            <a:pPr marL="457200" lvl="0" indent="-379202" algn="ctr" rtl="0">
              <a:lnSpc>
                <a:spcPct val="115000"/>
              </a:lnSpc>
              <a:spcBef>
                <a:spcPts val="0"/>
              </a:spcBef>
              <a:spcAft>
                <a:spcPts val="0"/>
              </a:spcAft>
              <a:buSzPts val="1800"/>
              <a:buFont typeface="Open Sans"/>
              <a:buAutoNum type="arabicPeriod"/>
            </a:pPr>
            <a:r>
              <a:rPr lang="en-US" sz="1800" i="1" dirty="0">
                <a:latin typeface="Open Sans"/>
                <a:ea typeface="Open Sans"/>
                <a:cs typeface="Open Sans"/>
                <a:sym typeface="Open Sans"/>
              </a:rPr>
              <a:t>What are the </a:t>
            </a:r>
            <a:r>
              <a:rPr lang="en-US" sz="1800" b="1" i="1" dirty="0">
                <a:solidFill>
                  <a:srgbClr val="001C84"/>
                </a:solidFill>
                <a:latin typeface="Open Sans"/>
                <a:ea typeface="Open Sans"/>
                <a:cs typeface="Open Sans"/>
                <a:sym typeface="Open Sans"/>
              </a:rPr>
              <a:t>effects of health status</a:t>
            </a:r>
            <a:r>
              <a:rPr lang="en-US" sz="1800" i="1" dirty="0">
                <a:solidFill>
                  <a:srgbClr val="001C84"/>
                </a:solidFill>
                <a:latin typeface="Open Sans"/>
                <a:ea typeface="Open Sans"/>
                <a:cs typeface="Open Sans"/>
                <a:sym typeface="Open Sans"/>
              </a:rPr>
              <a:t> </a:t>
            </a:r>
            <a:r>
              <a:rPr lang="en-US" sz="1800" i="1" dirty="0">
                <a:latin typeface="Open Sans"/>
                <a:ea typeface="Open Sans"/>
                <a:cs typeface="Open Sans"/>
                <a:sym typeface="Open Sans"/>
              </a:rPr>
              <a:t>on experiences of homelessness?</a:t>
            </a:r>
            <a:endParaRPr sz="1800" i="1" dirty="0">
              <a:latin typeface="Open Sans"/>
              <a:ea typeface="Open Sans"/>
              <a:cs typeface="Open Sans"/>
              <a:sym typeface="Open Sans"/>
            </a:endParaRPr>
          </a:p>
          <a:p>
            <a:pPr marL="0" lvl="0" indent="0" algn="ctr" rtl="0">
              <a:lnSpc>
                <a:spcPct val="115000"/>
              </a:lnSpc>
              <a:spcBef>
                <a:spcPts val="1000"/>
              </a:spcBef>
              <a:spcAft>
                <a:spcPts val="0"/>
              </a:spcAft>
              <a:buSzPts val="714"/>
              <a:buNone/>
            </a:pPr>
            <a:endParaRPr sz="1800" i="1" dirty="0">
              <a:latin typeface="Open Sans"/>
              <a:ea typeface="Open Sans"/>
              <a:cs typeface="Open Sans"/>
              <a:sym typeface="Open Sans"/>
            </a:endParaRPr>
          </a:p>
          <a:p>
            <a:pPr marL="0" lvl="0" indent="0" algn="ctr" rtl="0">
              <a:lnSpc>
                <a:spcPct val="115000"/>
              </a:lnSpc>
              <a:spcBef>
                <a:spcPts val="2000"/>
              </a:spcBef>
              <a:spcAft>
                <a:spcPts val="1000"/>
              </a:spcAft>
              <a:buSzPts val="714"/>
              <a:buNone/>
            </a:pPr>
            <a:r>
              <a:rPr lang="en-US" sz="1800" i="1" dirty="0">
                <a:latin typeface="Open Sans"/>
                <a:ea typeface="Open Sans"/>
                <a:cs typeface="Open Sans"/>
                <a:sym typeface="Open Sans"/>
              </a:rPr>
              <a:t>You know that people may experience homelessness outside of shelter for multiple reasons and you want to alert the data analyst in your team that the administrative data may systematically miss more vulnerable people…</a:t>
            </a:r>
            <a:endParaRPr sz="1800" i="1" dirty="0">
              <a:latin typeface="Open Sans"/>
              <a:ea typeface="Open Sans"/>
              <a:cs typeface="Open Sans"/>
              <a:sym typeface="Open Sans"/>
            </a:endParaRPr>
          </a:p>
        </p:txBody>
      </p:sp>
      <p:sp>
        <p:nvSpPr>
          <p:cNvPr id="2" name="Slide Number Placeholder 1">
            <a:extLst>
              <a:ext uri="{FF2B5EF4-FFF2-40B4-BE49-F238E27FC236}">
                <a16:creationId xmlns:a16="http://schemas.microsoft.com/office/drawing/2014/main" id="{115027EC-0FBD-A597-F52E-8A3A85057D2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g37c71f74161_0_6"/>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a:solidFill>
                  <a:srgbClr val="001C84"/>
                </a:solidFill>
                <a:latin typeface="Open Sans"/>
                <a:ea typeface="Open Sans"/>
                <a:cs typeface="Open Sans"/>
                <a:sym typeface="Open Sans"/>
              </a:rPr>
              <a:t>What is Label Bias</a:t>
            </a:r>
            <a:endParaRPr b="1">
              <a:solidFill>
                <a:srgbClr val="001C84"/>
              </a:solidFill>
              <a:latin typeface="Open Sans"/>
              <a:ea typeface="Open Sans"/>
              <a:cs typeface="Open Sans"/>
              <a:sym typeface="Open Sans"/>
            </a:endParaRPr>
          </a:p>
        </p:txBody>
      </p:sp>
      <p:pic>
        <p:nvPicPr>
          <p:cNvPr id="144" name="Google Shape;144;g37c71f74161_0_6"/>
          <p:cNvPicPr preferRelativeResize="0"/>
          <p:nvPr/>
        </p:nvPicPr>
        <p:blipFill rotWithShape="1">
          <a:blip r:embed="rId3">
            <a:alphaModFix/>
          </a:blip>
          <a:srcRect/>
          <a:stretch/>
        </p:blipFill>
        <p:spPr>
          <a:xfrm>
            <a:off x="868837" y="1426782"/>
            <a:ext cx="4237399" cy="5049450"/>
          </a:xfrm>
          <a:prstGeom prst="rect">
            <a:avLst/>
          </a:prstGeom>
          <a:noFill/>
          <a:ln>
            <a:noFill/>
          </a:ln>
        </p:spPr>
      </p:pic>
      <p:sp>
        <p:nvSpPr>
          <p:cNvPr id="145" name="Google Shape;145;g37c71f74161_0_6"/>
          <p:cNvSpPr/>
          <p:nvPr/>
        </p:nvSpPr>
        <p:spPr>
          <a:xfrm>
            <a:off x="2707064" y="4143212"/>
            <a:ext cx="2177144" cy="1005900"/>
          </a:xfrm>
          <a:prstGeom prst="roundRect">
            <a:avLst>
              <a:gd name="adj" fmla="val 16667"/>
            </a:avLst>
          </a:prstGeom>
          <a:noFill/>
          <a:ln w="152400" cap="flat" cmpd="sng">
            <a:solidFill>
              <a:srgbClr val="FFDC5D"/>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Calibri"/>
              <a:ea typeface="Calibri"/>
              <a:cs typeface="Calibri"/>
              <a:sym typeface="Calibri"/>
            </a:endParaRPr>
          </a:p>
        </p:txBody>
      </p:sp>
      <p:sp>
        <p:nvSpPr>
          <p:cNvPr id="146" name="Google Shape;146;g37c71f74161_0_6"/>
          <p:cNvSpPr/>
          <p:nvPr/>
        </p:nvSpPr>
        <p:spPr>
          <a:xfrm>
            <a:off x="1755030" y="5519097"/>
            <a:ext cx="1557900" cy="1005900"/>
          </a:xfrm>
          <a:prstGeom prst="roundRect">
            <a:avLst>
              <a:gd name="adj" fmla="val 16667"/>
            </a:avLst>
          </a:prstGeom>
          <a:noFill/>
          <a:ln w="152400" cap="flat" cmpd="sng">
            <a:solidFill>
              <a:srgbClr val="FF95C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Calibri"/>
              <a:ea typeface="Calibri"/>
              <a:cs typeface="Calibri"/>
              <a:sym typeface="Calibri"/>
            </a:endParaRPr>
          </a:p>
        </p:txBody>
      </p:sp>
      <p:sp>
        <p:nvSpPr>
          <p:cNvPr id="147" name="Google Shape;147;g37c71f74161_0_6"/>
          <p:cNvSpPr txBox="1"/>
          <p:nvPr/>
        </p:nvSpPr>
        <p:spPr>
          <a:xfrm>
            <a:off x="5844619" y="1621728"/>
            <a:ext cx="5722541" cy="3477835"/>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2400"/>
              <a:buFont typeface="Arial"/>
              <a:buChar char="•"/>
            </a:pPr>
            <a:r>
              <a:rPr lang="en-US" sz="2000" b="0" i="0" u="none" strike="noStrike" cap="none" dirty="0">
                <a:solidFill>
                  <a:srgbClr val="000000"/>
                </a:solidFill>
                <a:latin typeface="Open Sans"/>
                <a:ea typeface="Open Sans"/>
                <a:cs typeface="Open Sans"/>
                <a:sym typeface="Open Sans"/>
              </a:rPr>
              <a:t>We are interested on seeing how poverty and health relate to homelessness</a:t>
            </a:r>
            <a:endParaRPr sz="2000" b="0" i="0" u="none" strike="noStrike" cap="none" dirty="0">
              <a:solidFill>
                <a:srgbClr val="000000"/>
              </a:solidFill>
              <a:latin typeface="Arial"/>
              <a:ea typeface="Arial"/>
              <a:cs typeface="Arial"/>
              <a:sym typeface="Arial"/>
            </a:endParaRPr>
          </a:p>
          <a:p>
            <a:pPr marL="342900" marR="0" lvl="0" indent="-190500" algn="l" rtl="0">
              <a:lnSpc>
                <a:spcPct val="100000"/>
              </a:lnSpc>
              <a:spcBef>
                <a:spcPts val="0"/>
              </a:spcBef>
              <a:spcAft>
                <a:spcPts val="0"/>
              </a:spcAft>
              <a:buClr>
                <a:srgbClr val="000000"/>
              </a:buClr>
              <a:buSzPts val="2400"/>
              <a:buFont typeface="Arial"/>
              <a:buNone/>
            </a:pPr>
            <a:endParaRPr sz="2000" b="0" i="0" u="none" strike="noStrike" cap="none" dirty="0">
              <a:solidFill>
                <a:srgbClr val="000000"/>
              </a:solidFill>
              <a:latin typeface="Open Sans"/>
              <a:ea typeface="Open Sans"/>
              <a:cs typeface="Open Sans"/>
              <a:sym typeface="Open Sans"/>
            </a:endParaRPr>
          </a:p>
          <a:p>
            <a:pPr marL="342900" marR="0" lvl="0" indent="-342900" algn="l" rtl="0">
              <a:lnSpc>
                <a:spcPct val="100000"/>
              </a:lnSpc>
              <a:spcBef>
                <a:spcPts val="0"/>
              </a:spcBef>
              <a:spcAft>
                <a:spcPts val="0"/>
              </a:spcAft>
              <a:buClr>
                <a:srgbClr val="000000"/>
              </a:buClr>
              <a:buSzPts val="2400"/>
              <a:buFont typeface="Arial"/>
              <a:buChar char="•"/>
            </a:pPr>
            <a:r>
              <a:rPr lang="en-US" sz="2000" b="1" i="0" u="none" strike="noStrike" cap="none" dirty="0">
                <a:solidFill>
                  <a:srgbClr val="FFC000"/>
                </a:solidFill>
                <a:latin typeface="Open Sans"/>
                <a:ea typeface="Open Sans"/>
                <a:cs typeface="Open Sans"/>
                <a:sym typeface="Open Sans"/>
              </a:rPr>
              <a:t>Homelessness is our outcome variable of interest, </a:t>
            </a:r>
            <a:r>
              <a:rPr lang="en-US" sz="2000" b="0" i="0" u="none" strike="noStrike" cap="none" dirty="0">
                <a:solidFill>
                  <a:srgbClr val="000000"/>
                </a:solidFill>
                <a:latin typeface="Open Sans"/>
                <a:ea typeface="Open Sans"/>
                <a:cs typeface="Open Sans"/>
                <a:sym typeface="Open Sans"/>
              </a:rPr>
              <a:t>but our </a:t>
            </a:r>
            <a:r>
              <a:rPr lang="en-US" sz="2000" b="1" i="0" u="none" strike="noStrike" cap="none" dirty="0">
                <a:solidFill>
                  <a:srgbClr val="FF3399"/>
                </a:solidFill>
                <a:latin typeface="Open Sans"/>
                <a:ea typeface="Open Sans"/>
                <a:cs typeface="Open Sans"/>
                <a:sym typeface="Open Sans"/>
              </a:rPr>
              <a:t>measured variable (or label) is ‘shelter use’</a:t>
            </a:r>
            <a:r>
              <a:rPr lang="en-US" sz="2000" i="0" u="none" strike="noStrike" cap="none" dirty="0">
                <a:solidFill>
                  <a:schemeClr val="tx1"/>
                </a:solidFill>
                <a:latin typeface="Open Sans"/>
                <a:ea typeface="Open Sans"/>
                <a:cs typeface="Open Sans"/>
                <a:sym typeface="Open Sans"/>
              </a:rPr>
              <a:t>, an imperfect proxy for homelessness</a:t>
            </a:r>
            <a:endParaRPr dirty="0">
              <a:solidFill>
                <a:schemeClr val="tx1"/>
              </a:solidFill>
            </a:endParaRPr>
          </a:p>
          <a:p>
            <a:pPr marL="342900" marR="0" lvl="0" indent="-190500" algn="l" rtl="0">
              <a:lnSpc>
                <a:spcPct val="100000"/>
              </a:lnSpc>
              <a:spcBef>
                <a:spcPts val="0"/>
              </a:spcBef>
              <a:spcAft>
                <a:spcPts val="0"/>
              </a:spcAft>
              <a:buClr>
                <a:srgbClr val="000000"/>
              </a:buClr>
              <a:buSzPts val="2400"/>
              <a:buFont typeface="Arial"/>
              <a:buNone/>
            </a:pPr>
            <a:endParaRPr sz="2000" b="1" i="0" u="none" strike="noStrike" cap="none" dirty="0">
              <a:solidFill>
                <a:srgbClr val="FF3399"/>
              </a:solidFill>
              <a:latin typeface="Open Sans"/>
              <a:ea typeface="Open Sans"/>
              <a:cs typeface="Open Sans"/>
              <a:sym typeface="Open Sans"/>
            </a:endParaRPr>
          </a:p>
          <a:p>
            <a:pPr marL="342900" marR="0" lvl="0" indent="-342900" algn="l" rtl="0">
              <a:lnSpc>
                <a:spcPct val="100000"/>
              </a:lnSpc>
              <a:spcBef>
                <a:spcPts val="0"/>
              </a:spcBef>
              <a:spcAft>
                <a:spcPts val="0"/>
              </a:spcAft>
              <a:buClr>
                <a:srgbClr val="000000"/>
              </a:buClr>
              <a:buSzPts val="2400"/>
              <a:buFont typeface="Arial"/>
              <a:buChar char="•"/>
            </a:pPr>
            <a:r>
              <a:rPr lang="en-US" sz="2000" i="0" u="none" strike="noStrike" cap="none" dirty="0">
                <a:solidFill>
                  <a:schemeClr val="tx1"/>
                </a:solidFill>
                <a:latin typeface="Open Sans"/>
                <a:ea typeface="Open Sans"/>
                <a:cs typeface="Open Sans"/>
                <a:sym typeface="Open Sans"/>
              </a:rPr>
              <a:t>The graphic model represents the hypothesized relationships between our variables</a:t>
            </a:r>
            <a:endParaRPr sz="2000" i="0" u="none" strike="noStrike" cap="none" dirty="0">
              <a:solidFill>
                <a:schemeClr val="tx1"/>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DB13425C-D2E3-EBFB-C60F-06336EABF6A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8cbc66050f_1_8"/>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a:solidFill>
                  <a:srgbClr val="001C84"/>
                </a:solidFill>
                <a:latin typeface="Open Sans"/>
                <a:ea typeface="Open Sans"/>
                <a:cs typeface="Open Sans"/>
                <a:sym typeface="Open Sans"/>
              </a:rPr>
              <a:t>What is Label Bias</a:t>
            </a:r>
            <a:endParaRPr b="1">
              <a:solidFill>
                <a:srgbClr val="001C84"/>
              </a:solidFill>
              <a:latin typeface="Open Sans"/>
              <a:ea typeface="Open Sans"/>
              <a:cs typeface="Open Sans"/>
              <a:sym typeface="Open Sans"/>
            </a:endParaRPr>
          </a:p>
        </p:txBody>
      </p:sp>
      <p:sp>
        <p:nvSpPr>
          <p:cNvPr id="154" name="Google Shape;154;g38cbc66050f_1_8"/>
          <p:cNvSpPr/>
          <p:nvPr/>
        </p:nvSpPr>
        <p:spPr>
          <a:xfrm>
            <a:off x="2141200" y="2969525"/>
            <a:ext cx="2709000" cy="1234500"/>
          </a:xfrm>
          <a:prstGeom prst="ellipse">
            <a:avLst/>
          </a:prstGeom>
          <a:solidFill>
            <a:srgbClr val="9FC5E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Open Sans"/>
                <a:ea typeface="Open Sans"/>
                <a:cs typeface="Open Sans"/>
                <a:sym typeface="Open Sans"/>
              </a:rPr>
              <a:t>Homelessness</a:t>
            </a:r>
            <a:endParaRPr sz="1800" b="1" i="0" u="none" strike="noStrike" cap="none">
              <a:solidFill>
                <a:srgbClr val="000000"/>
              </a:solidFill>
              <a:latin typeface="Open Sans"/>
              <a:ea typeface="Open Sans"/>
              <a:cs typeface="Open Sans"/>
              <a:sym typeface="Open Sans"/>
            </a:endParaRPr>
          </a:p>
        </p:txBody>
      </p:sp>
      <p:sp>
        <p:nvSpPr>
          <p:cNvPr id="155" name="Google Shape;155;g38cbc66050f_1_8"/>
          <p:cNvSpPr/>
          <p:nvPr/>
        </p:nvSpPr>
        <p:spPr>
          <a:xfrm>
            <a:off x="7501800" y="2969525"/>
            <a:ext cx="2709000" cy="1234500"/>
          </a:xfrm>
          <a:prstGeom prst="ellipse">
            <a:avLst/>
          </a:prstGeom>
          <a:solidFill>
            <a:srgbClr val="9FC5E8"/>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Open Sans"/>
                <a:ea typeface="Open Sans"/>
                <a:cs typeface="Open Sans"/>
                <a:sym typeface="Open Sans"/>
              </a:rPr>
              <a:t>Shelter</a:t>
            </a:r>
            <a:endParaRPr sz="1800" b="1" i="0" u="none" strike="noStrike" cap="none">
              <a:solidFill>
                <a:srgbClr val="000000"/>
              </a:solidFill>
              <a:latin typeface="Open Sans"/>
              <a:ea typeface="Open Sans"/>
              <a:cs typeface="Open Sans"/>
              <a:sym typeface="Open Sans"/>
            </a:endParaRPr>
          </a:p>
        </p:txBody>
      </p:sp>
      <p:cxnSp>
        <p:nvCxnSpPr>
          <p:cNvPr id="156" name="Google Shape;156;g38cbc66050f_1_8"/>
          <p:cNvCxnSpPr>
            <a:stCxn id="154" idx="6"/>
            <a:endCxn id="155" idx="2"/>
          </p:cNvCxnSpPr>
          <p:nvPr/>
        </p:nvCxnSpPr>
        <p:spPr>
          <a:xfrm>
            <a:off x="4850200" y="3586775"/>
            <a:ext cx="2651700" cy="0"/>
          </a:xfrm>
          <a:prstGeom prst="straightConnector1">
            <a:avLst/>
          </a:prstGeom>
          <a:noFill/>
          <a:ln w="76200" cap="flat" cmpd="sng">
            <a:solidFill>
              <a:schemeClr val="dk1"/>
            </a:solidFill>
            <a:prstDash val="solid"/>
            <a:round/>
            <a:headEnd type="none" w="sm" len="sm"/>
            <a:tailEnd type="triangle" w="med" len="med"/>
          </a:ln>
        </p:spPr>
      </p:cxnSp>
      <p:sp>
        <p:nvSpPr>
          <p:cNvPr id="157" name="Google Shape;157;g38cbc66050f_1_8"/>
          <p:cNvSpPr txBox="1"/>
          <p:nvPr/>
        </p:nvSpPr>
        <p:spPr>
          <a:xfrm>
            <a:off x="1927000" y="4301400"/>
            <a:ext cx="3137400" cy="702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US" sz="2500" b="0" i="0" u="none" strike="noStrike" cap="none">
                <a:solidFill>
                  <a:schemeClr val="dk1"/>
                </a:solidFill>
                <a:latin typeface="Open Sans"/>
                <a:ea typeface="Open Sans"/>
                <a:cs typeface="Open Sans"/>
                <a:sym typeface="Open Sans"/>
              </a:rPr>
              <a:t>Desired outcome variable</a:t>
            </a:r>
            <a:endParaRPr sz="2500" b="0" i="0" u="none" strike="noStrike" cap="none">
              <a:solidFill>
                <a:schemeClr val="dk1"/>
              </a:solidFill>
              <a:latin typeface="Open Sans"/>
              <a:ea typeface="Open Sans"/>
              <a:cs typeface="Open Sans"/>
              <a:sym typeface="Open Sans"/>
            </a:endParaRPr>
          </a:p>
        </p:txBody>
      </p:sp>
      <p:sp>
        <p:nvSpPr>
          <p:cNvPr id="158" name="Google Shape;158;g38cbc66050f_1_8"/>
          <p:cNvSpPr txBox="1"/>
          <p:nvPr/>
        </p:nvSpPr>
        <p:spPr>
          <a:xfrm>
            <a:off x="7124700" y="4223108"/>
            <a:ext cx="3463200" cy="1594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US" sz="2500" b="0" i="0" u="none" strike="noStrike" cap="none">
                <a:solidFill>
                  <a:schemeClr val="dk1"/>
                </a:solidFill>
                <a:latin typeface="Open Sans"/>
                <a:ea typeface="Open Sans"/>
                <a:cs typeface="Open Sans"/>
                <a:sym typeface="Open Sans"/>
              </a:rPr>
              <a:t>What we are actually modeling</a:t>
            </a:r>
            <a:endParaRPr sz="2500" b="0" i="0" u="none" strike="noStrike" cap="none">
              <a:solidFill>
                <a:schemeClr val="dk1"/>
              </a:solidFill>
              <a:latin typeface="Open Sans"/>
              <a:ea typeface="Open Sans"/>
              <a:cs typeface="Open Sans"/>
              <a:sym typeface="Open Sans"/>
            </a:endParaRPr>
          </a:p>
        </p:txBody>
      </p:sp>
      <p:sp>
        <p:nvSpPr>
          <p:cNvPr id="159" name="Google Shape;159;g38cbc66050f_1_8"/>
          <p:cNvSpPr txBox="1"/>
          <p:nvPr/>
        </p:nvSpPr>
        <p:spPr>
          <a:xfrm>
            <a:off x="4607350" y="2012288"/>
            <a:ext cx="3137400" cy="702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US" sz="2700" b="0" i="0" u="none" strike="noStrike" cap="none">
                <a:solidFill>
                  <a:schemeClr val="dk1"/>
                </a:solidFill>
                <a:latin typeface="Open Sans"/>
                <a:ea typeface="Open Sans"/>
                <a:cs typeface="Open Sans"/>
                <a:sym typeface="Open Sans"/>
              </a:rPr>
              <a:t>Who gets left out?</a:t>
            </a:r>
            <a:endParaRPr sz="2700" b="0" i="0" u="none" strike="noStrike" cap="none">
              <a:solidFill>
                <a:schemeClr val="dk1"/>
              </a:solidFill>
              <a:latin typeface="Open Sans"/>
              <a:ea typeface="Open Sans"/>
              <a:cs typeface="Open Sans"/>
              <a:sym typeface="Open Sans"/>
            </a:endParaRPr>
          </a:p>
        </p:txBody>
      </p:sp>
      <p:sp>
        <p:nvSpPr>
          <p:cNvPr id="160" name="Google Shape;160;g38cbc66050f_1_8"/>
          <p:cNvSpPr/>
          <p:nvPr/>
        </p:nvSpPr>
        <p:spPr>
          <a:xfrm>
            <a:off x="2083300" y="2855224"/>
            <a:ext cx="2709000" cy="1446300"/>
          </a:xfrm>
          <a:prstGeom prst="roundRect">
            <a:avLst>
              <a:gd name="adj" fmla="val 16667"/>
            </a:avLst>
          </a:prstGeom>
          <a:noFill/>
          <a:ln w="152400" cap="flat" cmpd="sng">
            <a:solidFill>
              <a:srgbClr val="FFDC5D"/>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Calibri"/>
              <a:ea typeface="Calibri"/>
              <a:cs typeface="Calibri"/>
              <a:sym typeface="Calibri"/>
            </a:endParaRPr>
          </a:p>
        </p:txBody>
      </p:sp>
      <p:sp>
        <p:nvSpPr>
          <p:cNvPr id="161" name="Google Shape;161;g38cbc66050f_1_8"/>
          <p:cNvSpPr/>
          <p:nvPr/>
        </p:nvSpPr>
        <p:spPr>
          <a:xfrm>
            <a:off x="7559800" y="2969525"/>
            <a:ext cx="2709000" cy="1234500"/>
          </a:xfrm>
          <a:prstGeom prst="roundRect">
            <a:avLst>
              <a:gd name="adj" fmla="val 16667"/>
            </a:avLst>
          </a:prstGeom>
          <a:noFill/>
          <a:ln w="152400" cap="flat" cmpd="sng">
            <a:solidFill>
              <a:srgbClr val="FF95C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Calibri"/>
              <a:ea typeface="Calibri"/>
              <a:cs typeface="Calibri"/>
              <a:sym typeface="Calibri"/>
            </a:endParaRPr>
          </a:p>
        </p:txBody>
      </p:sp>
      <p:sp>
        <p:nvSpPr>
          <p:cNvPr id="2" name="Slide Number Placeholder 1">
            <a:extLst>
              <a:ext uri="{FF2B5EF4-FFF2-40B4-BE49-F238E27FC236}">
                <a16:creationId xmlns:a16="http://schemas.microsoft.com/office/drawing/2014/main" id="{DF895BBF-FA58-DFD5-88FE-3B79927731F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g38cbc66050f_1_0"/>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a:solidFill>
                  <a:srgbClr val="001C84"/>
                </a:solidFill>
                <a:latin typeface="Open Sans"/>
                <a:ea typeface="Open Sans"/>
                <a:cs typeface="Open Sans"/>
                <a:sym typeface="Open Sans"/>
              </a:rPr>
              <a:t>What is Label Bias</a:t>
            </a:r>
            <a:endParaRPr b="1">
              <a:solidFill>
                <a:srgbClr val="001C84"/>
              </a:solidFill>
              <a:latin typeface="Open Sans"/>
              <a:ea typeface="Open Sans"/>
              <a:cs typeface="Open Sans"/>
              <a:sym typeface="Open Sans"/>
            </a:endParaRPr>
          </a:p>
        </p:txBody>
      </p:sp>
      <p:sp>
        <p:nvSpPr>
          <p:cNvPr id="168" name="Google Shape;168;g38cbc66050f_1_0"/>
          <p:cNvSpPr txBox="1">
            <a:spLocks noGrp="1"/>
          </p:cNvSpPr>
          <p:nvPr>
            <p:ph type="body" idx="1"/>
          </p:nvPr>
        </p:nvSpPr>
        <p:spPr>
          <a:xfrm>
            <a:off x="848412" y="1600200"/>
            <a:ext cx="10378912" cy="4526100"/>
          </a:xfrm>
          <a:prstGeom prst="rect">
            <a:avLst/>
          </a:prstGeom>
          <a:noFill/>
          <a:ln>
            <a:noFill/>
          </a:ln>
        </p:spPr>
        <p:txBody>
          <a:bodyPr spcFirstLastPara="1" wrap="square" lIns="91425" tIns="45700" rIns="91425" bIns="45700" anchor="t" anchorCtr="0">
            <a:normAutofit/>
          </a:bodyPr>
          <a:lstStyle/>
          <a:p>
            <a:pPr marL="480694" lvl="0" indent="-342900" algn="l" rtl="0">
              <a:lnSpc>
                <a:spcPct val="100000"/>
              </a:lnSpc>
              <a:spcBef>
                <a:spcPts val="1000"/>
              </a:spcBef>
              <a:spcAft>
                <a:spcPts val="0"/>
              </a:spcAft>
              <a:buSzPts val="1416"/>
              <a:buFont typeface="Arial" panose="020B0604020202020204" pitchFamily="34" charset="0"/>
              <a:buChar char="•"/>
            </a:pPr>
            <a:r>
              <a:rPr lang="en-US" sz="2400" dirty="0">
                <a:latin typeface="Open Sans"/>
                <a:ea typeface="Open Sans"/>
                <a:cs typeface="Open Sans"/>
                <a:sym typeface="Open Sans"/>
              </a:rPr>
              <a:t>Label bias occurs when the </a:t>
            </a:r>
            <a:r>
              <a:rPr lang="en-US" sz="2400" b="1" dirty="0">
                <a:solidFill>
                  <a:srgbClr val="001C84"/>
                </a:solidFill>
                <a:latin typeface="Open Sans"/>
                <a:ea typeface="Open Sans"/>
                <a:cs typeface="Open Sans"/>
                <a:sym typeface="Open Sans"/>
              </a:rPr>
              <a:t>variable used in data analytics</a:t>
            </a:r>
            <a:r>
              <a:rPr lang="en-US" sz="2400" dirty="0">
                <a:solidFill>
                  <a:srgbClr val="001C84"/>
                </a:solidFill>
                <a:latin typeface="Open Sans"/>
                <a:ea typeface="Open Sans"/>
                <a:cs typeface="Open Sans"/>
                <a:sym typeface="Open Sans"/>
              </a:rPr>
              <a:t> </a:t>
            </a:r>
            <a:r>
              <a:rPr lang="en-US" sz="2400" dirty="0">
                <a:latin typeface="Open Sans"/>
                <a:ea typeface="Open Sans"/>
                <a:cs typeface="Open Sans"/>
                <a:sym typeface="Open Sans"/>
              </a:rPr>
              <a:t>is only a </a:t>
            </a:r>
            <a:r>
              <a:rPr lang="en-US" sz="2400" b="1" dirty="0">
                <a:solidFill>
                  <a:srgbClr val="001C84"/>
                </a:solidFill>
                <a:latin typeface="Open Sans"/>
                <a:ea typeface="Open Sans"/>
                <a:cs typeface="Open Sans"/>
                <a:sym typeface="Open Sans"/>
              </a:rPr>
              <a:t>proxy label</a:t>
            </a:r>
            <a:r>
              <a:rPr lang="en-US" sz="2400" dirty="0">
                <a:solidFill>
                  <a:srgbClr val="001C84"/>
                </a:solidFill>
                <a:latin typeface="Open Sans"/>
                <a:ea typeface="Open Sans"/>
                <a:cs typeface="Open Sans"/>
                <a:sym typeface="Open Sans"/>
              </a:rPr>
              <a:t> </a:t>
            </a:r>
            <a:r>
              <a:rPr lang="en-US" sz="2400" dirty="0">
                <a:latin typeface="Open Sans"/>
                <a:ea typeface="Open Sans"/>
                <a:cs typeface="Open Sans"/>
                <a:sym typeface="Open Sans"/>
              </a:rPr>
              <a:t>for the </a:t>
            </a:r>
            <a:r>
              <a:rPr lang="en-US" sz="2400" b="1" dirty="0">
                <a:solidFill>
                  <a:srgbClr val="001C84"/>
                </a:solidFill>
                <a:latin typeface="Open Sans"/>
                <a:ea typeface="Open Sans"/>
                <a:cs typeface="Open Sans"/>
                <a:sym typeface="Open Sans"/>
              </a:rPr>
              <a:t>outcome of interest </a:t>
            </a:r>
            <a:r>
              <a:rPr lang="en-US" sz="2400" dirty="0">
                <a:latin typeface="Open Sans"/>
                <a:ea typeface="Open Sans"/>
                <a:cs typeface="Open Sans"/>
                <a:sym typeface="Open Sans"/>
              </a:rPr>
              <a:t>that is difficult to measure (</a:t>
            </a:r>
            <a:r>
              <a:rPr lang="en-US" sz="2400" dirty="0" err="1">
                <a:latin typeface="Open Sans"/>
                <a:ea typeface="Open Sans"/>
                <a:cs typeface="Open Sans"/>
                <a:sym typeface="Open Sans"/>
              </a:rPr>
              <a:t>Mhasawade</a:t>
            </a:r>
            <a:r>
              <a:rPr lang="en-US" sz="2400" dirty="0">
                <a:latin typeface="Open Sans"/>
                <a:ea typeface="Open Sans"/>
                <a:cs typeface="Open Sans"/>
                <a:sym typeface="Open Sans"/>
              </a:rPr>
              <a:t> et al., 2024)</a:t>
            </a:r>
            <a:endParaRPr sz="2800" dirty="0"/>
          </a:p>
          <a:p>
            <a:pPr marL="570618" lvl="0" algn="l" rtl="0">
              <a:lnSpc>
                <a:spcPct val="100000"/>
              </a:lnSpc>
              <a:spcBef>
                <a:spcPts val="1000"/>
              </a:spcBef>
              <a:spcAft>
                <a:spcPts val="0"/>
              </a:spcAft>
              <a:buSzPts val="1416"/>
              <a:buFont typeface="Arial" panose="020B0604020202020204" pitchFamily="34" charset="0"/>
              <a:buChar char="•"/>
            </a:pPr>
            <a:endParaRPr sz="2400" dirty="0">
              <a:latin typeface="Open Sans"/>
              <a:ea typeface="Open Sans"/>
              <a:cs typeface="Open Sans"/>
              <a:sym typeface="Open Sans"/>
            </a:endParaRPr>
          </a:p>
          <a:p>
            <a:pPr marL="480694" lvl="0" indent="-342900" algn="l" rtl="0">
              <a:lnSpc>
                <a:spcPct val="100000"/>
              </a:lnSpc>
              <a:spcBef>
                <a:spcPts val="1000"/>
              </a:spcBef>
              <a:spcAft>
                <a:spcPts val="0"/>
              </a:spcAft>
              <a:buSzPts val="1416"/>
              <a:buFont typeface="Arial" panose="020B0604020202020204" pitchFamily="34" charset="0"/>
              <a:buChar char="•"/>
            </a:pPr>
            <a:r>
              <a:rPr lang="en-US" sz="2400" dirty="0">
                <a:latin typeface="Open Sans"/>
                <a:ea typeface="Open Sans"/>
                <a:cs typeface="Open Sans"/>
                <a:sym typeface="Open Sans"/>
              </a:rPr>
              <a:t>Studying homelessness with data on shelter use, i.e. using </a:t>
            </a:r>
            <a:r>
              <a:rPr lang="en-US" sz="2400" b="1" dirty="0">
                <a:solidFill>
                  <a:srgbClr val="FF3399"/>
                </a:solidFill>
                <a:latin typeface="Open Sans"/>
                <a:ea typeface="Open Sans"/>
                <a:cs typeface="Open Sans"/>
                <a:sym typeface="Open Sans"/>
              </a:rPr>
              <a:t>shelter use</a:t>
            </a:r>
            <a:r>
              <a:rPr lang="en-US" sz="2400" dirty="0">
                <a:solidFill>
                  <a:srgbClr val="FF3399"/>
                </a:solidFill>
                <a:latin typeface="Open Sans"/>
                <a:ea typeface="Open Sans"/>
                <a:cs typeface="Open Sans"/>
                <a:sym typeface="Open Sans"/>
              </a:rPr>
              <a:t> </a:t>
            </a:r>
            <a:r>
              <a:rPr lang="en-US" sz="2400" dirty="0">
                <a:latin typeface="Open Sans"/>
                <a:ea typeface="Open Sans"/>
                <a:cs typeface="Open Sans"/>
                <a:sym typeface="Open Sans"/>
              </a:rPr>
              <a:t>as a proxy label of </a:t>
            </a:r>
            <a:r>
              <a:rPr lang="en-US" sz="2400" b="1" dirty="0">
                <a:solidFill>
                  <a:srgbClr val="FFDC5D"/>
                </a:solidFill>
                <a:latin typeface="Open Sans"/>
                <a:ea typeface="Open Sans"/>
                <a:cs typeface="Open Sans"/>
                <a:sym typeface="Open Sans"/>
              </a:rPr>
              <a:t>homelessness </a:t>
            </a:r>
            <a:r>
              <a:rPr lang="en-US" sz="2400" dirty="0">
                <a:latin typeface="Open Sans"/>
                <a:ea typeface="Open Sans"/>
                <a:cs typeface="Open Sans"/>
                <a:sym typeface="Open Sans"/>
              </a:rPr>
              <a:t>may lead to conclusions that:</a:t>
            </a:r>
            <a:endParaRPr sz="2800" dirty="0"/>
          </a:p>
          <a:p>
            <a:pPr marL="862330" lvl="1" indent="-342900" algn="l" rtl="0">
              <a:lnSpc>
                <a:spcPct val="100000"/>
              </a:lnSpc>
              <a:spcBef>
                <a:spcPts val="1000"/>
              </a:spcBef>
              <a:spcAft>
                <a:spcPts val="0"/>
              </a:spcAft>
              <a:buSzPct val="100000"/>
              <a:buFont typeface="Arial" panose="020B0604020202020204" pitchFamily="34" charset="0"/>
              <a:buChar char="•"/>
            </a:pPr>
            <a:r>
              <a:rPr lang="en-US" sz="2000" dirty="0">
                <a:latin typeface="Open Sans"/>
                <a:ea typeface="Open Sans"/>
                <a:cs typeface="Open Sans"/>
                <a:sym typeface="Open Sans"/>
              </a:rPr>
              <a:t>Reproduce </a:t>
            </a:r>
            <a:r>
              <a:rPr lang="en-US" sz="2000" b="1" dirty="0">
                <a:solidFill>
                  <a:srgbClr val="001C84"/>
                </a:solidFill>
                <a:latin typeface="Open Sans"/>
                <a:ea typeface="Open Sans"/>
                <a:cs typeface="Open Sans"/>
                <a:sym typeface="Open Sans"/>
              </a:rPr>
              <a:t>historical inequities</a:t>
            </a:r>
            <a:r>
              <a:rPr lang="en-US" sz="2000" dirty="0">
                <a:solidFill>
                  <a:srgbClr val="001C84"/>
                </a:solidFill>
                <a:latin typeface="Open Sans"/>
                <a:ea typeface="Open Sans"/>
                <a:cs typeface="Open Sans"/>
                <a:sym typeface="Open Sans"/>
              </a:rPr>
              <a:t> </a:t>
            </a:r>
            <a:r>
              <a:rPr lang="en-US" sz="2000" dirty="0">
                <a:latin typeface="Open Sans"/>
                <a:ea typeface="Open Sans"/>
                <a:cs typeface="Open Sans"/>
                <a:sym typeface="Open Sans"/>
              </a:rPr>
              <a:t>and/or </a:t>
            </a:r>
            <a:r>
              <a:rPr lang="en-US" sz="2000" b="1" dirty="0">
                <a:solidFill>
                  <a:srgbClr val="001C84"/>
                </a:solidFill>
                <a:latin typeface="Open Sans"/>
                <a:ea typeface="Open Sans"/>
                <a:cs typeface="Open Sans"/>
                <a:sym typeface="Open Sans"/>
              </a:rPr>
              <a:t>human biases</a:t>
            </a:r>
            <a:r>
              <a:rPr lang="en-US" sz="2000" dirty="0">
                <a:solidFill>
                  <a:srgbClr val="001C84"/>
                </a:solidFill>
                <a:latin typeface="Open Sans"/>
                <a:ea typeface="Open Sans"/>
                <a:cs typeface="Open Sans"/>
                <a:sym typeface="Open Sans"/>
              </a:rPr>
              <a:t> </a:t>
            </a:r>
            <a:r>
              <a:rPr lang="en-US" sz="2000" dirty="0">
                <a:latin typeface="Open Sans"/>
                <a:ea typeface="Open Sans"/>
                <a:cs typeface="Open Sans"/>
                <a:sym typeface="Open Sans"/>
              </a:rPr>
              <a:t>(Banks et al., 2025)</a:t>
            </a:r>
            <a:endParaRPr sz="2000" dirty="0">
              <a:latin typeface="Open Sans"/>
              <a:ea typeface="Open Sans"/>
              <a:cs typeface="Open Sans"/>
              <a:sym typeface="Open Sans"/>
            </a:endParaRPr>
          </a:p>
          <a:p>
            <a:pPr marL="862330" lvl="1" indent="-342900" algn="l" rtl="0">
              <a:lnSpc>
                <a:spcPct val="100000"/>
              </a:lnSpc>
              <a:spcBef>
                <a:spcPts val="1000"/>
              </a:spcBef>
              <a:spcAft>
                <a:spcPts val="1000"/>
              </a:spcAft>
              <a:buSzPct val="100000"/>
              <a:buFont typeface="Arial" panose="020B0604020202020204" pitchFamily="34" charset="0"/>
              <a:buChar char="•"/>
            </a:pPr>
            <a:r>
              <a:rPr lang="en-US" sz="2000" dirty="0">
                <a:latin typeface="Open Sans"/>
                <a:ea typeface="Open Sans"/>
                <a:cs typeface="Open Sans"/>
                <a:sym typeface="Open Sans"/>
              </a:rPr>
              <a:t>Reflect </a:t>
            </a:r>
            <a:r>
              <a:rPr lang="en-US" sz="2000" b="1" dirty="0">
                <a:solidFill>
                  <a:srgbClr val="001C84"/>
                </a:solidFill>
                <a:latin typeface="Open Sans"/>
                <a:ea typeface="Open Sans"/>
                <a:cs typeface="Open Sans"/>
                <a:sym typeface="Open Sans"/>
              </a:rPr>
              <a:t>disparities</a:t>
            </a:r>
            <a:r>
              <a:rPr lang="en-US" sz="2000" b="1" dirty="0">
                <a:latin typeface="Open Sans"/>
                <a:ea typeface="Open Sans"/>
                <a:cs typeface="Open Sans"/>
                <a:sym typeface="Open Sans"/>
              </a:rPr>
              <a:t> </a:t>
            </a:r>
            <a:r>
              <a:rPr lang="en-US" sz="2000" dirty="0">
                <a:latin typeface="Open Sans"/>
                <a:ea typeface="Open Sans"/>
                <a:cs typeface="Open Sans"/>
                <a:sym typeface="Open Sans"/>
              </a:rPr>
              <a:t>in society (Ceccon et al., 2025)</a:t>
            </a:r>
            <a:endParaRPr sz="1600" dirty="0">
              <a:latin typeface="Open Sans"/>
              <a:ea typeface="Open Sans"/>
              <a:cs typeface="Open Sans"/>
              <a:sym typeface="Open Sans"/>
            </a:endParaRPr>
          </a:p>
        </p:txBody>
      </p:sp>
      <p:sp>
        <p:nvSpPr>
          <p:cNvPr id="2" name="Slide Number Placeholder 1">
            <a:extLst>
              <a:ext uri="{FF2B5EF4-FFF2-40B4-BE49-F238E27FC236}">
                <a16:creationId xmlns:a16="http://schemas.microsoft.com/office/drawing/2014/main" id="{D1C2A34A-2DE3-6EDC-3820-689E829CB87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g38cbc66050f_1_21"/>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a:solidFill>
                  <a:srgbClr val="001C84"/>
                </a:solidFill>
                <a:latin typeface="Open Sans"/>
                <a:ea typeface="Open Sans"/>
                <a:cs typeface="Open Sans"/>
                <a:sym typeface="Open Sans"/>
              </a:rPr>
              <a:t>What is Label Bias</a:t>
            </a:r>
            <a:endParaRPr b="1">
              <a:solidFill>
                <a:srgbClr val="001C84"/>
              </a:solidFill>
              <a:latin typeface="Open Sans"/>
              <a:ea typeface="Open Sans"/>
              <a:cs typeface="Open Sans"/>
              <a:sym typeface="Open Sans"/>
            </a:endParaRPr>
          </a:p>
        </p:txBody>
      </p:sp>
      <p:sp>
        <p:nvSpPr>
          <p:cNvPr id="175" name="Google Shape;175;g38cbc66050f_1_21"/>
          <p:cNvSpPr txBox="1"/>
          <p:nvPr/>
        </p:nvSpPr>
        <p:spPr>
          <a:xfrm>
            <a:off x="5986669" y="4925780"/>
            <a:ext cx="4416036" cy="702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US" sz="2500" b="0" i="0" u="none" strike="noStrike" cap="none">
                <a:solidFill>
                  <a:schemeClr val="dk1"/>
                </a:solidFill>
                <a:latin typeface="Open Sans"/>
                <a:ea typeface="Open Sans"/>
                <a:cs typeface="Open Sans"/>
                <a:sym typeface="Open Sans"/>
              </a:rPr>
              <a:t>Desired outcome variable</a:t>
            </a:r>
            <a:endParaRPr sz="2500" b="0" i="0" u="none" strike="noStrike" cap="none">
              <a:solidFill>
                <a:schemeClr val="dk1"/>
              </a:solidFill>
              <a:latin typeface="Open Sans"/>
              <a:ea typeface="Open Sans"/>
              <a:cs typeface="Open Sans"/>
              <a:sym typeface="Open Sans"/>
            </a:endParaRPr>
          </a:p>
        </p:txBody>
      </p:sp>
      <p:sp>
        <p:nvSpPr>
          <p:cNvPr id="176" name="Google Shape;176;g38cbc66050f_1_21"/>
          <p:cNvSpPr txBox="1"/>
          <p:nvPr/>
        </p:nvSpPr>
        <p:spPr>
          <a:xfrm>
            <a:off x="1605023" y="6258208"/>
            <a:ext cx="5763600" cy="1594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US" sz="2500" b="0" i="0" u="none" strike="noStrike" cap="none">
                <a:solidFill>
                  <a:schemeClr val="dk1"/>
                </a:solidFill>
                <a:latin typeface="Open Sans"/>
                <a:ea typeface="Open Sans"/>
                <a:cs typeface="Open Sans"/>
                <a:sym typeface="Open Sans"/>
              </a:rPr>
              <a:t>What we are actually measuring</a:t>
            </a:r>
            <a:endParaRPr sz="2500" b="0" i="0" u="none" strike="noStrike" cap="none">
              <a:solidFill>
                <a:schemeClr val="dk1"/>
              </a:solidFill>
              <a:latin typeface="Open Sans"/>
              <a:ea typeface="Open Sans"/>
              <a:cs typeface="Open Sans"/>
              <a:sym typeface="Open Sans"/>
            </a:endParaRPr>
          </a:p>
        </p:txBody>
      </p:sp>
      <p:sp>
        <p:nvSpPr>
          <p:cNvPr id="177" name="Google Shape;177;g38cbc66050f_1_21"/>
          <p:cNvSpPr txBox="1"/>
          <p:nvPr/>
        </p:nvSpPr>
        <p:spPr>
          <a:xfrm>
            <a:off x="265176" y="1416416"/>
            <a:ext cx="11146536" cy="1143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US" sz="2700" b="0" i="0" u="none" strike="noStrike" cap="none">
                <a:solidFill>
                  <a:schemeClr val="dk1"/>
                </a:solidFill>
                <a:latin typeface="Open Sans"/>
                <a:ea typeface="Open Sans"/>
                <a:cs typeface="Open Sans"/>
                <a:sym typeface="Open Sans"/>
              </a:rPr>
              <a:t>Who gets left out and why?</a:t>
            </a:r>
            <a:endParaRPr sz="2700" b="0" i="0" u="none" strike="noStrike" cap="none">
              <a:solidFill>
                <a:schemeClr val="dk1"/>
              </a:solidFill>
              <a:latin typeface="Open Sans"/>
              <a:ea typeface="Open Sans"/>
              <a:cs typeface="Open Sans"/>
              <a:sym typeface="Open Sans"/>
            </a:endParaRPr>
          </a:p>
          <a:p>
            <a:pPr marL="0" marR="0" lvl="0" indent="0" algn="ctr" rtl="0">
              <a:lnSpc>
                <a:spcPct val="100000"/>
              </a:lnSpc>
              <a:spcBef>
                <a:spcPts val="0"/>
              </a:spcBef>
              <a:spcAft>
                <a:spcPts val="0"/>
              </a:spcAft>
              <a:buNone/>
            </a:pPr>
            <a:r>
              <a:rPr lang="en-US" sz="2700" b="0" i="0" u="none" strike="noStrike" cap="none">
                <a:solidFill>
                  <a:schemeClr val="dk1"/>
                </a:solidFill>
                <a:latin typeface="Open Sans"/>
                <a:ea typeface="Open Sans"/>
                <a:cs typeface="Open Sans"/>
                <a:sym typeface="Open Sans"/>
              </a:rPr>
              <a:t>How does this reflect disparities/biases in society?</a:t>
            </a:r>
            <a:endParaRPr sz="2700" b="0" i="0" u="none" strike="noStrike" cap="none">
              <a:solidFill>
                <a:schemeClr val="dk1"/>
              </a:solidFill>
              <a:latin typeface="Open Sans"/>
              <a:ea typeface="Open Sans"/>
              <a:cs typeface="Open Sans"/>
              <a:sym typeface="Open Sans"/>
            </a:endParaRPr>
          </a:p>
        </p:txBody>
      </p:sp>
      <p:pic>
        <p:nvPicPr>
          <p:cNvPr id="178" name="Google Shape;178;g38cbc66050f_1_21"/>
          <p:cNvPicPr preferRelativeResize="0"/>
          <p:nvPr/>
        </p:nvPicPr>
        <p:blipFill rotWithShape="1">
          <a:blip r:embed="rId3">
            <a:alphaModFix/>
          </a:blip>
          <a:srcRect/>
          <a:stretch/>
        </p:blipFill>
        <p:spPr>
          <a:xfrm>
            <a:off x="3134151" y="2824203"/>
            <a:ext cx="2852519" cy="3510204"/>
          </a:xfrm>
          <a:prstGeom prst="rect">
            <a:avLst/>
          </a:prstGeom>
          <a:noFill/>
          <a:ln>
            <a:noFill/>
          </a:ln>
        </p:spPr>
      </p:pic>
      <p:sp>
        <p:nvSpPr>
          <p:cNvPr id="2" name="Slide Number Placeholder 1">
            <a:extLst>
              <a:ext uri="{FF2B5EF4-FFF2-40B4-BE49-F238E27FC236}">
                <a16:creationId xmlns:a16="http://schemas.microsoft.com/office/drawing/2014/main" id="{AF4F1B77-C2DA-F002-F071-0C01D1AF45A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37c71f74161_0_24"/>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a:solidFill>
                  <a:srgbClr val="001C84"/>
                </a:solidFill>
                <a:latin typeface="Open Sans"/>
                <a:ea typeface="Open Sans"/>
                <a:cs typeface="Open Sans"/>
                <a:sym typeface="Open Sans"/>
              </a:rPr>
              <a:t>Who is missing in the data?</a:t>
            </a:r>
            <a:endParaRPr b="1">
              <a:solidFill>
                <a:srgbClr val="001C84"/>
              </a:solidFill>
              <a:latin typeface="Open Sans"/>
              <a:ea typeface="Open Sans"/>
              <a:cs typeface="Open Sans"/>
              <a:sym typeface="Open Sans"/>
            </a:endParaRPr>
          </a:p>
        </p:txBody>
      </p:sp>
      <p:sp>
        <p:nvSpPr>
          <p:cNvPr id="185" name="Google Shape;185;g37c71f74161_0_24"/>
          <p:cNvSpPr>
            <a:spLocks noGrp="1"/>
          </p:cNvSpPr>
          <p:nvPr>
            <p:ph type="body" idx="1"/>
          </p:nvPr>
        </p:nvSpPr>
        <p:spPr>
          <a:xfrm>
            <a:off x="1323528" y="1533010"/>
            <a:ext cx="4446336" cy="3700200"/>
          </a:xfrm>
          <a:prstGeom prst="wedgeRoundRectCallout">
            <a:avLst>
              <a:gd name="adj1" fmla="val -20927"/>
              <a:gd name="adj2" fmla="val 61810"/>
              <a:gd name="adj3" fmla="val 0"/>
            </a:avLst>
          </a:prstGeom>
          <a:solidFill>
            <a:srgbClr val="FFDC5D"/>
          </a:solidFill>
          <a:ln>
            <a:noFill/>
          </a:ln>
        </p:spPr>
        <p:txBody>
          <a:bodyPr spcFirstLastPara="1" wrap="square" lIns="91425" tIns="91425" rIns="91425" bIns="91425" anchor="ctr" anchorCtr="0">
            <a:normAutofit/>
          </a:bodyPr>
          <a:lstStyle/>
          <a:p>
            <a:pPr marL="0" lvl="0" indent="0" algn="ctr" rtl="0">
              <a:lnSpc>
                <a:spcPct val="115000"/>
              </a:lnSpc>
              <a:spcBef>
                <a:spcPts val="0"/>
              </a:spcBef>
              <a:spcAft>
                <a:spcPts val="0"/>
              </a:spcAft>
              <a:buSzPts val="1800"/>
              <a:buNone/>
            </a:pPr>
            <a:r>
              <a:rPr lang="en-US" sz="1800" b="1" dirty="0">
                <a:solidFill>
                  <a:srgbClr val="001B83"/>
                </a:solidFill>
                <a:latin typeface="Open Sans"/>
                <a:ea typeface="Open Sans"/>
                <a:cs typeface="Open Sans"/>
                <a:sym typeface="Open Sans"/>
              </a:rPr>
              <a:t>“</a:t>
            </a:r>
            <a:r>
              <a:rPr lang="en-US" sz="1800" b="1" i="1" dirty="0">
                <a:solidFill>
                  <a:srgbClr val="001B83"/>
                </a:solidFill>
                <a:latin typeface="Open Sans"/>
                <a:ea typeface="Open Sans"/>
                <a:cs typeface="Open Sans"/>
                <a:sym typeface="Open Sans"/>
              </a:rPr>
              <a:t>Your mental health comes first. If you’re not there, then you’re not going to actively seek help…your mental state should be taken care of because we can put people in houses or put them in shelters. But are they actively working with the psychiatrist? Are they actively working with the mental health [system]</a:t>
            </a:r>
            <a:r>
              <a:rPr lang="en-US" sz="1800" b="1" dirty="0">
                <a:solidFill>
                  <a:srgbClr val="001B83"/>
                </a:solidFill>
                <a:latin typeface="Open Sans"/>
                <a:ea typeface="Open Sans"/>
                <a:cs typeface="Open Sans"/>
                <a:sym typeface="Open Sans"/>
              </a:rPr>
              <a:t>” </a:t>
            </a:r>
            <a:endParaRPr sz="3400" dirty="0"/>
          </a:p>
          <a:p>
            <a:pPr marL="0" lvl="0" indent="0" algn="ctr" rtl="0">
              <a:lnSpc>
                <a:spcPct val="115000"/>
              </a:lnSpc>
              <a:spcBef>
                <a:spcPts val="0"/>
              </a:spcBef>
              <a:spcAft>
                <a:spcPts val="0"/>
              </a:spcAft>
              <a:buSzPts val="1800"/>
              <a:buNone/>
            </a:pPr>
            <a:r>
              <a:rPr lang="en-US" sz="1800" b="1" dirty="0">
                <a:solidFill>
                  <a:srgbClr val="001B83"/>
                </a:solidFill>
                <a:latin typeface="Open Sans"/>
                <a:ea typeface="Open Sans"/>
                <a:cs typeface="Open Sans"/>
                <a:sym typeface="Open Sans"/>
              </a:rPr>
              <a:t>- Data Chat participant</a:t>
            </a:r>
            <a:endParaRPr sz="3400" dirty="0"/>
          </a:p>
        </p:txBody>
      </p:sp>
      <p:pic>
        <p:nvPicPr>
          <p:cNvPr id="186" name="Google Shape;186;g37c71f74161_0_24"/>
          <p:cNvPicPr preferRelativeResize="0"/>
          <p:nvPr/>
        </p:nvPicPr>
        <p:blipFill rotWithShape="1">
          <a:blip r:embed="rId3">
            <a:alphaModFix/>
          </a:blip>
          <a:srcRect/>
          <a:stretch/>
        </p:blipFill>
        <p:spPr>
          <a:xfrm>
            <a:off x="6838050" y="1307920"/>
            <a:ext cx="3372750" cy="4150381"/>
          </a:xfrm>
          <a:prstGeom prst="rect">
            <a:avLst/>
          </a:prstGeom>
          <a:noFill/>
          <a:ln>
            <a:noFill/>
          </a:ln>
        </p:spPr>
      </p:pic>
      <p:sp>
        <p:nvSpPr>
          <p:cNvPr id="187" name="Google Shape;187;g37c71f74161_0_24"/>
          <p:cNvSpPr txBox="1"/>
          <p:nvPr/>
        </p:nvSpPr>
        <p:spPr>
          <a:xfrm>
            <a:off x="1719072" y="5906848"/>
            <a:ext cx="9756648" cy="5847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dirty="0">
                <a:solidFill>
                  <a:srgbClr val="000000"/>
                </a:solidFill>
                <a:latin typeface="Open Sans"/>
                <a:ea typeface="Open Sans"/>
                <a:cs typeface="Open Sans"/>
                <a:sym typeface="Open Sans"/>
              </a:rPr>
              <a:t>The potential negative relation between health issues and shelter is consistent with experiential knowledge about most vulnerable people being reluctant or unable to access homeless services. </a:t>
            </a:r>
            <a:endParaRPr sz="1400" b="0" i="0" u="none" strike="noStrike" cap="none" dirty="0">
              <a:solidFill>
                <a:srgbClr val="000000"/>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84BE42D1-20C9-FD36-AB84-FB522D74F0D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g37c71f74161_0_12"/>
          <p:cNvSpPr txBox="1">
            <a:spLocks noGrp="1"/>
          </p:cNvSpPr>
          <p:nvPr>
            <p:ph type="title"/>
          </p:nvPr>
        </p:nvSpPr>
        <p:spPr>
          <a:xfrm>
            <a:off x="173736" y="274638"/>
            <a:ext cx="11439144"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990"/>
              <a:buNone/>
            </a:pPr>
            <a:r>
              <a:rPr lang="en-US" sz="3359" b="1">
                <a:solidFill>
                  <a:srgbClr val="001C84"/>
                </a:solidFill>
                <a:latin typeface="Open Sans"/>
                <a:ea typeface="Open Sans"/>
                <a:cs typeface="Open Sans"/>
                <a:sym typeface="Open Sans"/>
              </a:rPr>
              <a:t>Label Bias in Homelessness Research:</a:t>
            </a:r>
            <a:br>
              <a:rPr lang="en-US" sz="3359" b="1">
                <a:solidFill>
                  <a:srgbClr val="001C84"/>
                </a:solidFill>
                <a:latin typeface="Open Sans"/>
                <a:ea typeface="Open Sans"/>
                <a:cs typeface="Open Sans"/>
                <a:sym typeface="Open Sans"/>
              </a:rPr>
            </a:br>
            <a:r>
              <a:rPr lang="en-US" sz="3359" b="1">
                <a:solidFill>
                  <a:srgbClr val="001C84"/>
                </a:solidFill>
                <a:latin typeface="Open Sans"/>
                <a:ea typeface="Open Sans"/>
                <a:cs typeface="Open Sans"/>
                <a:sym typeface="Open Sans"/>
              </a:rPr>
              <a:t>Insights from Data Chat Participants</a:t>
            </a:r>
            <a:endParaRPr sz="3359" b="1">
              <a:solidFill>
                <a:srgbClr val="001C84"/>
              </a:solidFill>
              <a:latin typeface="Open Sans"/>
              <a:ea typeface="Open Sans"/>
              <a:cs typeface="Open Sans"/>
              <a:sym typeface="Open Sans"/>
            </a:endParaRPr>
          </a:p>
        </p:txBody>
      </p:sp>
      <p:sp>
        <p:nvSpPr>
          <p:cNvPr id="194" name="Google Shape;194;g37c71f74161_0_12"/>
          <p:cNvSpPr txBox="1">
            <a:spLocks noGrp="1"/>
          </p:cNvSpPr>
          <p:nvPr>
            <p:ph type="body" idx="1"/>
          </p:nvPr>
        </p:nvSpPr>
        <p:spPr>
          <a:xfrm>
            <a:off x="877824" y="1600199"/>
            <a:ext cx="10341864" cy="4040109"/>
          </a:xfrm>
          <a:prstGeom prst="rect">
            <a:avLst/>
          </a:prstGeom>
          <a:noFill/>
          <a:ln>
            <a:noFill/>
          </a:ln>
        </p:spPr>
        <p:txBody>
          <a:bodyPr spcFirstLastPara="1" wrap="square" lIns="91425" tIns="45700" rIns="91425" bIns="45700" anchor="t" anchorCtr="0">
            <a:normAutofit fontScale="85000" lnSpcReduction="20000"/>
          </a:bodyPr>
          <a:lstStyle/>
          <a:p>
            <a:pPr marL="599440" lvl="0" indent="-457200" algn="l" rtl="0">
              <a:lnSpc>
                <a:spcPct val="100000"/>
              </a:lnSpc>
              <a:spcBef>
                <a:spcPts val="1000"/>
              </a:spcBef>
              <a:spcAft>
                <a:spcPts val="0"/>
              </a:spcAft>
              <a:buSzPct val="53333"/>
              <a:buFont typeface="Arial" panose="020B0604020202020204" pitchFamily="34" charset="0"/>
              <a:buChar char="•"/>
            </a:pPr>
            <a:r>
              <a:rPr lang="en-US" sz="3000" dirty="0">
                <a:latin typeface="Open Sans"/>
                <a:ea typeface="Open Sans"/>
                <a:cs typeface="Open Sans"/>
                <a:sym typeface="Open Sans"/>
              </a:rPr>
              <a:t>Why would someone experiencing homelessness NOT seek shelter? (and subsequently not appear in our model)</a:t>
            </a:r>
            <a:endParaRPr sz="3000" dirty="0">
              <a:latin typeface="Open Sans"/>
              <a:ea typeface="Open Sans"/>
              <a:cs typeface="Open Sans"/>
              <a:sym typeface="Open Sans"/>
            </a:endParaRPr>
          </a:p>
          <a:p>
            <a:pPr marL="1056640" lvl="1" indent="-457200" algn="l" rtl="0">
              <a:lnSpc>
                <a:spcPct val="100000"/>
              </a:lnSpc>
              <a:spcBef>
                <a:spcPts val="1000"/>
              </a:spcBef>
              <a:spcAft>
                <a:spcPts val="0"/>
              </a:spcAft>
              <a:buSzPct val="61538"/>
              <a:buFont typeface="Arial" panose="020B0604020202020204" pitchFamily="34" charset="0"/>
              <a:buChar char="•"/>
            </a:pPr>
            <a:r>
              <a:rPr lang="en-US" sz="2600" b="1" dirty="0">
                <a:solidFill>
                  <a:srgbClr val="001C84"/>
                </a:solidFill>
                <a:latin typeface="Open Sans"/>
                <a:ea typeface="Open Sans"/>
                <a:cs typeface="Open Sans"/>
                <a:sym typeface="Open Sans"/>
              </a:rPr>
              <a:t>Safety</a:t>
            </a:r>
            <a:r>
              <a:rPr lang="en-US" sz="2600" dirty="0">
                <a:latin typeface="Open Sans"/>
                <a:ea typeface="Open Sans"/>
                <a:cs typeface="Open Sans"/>
                <a:sym typeface="Open Sans"/>
              </a:rPr>
              <a:t>, especially if LGBTQ+ options are not available</a:t>
            </a:r>
          </a:p>
          <a:p>
            <a:pPr marL="1056640" lvl="1" indent="-457200" algn="l" rtl="0">
              <a:lnSpc>
                <a:spcPct val="100000"/>
              </a:lnSpc>
              <a:spcBef>
                <a:spcPts val="1000"/>
              </a:spcBef>
              <a:spcAft>
                <a:spcPts val="0"/>
              </a:spcAft>
              <a:buSzPct val="61538"/>
              <a:buFont typeface="Arial" panose="020B0604020202020204" pitchFamily="34" charset="0"/>
              <a:buChar char="•"/>
            </a:pPr>
            <a:r>
              <a:rPr lang="en-US" sz="2600" b="1" dirty="0">
                <a:solidFill>
                  <a:srgbClr val="001C84"/>
                </a:solidFill>
                <a:latin typeface="Open Sans"/>
                <a:ea typeface="Open Sans"/>
                <a:cs typeface="Open Sans"/>
                <a:sym typeface="Open Sans"/>
              </a:rPr>
              <a:t>Stigma</a:t>
            </a:r>
          </a:p>
          <a:p>
            <a:pPr marL="1513840" lvl="2" indent="-457200">
              <a:spcBef>
                <a:spcPts val="1000"/>
              </a:spcBef>
              <a:buSzPct val="61538"/>
              <a:buFont typeface="Arial" panose="020B0604020202020204" pitchFamily="34" charset="0"/>
              <a:buChar char="•"/>
            </a:pPr>
            <a:r>
              <a:rPr lang="en-US" sz="1800" dirty="0">
                <a:latin typeface="Open Sans"/>
                <a:ea typeface="Open Sans"/>
                <a:cs typeface="Open Sans"/>
                <a:sym typeface="Open Sans"/>
              </a:rPr>
              <a:t>Jesse was struggling to decide if she should seek shelter because of both her safety as a trans woman and the social stigma that oftentimes accompanies marginalized gender identities</a:t>
            </a:r>
            <a:endParaRPr sz="1800" dirty="0">
              <a:latin typeface="Open Sans"/>
              <a:ea typeface="Open Sans"/>
              <a:cs typeface="Open Sans"/>
              <a:sym typeface="Open Sans"/>
            </a:endParaRPr>
          </a:p>
          <a:p>
            <a:pPr marL="1056640" lvl="1" indent="-457200" algn="l" rtl="0">
              <a:lnSpc>
                <a:spcPct val="100000"/>
              </a:lnSpc>
              <a:spcBef>
                <a:spcPts val="1000"/>
              </a:spcBef>
              <a:spcAft>
                <a:spcPts val="0"/>
              </a:spcAft>
              <a:buSzPct val="61538"/>
              <a:buFont typeface="Arial" panose="020B0604020202020204" pitchFamily="34" charset="0"/>
              <a:buChar char="•"/>
            </a:pPr>
            <a:r>
              <a:rPr lang="en-US" sz="2600" b="1" dirty="0">
                <a:solidFill>
                  <a:srgbClr val="001C84"/>
                </a:solidFill>
                <a:latin typeface="Open Sans"/>
                <a:ea typeface="Open Sans"/>
                <a:cs typeface="Open Sans"/>
                <a:sym typeface="Open Sans"/>
              </a:rPr>
              <a:t>Mental health</a:t>
            </a:r>
          </a:p>
          <a:p>
            <a:pPr marL="1056640" lvl="1" indent="-457200" algn="l" rtl="0">
              <a:lnSpc>
                <a:spcPct val="100000"/>
              </a:lnSpc>
              <a:spcBef>
                <a:spcPts val="1000"/>
              </a:spcBef>
              <a:spcAft>
                <a:spcPts val="0"/>
              </a:spcAft>
              <a:buSzPct val="61538"/>
              <a:buFont typeface="Arial" panose="020B0604020202020204" pitchFamily="34" charset="0"/>
              <a:buChar char="•"/>
            </a:pPr>
            <a:r>
              <a:rPr lang="en-US" sz="2600" dirty="0">
                <a:latin typeface="Open Sans"/>
                <a:ea typeface="Open Sans"/>
                <a:cs typeface="Open Sans"/>
                <a:sym typeface="Open Sans"/>
              </a:rPr>
              <a:t>Connection / support /Lack of relational component, feel like “just a number”</a:t>
            </a:r>
            <a:endParaRPr sz="2600" dirty="0">
              <a:latin typeface="Open Sans"/>
              <a:ea typeface="Open Sans"/>
              <a:cs typeface="Open Sans"/>
              <a:sym typeface="Open Sans"/>
            </a:endParaRPr>
          </a:p>
          <a:p>
            <a:pPr marL="1056640" lvl="1" indent="-457200" algn="l" rtl="0">
              <a:lnSpc>
                <a:spcPct val="100000"/>
              </a:lnSpc>
              <a:spcBef>
                <a:spcPts val="1000"/>
              </a:spcBef>
              <a:spcAft>
                <a:spcPts val="1000"/>
              </a:spcAft>
              <a:buSzPct val="61538"/>
              <a:buFont typeface="Arial" panose="020B0604020202020204" pitchFamily="34" charset="0"/>
              <a:buChar char="•"/>
            </a:pPr>
            <a:r>
              <a:rPr lang="en-US" sz="2600" dirty="0">
                <a:latin typeface="Open Sans"/>
                <a:ea typeface="Open Sans"/>
                <a:cs typeface="Open Sans"/>
                <a:sym typeface="Open Sans"/>
              </a:rPr>
              <a:t>Services may not be </a:t>
            </a:r>
            <a:r>
              <a:rPr lang="en-US" sz="2600" b="1" dirty="0">
                <a:solidFill>
                  <a:srgbClr val="001C84"/>
                </a:solidFill>
                <a:latin typeface="Open Sans"/>
                <a:ea typeface="Open Sans"/>
                <a:cs typeface="Open Sans"/>
                <a:sym typeface="Open Sans"/>
              </a:rPr>
              <a:t>accessible</a:t>
            </a:r>
            <a:endParaRPr sz="2600" dirty="0">
              <a:solidFill>
                <a:srgbClr val="001C84"/>
              </a:solidFill>
              <a:latin typeface="Open Sans"/>
              <a:ea typeface="Open Sans"/>
              <a:cs typeface="Open Sans"/>
              <a:sym typeface="Open Sans"/>
            </a:endParaRPr>
          </a:p>
        </p:txBody>
      </p:sp>
      <p:sp>
        <p:nvSpPr>
          <p:cNvPr id="195" name="Google Shape;195;g37c71f74161_0_12"/>
          <p:cNvSpPr/>
          <p:nvPr/>
        </p:nvSpPr>
        <p:spPr>
          <a:xfrm>
            <a:off x="6406650" y="5015700"/>
            <a:ext cx="3588600" cy="1530300"/>
          </a:xfrm>
          <a:prstGeom prst="wedgeRoundRectCallout">
            <a:avLst>
              <a:gd name="adj1" fmla="val -20927"/>
              <a:gd name="adj2" fmla="val 61810"/>
              <a:gd name="adj3" fmla="val 0"/>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600" b="1" i="0" u="none" strike="noStrike" cap="none">
                <a:solidFill>
                  <a:srgbClr val="001B83"/>
                </a:solidFill>
                <a:latin typeface="Open Sans"/>
                <a:ea typeface="Open Sans"/>
                <a:cs typeface="Open Sans"/>
                <a:sym typeface="Open Sans"/>
              </a:rPr>
              <a:t>“</a:t>
            </a:r>
            <a:r>
              <a:rPr lang="en-US" sz="1600" b="1" i="1" u="none" strike="noStrike" cap="none">
                <a:solidFill>
                  <a:srgbClr val="001B83"/>
                </a:solidFill>
                <a:latin typeface="Open Sans"/>
                <a:ea typeface="Open Sans"/>
                <a:cs typeface="Open Sans"/>
                <a:sym typeface="Open Sans"/>
              </a:rPr>
              <a:t>The worst thing is that you share your information with somebody and instead of them helping you, they’re judging and categorizing you.</a:t>
            </a:r>
            <a:r>
              <a:rPr lang="en-US" sz="1600" b="1" i="0" u="none" strike="noStrike" cap="none">
                <a:solidFill>
                  <a:srgbClr val="001B83"/>
                </a:solidFill>
                <a:latin typeface="Open Sans"/>
                <a:ea typeface="Open Sans"/>
                <a:cs typeface="Open Sans"/>
                <a:sym typeface="Open Sans"/>
              </a:rPr>
              <a:t>” - Data Chat participant</a:t>
            </a:r>
            <a:endParaRPr sz="1400" b="0" i="0" u="none" strike="noStrike" cap="none">
              <a:solidFill>
                <a:srgbClr val="000000"/>
              </a:solidFill>
              <a:latin typeface="Calibri"/>
              <a:ea typeface="Calibri"/>
              <a:cs typeface="Calibri"/>
              <a:sym typeface="Calibri"/>
            </a:endParaRPr>
          </a:p>
        </p:txBody>
      </p:sp>
      <p:sp>
        <p:nvSpPr>
          <p:cNvPr id="2" name="Slide Number Placeholder 1">
            <a:extLst>
              <a:ext uri="{FF2B5EF4-FFF2-40B4-BE49-F238E27FC236}">
                <a16:creationId xmlns:a16="http://schemas.microsoft.com/office/drawing/2014/main" id="{3F368806-62F5-99B8-CA56-562FB54402D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4"/>
          <p:cNvSpPr txBox="1">
            <a:spLocks noGrp="1"/>
          </p:cNvSpPr>
          <p:nvPr>
            <p:ph type="title"/>
          </p:nvPr>
        </p:nvSpPr>
        <p:spPr>
          <a:xfrm>
            <a:off x="3069220" y="201018"/>
            <a:ext cx="762926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45454"/>
              <a:buNone/>
            </a:pPr>
            <a:r>
              <a:rPr lang="en-US" b="1" dirty="0">
                <a:solidFill>
                  <a:srgbClr val="001C84"/>
                </a:solidFill>
                <a:latin typeface="Open Sans"/>
                <a:ea typeface="Open Sans"/>
                <a:cs typeface="Open Sans"/>
                <a:sym typeface="Open Sans"/>
              </a:rPr>
              <a:t>Simulated Data Example - I</a:t>
            </a:r>
            <a:endParaRPr b="1" dirty="0">
              <a:solidFill>
                <a:srgbClr val="001C84"/>
              </a:solidFill>
              <a:latin typeface="Open Sans"/>
              <a:ea typeface="Open Sans"/>
              <a:cs typeface="Open Sans"/>
              <a:sym typeface="Open Sans"/>
            </a:endParaRPr>
          </a:p>
        </p:txBody>
      </p:sp>
      <p:sp>
        <p:nvSpPr>
          <p:cNvPr id="201" name="Google Shape;201;p14"/>
          <p:cNvSpPr txBox="1">
            <a:spLocks noGrp="1"/>
          </p:cNvSpPr>
          <p:nvPr>
            <p:ph type="body" idx="1"/>
          </p:nvPr>
        </p:nvSpPr>
        <p:spPr>
          <a:xfrm>
            <a:off x="980820" y="2125764"/>
            <a:ext cx="10549764" cy="2139381"/>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SzPts val="1800"/>
              <a:buFont typeface="Arial"/>
              <a:buChar char="•"/>
            </a:pPr>
            <a:r>
              <a:rPr lang="en-US" sz="2400" dirty="0">
                <a:latin typeface="Open Sans"/>
                <a:ea typeface="Open Sans"/>
                <a:cs typeface="Open Sans"/>
                <a:sym typeface="Open Sans"/>
              </a:rPr>
              <a:t>To see how label bias arises in the analysis, we </a:t>
            </a:r>
            <a:r>
              <a:rPr lang="en-US" sz="2400" b="1" dirty="0">
                <a:solidFill>
                  <a:srgbClr val="001C84"/>
                </a:solidFill>
                <a:latin typeface="Open Sans"/>
                <a:ea typeface="Open Sans"/>
                <a:cs typeface="Open Sans"/>
                <a:sym typeface="Open Sans"/>
              </a:rPr>
              <a:t>simulate individual-level data</a:t>
            </a:r>
            <a:r>
              <a:rPr lang="en-US" sz="2400" dirty="0">
                <a:latin typeface="Open Sans"/>
                <a:ea typeface="Open Sans"/>
                <a:cs typeface="Open Sans"/>
                <a:sym typeface="Open Sans"/>
              </a:rPr>
              <a:t> on people’s experience of poverty, health issues, homelessness, and shelter stay</a:t>
            </a:r>
            <a:endParaRPr dirty="0"/>
          </a:p>
        </p:txBody>
      </p:sp>
      <p:pic>
        <p:nvPicPr>
          <p:cNvPr id="202" name="Google Shape;202;p14"/>
          <p:cNvPicPr preferRelativeResize="0"/>
          <p:nvPr/>
        </p:nvPicPr>
        <p:blipFill rotWithShape="1">
          <a:blip r:embed="rId3">
            <a:alphaModFix/>
          </a:blip>
          <a:srcRect/>
          <a:stretch/>
        </p:blipFill>
        <p:spPr>
          <a:xfrm>
            <a:off x="1645533" y="40135"/>
            <a:ext cx="1261641" cy="1551385"/>
          </a:xfrm>
          <a:prstGeom prst="rect">
            <a:avLst/>
          </a:prstGeom>
          <a:noFill/>
          <a:ln>
            <a:noFill/>
          </a:ln>
        </p:spPr>
      </p:pic>
      <p:graphicFrame>
        <p:nvGraphicFramePr>
          <p:cNvPr id="203" name="Google Shape;203;p14"/>
          <p:cNvGraphicFramePr/>
          <p:nvPr/>
        </p:nvGraphicFramePr>
        <p:xfrm>
          <a:off x="1991019" y="3872289"/>
          <a:ext cx="8209975" cy="1854250"/>
        </p:xfrm>
        <a:graphic>
          <a:graphicData uri="http://schemas.openxmlformats.org/drawingml/2006/table">
            <a:tbl>
              <a:tblPr firstRow="1" bandRow="1">
                <a:noFill/>
                <a:tableStyleId>{9D435500-5119-4B6E-8458-99270D50C21A}</a:tableStyleId>
              </a:tblPr>
              <a:tblGrid>
                <a:gridCol w="2003625">
                  <a:extLst>
                    <a:ext uri="{9D8B030D-6E8A-4147-A177-3AD203B41FA5}">
                      <a16:colId xmlns:a16="http://schemas.microsoft.com/office/drawing/2014/main" val="20000"/>
                    </a:ext>
                  </a:extLst>
                </a:gridCol>
                <a:gridCol w="2151850">
                  <a:extLst>
                    <a:ext uri="{9D8B030D-6E8A-4147-A177-3AD203B41FA5}">
                      <a16:colId xmlns:a16="http://schemas.microsoft.com/office/drawing/2014/main" val="20001"/>
                    </a:ext>
                  </a:extLst>
                </a:gridCol>
                <a:gridCol w="4054500">
                  <a:extLst>
                    <a:ext uri="{9D8B030D-6E8A-4147-A177-3AD203B41FA5}">
                      <a16:colId xmlns:a16="http://schemas.microsoft.com/office/drawing/2014/main" val="20002"/>
                    </a:ext>
                  </a:extLst>
                </a:gridCol>
              </a:tblGrid>
              <a:tr h="370850">
                <a:tc>
                  <a:txBody>
                    <a:bodyPr/>
                    <a:lstStyle/>
                    <a:p>
                      <a:pPr marL="0" marR="0" lvl="0" indent="0" algn="ctr" rtl="0">
                        <a:lnSpc>
                          <a:spcPct val="100000"/>
                        </a:lnSpc>
                        <a:spcBef>
                          <a:spcPts val="0"/>
                        </a:spcBef>
                        <a:spcAft>
                          <a:spcPts val="0"/>
                        </a:spcAft>
                        <a:buNone/>
                      </a:pPr>
                      <a:r>
                        <a:rPr lang="en-US" sz="1800" u="none" strike="noStrike" cap="none">
                          <a:latin typeface="Open Sans"/>
                          <a:ea typeface="Open Sans"/>
                          <a:cs typeface="Open Sans"/>
                          <a:sym typeface="Open Sans"/>
                        </a:rPr>
                        <a:t>Variable Name</a:t>
                      </a:r>
                      <a:endParaRPr/>
                    </a:p>
                  </a:txBody>
                  <a:tcPr marL="91450" marR="91450" marT="45725" marB="45725" anchor="ctr">
                    <a:solidFill>
                      <a:srgbClr val="FFA500"/>
                    </a:solidFill>
                  </a:tcPr>
                </a:tc>
                <a:tc>
                  <a:txBody>
                    <a:bodyPr/>
                    <a:lstStyle/>
                    <a:p>
                      <a:pPr marL="0" marR="0" lvl="0" indent="0" algn="ctr" rtl="0">
                        <a:lnSpc>
                          <a:spcPct val="100000"/>
                        </a:lnSpc>
                        <a:spcBef>
                          <a:spcPts val="0"/>
                        </a:spcBef>
                        <a:spcAft>
                          <a:spcPts val="0"/>
                        </a:spcAft>
                        <a:buNone/>
                      </a:pPr>
                      <a:r>
                        <a:rPr lang="en-US" sz="1800" u="none" strike="noStrike" cap="none">
                          <a:latin typeface="Open Sans"/>
                          <a:ea typeface="Open Sans"/>
                          <a:cs typeface="Open Sans"/>
                          <a:sym typeface="Open Sans"/>
                        </a:rPr>
                        <a:t>Type of Variable</a:t>
                      </a:r>
                      <a:endParaRPr/>
                    </a:p>
                  </a:txBody>
                  <a:tcPr marL="91450" marR="91450" marT="45725" marB="45725" anchor="ctr">
                    <a:solidFill>
                      <a:srgbClr val="FFA500"/>
                    </a:solidFill>
                  </a:tcPr>
                </a:tc>
                <a:tc>
                  <a:txBody>
                    <a:bodyPr/>
                    <a:lstStyle/>
                    <a:p>
                      <a:pPr marL="0" marR="0" lvl="0" indent="0" algn="ctr" rtl="0">
                        <a:lnSpc>
                          <a:spcPct val="100000"/>
                        </a:lnSpc>
                        <a:spcBef>
                          <a:spcPts val="0"/>
                        </a:spcBef>
                        <a:spcAft>
                          <a:spcPts val="0"/>
                        </a:spcAft>
                        <a:buNone/>
                      </a:pPr>
                      <a:r>
                        <a:rPr lang="en-US" sz="1800" u="none" strike="noStrike" cap="none">
                          <a:latin typeface="Open Sans"/>
                          <a:ea typeface="Open Sans"/>
                          <a:cs typeface="Open Sans"/>
                          <a:sym typeface="Open Sans"/>
                        </a:rPr>
                        <a:t>Meaning</a:t>
                      </a:r>
                      <a:endParaRPr/>
                    </a:p>
                  </a:txBody>
                  <a:tcPr marL="91450" marR="91450" marT="45725" marB="45725" anchor="ctr">
                    <a:solidFill>
                      <a:srgbClr val="FFA500"/>
                    </a:solidFill>
                  </a:tcPr>
                </a:tc>
                <a:extLst>
                  <a:ext uri="{0D108BD9-81ED-4DB2-BD59-A6C34878D82A}">
                    <a16:rowId xmlns:a16="http://schemas.microsoft.com/office/drawing/2014/main" val="10000"/>
                  </a:ext>
                </a:extLst>
              </a:tr>
              <a:tr h="370850">
                <a:tc>
                  <a:txBody>
                    <a:bodyPr/>
                    <a:lstStyle/>
                    <a:p>
                      <a:pPr marL="0" marR="0" lvl="0" indent="0" algn="ctr" rtl="0">
                        <a:lnSpc>
                          <a:spcPct val="100000"/>
                        </a:lnSpc>
                        <a:spcBef>
                          <a:spcPts val="0"/>
                        </a:spcBef>
                        <a:spcAft>
                          <a:spcPts val="0"/>
                        </a:spcAft>
                        <a:buNone/>
                      </a:pPr>
                      <a:r>
                        <a:rPr lang="en-US" sz="1800" u="none" strike="noStrike" cap="none">
                          <a:latin typeface="Open Sans"/>
                          <a:ea typeface="Open Sans"/>
                          <a:cs typeface="Open Sans"/>
                          <a:sym typeface="Open Sans"/>
                        </a:rPr>
                        <a:t>Poverty</a:t>
                      </a:r>
                      <a:endParaRPr/>
                    </a:p>
                  </a:txBody>
                  <a:tcPr marL="91450" marR="91450" marT="45725" marB="45725" anchor="ctr">
                    <a:solidFill>
                      <a:srgbClr val="FFE2AF"/>
                    </a:solidFill>
                  </a:tcPr>
                </a:tc>
                <a:tc>
                  <a:txBody>
                    <a:bodyPr/>
                    <a:lstStyle/>
                    <a:p>
                      <a:pPr marL="0" marR="0" lvl="0" indent="0" algn="ctr" rtl="0">
                        <a:lnSpc>
                          <a:spcPct val="100000"/>
                        </a:lnSpc>
                        <a:spcBef>
                          <a:spcPts val="0"/>
                        </a:spcBef>
                        <a:spcAft>
                          <a:spcPts val="0"/>
                        </a:spcAft>
                        <a:buNone/>
                      </a:pPr>
                      <a:r>
                        <a:rPr lang="en-US" sz="1800" u="none" strike="noStrike" cap="none">
                          <a:latin typeface="Open Sans"/>
                          <a:ea typeface="Open Sans"/>
                          <a:cs typeface="Open Sans"/>
                          <a:sym typeface="Open Sans"/>
                        </a:rPr>
                        <a:t>Binary</a:t>
                      </a:r>
                      <a:endParaRPr/>
                    </a:p>
                  </a:txBody>
                  <a:tcPr marL="91450" marR="91450" marT="45725" marB="45725" anchor="ctr">
                    <a:solidFill>
                      <a:srgbClr val="FFE2AF"/>
                    </a:solidFill>
                  </a:tcPr>
                </a:tc>
                <a:tc>
                  <a:txBody>
                    <a:bodyPr/>
                    <a:lstStyle/>
                    <a:p>
                      <a:pPr marL="0" marR="0" lvl="0" indent="0" algn="ctr" rtl="0">
                        <a:lnSpc>
                          <a:spcPct val="100000"/>
                        </a:lnSpc>
                        <a:spcBef>
                          <a:spcPts val="0"/>
                        </a:spcBef>
                        <a:spcAft>
                          <a:spcPts val="0"/>
                        </a:spcAft>
                        <a:buNone/>
                      </a:pPr>
                      <a:r>
                        <a:rPr lang="en-US" sz="1800" u="none" strike="noStrike" cap="none">
                          <a:latin typeface="Open Sans"/>
                          <a:ea typeface="Open Sans"/>
                          <a:cs typeface="Open Sans"/>
                          <a:sym typeface="Open Sans"/>
                        </a:rPr>
                        <a:t>1 = Yes, 0 = No</a:t>
                      </a:r>
                      <a:endParaRPr/>
                    </a:p>
                  </a:txBody>
                  <a:tcPr marL="91450" marR="91450" marT="45725" marB="45725" anchor="ctr">
                    <a:solidFill>
                      <a:srgbClr val="FFE2AF"/>
                    </a:solidFill>
                  </a:tcPr>
                </a:tc>
                <a:extLst>
                  <a:ext uri="{0D108BD9-81ED-4DB2-BD59-A6C34878D82A}">
                    <a16:rowId xmlns:a16="http://schemas.microsoft.com/office/drawing/2014/main" val="10001"/>
                  </a:ext>
                </a:extLst>
              </a:tr>
              <a:tr h="370850">
                <a:tc>
                  <a:txBody>
                    <a:bodyPr/>
                    <a:lstStyle/>
                    <a:p>
                      <a:pPr marL="0" marR="0" lvl="0" indent="0" algn="ctr" rtl="0">
                        <a:lnSpc>
                          <a:spcPct val="100000"/>
                        </a:lnSpc>
                        <a:spcBef>
                          <a:spcPts val="0"/>
                        </a:spcBef>
                        <a:spcAft>
                          <a:spcPts val="0"/>
                        </a:spcAft>
                        <a:buNone/>
                      </a:pPr>
                      <a:r>
                        <a:rPr lang="en-US" sz="1800" u="none" strike="noStrike" cap="none">
                          <a:latin typeface="Open Sans"/>
                          <a:ea typeface="Open Sans"/>
                          <a:cs typeface="Open Sans"/>
                          <a:sym typeface="Open Sans"/>
                        </a:rPr>
                        <a:t>Health Score</a:t>
                      </a:r>
                      <a:endParaRPr/>
                    </a:p>
                  </a:txBody>
                  <a:tcPr marL="91450" marR="91450" marT="45725" marB="45725" anchor="ctr">
                    <a:solidFill>
                      <a:srgbClr val="FFE2AF"/>
                    </a:solidFill>
                  </a:tcPr>
                </a:tc>
                <a:tc>
                  <a:txBody>
                    <a:bodyPr/>
                    <a:lstStyle/>
                    <a:p>
                      <a:pPr marL="0" marR="0" lvl="0" indent="0" algn="ctr" rtl="0">
                        <a:lnSpc>
                          <a:spcPct val="100000"/>
                        </a:lnSpc>
                        <a:spcBef>
                          <a:spcPts val="0"/>
                        </a:spcBef>
                        <a:spcAft>
                          <a:spcPts val="0"/>
                        </a:spcAft>
                        <a:buNone/>
                      </a:pPr>
                      <a:r>
                        <a:rPr lang="en-US" sz="1800" u="none" strike="noStrike" cap="none">
                          <a:latin typeface="Open Sans"/>
                          <a:ea typeface="Open Sans"/>
                          <a:cs typeface="Open Sans"/>
                          <a:sym typeface="Open Sans"/>
                        </a:rPr>
                        <a:t>Continuous</a:t>
                      </a:r>
                      <a:endParaRPr/>
                    </a:p>
                  </a:txBody>
                  <a:tcPr marL="91450" marR="91450" marT="45725" marB="45725" anchor="ctr">
                    <a:solidFill>
                      <a:srgbClr val="FFE2AF"/>
                    </a:solidFill>
                  </a:tcPr>
                </a:tc>
                <a:tc>
                  <a:txBody>
                    <a:bodyPr/>
                    <a:lstStyle/>
                    <a:p>
                      <a:pPr marL="0" marR="0" lvl="0" indent="0" algn="ctr" rtl="0">
                        <a:lnSpc>
                          <a:spcPct val="100000"/>
                        </a:lnSpc>
                        <a:spcBef>
                          <a:spcPts val="0"/>
                        </a:spcBef>
                        <a:spcAft>
                          <a:spcPts val="0"/>
                        </a:spcAft>
                        <a:buNone/>
                      </a:pPr>
                      <a:r>
                        <a:rPr lang="en-US" sz="1800" u="none" strike="noStrike" cap="none">
                          <a:latin typeface="Open Sans"/>
                          <a:ea typeface="Open Sans"/>
                          <a:cs typeface="Open Sans"/>
                          <a:sym typeface="Open Sans"/>
                        </a:rPr>
                        <a:t>Higher Values = Worse Health Score</a:t>
                      </a:r>
                      <a:endParaRPr/>
                    </a:p>
                  </a:txBody>
                  <a:tcPr marL="91450" marR="91450" marT="45725" marB="45725" anchor="ctr">
                    <a:solidFill>
                      <a:srgbClr val="FFE2AF"/>
                    </a:solidFill>
                  </a:tcPr>
                </a:tc>
                <a:extLst>
                  <a:ext uri="{0D108BD9-81ED-4DB2-BD59-A6C34878D82A}">
                    <a16:rowId xmlns:a16="http://schemas.microsoft.com/office/drawing/2014/main" val="10002"/>
                  </a:ext>
                </a:extLst>
              </a:tr>
              <a:tr h="370850">
                <a:tc>
                  <a:txBody>
                    <a:bodyPr/>
                    <a:lstStyle/>
                    <a:p>
                      <a:pPr marL="0" marR="0" lvl="0" indent="0" algn="ctr" rtl="0">
                        <a:lnSpc>
                          <a:spcPct val="100000"/>
                        </a:lnSpc>
                        <a:spcBef>
                          <a:spcPts val="0"/>
                        </a:spcBef>
                        <a:spcAft>
                          <a:spcPts val="0"/>
                        </a:spcAft>
                        <a:buNone/>
                      </a:pPr>
                      <a:r>
                        <a:rPr lang="en-US" sz="1800" u="none" strike="noStrike" cap="none">
                          <a:latin typeface="Open Sans"/>
                          <a:ea typeface="Open Sans"/>
                          <a:cs typeface="Open Sans"/>
                          <a:sym typeface="Open Sans"/>
                        </a:rPr>
                        <a:t>Homelessness</a:t>
                      </a:r>
                      <a:endParaRPr/>
                    </a:p>
                  </a:txBody>
                  <a:tcPr marL="91450" marR="91450" marT="45725" marB="45725" anchor="ctr">
                    <a:solidFill>
                      <a:srgbClr val="FFE2AF"/>
                    </a:solidFill>
                  </a:tcPr>
                </a:tc>
                <a:tc>
                  <a:txBody>
                    <a:bodyPr/>
                    <a:lstStyle/>
                    <a:p>
                      <a:pPr marL="0" marR="0" lvl="0" indent="0" algn="ctr" rtl="0">
                        <a:lnSpc>
                          <a:spcPct val="100000"/>
                        </a:lnSpc>
                        <a:spcBef>
                          <a:spcPts val="0"/>
                        </a:spcBef>
                        <a:spcAft>
                          <a:spcPts val="0"/>
                        </a:spcAft>
                        <a:buNone/>
                      </a:pPr>
                      <a:r>
                        <a:rPr lang="en-US" sz="1800" u="none" strike="noStrike" cap="none">
                          <a:latin typeface="Open Sans"/>
                          <a:ea typeface="Open Sans"/>
                          <a:cs typeface="Open Sans"/>
                          <a:sym typeface="Open Sans"/>
                        </a:rPr>
                        <a:t>Binary</a:t>
                      </a:r>
                      <a:endParaRPr/>
                    </a:p>
                  </a:txBody>
                  <a:tcPr marL="91450" marR="91450" marT="45725" marB="45725" anchor="ctr">
                    <a:solidFill>
                      <a:srgbClr val="FFE2AF"/>
                    </a:solidFill>
                  </a:tcPr>
                </a:tc>
                <a:tc>
                  <a:txBody>
                    <a:bodyPr/>
                    <a:lstStyle/>
                    <a:p>
                      <a:pPr marL="0" marR="0" lvl="0" indent="0" algn="ctr" rtl="0">
                        <a:lnSpc>
                          <a:spcPct val="100000"/>
                        </a:lnSpc>
                        <a:spcBef>
                          <a:spcPts val="0"/>
                        </a:spcBef>
                        <a:spcAft>
                          <a:spcPts val="0"/>
                        </a:spcAft>
                        <a:buNone/>
                      </a:pPr>
                      <a:r>
                        <a:rPr lang="en-US" sz="1800" u="none" strike="noStrike" cap="none">
                          <a:latin typeface="Open Sans"/>
                          <a:ea typeface="Open Sans"/>
                          <a:cs typeface="Open Sans"/>
                          <a:sym typeface="Open Sans"/>
                        </a:rPr>
                        <a:t>1 = Yes, 0 = No</a:t>
                      </a:r>
                      <a:endParaRPr/>
                    </a:p>
                  </a:txBody>
                  <a:tcPr marL="91450" marR="91450" marT="45725" marB="45725" anchor="ctr">
                    <a:solidFill>
                      <a:srgbClr val="FFE2AF"/>
                    </a:solidFill>
                  </a:tcPr>
                </a:tc>
                <a:extLst>
                  <a:ext uri="{0D108BD9-81ED-4DB2-BD59-A6C34878D82A}">
                    <a16:rowId xmlns:a16="http://schemas.microsoft.com/office/drawing/2014/main" val="10003"/>
                  </a:ext>
                </a:extLst>
              </a:tr>
              <a:tr h="370850">
                <a:tc>
                  <a:txBody>
                    <a:bodyPr/>
                    <a:lstStyle/>
                    <a:p>
                      <a:pPr marL="0" marR="0" lvl="0" indent="0" algn="ctr" rtl="0">
                        <a:lnSpc>
                          <a:spcPct val="100000"/>
                        </a:lnSpc>
                        <a:spcBef>
                          <a:spcPts val="0"/>
                        </a:spcBef>
                        <a:spcAft>
                          <a:spcPts val="0"/>
                        </a:spcAft>
                        <a:buNone/>
                      </a:pPr>
                      <a:r>
                        <a:rPr lang="en-US" sz="1800" u="none" strike="noStrike" cap="none">
                          <a:latin typeface="Open Sans"/>
                          <a:ea typeface="Open Sans"/>
                          <a:cs typeface="Open Sans"/>
                          <a:sym typeface="Open Sans"/>
                        </a:rPr>
                        <a:t>Shelter</a:t>
                      </a:r>
                      <a:endParaRPr/>
                    </a:p>
                  </a:txBody>
                  <a:tcPr marL="91450" marR="91450" marT="45725" marB="45725" anchor="ctr">
                    <a:solidFill>
                      <a:srgbClr val="FFE2AF"/>
                    </a:solidFill>
                  </a:tcPr>
                </a:tc>
                <a:tc>
                  <a:txBody>
                    <a:bodyPr/>
                    <a:lstStyle/>
                    <a:p>
                      <a:pPr marL="0" marR="0" lvl="0" indent="0" algn="ctr" rtl="0">
                        <a:lnSpc>
                          <a:spcPct val="100000"/>
                        </a:lnSpc>
                        <a:spcBef>
                          <a:spcPts val="0"/>
                        </a:spcBef>
                        <a:spcAft>
                          <a:spcPts val="0"/>
                        </a:spcAft>
                        <a:buNone/>
                      </a:pPr>
                      <a:r>
                        <a:rPr lang="en-US" sz="1800" u="none" strike="noStrike" cap="none">
                          <a:latin typeface="Open Sans"/>
                          <a:ea typeface="Open Sans"/>
                          <a:cs typeface="Open Sans"/>
                          <a:sym typeface="Open Sans"/>
                        </a:rPr>
                        <a:t>Binary</a:t>
                      </a:r>
                      <a:endParaRPr/>
                    </a:p>
                  </a:txBody>
                  <a:tcPr marL="91450" marR="91450" marT="45725" marB="45725" anchor="ctr">
                    <a:solidFill>
                      <a:srgbClr val="FFE2AF"/>
                    </a:solidFill>
                  </a:tcPr>
                </a:tc>
                <a:tc>
                  <a:txBody>
                    <a:bodyPr/>
                    <a:lstStyle/>
                    <a:p>
                      <a:pPr marL="0" marR="0" lvl="0" indent="0" algn="ctr" rtl="0">
                        <a:lnSpc>
                          <a:spcPct val="100000"/>
                        </a:lnSpc>
                        <a:spcBef>
                          <a:spcPts val="0"/>
                        </a:spcBef>
                        <a:spcAft>
                          <a:spcPts val="0"/>
                        </a:spcAft>
                        <a:buNone/>
                      </a:pPr>
                      <a:r>
                        <a:rPr lang="en-US" sz="1800" u="none" strike="noStrike" cap="none">
                          <a:latin typeface="Open Sans"/>
                          <a:ea typeface="Open Sans"/>
                          <a:cs typeface="Open Sans"/>
                          <a:sym typeface="Open Sans"/>
                        </a:rPr>
                        <a:t>1 = Yes, 0 = No</a:t>
                      </a:r>
                      <a:endParaRPr/>
                    </a:p>
                  </a:txBody>
                  <a:tcPr marL="91450" marR="91450" marT="45725" marB="45725" anchor="ctr">
                    <a:solidFill>
                      <a:srgbClr val="FFE2AF"/>
                    </a:solidFill>
                  </a:tcPr>
                </a:tc>
                <a:extLst>
                  <a:ext uri="{0D108BD9-81ED-4DB2-BD59-A6C34878D82A}">
                    <a16:rowId xmlns:a16="http://schemas.microsoft.com/office/drawing/2014/main" val="10004"/>
                  </a:ext>
                </a:extLst>
              </a:tr>
            </a:tbl>
          </a:graphicData>
        </a:graphic>
      </p:graphicFrame>
      <p:sp>
        <p:nvSpPr>
          <p:cNvPr id="2" name="Slide Number Placeholder 1">
            <a:extLst>
              <a:ext uri="{FF2B5EF4-FFF2-40B4-BE49-F238E27FC236}">
                <a16:creationId xmlns:a16="http://schemas.microsoft.com/office/drawing/2014/main" id="{9575285C-9873-4D5E-295E-EACBF7959F2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7"/>
          <p:cNvSpPr txBox="1">
            <a:spLocks noGrp="1"/>
          </p:cNvSpPr>
          <p:nvPr>
            <p:ph type="title"/>
          </p:nvPr>
        </p:nvSpPr>
        <p:spPr>
          <a:xfrm>
            <a:off x="3069220" y="201018"/>
            <a:ext cx="762926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45454"/>
              <a:buNone/>
            </a:pPr>
            <a:r>
              <a:rPr lang="en-US" b="1" dirty="0">
                <a:solidFill>
                  <a:srgbClr val="001C84"/>
                </a:solidFill>
                <a:latin typeface="Open Sans"/>
                <a:ea typeface="Open Sans"/>
                <a:cs typeface="Open Sans"/>
                <a:sym typeface="Open Sans"/>
              </a:rPr>
              <a:t>Simulated Data Example - I</a:t>
            </a:r>
            <a:endParaRPr b="1" dirty="0">
              <a:solidFill>
                <a:srgbClr val="001C84"/>
              </a:solidFill>
              <a:latin typeface="Open Sans"/>
              <a:ea typeface="Open Sans"/>
              <a:cs typeface="Open Sans"/>
              <a:sym typeface="Open Sans"/>
            </a:endParaRPr>
          </a:p>
        </p:txBody>
      </p:sp>
      <p:pic>
        <p:nvPicPr>
          <p:cNvPr id="209" name="Google Shape;209;p17"/>
          <p:cNvPicPr preferRelativeResize="0"/>
          <p:nvPr/>
        </p:nvPicPr>
        <p:blipFill rotWithShape="1">
          <a:blip r:embed="rId3">
            <a:alphaModFix/>
          </a:blip>
          <a:srcRect/>
          <a:stretch/>
        </p:blipFill>
        <p:spPr>
          <a:xfrm>
            <a:off x="1645533" y="40135"/>
            <a:ext cx="1261641" cy="1551385"/>
          </a:xfrm>
          <a:prstGeom prst="rect">
            <a:avLst/>
          </a:prstGeom>
          <a:noFill/>
          <a:ln>
            <a:noFill/>
          </a:ln>
        </p:spPr>
      </p:pic>
      <p:pic>
        <p:nvPicPr>
          <p:cNvPr id="210" name="Google Shape;210;p17" descr="A graph of a bar graph&#10;&#10;AI-generated content may be incorrect."/>
          <p:cNvPicPr preferRelativeResize="0"/>
          <p:nvPr/>
        </p:nvPicPr>
        <p:blipFill rotWithShape="1">
          <a:blip r:embed="rId4">
            <a:alphaModFix/>
          </a:blip>
          <a:srcRect/>
          <a:stretch/>
        </p:blipFill>
        <p:spPr>
          <a:xfrm>
            <a:off x="2281370" y="1701965"/>
            <a:ext cx="7629260" cy="4549250"/>
          </a:xfrm>
          <a:prstGeom prst="rect">
            <a:avLst/>
          </a:prstGeom>
          <a:noFill/>
          <a:ln>
            <a:noFill/>
          </a:ln>
        </p:spPr>
      </p:pic>
      <p:sp>
        <p:nvSpPr>
          <p:cNvPr id="2" name="Slide Number Placeholder 1">
            <a:extLst>
              <a:ext uri="{FF2B5EF4-FFF2-40B4-BE49-F238E27FC236}">
                <a16:creationId xmlns:a16="http://schemas.microsoft.com/office/drawing/2014/main" id="{070F1480-5173-EC67-A2B9-E106BCF5A66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8"/>
          <p:cNvSpPr txBox="1">
            <a:spLocks noGrp="1"/>
          </p:cNvSpPr>
          <p:nvPr>
            <p:ph type="title"/>
          </p:nvPr>
        </p:nvSpPr>
        <p:spPr>
          <a:xfrm>
            <a:off x="3069220" y="201018"/>
            <a:ext cx="762926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45454"/>
              <a:buNone/>
            </a:pPr>
            <a:r>
              <a:rPr lang="en-US" b="1">
                <a:solidFill>
                  <a:srgbClr val="001C84"/>
                </a:solidFill>
                <a:latin typeface="Open Sans"/>
                <a:ea typeface="Open Sans"/>
                <a:cs typeface="Open Sans"/>
                <a:sym typeface="Open Sans"/>
              </a:rPr>
              <a:t>Simulated Data Example - I</a:t>
            </a:r>
            <a:endParaRPr b="1">
              <a:solidFill>
                <a:srgbClr val="001C84"/>
              </a:solidFill>
              <a:latin typeface="Open Sans"/>
              <a:ea typeface="Open Sans"/>
              <a:cs typeface="Open Sans"/>
              <a:sym typeface="Open Sans"/>
            </a:endParaRPr>
          </a:p>
        </p:txBody>
      </p:sp>
      <p:pic>
        <p:nvPicPr>
          <p:cNvPr id="216" name="Google Shape;216;p18"/>
          <p:cNvPicPr preferRelativeResize="0"/>
          <p:nvPr/>
        </p:nvPicPr>
        <p:blipFill rotWithShape="1">
          <a:blip r:embed="rId3">
            <a:alphaModFix/>
          </a:blip>
          <a:srcRect/>
          <a:stretch/>
        </p:blipFill>
        <p:spPr>
          <a:xfrm>
            <a:off x="1645533" y="40135"/>
            <a:ext cx="1261641" cy="1551385"/>
          </a:xfrm>
          <a:prstGeom prst="rect">
            <a:avLst/>
          </a:prstGeom>
          <a:noFill/>
          <a:ln>
            <a:noFill/>
          </a:ln>
        </p:spPr>
      </p:pic>
      <p:pic>
        <p:nvPicPr>
          <p:cNvPr id="217" name="Google Shape;217;p18" descr="Traffic light outline"/>
          <p:cNvPicPr preferRelativeResize="0"/>
          <p:nvPr/>
        </p:nvPicPr>
        <p:blipFill rotWithShape="1">
          <a:blip r:embed="rId4">
            <a:alphaModFix/>
          </a:blip>
          <a:srcRect/>
          <a:stretch/>
        </p:blipFill>
        <p:spPr>
          <a:xfrm>
            <a:off x="679068" y="5843355"/>
            <a:ext cx="914400" cy="914400"/>
          </a:xfrm>
          <a:prstGeom prst="rect">
            <a:avLst/>
          </a:prstGeom>
          <a:noFill/>
          <a:ln>
            <a:noFill/>
          </a:ln>
        </p:spPr>
      </p:pic>
      <p:sp>
        <p:nvSpPr>
          <p:cNvPr id="218" name="Google Shape;218;p18"/>
          <p:cNvSpPr txBox="1"/>
          <p:nvPr/>
        </p:nvSpPr>
        <p:spPr>
          <a:xfrm>
            <a:off x="1593468" y="6131278"/>
            <a:ext cx="5000475"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dirty="0">
                <a:solidFill>
                  <a:srgbClr val="C00000"/>
                </a:solidFill>
                <a:latin typeface="Arial"/>
                <a:ea typeface="Arial"/>
                <a:cs typeface="Arial"/>
                <a:sym typeface="Arial"/>
                <a:hlinkClick r:id="rId5"/>
              </a:rPr>
              <a:t>Click here to see the simulation and results in R</a:t>
            </a:r>
            <a:endParaRPr sz="1400" b="0" i="0" u="none" strike="noStrike" cap="none" dirty="0">
              <a:solidFill>
                <a:srgbClr val="000000"/>
              </a:solidFill>
              <a:latin typeface="Arial"/>
              <a:ea typeface="Arial"/>
              <a:cs typeface="Arial"/>
              <a:sym typeface="Arial"/>
            </a:endParaRPr>
          </a:p>
        </p:txBody>
      </p:sp>
      <p:pic>
        <p:nvPicPr>
          <p:cNvPr id="219" name="Google Shape;219;p18" descr="A graph of health score&#10;&#10;AI-generated content may be incorrect."/>
          <p:cNvPicPr preferRelativeResize="0"/>
          <p:nvPr/>
        </p:nvPicPr>
        <p:blipFill rotWithShape="1">
          <a:blip r:embed="rId6">
            <a:alphaModFix/>
          </a:blip>
          <a:srcRect/>
          <a:stretch/>
        </p:blipFill>
        <p:spPr>
          <a:xfrm>
            <a:off x="2973179" y="2407065"/>
            <a:ext cx="6245642" cy="3724213"/>
          </a:xfrm>
          <a:prstGeom prst="rect">
            <a:avLst/>
          </a:prstGeom>
          <a:noFill/>
          <a:ln>
            <a:noFill/>
          </a:ln>
        </p:spPr>
      </p:pic>
      <p:sp>
        <p:nvSpPr>
          <p:cNvPr id="220" name="Google Shape;220;p18"/>
          <p:cNvSpPr txBox="1">
            <a:spLocks noGrp="1"/>
          </p:cNvSpPr>
          <p:nvPr>
            <p:ph type="body" idx="1"/>
          </p:nvPr>
        </p:nvSpPr>
        <p:spPr>
          <a:xfrm>
            <a:off x="679068" y="1787906"/>
            <a:ext cx="10549764" cy="2139381"/>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360"/>
              </a:spcBef>
              <a:spcAft>
                <a:spcPts val="0"/>
              </a:spcAft>
              <a:buSzPts val="1800"/>
              <a:buFont typeface="Arial"/>
              <a:buChar char="•"/>
            </a:pPr>
            <a:r>
              <a:rPr lang="en-US" sz="2400" dirty="0">
                <a:latin typeface="Open Sans"/>
                <a:ea typeface="Open Sans"/>
                <a:cs typeface="Open Sans"/>
                <a:sym typeface="Open Sans"/>
              </a:rPr>
              <a:t>Then, we estimate the </a:t>
            </a:r>
            <a:r>
              <a:rPr lang="en-US" sz="2400" b="1" dirty="0">
                <a:solidFill>
                  <a:srgbClr val="001C84"/>
                </a:solidFill>
                <a:latin typeface="Open Sans"/>
                <a:ea typeface="Open Sans"/>
                <a:cs typeface="Open Sans"/>
                <a:sym typeface="Open Sans"/>
              </a:rPr>
              <a:t>effect of health issues on homelessness</a:t>
            </a:r>
            <a:endParaRPr dirty="0">
              <a:solidFill>
                <a:srgbClr val="001C84"/>
              </a:solidFill>
            </a:endParaRPr>
          </a:p>
        </p:txBody>
      </p:sp>
      <p:sp>
        <p:nvSpPr>
          <p:cNvPr id="2" name="Slide Number Placeholder 1">
            <a:extLst>
              <a:ext uri="{FF2B5EF4-FFF2-40B4-BE49-F238E27FC236}">
                <a16:creationId xmlns:a16="http://schemas.microsoft.com/office/drawing/2014/main" id="{23B363DF-CD66-BFEF-9368-18471AA7C6F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5"/>
          <p:cNvSpPr txBox="1">
            <a:spLocks noGrp="1"/>
          </p:cNvSpPr>
          <p:nvPr>
            <p:ph type="title"/>
          </p:nvPr>
        </p:nvSpPr>
        <p:spPr>
          <a:xfrm>
            <a:off x="1981200" y="274638"/>
            <a:ext cx="8964168"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dirty="0">
                <a:solidFill>
                  <a:srgbClr val="001C84"/>
                </a:solidFill>
                <a:latin typeface="Open Sans"/>
                <a:ea typeface="Open Sans"/>
                <a:cs typeface="Open Sans"/>
                <a:sym typeface="Open Sans"/>
              </a:rPr>
              <a:t>Simulated Data Example - II</a:t>
            </a:r>
            <a:endParaRPr dirty="0">
              <a:solidFill>
                <a:srgbClr val="001C84"/>
              </a:solidFill>
            </a:endParaRPr>
          </a:p>
        </p:txBody>
      </p:sp>
      <p:pic>
        <p:nvPicPr>
          <p:cNvPr id="226" name="Google Shape;226;p15"/>
          <p:cNvPicPr preferRelativeResize="0"/>
          <p:nvPr/>
        </p:nvPicPr>
        <p:blipFill rotWithShape="1">
          <a:blip r:embed="rId3">
            <a:alphaModFix/>
          </a:blip>
          <a:srcRect/>
          <a:stretch/>
        </p:blipFill>
        <p:spPr>
          <a:xfrm>
            <a:off x="831717" y="168151"/>
            <a:ext cx="1261641" cy="1551385"/>
          </a:xfrm>
          <a:prstGeom prst="rect">
            <a:avLst/>
          </a:prstGeom>
          <a:noFill/>
          <a:ln>
            <a:noFill/>
          </a:ln>
        </p:spPr>
      </p:pic>
      <p:sp>
        <p:nvSpPr>
          <p:cNvPr id="2" name="Slide Number Placeholder 1">
            <a:extLst>
              <a:ext uri="{FF2B5EF4-FFF2-40B4-BE49-F238E27FC236}">
                <a16:creationId xmlns:a16="http://schemas.microsoft.com/office/drawing/2014/main" id="{F0C1D0E8-41D9-8E2F-6542-57B03B0EE73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pic>
        <p:nvPicPr>
          <p:cNvPr id="3" name="Google Shape;236;p19" descr="A graph of a number of people&#10;&#10;AI-generated content may be incorrect.">
            <a:extLst>
              <a:ext uri="{FF2B5EF4-FFF2-40B4-BE49-F238E27FC236}">
                <a16:creationId xmlns:a16="http://schemas.microsoft.com/office/drawing/2014/main" id="{14DB428F-CE7D-0BBC-150B-9247708E5BFE}"/>
              </a:ext>
            </a:extLst>
          </p:cNvPr>
          <p:cNvPicPr preferRelativeResize="0"/>
          <p:nvPr/>
        </p:nvPicPr>
        <p:blipFill rotWithShape="1">
          <a:blip r:embed="rId4">
            <a:alphaModFix/>
          </a:blip>
          <a:srcRect/>
          <a:stretch/>
        </p:blipFill>
        <p:spPr>
          <a:xfrm>
            <a:off x="5769914" y="1878319"/>
            <a:ext cx="5935371" cy="4239550"/>
          </a:xfrm>
          <a:prstGeom prst="rect">
            <a:avLst/>
          </a:prstGeom>
          <a:noFill/>
          <a:ln>
            <a:noFill/>
          </a:ln>
        </p:spPr>
      </p:pic>
      <p:sp>
        <p:nvSpPr>
          <p:cNvPr id="4" name="Google Shape;220;p18">
            <a:extLst>
              <a:ext uri="{FF2B5EF4-FFF2-40B4-BE49-F238E27FC236}">
                <a16:creationId xmlns:a16="http://schemas.microsoft.com/office/drawing/2014/main" id="{57ED2860-E839-5EDE-5AE2-15AED5181AF1}"/>
              </a:ext>
            </a:extLst>
          </p:cNvPr>
          <p:cNvSpPr txBox="1">
            <a:spLocks noGrp="1"/>
          </p:cNvSpPr>
          <p:nvPr>
            <p:ph type="body" idx="1"/>
          </p:nvPr>
        </p:nvSpPr>
        <p:spPr>
          <a:xfrm>
            <a:off x="679068" y="1787906"/>
            <a:ext cx="5090846" cy="4268456"/>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US" sz="1400" dirty="0">
                <a:solidFill>
                  <a:schemeClr val="tx1"/>
                </a:solidFill>
                <a:latin typeface="Open Sans" panose="020B0606030504020204" pitchFamily="34" charset="0"/>
                <a:ea typeface="Open Sans" panose="020B0606030504020204" pitchFamily="34" charset="0"/>
                <a:cs typeface="Open Sans" panose="020B0606030504020204" pitchFamily="34" charset="0"/>
              </a:rPr>
              <a:t>With this data, we run two </a:t>
            </a:r>
            <a:r>
              <a:rPr lang="en-US" sz="1400" b="1" dirty="0">
                <a:solidFill>
                  <a:srgbClr val="001C84"/>
                </a:solidFill>
                <a:latin typeface="Open Sans" panose="020B0606030504020204" pitchFamily="34" charset="0"/>
                <a:ea typeface="Open Sans" panose="020B0606030504020204" pitchFamily="34" charset="0"/>
                <a:cs typeface="Open Sans" panose="020B0606030504020204" pitchFamily="34" charset="0"/>
              </a:rPr>
              <a:t>Logistic regression models </a:t>
            </a:r>
            <a:r>
              <a:rPr lang="en-US" sz="1400" dirty="0">
                <a:solidFill>
                  <a:schemeClr val="tx1"/>
                </a:solidFill>
                <a:latin typeface="Open Sans" panose="020B0606030504020204" pitchFamily="34" charset="0"/>
                <a:ea typeface="Open Sans" panose="020B0606030504020204" pitchFamily="34" charset="0"/>
                <a:cs typeface="Open Sans" panose="020B0606030504020204" pitchFamily="34" charset="0"/>
              </a:rPr>
              <a:t>for those in poverty:</a:t>
            </a:r>
          </a:p>
          <a:p>
            <a:pPr marL="114300" lvl="0" indent="0" algn="l" rtl="0">
              <a:lnSpc>
                <a:spcPct val="100000"/>
              </a:lnSpc>
              <a:spcBef>
                <a:spcPts val="360"/>
              </a:spcBef>
              <a:spcAft>
                <a:spcPts val="0"/>
              </a:spcAft>
              <a:buSzPct val="100000"/>
              <a:buNone/>
            </a:pPr>
            <a:endParaRPr lang="en-US" sz="1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indent="-228600">
              <a:spcBef>
                <a:spcPts val="0"/>
              </a:spcBef>
              <a:buSzPct val="100000"/>
            </a:pPr>
            <a:r>
              <a:rPr lang="en-US" sz="1400" b="1" dirty="0">
                <a:solidFill>
                  <a:srgbClr val="001C84"/>
                </a:solidFill>
                <a:latin typeface="Open Sans" panose="020B0606030504020204" pitchFamily="34" charset="0"/>
                <a:ea typeface="Open Sans" panose="020B0606030504020204" pitchFamily="34" charset="0"/>
                <a:cs typeface="Open Sans" panose="020B0606030504020204" pitchFamily="34" charset="0"/>
              </a:rPr>
              <a:t>Model 1</a:t>
            </a:r>
            <a:r>
              <a:rPr lang="en-US" sz="140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p>
          <a:p>
            <a:pPr marL="731520" lvl="1" indent="-228600">
              <a:spcBef>
                <a:spcPts val="0"/>
              </a:spcBef>
              <a:buSzPct val="100000"/>
              <a:buFont typeface="Arial"/>
              <a:buChar char="•"/>
            </a:pPr>
            <a:r>
              <a:rPr lang="en-US" sz="1400" dirty="0">
                <a:solidFill>
                  <a:schemeClr val="tx1"/>
                </a:solidFill>
                <a:latin typeface="Open Sans" panose="020B0606030504020204" pitchFamily="34" charset="0"/>
                <a:ea typeface="Open Sans" panose="020B0606030504020204" pitchFamily="34" charset="0"/>
                <a:cs typeface="Open Sans" panose="020B0606030504020204" pitchFamily="34" charset="0"/>
              </a:rPr>
              <a:t>Estimates the probability of Homelessness (y-axis) as a function of Health status (x-axis)</a:t>
            </a:r>
          </a:p>
          <a:p>
            <a:pPr marL="731520" lvl="1" indent="-228600">
              <a:spcBef>
                <a:spcPts val="0"/>
              </a:spcBef>
              <a:buSzPct val="100000"/>
              <a:buFont typeface="Arial"/>
              <a:buChar char="•"/>
            </a:pPr>
            <a:r>
              <a:rPr lang="en-US" sz="1400" b="1" i="1" dirty="0">
                <a:solidFill>
                  <a:srgbClr val="F8766D"/>
                </a:solidFill>
                <a:latin typeface="Open Sans" panose="020B0606030504020204" pitchFamily="34" charset="0"/>
                <a:ea typeface="Open Sans" panose="020B0606030504020204" pitchFamily="34" charset="0"/>
                <a:cs typeface="Open Sans" panose="020B0606030504020204" pitchFamily="34" charset="0"/>
              </a:rPr>
              <a:t>See pink estimated curve</a:t>
            </a:r>
          </a:p>
          <a:p>
            <a:pPr marL="731520" lvl="1" indent="-228600">
              <a:spcBef>
                <a:spcPts val="0"/>
              </a:spcBef>
              <a:buSzPct val="100000"/>
              <a:buFont typeface="Arial"/>
              <a:buChar char="•"/>
            </a:pPr>
            <a:r>
              <a:rPr lang="en-US" sz="1400" dirty="0">
                <a:solidFill>
                  <a:schemeClr val="tx1"/>
                </a:solidFill>
                <a:latin typeface="Open Sans" panose="020B0606030504020204" pitchFamily="34" charset="0"/>
                <a:ea typeface="Open Sans" panose="020B0606030504020204" pitchFamily="34" charset="0"/>
                <a:cs typeface="Open Sans" panose="020B0606030504020204" pitchFamily="34" charset="0"/>
              </a:rPr>
              <a:t>This is the ideal model, but in reality, administrative records only include those in shelter</a:t>
            </a:r>
          </a:p>
          <a:p>
            <a:pPr marL="502920" lvl="1" indent="0">
              <a:spcBef>
                <a:spcPts val="0"/>
              </a:spcBef>
              <a:buSzPct val="100000"/>
              <a:buNone/>
            </a:pPr>
            <a:endParaRPr lang="en-US" sz="1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lvl="0" indent="-228600" algn="l" rtl="0">
              <a:lnSpc>
                <a:spcPct val="100000"/>
              </a:lnSpc>
              <a:spcBef>
                <a:spcPts val="0"/>
              </a:spcBef>
              <a:spcAft>
                <a:spcPts val="0"/>
              </a:spcAft>
              <a:buSzPct val="100000"/>
              <a:buFont typeface="Arial"/>
              <a:buChar char="•"/>
            </a:pPr>
            <a:r>
              <a:rPr lang="en-US" sz="1400" b="1" dirty="0">
                <a:solidFill>
                  <a:srgbClr val="001C84"/>
                </a:solidFill>
                <a:latin typeface="Open Sans" panose="020B0606030504020204" pitchFamily="34" charset="0"/>
                <a:ea typeface="Open Sans" panose="020B0606030504020204" pitchFamily="34" charset="0"/>
                <a:cs typeface="Open Sans" panose="020B0606030504020204" pitchFamily="34" charset="0"/>
              </a:rPr>
              <a:t>Model 2</a:t>
            </a:r>
            <a:r>
              <a:rPr lang="en-US" sz="1400"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p>
          <a:p>
            <a:pPr marL="731520" lvl="1" indent="-228600">
              <a:spcBef>
                <a:spcPts val="0"/>
              </a:spcBef>
              <a:buSzPct val="100000"/>
              <a:buFont typeface="Arial"/>
              <a:buChar char="•"/>
            </a:pPr>
            <a:r>
              <a:rPr lang="en-US" sz="1400" dirty="0">
                <a:solidFill>
                  <a:schemeClr val="tx1"/>
                </a:solidFill>
                <a:latin typeface="Open Sans" panose="020B0606030504020204" pitchFamily="34" charset="0"/>
                <a:ea typeface="Open Sans" panose="020B0606030504020204" pitchFamily="34" charset="0"/>
                <a:cs typeface="Open Sans" panose="020B0606030504020204" pitchFamily="34" charset="0"/>
              </a:rPr>
              <a:t>Estimates the probability of Shelter use (y-axis) as a function of Health status (x-axis)</a:t>
            </a:r>
          </a:p>
          <a:p>
            <a:pPr marL="731520" lvl="1" indent="-228600">
              <a:spcBef>
                <a:spcPts val="0"/>
              </a:spcBef>
              <a:buSzPct val="100000"/>
              <a:buFont typeface="Arial"/>
              <a:buChar char="•"/>
            </a:pPr>
            <a:r>
              <a:rPr lang="en-US" sz="1400" b="1" i="1" dirty="0">
                <a:solidFill>
                  <a:srgbClr val="00BFC4"/>
                </a:solidFill>
                <a:latin typeface="Open Sans" panose="020B0606030504020204" pitchFamily="34" charset="0"/>
                <a:ea typeface="Open Sans" panose="020B0606030504020204" pitchFamily="34" charset="0"/>
                <a:cs typeface="Open Sans" panose="020B0606030504020204" pitchFamily="34" charset="0"/>
              </a:rPr>
              <a:t>See blue estimated curve</a:t>
            </a:r>
          </a:p>
          <a:p>
            <a:pPr marL="731520" lvl="1" indent="-228600">
              <a:spcBef>
                <a:spcPts val="0"/>
              </a:spcBef>
              <a:buSzPct val="100000"/>
              <a:buFont typeface="Arial"/>
              <a:buChar char="•"/>
            </a:pPr>
            <a:r>
              <a:rPr lang="en-US" sz="1400" dirty="0">
                <a:solidFill>
                  <a:schemeClr val="tx1"/>
                </a:solidFill>
                <a:latin typeface="Open Sans" panose="020B0606030504020204" pitchFamily="34" charset="0"/>
                <a:ea typeface="Open Sans" panose="020B0606030504020204" pitchFamily="34" charset="0"/>
                <a:cs typeface="Open Sans" panose="020B0606030504020204" pitchFamily="34" charset="0"/>
              </a:rPr>
              <a:t>This is a more realistic model, but it does not capture all individuals experiencing homelessness</a:t>
            </a:r>
          </a:p>
          <a:p>
            <a:pPr marL="457200" lvl="0" indent="-228600" algn="l" rtl="0">
              <a:lnSpc>
                <a:spcPct val="100000"/>
              </a:lnSpc>
              <a:spcBef>
                <a:spcPts val="360"/>
              </a:spcBef>
              <a:spcAft>
                <a:spcPts val="0"/>
              </a:spcAft>
              <a:buSzPct val="100000"/>
              <a:buFont typeface="Arial"/>
              <a:buChar char="•"/>
            </a:pPr>
            <a:endParaRPr lang="en-US" sz="1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228600" lvl="0" indent="0" algn="l" rtl="0">
              <a:lnSpc>
                <a:spcPct val="100000"/>
              </a:lnSpc>
              <a:spcBef>
                <a:spcPts val="360"/>
              </a:spcBef>
              <a:spcAft>
                <a:spcPts val="0"/>
              </a:spcAft>
              <a:buSzPct val="100000"/>
              <a:buNone/>
            </a:pPr>
            <a:r>
              <a:rPr lang="en-US" sz="1400" dirty="0">
                <a:solidFill>
                  <a:schemeClr val="tx1"/>
                </a:solidFill>
                <a:latin typeface="Open Sans" panose="020B0606030504020204" pitchFamily="34" charset="0"/>
                <a:ea typeface="Open Sans" panose="020B0606030504020204" pitchFamily="34" charset="0"/>
                <a:cs typeface="Open Sans" panose="020B0606030504020204" pitchFamily="34" charset="0"/>
              </a:rPr>
              <a:t>The simulated data example shows that using shelter data as a </a:t>
            </a:r>
            <a:r>
              <a:rPr lang="en-US" sz="1400" b="1" dirty="0">
                <a:solidFill>
                  <a:srgbClr val="001C84"/>
                </a:solidFill>
                <a:latin typeface="Open Sans" panose="020B0606030504020204" pitchFamily="34" charset="0"/>
                <a:ea typeface="Open Sans" panose="020B0606030504020204" pitchFamily="34" charset="0"/>
                <a:cs typeface="Open Sans" panose="020B0606030504020204" pitchFamily="34" charset="0"/>
              </a:rPr>
              <a:t>proxy</a:t>
            </a:r>
            <a:r>
              <a:rPr lang="en-US" sz="1400" dirty="0">
                <a:solidFill>
                  <a:schemeClr val="tx1"/>
                </a:solidFill>
                <a:latin typeface="Open Sans" panose="020B0606030504020204" pitchFamily="34" charset="0"/>
                <a:ea typeface="Open Sans" panose="020B0606030504020204" pitchFamily="34" charset="0"/>
                <a:cs typeface="Open Sans" panose="020B0606030504020204" pitchFamily="34" charset="0"/>
              </a:rPr>
              <a:t> for homelessness will </a:t>
            </a:r>
            <a:r>
              <a:rPr lang="en-US" sz="1400" b="1" dirty="0">
                <a:solidFill>
                  <a:srgbClr val="001C84"/>
                </a:solidFill>
                <a:latin typeface="Open Sans" panose="020B0606030504020204" pitchFamily="34" charset="0"/>
                <a:ea typeface="Open Sans" panose="020B0606030504020204" pitchFamily="34" charset="0"/>
                <a:cs typeface="Open Sans" panose="020B0606030504020204" pitchFamily="34" charset="0"/>
              </a:rPr>
              <a:t>underestimate</a:t>
            </a:r>
            <a:r>
              <a:rPr lang="en-US" sz="1400" dirty="0">
                <a:solidFill>
                  <a:schemeClr val="tx1"/>
                </a:solidFill>
                <a:latin typeface="Open Sans" panose="020B0606030504020204" pitchFamily="34" charset="0"/>
                <a:ea typeface="Open Sans" panose="020B0606030504020204" pitchFamily="34" charset="0"/>
                <a:cs typeface="Open Sans" panose="020B0606030504020204" pitchFamily="34" charset="0"/>
              </a:rPr>
              <a:t> the risk that health issues pose for homelessness.</a:t>
            </a:r>
          </a:p>
          <a:p>
            <a:pPr marL="457200" lvl="0" indent="-342900" algn="l" rtl="0">
              <a:lnSpc>
                <a:spcPct val="100000"/>
              </a:lnSpc>
              <a:spcBef>
                <a:spcPts val="360"/>
              </a:spcBef>
              <a:spcAft>
                <a:spcPts val="0"/>
              </a:spcAft>
              <a:buSzPts val="1800"/>
              <a:buFont typeface="Arial"/>
              <a:buChar char="•"/>
            </a:pPr>
            <a:endParaRPr sz="14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9"/>
          <p:cNvSpPr txBox="1">
            <a:spLocks noGrp="1"/>
          </p:cNvSpPr>
          <p:nvPr>
            <p:ph type="title"/>
          </p:nvPr>
        </p:nvSpPr>
        <p:spPr>
          <a:xfrm>
            <a:off x="1981200" y="274638"/>
            <a:ext cx="8964168"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dirty="0">
                <a:solidFill>
                  <a:srgbClr val="001C84"/>
                </a:solidFill>
                <a:latin typeface="Open Sans"/>
                <a:ea typeface="Open Sans"/>
                <a:cs typeface="Open Sans"/>
                <a:sym typeface="Open Sans"/>
              </a:rPr>
              <a:t>Simulated Data Example - II</a:t>
            </a:r>
            <a:endParaRPr dirty="0">
              <a:solidFill>
                <a:srgbClr val="001C84"/>
              </a:solidFill>
            </a:endParaRPr>
          </a:p>
        </p:txBody>
      </p:sp>
      <p:sp>
        <p:nvSpPr>
          <p:cNvPr id="234" name="Google Shape;234;p19"/>
          <p:cNvSpPr txBox="1">
            <a:spLocks noGrp="1"/>
          </p:cNvSpPr>
          <p:nvPr>
            <p:ph type="body" idx="1"/>
          </p:nvPr>
        </p:nvSpPr>
        <p:spPr>
          <a:xfrm>
            <a:off x="685182" y="2066862"/>
            <a:ext cx="4805318" cy="4366742"/>
          </a:xfrm>
          <a:prstGeom prst="rect">
            <a:avLst/>
          </a:prstGeom>
          <a:noFill/>
          <a:ln>
            <a:noFill/>
          </a:ln>
        </p:spPr>
        <p:txBody>
          <a:bodyPr spcFirstLastPara="1" wrap="square" lIns="91425" tIns="45700" rIns="91425" bIns="45700" anchor="t" anchorCtr="0">
            <a:normAutofit fontScale="92500" lnSpcReduction="10000"/>
          </a:bodyPr>
          <a:lstStyle/>
          <a:p>
            <a:pPr marL="457200" lvl="0" indent="-342900" algn="l" rtl="0">
              <a:lnSpc>
                <a:spcPct val="100000"/>
              </a:lnSpc>
              <a:spcBef>
                <a:spcPts val="360"/>
              </a:spcBef>
              <a:spcAft>
                <a:spcPts val="0"/>
              </a:spcAft>
              <a:buSzPts val="2335"/>
              <a:buFont typeface="Arial"/>
              <a:buChar char="•"/>
            </a:pPr>
            <a:r>
              <a:rPr lang="en-US" sz="2400" dirty="0">
                <a:solidFill>
                  <a:schemeClr val="tx1"/>
                </a:solidFill>
                <a:latin typeface="Open Sans"/>
                <a:ea typeface="Open Sans"/>
                <a:cs typeface="Open Sans"/>
                <a:sym typeface="Open Sans"/>
              </a:rPr>
              <a:t>If people were prioritized for housing based on shelter data analytics, those with severe health conditions may rank lower for housing access than they would if the data captured all forms of homelessness, not just those visible through shelter use </a:t>
            </a:r>
            <a:endParaRPr sz="3600" dirty="0">
              <a:solidFill>
                <a:schemeClr val="tx1"/>
              </a:solidFill>
              <a:latin typeface="Open Sans"/>
              <a:ea typeface="Open Sans"/>
              <a:cs typeface="Open Sans"/>
              <a:sym typeface="Open Sans"/>
            </a:endParaRPr>
          </a:p>
          <a:p>
            <a:pPr marL="457200" lvl="0" indent="-342900" algn="l" rtl="0">
              <a:lnSpc>
                <a:spcPct val="100000"/>
              </a:lnSpc>
              <a:spcBef>
                <a:spcPts val="360"/>
              </a:spcBef>
              <a:spcAft>
                <a:spcPts val="0"/>
              </a:spcAft>
              <a:buSzPts val="2335"/>
              <a:buFont typeface="Arial"/>
              <a:buChar char="•"/>
            </a:pPr>
            <a:r>
              <a:rPr lang="en-US" sz="2400" dirty="0">
                <a:solidFill>
                  <a:schemeClr val="tx1"/>
                </a:solidFill>
                <a:latin typeface="Open Sans"/>
                <a:ea typeface="Open Sans"/>
                <a:cs typeface="Open Sans"/>
                <a:sym typeface="Open Sans"/>
              </a:rPr>
              <a:t>As a result, </a:t>
            </a:r>
            <a:r>
              <a:rPr lang="en-US" sz="2400" b="1" dirty="0">
                <a:solidFill>
                  <a:srgbClr val="001C84"/>
                </a:solidFill>
                <a:latin typeface="Open Sans"/>
                <a:ea typeface="Open Sans"/>
                <a:cs typeface="Open Sans"/>
                <a:sym typeface="Open Sans"/>
              </a:rPr>
              <a:t>the very individuals most vulnerable to poor outcomes could </a:t>
            </a:r>
            <a:r>
              <a:rPr lang="en-US" sz="2400" b="1">
                <a:solidFill>
                  <a:srgbClr val="001C84"/>
                </a:solidFill>
                <a:latin typeface="Open Sans"/>
                <a:ea typeface="Open Sans"/>
                <a:cs typeface="Open Sans"/>
                <a:sym typeface="Open Sans"/>
              </a:rPr>
              <a:t>be deprioritized.</a:t>
            </a:r>
            <a:endParaRPr sz="3600" b="1" dirty="0">
              <a:solidFill>
                <a:srgbClr val="001C84"/>
              </a:solidFill>
              <a:latin typeface="Open Sans"/>
              <a:ea typeface="Open Sans"/>
              <a:cs typeface="Open Sans"/>
              <a:sym typeface="Open Sans"/>
            </a:endParaRPr>
          </a:p>
        </p:txBody>
      </p:sp>
      <p:pic>
        <p:nvPicPr>
          <p:cNvPr id="235" name="Google Shape;235;p19"/>
          <p:cNvPicPr preferRelativeResize="0"/>
          <p:nvPr/>
        </p:nvPicPr>
        <p:blipFill rotWithShape="1">
          <a:blip r:embed="rId3">
            <a:alphaModFix/>
          </a:blip>
          <a:srcRect/>
          <a:stretch/>
        </p:blipFill>
        <p:spPr>
          <a:xfrm>
            <a:off x="831717" y="168151"/>
            <a:ext cx="1261641" cy="1551385"/>
          </a:xfrm>
          <a:prstGeom prst="rect">
            <a:avLst/>
          </a:prstGeom>
          <a:noFill/>
          <a:ln>
            <a:noFill/>
          </a:ln>
        </p:spPr>
      </p:pic>
      <p:pic>
        <p:nvPicPr>
          <p:cNvPr id="236" name="Google Shape;236;p19" descr="A graph of a number of people&#10;&#10;AI-generated content may be incorrect."/>
          <p:cNvPicPr preferRelativeResize="0"/>
          <p:nvPr/>
        </p:nvPicPr>
        <p:blipFill rotWithShape="1">
          <a:blip r:embed="rId4">
            <a:alphaModFix/>
          </a:blip>
          <a:srcRect/>
          <a:stretch/>
        </p:blipFill>
        <p:spPr>
          <a:xfrm>
            <a:off x="5769914" y="1878319"/>
            <a:ext cx="5935371" cy="4239550"/>
          </a:xfrm>
          <a:prstGeom prst="rect">
            <a:avLst/>
          </a:prstGeom>
          <a:noFill/>
          <a:ln>
            <a:noFill/>
          </a:ln>
        </p:spPr>
      </p:pic>
      <p:sp>
        <p:nvSpPr>
          <p:cNvPr id="2" name="Slide Number Placeholder 1">
            <a:extLst>
              <a:ext uri="{FF2B5EF4-FFF2-40B4-BE49-F238E27FC236}">
                <a16:creationId xmlns:a16="http://schemas.microsoft.com/office/drawing/2014/main" id="{FBC3875F-78D2-8423-B87E-959419F587D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0"/>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a:solidFill>
                  <a:srgbClr val="001C84"/>
                </a:solidFill>
                <a:latin typeface="Open Sans"/>
                <a:ea typeface="Open Sans"/>
                <a:cs typeface="Open Sans"/>
                <a:sym typeface="Open Sans"/>
              </a:rPr>
              <a:t>What to do about it? </a:t>
            </a:r>
            <a:endParaRPr b="1">
              <a:solidFill>
                <a:srgbClr val="001C84"/>
              </a:solidFill>
              <a:latin typeface="Open Sans"/>
              <a:ea typeface="Open Sans"/>
              <a:cs typeface="Open Sans"/>
              <a:sym typeface="Open Sans"/>
            </a:endParaRPr>
          </a:p>
        </p:txBody>
      </p:sp>
      <p:sp>
        <p:nvSpPr>
          <p:cNvPr id="243" name="Google Shape;243;p20"/>
          <p:cNvSpPr txBox="1">
            <a:spLocks noGrp="1"/>
          </p:cNvSpPr>
          <p:nvPr>
            <p:ph type="body" idx="1"/>
          </p:nvPr>
        </p:nvSpPr>
        <p:spPr>
          <a:xfrm>
            <a:off x="539496" y="1417639"/>
            <a:ext cx="10917936" cy="4198978"/>
          </a:xfrm>
          <a:prstGeom prst="rect">
            <a:avLst/>
          </a:prstGeom>
          <a:noFill/>
          <a:ln>
            <a:noFill/>
          </a:ln>
        </p:spPr>
        <p:txBody>
          <a:bodyPr spcFirstLastPara="1" wrap="square" lIns="91425" tIns="45700" rIns="91425" bIns="45700" anchor="t" anchorCtr="0">
            <a:normAutofit lnSpcReduction="10000"/>
          </a:bodyPr>
          <a:lstStyle/>
          <a:p>
            <a:pPr marL="457200" lvl="0" indent="-317500" algn="l" rtl="0">
              <a:lnSpc>
                <a:spcPct val="100000"/>
              </a:lnSpc>
              <a:spcBef>
                <a:spcPts val="360"/>
              </a:spcBef>
              <a:spcAft>
                <a:spcPts val="0"/>
              </a:spcAft>
              <a:buSzPct val="100000"/>
              <a:buChar char="•"/>
            </a:pPr>
            <a:r>
              <a:rPr lang="en-US" sz="2800" dirty="0">
                <a:latin typeface="Open Sans"/>
                <a:ea typeface="Open Sans"/>
                <a:cs typeface="Open Sans"/>
                <a:sym typeface="Open Sans"/>
              </a:rPr>
              <a:t>Use your social work experience to make data analytics aware of how data is </a:t>
            </a:r>
            <a:r>
              <a:rPr lang="en-US" sz="2800" b="1" dirty="0">
                <a:solidFill>
                  <a:srgbClr val="001C84"/>
                </a:solidFill>
                <a:latin typeface="Open Sans"/>
                <a:ea typeface="Open Sans"/>
                <a:cs typeface="Open Sans"/>
                <a:sym typeface="Open Sans"/>
              </a:rPr>
              <a:t>shaped by societal biases</a:t>
            </a:r>
            <a:endParaRPr b="1" dirty="0">
              <a:solidFill>
                <a:srgbClr val="001C84"/>
              </a:solidFill>
              <a:latin typeface="Open Sans"/>
              <a:ea typeface="Open Sans"/>
              <a:cs typeface="Open Sans"/>
              <a:sym typeface="Open Sans"/>
            </a:endParaRPr>
          </a:p>
          <a:p>
            <a:pPr marL="1371600" lvl="2" indent="-317500" algn="l" rtl="0">
              <a:lnSpc>
                <a:spcPct val="100000"/>
              </a:lnSpc>
              <a:spcBef>
                <a:spcPts val="360"/>
              </a:spcBef>
              <a:spcAft>
                <a:spcPts val="0"/>
              </a:spcAft>
              <a:buSzPct val="100358"/>
              <a:buChar char="•"/>
            </a:pPr>
            <a:r>
              <a:rPr lang="en-US" sz="2600" dirty="0">
                <a:latin typeface="Open Sans"/>
                <a:ea typeface="Open Sans"/>
                <a:cs typeface="Open Sans"/>
                <a:sym typeface="Open Sans"/>
              </a:rPr>
              <a:t>How was the data generated? What does data intake look like? </a:t>
            </a:r>
            <a:endParaRPr dirty="0"/>
          </a:p>
          <a:p>
            <a:pPr marL="1371600" lvl="2" indent="-317500" algn="l" rtl="0">
              <a:lnSpc>
                <a:spcPct val="100000"/>
              </a:lnSpc>
              <a:spcBef>
                <a:spcPts val="360"/>
              </a:spcBef>
              <a:spcAft>
                <a:spcPts val="0"/>
              </a:spcAft>
              <a:buSzPct val="100358"/>
              <a:buChar char="•"/>
            </a:pPr>
            <a:r>
              <a:rPr lang="en-US" sz="2600" dirty="0">
                <a:latin typeface="Open Sans"/>
                <a:ea typeface="Open Sans"/>
                <a:cs typeface="Open Sans"/>
                <a:sym typeface="Open Sans"/>
              </a:rPr>
              <a:t>Contextualize data with </a:t>
            </a:r>
            <a:r>
              <a:rPr lang="en-US" sz="2600" b="1" dirty="0">
                <a:solidFill>
                  <a:srgbClr val="001C84"/>
                </a:solidFill>
                <a:latin typeface="Open Sans"/>
                <a:ea typeface="Open Sans"/>
                <a:cs typeface="Open Sans"/>
                <a:sym typeface="Open Sans"/>
              </a:rPr>
              <a:t>experiential knowledge </a:t>
            </a:r>
            <a:r>
              <a:rPr lang="en-US" sz="2600" dirty="0">
                <a:latin typeface="Open Sans"/>
                <a:ea typeface="Open Sans"/>
                <a:cs typeface="Open Sans"/>
                <a:sym typeface="Open Sans"/>
              </a:rPr>
              <a:t>of those represented in the data</a:t>
            </a:r>
            <a:endParaRPr sz="3500" dirty="0">
              <a:latin typeface="Open Sans"/>
              <a:ea typeface="Open Sans"/>
              <a:cs typeface="Open Sans"/>
              <a:sym typeface="Open Sans"/>
            </a:endParaRPr>
          </a:p>
          <a:p>
            <a:pPr marL="1397000" lvl="2" indent="-342900" algn="l" rtl="0">
              <a:lnSpc>
                <a:spcPct val="100000"/>
              </a:lnSpc>
              <a:spcBef>
                <a:spcPts val="0"/>
              </a:spcBef>
              <a:spcAft>
                <a:spcPts val="0"/>
              </a:spcAft>
              <a:buSzPct val="100358"/>
              <a:buChar char="•"/>
            </a:pPr>
            <a:r>
              <a:rPr lang="en-US" sz="2600" b="1" dirty="0">
                <a:solidFill>
                  <a:srgbClr val="001C84"/>
                </a:solidFill>
                <a:latin typeface="Open Sans"/>
                <a:ea typeface="Open Sans"/>
                <a:cs typeface="Open Sans"/>
                <a:sym typeface="Open Sans"/>
              </a:rPr>
              <a:t>Integrate health or other data </a:t>
            </a:r>
            <a:r>
              <a:rPr lang="en-US" sz="2600" dirty="0">
                <a:latin typeface="Open Sans"/>
                <a:ea typeface="Open Sans"/>
                <a:cs typeface="Open Sans"/>
                <a:sym typeface="Open Sans"/>
              </a:rPr>
              <a:t>(i.e. food assistance data) where hidden homelessness can be identified</a:t>
            </a:r>
            <a:endParaRPr sz="3500" dirty="0">
              <a:latin typeface="Open Sans"/>
              <a:ea typeface="Open Sans"/>
              <a:cs typeface="Open Sans"/>
              <a:sym typeface="Open Sans"/>
            </a:endParaRPr>
          </a:p>
          <a:p>
            <a:pPr marL="1397000" lvl="2" indent="-342899" algn="l" rtl="0">
              <a:lnSpc>
                <a:spcPct val="100000"/>
              </a:lnSpc>
              <a:spcBef>
                <a:spcPts val="0"/>
              </a:spcBef>
              <a:spcAft>
                <a:spcPts val="0"/>
              </a:spcAft>
              <a:buSzPct val="100358"/>
              <a:buChar char="•"/>
            </a:pPr>
            <a:r>
              <a:rPr lang="en-US" sz="2600" dirty="0">
                <a:latin typeface="Open Sans"/>
                <a:ea typeface="Open Sans"/>
                <a:cs typeface="Open Sans"/>
                <a:sym typeface="Open Sans"/>
              </a:rPr>
              <a:t>Use data and models to identify who is more likely to be left out of admin data or impacted by bias</a:t>
            </a:r>
            <a:endParaRPr sz="3000" dirty="0">
              <a:latin typeface="Open Sans"/>
              <a:ea typeface="Open Sans"/>
              <a:cs typeface="Open Sans"/>
              <a:sym typeface="Open Sans"/>
            </a:endParaRPr>
          </a:p>
        </p:txBody>
      </p:sp>
      <p:sp>
        <p:nvSpPr>
          <p:cNvPr id="244" name="Google Shape;244;p20"/>
          <p:cNvSpPr/>
          <p:nvPr/>
        </p:nvSpPr>
        <p:spPr>
          <a:xfrm>
            <a:off x="1981200" y="5616616"/>
            <a:ext cx="8229600" cy="808059"/>
          </a:xfrm>
          <a:prstGeom prst="wedgeRoundRectCallout">
            <a:avLst>
              <a:gd name="adj1" fmla="val -20927"/>
              <a:gd name="adj2" fmla="val 61810"/>
              <a:gd name="adj3" fmla="val 0"/>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600" b="1" i="0" u="none" strike="noStrike" cap="none">
                <a:solidFill>
                  <a:srgbClr val="001B83"/>
                </a:solidFill>
                <a:latin typeface="Open Sans"/>
                <a:ea typeface="Open Sans"/>
                <a:cs typeface="Open Sans"/>
                <a:sym typeface="Open Sans"/>
              </a:rPr>
              <a:t>“</a:t>
            </a:r>
            <a:r>
              <a:rPr lang="en-US" sz="1600" b="1" i="1" u="none" strike="noStrike" cap="none">
                <a:solidFill>
                  <a:srgbClr val="001B83"/>
                </a:solidFill>
                <a:latin typeface="Open Sans"/>
                <a:ea typeface="Open Sans"/>
                <a:cs typeface="Open Sans"/>
                <a:sym typeface="Open Sans"/>
              </a:rPr>
              <a:t>My personal feelings on it is that the only thing that needs to be identified is ‘Yes, I’m human.’</a:t>
            </a:r>
            <a:r>
              <a:rPr lang="en-US" sz="1600" b="1" i="0" u="none" strike="noStrike" cap="none">
                <a:solidFill>
                  <a:srgbClr val="001B83"/>
                </a:solidFill>
                <a:latin typeface="Open Sans"/>
                <a:ea typeface="Open Sans"/>
                <a:cs typeface="Open Sans"/>
                <a:sym typeface="Open Sans"/>
              </a:rPr>
              <a:t>” - Data Chat participant</a:t>
            </a:r>
            <a:endParaRPr sz="1400" b="0" i="0" u="none" strike="noStrike" cap="none">
              <a:solidFill>
                <a:srgbClr val="000000"/>
              </a:solidFill>
              <a:latin typeface="Calibri"/>
              <a:ea typeface="Calibri"/>
              <a:cs typeface="Calibri"/>
              <a:sym typeface="Calibri"/>
            </a:endParaRPr>
          </a:p>
        </p:txBody>
      </p:sp>
      <p:sp>
        <p:nvSpPr>
          <p:cNvPr id="2" name="Slide Number Placeholder 1">
            <a:extLst>
              <a:ext uri="{FF2B5EF4-FFF2-40B4-BE49-F238E27FC236}">
                <a16:creationId xmlns:a16="http://schemas.microsoft.com/office/drawing/2014/main" id="{D22F5B22-C68A-D006-A6B8-EB32C5F0C81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1">
          <a:extLst>
            <a:ext uri="{FF2B5EF4-FFF2-40B4-BE49-F238E27FC236}">
              <a16:creationId xmlns:a16="http://schemas.microsoft.com/office/drawing/2014/main" id="{624A73F1-D740-5843-7572-FA96C34F9308}"/>
            </a:ext>
          </a:extLst>
        </p:cNvPr>
        <p:cNvGrpSpPr/>
        <p:nvPr/>
      </p:nvGrpSpPr>
      <p:grpSpPr>
        <a:xfrm>
          <a:off x="0" y="0"/>
          <a:ext cx="0" cy="0"/>
          <a:chOff x="0" y="0"/>
          <a:chExt cx="0" cy="0"/>
        </a:xfrm>
      </p:grpSpPr>
      <p:sp>
        <p:nvSpPr>
          <p:cNvPr id="242" name="Google Shape;242;p20">
            <a:extLst>
              <a:ext uri="{FF2B5EF4-FFF2-40B4-BE49-F238E27FC236}">
                <a16:creationId xmlns:a16="http://schemas.microsoft.com/office/drawing/2014/main" id="{DF42FF54-DD81-EC79-3AF3-AFC67CB69693}"/>
              </a:ext>
            </a:extLst>
          </p:cNvPr>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a:solidFill>
                  <a:srgbClr val="001C84"/>
                </a:solidFill>
                <a:latin typeface="Open Sans"/>
                <a:ea typeface="Open Sans"/>
                <a:cs typeface="Open Sans"/>
                <a:sym typeface="Open Sans"/>
              </a:rPr>
              <a:t>What to do about it? </a:t>
            </a:r>
            <a:endParaRPr b="1">
              <a:solidFill>
                <a:srgbClr val="001C84"/>
              </a:solidFill>
              <a:latin typeface="Open Sans"/>
              <a:ea typeface="Open Sans"/>
              <a:cs typeface="Open Sans"/>
              <a:sym typeface="Open Sans"/>
            </a:endParaRPr>
          </a:p>
        </p:txBody>
      </p:sp>
      <p:sp>
        <p:nvSpPr>
          <p:cNvPr id="243" name="Google Shape;243;p20">
            <a:extLst>
              <a:ext uri="{FF2B5EF4-FFF2-40B4-BE49-F238E27FC236}">
                <a16:creationId xmlns:a16="http://schemas.microsoft.com/office/drawing/2014/main" id="{6295980C-B680-BEEC-7E99-527338168FD6}"/>
              </a:ext>
            </a:extLst>
          </p:cNvPr>
          <p:cNvSpPr txBox="1">
            <a:spLocks noGrp="1"/>
          </p:cNvSpPr>
          <p:nvPr>
            <p:ph type="body" idx="1"/>
          </p:nvPr>
        </p:nvSpPr>
        <p:spPr>
          <a:xfrm>
            <a:off x="539495" y="1417639"/>
            <a:ext cx="7409448" cy="4198978"/>
          </a:xfrm>
          <a:prstGeom prst="rect">
            <a:avLst/>
          </a:prstGeom>
          <a:noFill/>
          <a:ln>
            <a:noFill/>
          </a:ln>
        </p:spPr>
        <p:txBody>
          <a:bodyPr spcFirstLastPara="1" wrap="square" lIns="91425" tIns="45700" rIns="91425" bIns="45700" anchor="t" anchorCtr="0">
            <a:noAutofit/>
          </a:bodyPr>
          <a:lstStyle/>
          <a:p>
            <a:pPr marL="457200" lvl="0" indent="-317500" algn="l" rtl="0">
              <a:lnSpc>
                <a:spcPct val="100000"/>
              </a:lnSpc>
              <a:spcBef>
                <a:spcPts val="360"/>
              </a:spcBef>
              <a:spcAft>
                <a:spcPts val="0"/>
              </a:spcAft>
              <a:buSzPct val="64516"/>
              <a:buChar char="•"/>
            </a:pPr>
            <a:r>
              <a:rPr lang="en-US" sz="2200" b="1" dirty="0">
                <a:solidFill>
                  <a:srgbClr val="001C84"/>
                </a:solidFill>
                <a:latin typeface="Open Sans"/>
                <a:ea typeface="Open Sans"/>
                <a:cs typeface="Open Sans"/>
                <a:sym typeface="Open Sans"/>
              </a:rPr>
              <a:t>Be transparent </a:t>
            </a:r>
            <a:r>
              <a:rPr lang="en-US" sz="2200" dirty="0">
                <a:latin typeface="Open Sans"/>
                <a:ea typeface="Open Sans"/>
                <a:cs typeface="Open Sans"/>
                <a:sym typeface="Open Sans"/>
              </a:rPr>
              <a:t>about how data is shaped by societal biases and </a:t>
            </a:r>
            <a:r>
              <a:rPr lang="en-US" sz="2200" b="1" dirty="0">
                <a:solidFill>
                  <a:srgbClr val="001C84"/>
                </a:solidFill>
                <a:latin typeface="Open Sans"/>
                <a:ea typeface="Open Sans"/>
                <a:cs typeface="Open Sans"/>
                <a:sym typeface="Open Sans"/>
              </a:rPr>
              <a:t>seek experiential knowledge</a:t>
            </a:r>
            <a:r>
              <a:rPr lang="en-US" sz="2200" dirty="0">
                <a:latin typeface="Open Sans"/>
                <a:ea typeface="Open Sans"/>
                <a:cs typeface="Open Sans"/>
                <a:sym typeface="Open Sans"/>
              </a:rPr>
              <a:t> to inform data analytics.</a:t>
            </a:r>
          </a:p>
          <a:p>
            <a:pPr marL="139700" lvl="0" indent="0" algn="l" rtl="0">
              <a:lnSpc>
                <a:spcPct val="100000"/>
              </a:lnSpc>
              <a:spcBef>
                <a:spcPts val="360"/>
              </a:spcBef>
              <a:spcAft>
                <a:spcPts val="0"/>
              </a:spcAft>
              <a:buSzPct val="64516"/>
              <a:buNone/>
            </a:pPr>
            <a:endParaRPr lang="en-US" sz="2200" dirty="0">
              <a:latin typeface="Open Sans"/>
              <a:ea typeface="Open Sans"/>
              <a:cs typeface="Open Sans"/>
              <a:sym typeface="Open Sans"/>
            </a:endParaRPr>
          </a:p>
          <a:p>
            <a:pPr marL="457200" lvl="0" indent="-317500" algn="l" rtl="0">
              <a:lnSpc>
                <a:spcPct val="100000"/>
              </a:lnSpc>
              <a:spcBef>
                <a:spcPts val="360"/>
              </a:spcBef>
              <a:spcAft>
                <a:spcPts val="0"/>
              </a:spcAft>
              <a:buSzPct val="64516"/>
              <a:buChar char="•"/>
            </a:pPr>
            <a:r>
              <a:rPr lang="en-US" sz="2200" b="1" dirty="0">
                <a:solidFill>
                  <a:srgbClr val="001C84"/>
                </a:solidFill>
                <a:latin typeface="Open Sans"/>
                <a:ea typeface="Open Sans"/>
                <a:cs typeface="Open Sans"/>
                <a:sym typeface="Open Sans"/>
              </a:rPr>
              <a:t>Casey’s Realization</a:t>
            </a:r>
            <a:r>
              <a:rPr lang="en-US" sz="2200" dirty="0">
                <a:latin typeface="Open Sans"/>
                <a:ea typeface="Open Sans"/>
                <a:cs typeface="Open Sans"/>
                <a:sym typeface="Open Sans"/>
              </a:rPr>
              <a:t>:</a:t>
            </a:r>
          </a:p>
          <a:p>
            <a:pPr lvl="1" indent="-317500">
              <a:buSzPct val="64516"/>
              <a:buChar char="•"/>
            </a:pPr>
            <a:r>
              <a:rPr lang="en-US" sz="2200" b="1" dirty="0">
                <a:solidFill>
                  <a:srgbClr val="001C84"/>
                </a:solidFill>
                <a:latin typeface="Open Sans"/>
                <a:ea typeface="Open Sans"/>
                <a:cs typeface="Open Sans"/>
                <a:sym typeface="Open Sans"/>
              </a:rPr>
              <a:t>I can’t conclude that LGBTQ+ people don’t need homeless services.</a:t>
            </a:r>
          </a:p>
          <a:p>
            <a:pPr lvl="1" indent="-317500">
              <a:buSzPct val="64516"/>
              <a:buChar char="•"/>
            </a:pPr>
            <a:r>
              <a:rPr lang="en-US" sz="2200" dirty="0">
                <a:latin typeface="Open Sans"/>
                <a:ea typeface="Open Sans"/>
                <a:cs typeface="Open Sans"/>
                <a:sym typeface="Open Sans"/>
              </a:rPr>
              <a:t>I don’t have data on all people experiencing homelessness, only on individuals who used shelters.</a:t>
            </a:r>
          </a:p>
          <a:p>
            <a:pPr lvl="1" indent="-317500">
              <a:buSzPct val="64516"/>
              <a:buChar char="•"/>
            </a:pPr>
            <a:r>
              <a:rPr lang="en-US" sz="2200" dirty="0">
                <a:latin typeface="Open Sans"/>
                <a:ea typeface="Open Sans"/>
                <a:cs typeface="Open Sans"/>
                <a:sym typeface="Open Sans"/>
              </a:rPr>
              <a:t>I need to understand the context around shelter use and who is left out of the data.</a:t>
            </a:r>
          </a:p>
        </p:txBody>
      </p:sp>
      <p:sp>
        <p:nvSpPr>
          <p:cNvPr id="2" name="Slide Number Placeholder 1">
            <a:extLst>
              <a:ext uri="{FF2B5EF4-FFF2-40B4-BE49-F238E27FC236}">
                <a16:creationId xmlns:a16="http://schemas.microsoft.com/office/drawing/2014/main" id="{4E05C9EE-11C0-4BB4-D017-159598FEE13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pic>
        <p:nvPicPr>
          <p:cNvPr id="4" name="Picture 3">
            <a:extLst>
              <a:ext uri="{FF2B5EF4-FFF2-40B4-BE49-F238E27FC236}">
                <a16:creationId xmlns:a16="http://schemas.microsoft.com/office/drawing/2014/main" id="{23F528D2-ECA2-9D86-BC8D-CB5FAD2776B2}"/>
              </a:ext>
            </a:extLst>
          </p:cNvPr>
          <p:cNvPicPr>
            <a:picLocks noChangeAspect="1"/>
          </p:cNvPicPr>
          <p:nvPr/>
        </p:nvPicPr>
        <p:blipFill>
          <a:blip r:embed="rId3"/>
          <a:stretch>
            <a:fillRect/>
          </a:stretch>
        </p:blipFill>
        <p:spPr>
          <a:xfrm>
            <a:off x="8737600" y="1417638"/>
            <a:ext cx="2347163" cy="4061812"/>
          </a:xfrm>
          <a:prstGeom prst="rect">
            <a:avLst/>
          </a:prstGeom>
        </p:spPr>
      </p:pic>
    </p:spTree>
    <p:extLst>
      <p:ext uri="{BB962C8B-B14F-4D97-AF65-F5344CB8AC3E}">
        <p14:creationId xmlns:p14="http://schemas.microsoft.com/office/powerpoint/2010/main" val="2147323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1"/>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a:solidFill>
                  <a:srgbClr val="001C84"/>
                </a:solidFill>
                <a:latin typeface="Open Sans"/>
                <a:ea typeface="Open Sans"/>
                <a:cs typeface="Open Sans"/>
                <a:sym typeface="Open Sans"/>
              </a:rPr>
              <a:t>What to do about it?</a:t>
            </a:r>
            <a:endParaRPr b="1">
              <a:solidFill>
                <a:srgbClr val="001C84"/>
              </a:solidFill>
              <a:latin typeface="Open Sans"/>
              <a:ea typeface="Open Sans"/>
              <a:cs typeface="Open Sans"/>
              <a:sym typeface="Open Sans"/>
            </a:endParaRPr>
          </a:p>
        </p:txBody>
      </p:sp>
      <p:sp>
        <p:nvSpPr>
          <p:cNvPr id="251" name="Google Shape;251;p21"/>
          <p:cNvSpPr txBox="1">
            <a:spLocks noGrp="1"/>
          </p:cNvSpPr>
          <p:nvPr>
            <p:ph type="body" idx="1"/>
          </p:nvPr>
        </p:nvSpPr>
        <p:spPr>
          <a:xfrm>
            <a:off x="1002047" y="1440047"/>
            <a:ext cx="10332720" cy="4027302"/>
          </a:xfrm>
          <a:prstGeom prst="rect">
            <a:avLst/>
          </a:prstGeom>
          <a:noFill/>
          <a:ln>
            <a:noFill/>
          </a:ln>
        </p:spPr>
        <p:txBody>
          <a:bodyPr spcFirstLastPara="1" wrap="square" lIns="91425" tIns="45700" rIns="91425" bIns="45700" anchor="t" anchorCtr="0">
            <a:normAutofit lnSpcReduction="10000"/>
          </a:bodyPr>
          <a:lstStyle/>
          <a:p>
            <a:pPr marL="596900" lvl="0" indent="-457200" algn="l" rtl="0">
              <a:lnSpc>
                <a:spcPct val="100000"/>
              </a:lnSpc>
              <a:spcBef>
                <a:spcPts val="0"/>
              </a:spcBef>
              <a:spcAft>
                <a:spcPts val="0"/>
              </a:spcAft>
              <a:buSzPct val="100000"/>
              <a:buChar char="•"/>
            </a:pPr>
            <a:r>
              <a:rPr lang="en-US" sz="2800" b="1" dirty="0">
                <a:solidFill>
                  <a:srgbClr val="001C84"/>
                </a:solidFill>
                <a:latin typeface="Open Sans"/>
                <a:ea typeface="Open Sans"/>
                <a:cs typeface="Open Sans"/>
                <a:sym typeface="Open Sans"/>
              </a:rPr>
              <a:t>Advocate for equitable &amp; consistent data practices</a:t>
            </a:r>
            <a:endParaRPr sz="2800" b="1" dirty="0">
              <a:solidFill>
                <a:srgbClr val="001C84"/>
              </a:solidFill>
              <a:latin typeface="Open Sans"/>
              <a:ea typeface="Open Sans"/>
              <a:cs typeface="Open Sans"/>
              <a:sym typeface="Open Sans"/>
            </a:endParaRPr>
          </a:p>
          <a:p>
            <a:pPr marL="1371600" lvl="2" indent="-355600" algn="l" rtl="0">
              <a:lnSpc>
                <a:spcPct val="100000"/>
              </a:lnSpc>
              <a:spcBef>
                <a:spcPts val="0"/>
              </a:spcBef>
              <a:spcAft>
                <a:spcPts val="0"/>
              </a:spcAft>
              <a:buSzPct val="100000"/>
              <a:buChar char="•"/>
            </a:pPr>
            <a:r>
              <a:rPr lang="en-US" sz="2600" dirty="0">
                <a:latin typeface="Open Sans"/>
                <a:ea typeface="Open Sans"/>
                <a:cs typeface="Open Sans"/>
                <a:sym typeface="Open Sans"/>
              </a:rPr>
              <a:t>Inclusive options (ex. </a:t>
            </a:r>
            <a:r>
              <a:rPr lang="en-US" sz="2600" u="sng" dirty="0">
                <a:solidFill>
                  <a:schemeClr val="hlink"/>
                </a:solidFill>
                <a:latin typeface="Open Sans"/>
                <a:ea typeface="Open Sans"/>
                <a:cs typeface="Open Sans"/>
                <a:sym typeface="Open Sans"/>
                <a:hlinkClick r:id="rId3"/>
              </a:rPr>
              <a:t>SOGI question guidelines</a:t>
            </a:r>
            <a:r>
              <a:rPr lang="en-US" sz="2600" dirty="0">
                <a:latin typeface="Open Sans"/>
                <a:ea typeface="Open Sans"/>
                <a:cs typeface="Open Sans"/>
                <a:sym typeface="Open Sans"/>
              </a:rPr>
              <a:t>)</a:t>
            </a:r>
            <a:endParaRPr sz="2600" dirty="0">
              <a:latin typeface="Open Sans"/>
              <a:ea typeface="Open Sans"/>
              <a:cs typeface="Open Sans"/>
              <a:sym typeface="Open Sans"/>
            </a:endParaRPr>
          </a:p>
          <a:p>
            <a:pPr marL="1371600" lvl="2" indent="-355600" algn="l" rtl="0">
              <a:lnSpc>
                <a:spcPct val="100000"/>
              </a:lnSpc>
              <a:spcBef>
                <a:spcPts val="0"/>
              </a:spcBef>
              <a:spcAft>
                <a:spcPts val="0"/>
              </a:spcAft>
              <a:buSzPct val="100000"/>
              <a:buChar char="•"/>
            </a:pPr>
            <a:r>
              <a:rPr lang="en-US" sz="2600" dirty="0">
                <a:latin typeface="Open Sans"/>
                <a:ea typeface="Open Sans"/>
                <a:cs typeface="Open Sans"/>
                <a:sym typeface="Open Sans"/>
              </a:rPr>
              <a:t>Accessibility</a:t>
            </a:r>
            <a:endParaRPr sz="2600" dirty="0">
              <a:latin typeface="Open Sans"/>
              <a:ea typeface="Open Sans"/>
              <a:cs typeface="Open Sans"/>
              <a:sym typeface="Open Sans"/>
            </a:endParaRPr>
          </a:p>
          <a:p>
            <a:pPr marL="1371600" lvl="2" indent="-355600" algn="l" rtl="0">
              <a:lnSpc>
                <a:spcPct val="100000"/>
              </a:lnSpc>
              <a:spcBef>
                <a:spcPts val="0"/>
              </a:spcBef>
              <a:spcAft>
                <a:spcPts val="0"/>
              </a:spcAft>
              <a:buSzPct val="100000"/>
              <a:buChar char="•"/>
            </a:pPr>
            <a:r>
              <a:rPr lang="en-US" sz="2600" dirty="0">
                <a:latin typeface="Open Sans"/>
                <a:ea typeface="Open Sans"/>
                <a:cs typeface="Open Sans"/>
                <a:sym typeface="Open Sans"/>
              </a:rPr>
              <a:t>Provider training to limit implicit bias</a:t>
            </a:r>
            <a:endParaRPr sz="2600" dirty="0">
              <a:latin typeface="Open Sans"/>
              <a:ea typeface="Open Sans"/>
              <a:cs typeface="Open Sans"/>
              <a:sym typeface="Open Sans"/>
            </a:endParaRPr>
          </a:p>
          <a:p>
            <a:pPr marL="1371600" lvl="2" indent="-355600" algn="l" rtl="0">
              <a:lnSpc>
                <a:spcPct val="100000"/>
              </a:lnSpc>
              <a:spcBef>
                <a:spcPts val="0"/>
              </a:spcBef>
              <a:spcAft>
                <a:spcPts val="0"/>
              </a:spcAft>
              <a:buSzPct val="100000"/>
              <a:buChar char="•"/>
            </a:pPr>
            <a:r>
              <a:rPr lang="en-US" sz="2600" dirty="0">
                <a:latin typeface="Open Sans"/>
                <a:ea typeface="Open Sans"/>
                <a:cs typeface="Open Sans"/>
                <a:sym typeface="Open Sans"/>
              </a:rPr>
              <a:t>Inform data practices with experiential knowledge (ex. </a:t>
            </a:r>
            <a:r>
              <a:rPr lang="en-US" sz="2600" u="sng" dirty="0">
                <a:solidFill>
                  <a:schemeClr val="hlink"/>
                </a:solidFill>
                <a:latin typeface="Open Sans"/>
                <a:ea typeface="Open Sans"/>
                <a:cs typeface="Open Sans"/>
                <a:sym typeface="Open Sans"/>
                <a:hlinkClick r:id="rId4"/>
              </a:rPr>
              <a:t>SOGI questions experiential knowledge</a:t>
            </a:r>
            <a:r>
              <a:rPr lang="en-US" sz="2600" dirty="0">
                <a:latin typeface="Open Sans"/>
                <a:ea typeface="Open Sans"/>
                <a:cs typeface="Open Sans"/>
                <a:sym typeface="Open Sans"/>
              </a:rPr>
              <a:t>)</a:t>
            </a:r>
            <a:endParaRPr sz="3900" dirty="0">
              <a:latin typeface="Open Sans"/>
              <a:ea typeface="Open Sans"/>
              <a:cs typeface="Open Sans"/>
              <a:sym typeface="Open Sans"/>
            </a:endParaRPr>
          </a:p>
          <a:p>
            <a:pPr marL="1371600" lvl="2" indent="-228600" algn="l" rtl="0">
              <a:lnSpc>
                <a:spcPct val="100000"/>
              </a:lnSpc>
              <a:spcBef>
                <a:spcPts val="0"/>
              </a:spcBef>
              <a:spcAft>
                <a:spcPts val="0"/>
              </a:spcAft>
              <a:buSzPts val="2581"/>
              <a:buNone/>
            </a:pPr>
            <a:endParaRPr sz="1600" dirty="0">
              <a:latin typeface="Open Sans"/>
              <a:ea typeface="Open Sans"/>
              <a:cs typeface="Open Sans"/>
              <a:sym typeface="Open Sans"/>
            </a:endParaRPr>
          </a:p>
          <a:p>
            <a:pPr marL="457200" lvl="0" indent="-355600" algn="l" rtl="0">
              <a:lnSpc>
                <a:spcPct val="100000"/>
              </a:lnSpc>
              <a:spcBef>
                <a:spcPts val="0"/>
              </a:spcBef>
              <a:spcAft>
                <a:spcPts val="0"/>
              </a:spcAft>
              <a:buSzPct val="100000"/>
              <a:buChar char="•"/>
            </a:pPr>
            <a:r>
              <a:rPr lang="en-US" sz="2800" dirty="0">
                <a:latin typeface="Open Sans"/>
                <a:ea typeface="Open Sans"/>
                <a:cs typeface="Open Sans"/>
                <a:sym typeface="Open Sans"/>
              </a:rPr>
              <a:t>Advocate for </a:t>
            </a:r>
            <a:r>
              <a:rPr lang="en-US" sz="2800" b="1" dirty="0">
                <a:solidFill>
                  <a:srgbClr val="001C84"/>
                </a:solidFill>
                <a:latin typeface="Open Sans"/>
                <a:ea typeface="Open Sans"/>
                <a:cs typeface="Open Sans"/>
                <a:sym typeface="Open Sans"/>
              </a:rPr>
              <a:t>safer and more supportive housing services</a:t>
            </a:r>
            <a:r>
              <a:rPr lang="en-US" sz="2800" dirty="0">
                <a:latin typeface="Open Sans"/>
                <a:ea typeface="Open Sans"/>
                <a:cs typeface="Open Sans"/>
                <a:sym typeface="Open Sans"/>
              </a:rPr>
              <a:t>, which will lead to a more equitable representation in administrative data, thus reduced label bias</a:t>
            </a:r>
            <a:endParaRPr dirty="0"/>
          </a:p>
        </p:txBody>
      </p:sp>
      <p:sp>
        <p:nvSpPr>
          <p:cNvPr id="252" name="Google Shape;252;p21"/>
          <p:cNvSpPr/>
          <p:nvPr/>
        </p:nvSpPr>
        <p:spPr>
          <a:xfrm>
            <a:off x="2126014" y="5489759"/>
            <a:ext cx="8084786" cy="1143000"/>
          </a:xfrm>
          <a:prstGeom prst="wedgeRoundRectCallout">
            <a:avLst>
              <a:gd name="adj1" fmla="val -20927"/>
              <a:gd name="adj2" fmla="val 61810"/>
              <a:gd name="adj3" fmla="val 0"/>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600" b="1" i="0" u="none" strike="noStrike" cap="none">
                <a:solidFill>
                  <a:srgbClr val="001B83"/>
                </a:solidFill>
                <a:latin typeface="Open Sans"/>
                <a:ea typeface="Open Sans"/>
                <a:cs typeface="Open Sans"/>
                <a:sym typeface="Open Sans"/>
              </a:rPr>
              <a:t>“</a:t>
            </a:r>
            <a:r>
              <a:rPr lang="en-US" sz="1600" b="1" i="1" u="none" strike="noStrike" cap="none">
                <a:solidFill>
                  <a:srgbClr val="001B83"/>
                </a:solidFill>
                <a:latin typeface="Open Sans"/>
                <a:ea typeface="Open Sans"/>
                <a:cs typeface="Open Sans"/>
                <a:sym typeface="Open Sans"/>
              </a:rPr>
              <a:t>Being on the street, we’re not thinking about the color we are, so why is the government thinking about what color we are?</a:t>
            </a:r>
            <a:r>
              <a:rPr lang="en-US" sz="1600" b="1" i="0" u="none" strike="noStrike" cap="none">
                <a:solidFill>
                  <a:srgbClr val="001B83"/>
                </a:solidFill>
                <a:latin typeface="Open Sans"/>
                <a:ea typeface="Open Sans"/>
                <a:cs typeface="Open Sans"/>
                <a:sym typeface="Open Sans"/>
              </a:rPr>
              <a:t>” - Data Chat participant</a:t>
            </a:r>
            <a:endParaRPr sz="1400" b="0" i="0" u="none" strike="noStrike" cap="none">
              <a:solidFill>
                <a:srgbClr val="000000"/>
              </a:solidFill>
              <a:latin typeface="Calibri"/>
              <a:ea typeface="Calibri"/>
              <a:cs typeface="Calibri"/>
              <a:sym typeface="Calibri"/>
            </a:endParaRPr>
          </a:p>
        </p:txBody>
      </p:sp>
      <p:sp>
        <p:nvSpPr>
          <p:cNvPr id="2" name="Slide Number Placeholder 1">
            <a:extLst>
              <a:ext uri="{FF2B5EF4-FFF2-40B4-BE49-F238E27FC236}">
                <a16:creationId xmlns:a16="http://schemas.microsoft.com/office/drawing/2014/main" id="{7860995E-1D21-0143-1465-40A432F715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g348d5436fe2_0_5"/>
          <p:cNvSpPr txBox="1">
            <a:spLocks noGrp="1"/>
          </p:cNvSpPr>
          <p:nvPr>
            <p:ph type="title"/>
          </p:nvPr>
        </p:nvSpPr>
        <p:spPr>
          <a:xfrm>
            <a:off x="1981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US" b="1">
                <a:solidFill>
                  <a:srgbClr val="001C84"/>
                </a:solidFill>
                <a:latin typeface="Open Sans"/>
                <a:ea typeface="Open Sans"/>
                <a:cs typeface="Open Sans"/>
                <a:sym typeface="Open Sans"/>
              </a:rPr>
              <a:t>References</a:t>
            </a:r>
            <a:endParaRPr b="1">
              <a:solidFill>
                <a:srgbClr val="001C84"/>
              </a:solidFill>
              <a:latin typeface="Open Sans"/>
              <a:ea typeface="Open Sans"/>
              <a:cs typeface="Open Sans"/>
              <a:sym typeface="Open Sans"/>
            </a:endParaRPr>
          </a:p>
        </p:txBody>
      </p:sp>
      <p:sp>
        <p:nvSpPr>
          <p:cNvPr id="259" name="Google Shape;259;g348d5436fe2_0_5"/>
          <p:cNvSpPr txBox="1">
            <a:spLocks noGrp="1"/>
          </p:cNvSpPr>
          <p:nvPr>
            <p:ph type="body" idx="1"/>
          </p:nvPr>
        </p:nvSpPr>
        <p:spPr>
          <a:xfrm>
            <a:off x="740664" y="1600200"/>
            <a:ext cx="10671048" cy="45261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100000"/>
              </a:lnSpc>
              <a:spcBef>
                <a:spcPts val="360"/>
              </a:spcBef>
              <a:spcAft>
                <a:spcPts val="0"/>
              </a:spcAft>
              <a:buSzPct val="117647"/>
              <a:buNone/>
            </a:pPr>
            <a:r>
              <a:rPr lang="en-US" sz="1800" dirty="0">
                <a:latin typeface="Open Sans"/>
                <a:ea typeface="Open Sans"/>
                <a:cs typeface="Open Sans"/>
                <a:sym typeface="Open Sans"/>
              </a:rPr>
              <a:t>Banks, G.C., </a:t>
            </a:r>
            <a:r>
              <a:rPr lang="en-US" sz="1800" dirty="0" err="1">
                <a:latin typeface="Open Sans"/>
                <a:ea typeface="Open Sans"/>
                <a:cs typeface="Open Sans"/>
                <a:sym typeface="Open Sans"/>
              </a:rPr>
              <a:t>Tonidandel</a:t>
            </a:r>
            <a:r>
              <a:rPr lang="en-US" sz="1800" dirty="0">
                <a:latin typeface="Open Sans"/>
                <a:ea typeface="Open Sans"/>
                <a:cs typeface="Open Sans"/>
                <a:sym typeface="Open Sans"/>
              </a:rPr>
              <a:t>, S., Dou, W. et al. (2025). How to Reduce Bias in the Life Cycle of a Data Science Project. </a:t>
            </a:r>
            <a:r>
              <a:rPr lang="en-US" sz="1800" i="1" dirty="0">
                <a:latin typeface="Open Sans"/>
                <a:ea typeface="Open Sans"/>
                <a:cs typeface="Open Sans"/>
                <a:sym typeface="Open Sans"/>
              </a:rPr>
              <a:t>J Bus Psychol</a:t>
            </a:r>
            <a:r>
              <a:rPr lang="en-US" sz="1800" dirty="0">
                <a:latin typeface="Open Sans"/>
                <a:ea typeface="Open Sans"/>
                <a:cs typeface="Open Sans"/>
                <a:sym typeface="Open Sans"/>
              </a:rPr>
              <a:t>. </a:t>
            </a:r>
            <a:r>
              <a:rPr lang="en-US" sz="1800" u="sng" dirty="0">
                <a:solidFill>
                  <a:schemeClr val="hlink"/>
                </a:solidFill>
                <a:latin typeface="Open Sans"/>
                <a:ea typeface="Open Sans"/>
                <a:cs typeface="Open Sans"/>
                <a:sym typeface="Open Sans"/>
                <a:hlinkClick r:id="rId3"/>
              </a:rPr>
              <a:t>https://doi.org/10.1007/s10869-025-10022-x</a:t>
            </a:r>
            <a:endParaRPr sz="1800" dirty="0">
              <a:latin typeface="Open Sans"/>
              <a:ea typeface="Open Sans"/>
              <a:cs typeface="Open Sans"/>
              <a:sym typeface="Open Sans"/>
            </a:endParaRPr>
          </a:p>
          <a:p>
            <a:pPr marL="0" lvl="0" indent="0" algn="l" rtl="0">
              <a:lnSpc>
                <a:spcPct val="100000"/>
              </a:lnSpc>
              <a:spcBef>
                <a:spcPts val="360"/>
              </a:spcBef>
              <a:spcAft>
                <a:spcPts val="0"/>
              </a:spcAft>
              <a:buSzPct val="117647"/>
              <a:buNone/>
            </a:pPr>
            <a:endParaRPr sz="1800" dirty="0">
              <a:latin typeface="Open Sans"/>
              <a:ea typeface="Open Sans"/>
              <a:cs typeface="Open Sans"/>
              <a:sym typeface="Open Sans"/>
            </a:endParaRPr>
          </a:p>
          <a:p>
            <a:pPr marL="0" lvl="0" indent="0" algn="l" rtl="0">
              <a:lnSpc>
                <a:spcPct val="100000"/>
              </a:lnSpc>
              <a:spcBef>
                <a:spcPts val="360"/>
              </a:spcBef>
              <a:spcAft>
                <a:spcPts val="0"/>
              </a:spcAft>
              <a:buSzPct val="117647"/>
              <a:buNone/>
            </a:pPr>
            <a:r>
              <a:rPr lang="en-US" sz="1800" dirty="0">
                <a:latin typeface="Open Sans"/>
                <a:ea typeface="Open Sans"/>
                <a:cs typeface="Open Sans"/>
                <a:sym typeface="Open Sans"/>
              </a:rPr>
              <a:t>Ceccon, M., Cornacchia, G., Pezze, D., Fabris, A., </a:t>
            </a:r>
            <a:r>
              <a:rPr lang="en-US" sz="1800" dirty="0" err="1">
                <a:latin typeface="Open Sans"/>
                <a:ea typeface="Open Sans"/>
                <a:cs typeface="Open Sans"/>
                <a:sym typeface="Open Sans"/>
              </a:rPr>
              <a:t>Susto</a:t>
            </a:r>
            <a:r>
              <a:rPr lang="en-US" sz="1800" dirty="0">
                <a:latin typeface="Open Sans"/>
                <a:ea typeface="Open Sans"/>
                <a:cs typeface="Open Sans"/>
                <a:sym typeface="Open Sans"/>
              </a:rPr>
              <a:t>, G… (2025). Underrepresentation, label bias, and proxies: Towards Data Bias Profiles for the EU AI act and beyond. </a:t>
            </a:r>
            <a:r>
              <a:rPr lang="en-US" sz="1800" i="1" dirty="0">
                <a:latin typeface="Open Sans"/>
                <a:ea typeface="Open Sans"/>
                <a:cs typeface="Open Sans"/>
                <a:sym typeface="Open Sans"/>
              </a:rPr>
              <a:t>Expert Systems with Applications</a:t>
            </a:r>
            <a:r>
              <a:rPr lang="en-US" sz="1800" dirty="0">
                <a:latin typeface="Open Sans"/>
                <a:ea typeface="Open Sans"/>
                <a:cs typeface="Open Sans"/>
                <a:sym typeface="Open Sans"/>
              </a:rPr>
              <a:t>. </a:t>
            </a:r>
            <a:r>
              <a:rPr lang="en-US" sz="1800" u="sng" dirty="0">
                <a:solidFill>
                  <a:schemeClr val="hlink"/>
                </a:solidFill>
                <a:latin typeface="Open Sans"/>
                <a:ea typeface="Open Sans"/>
                <a:cs typeface="Open Sans"/>
                <a:sym typeface="Open Sans"/>
                <a:hlinkClick r:id="rId4"/>
              </a:rPr>
              <a:t>https://doi.org/10.1016/j.eswa.2025.128266</a:t>
            </a:r>
            <a:endParaRPr sz="1800" dirty="0">
              <a:latin typeface="Open Sans"/>
              <a:ea typeface="Open Sans"/>
              <a:cs typeface="Open Sans"/>
              <a:sym typeface="Open Sans"/>
            </a:endParaRPr>
          </a:p>
          <a:p>
            <a:pPr marL="0" lvl="0" indent="0" algn="l" rtl="0">
              <a:lnSpc>
                <a:spcPct val="100000"/>
              </a:lnSpc>
              <a:spcBef>
                <a:spcPts val="360"/>
              </a:spcBef>
              <a:spcAft>
                <a:spcPts val="0"/>
              </a:spcAft>
              <a:buSzPct val="117647"/>
              <a:buNone/>
            </a:pPr>
            <a:endParaRPr sz="1800" dirty="0">
              <a:latin typeface="Open Sans"/>
              <a:ea typeface="Open Sans"/>
              <a:cs typeface="Open Sans"/>
              <a:sym typeface="Open Sans"/>
            </a:endParaRPr>
          </a:p>
          <a:p>
            <a:pPr marL="0" lvl="0" indent="0" algn="l" rtl="0">
              <a:lnSpc>
                <a:spcPct val="100000"/>
              </a:lnSpc>
              <a:spcBef>
                <a:spcPts val="360"/>
              </a:spcBef>
              <a:spcAft>
                <a:spcPts val="0"/>
              </a:spcAft>
              <a:buSzPct val="61109"/>
              <a:buNone/>
            </a:pPr>
            <a:r>
              <a:rPr lang="en-US" sz="1800" dirty="0" err="1">
                <a:latin typeface="Open Sans"/>
                <a:ea typeface="Open Sans"/>
                <a:cs typeface="Open Sans"/>
                <a:sym typeface="Open Sans"/>
              </a:rPr>
              <a:t>Mhasawade</a:t>
            </a:r>
            <a:r>
              <a:rPr lang="en-US" sz="1800" dirty="0">
                <a:latin typeface="Open Sans"/>
                <a:ea typeface="Open Sans"/>
                <a:cs typeface="Open Sans"/>
                <a:sym typeface="Open Sans"/>
              </a:rPr>
              <a:t>, V., </a:t>
            </a:r>
            <a:r>
              <a:rPr lang="en-US" sz="1800" dirty="0" err="1">
                <a:latin typeface="Open Sans"/>
                <a:ea typeface="Open Sans"/>
                <a:cs typeface="Open Sans"/>
                <a:sym typeface="Open Sans"/>
              </a:rPr>
              <a:t>D’Amour</a:t>
            </a:r>
            <a:r>
              <a:rPr lang="en-US" sz="1800" dirty="0">
                <a:latin typeface="Open Sans"/>
                <a:ea typeface="Open Sans"/>
                <a:cs typeface="Open Sans"/>
                <a:sym typeface="Open Sans"/>
              </a:rPr>
              <a:t>, A., &amp; Pfohl, S. R. (2024). A Causal Perspective on Label Bias. </a:t>
            </a:r>
            <a:r>
              <a:rPr lang="en-US" sz="1800" i="1" dirty="0">
                <a:latin typeface="Open Sans"/>
                <a:ea typeface="Open Sans"/>
                <a:cs typeface="Open Sans"/>
                <a:sym typeface="Open Sans"/>
              </a:rPr>
              <a:t>In Proceedings of the 2024 ACM Conference on Fairness, Accountability, and Transparency</a:t>
            </a:r>
            <a:r>
              <a:rPr lang="en-US" sz="1800" dirty="0">
                <a:latin typeface="Open Sans"/>
                <a:ea typeface="Open Sans"/>
                <a:cs typeface="Open Sans"/>
                <a:sym typeface="Open Sans"/>
              </a:rPr>
              <a:t> (pp. 1282‑1294). ACM. </a:t>
            </a:r>
            <a:r>
              <a:rPr lang="en-US" sz="1800" u="sng" dirty="0">
                <a:solidFill>
                  <a:schemeClr val="hlink"/>
                </a:solidFill>
                <a:latin typeface="Open Sans"/>
                <a:ea typeface="Open Sans"/>
                <a:cs typeface="Open Sans"/>
                <a:sym typeface="Open Sans"/>
                <a:hlinkClick r:id="rId5"/>
              </a:rPr>
              <a:t>https://doi.org/10.1145/3630106.3658972</a:t>
            </a:r>
            <a:r>
              <a:rPr lang="en-US" sz="1800" dirty="0">
                <a:latin typeface="Open Sans"/>
                <a:ea typeface="Open Sans"/>
                <a:cs typeface="Open Sans"/>
                <a:sym typeface="Open Sans"/>
              </a:rPr>
              <a:t> </a:t>
            </a:r>
            <a:endParaRPr sz="1800" dirty="0">
              <a:latin typeface="Open Sans"/>
              <a:ea typeface="Open Sans"/>
              <a:cs typeface="Open Sans"/>
              <a:sym typeface="Open Sans"/>
            </a:endParaRPr>
          </a:p>
          <a:p>
            <a:pPr marL="0" lvl="0" indent="0" algn="l" rtl="0">
              <a:lnSpc>
                <a:spcPct val="100000"/>
              </a:lnSpc>
              <a:spcBef>
                <a:spcPts val="360"/>
              </a:spcBef>
              <a:spcAft>
                <a:spcPts val="0"/>
              </a:spcAft>
              <a:buSzPct val="61109"/>
              <a:buNone/>
            </a:pPr>
            <a:endParaRPr sz="1800" dirty="0">
              <a:latin typeface="Open Sans"/>
              <a:ea typeface="Open Sans"/>
              <a:cs typeface="Open Sans"/>
              <a:sym typeface="Open Sans"/>
            </a:endParaRPr>
          </a:p>
          <a:p>
            <a:pPr marL="0" lvl="0" indent="0" algn="l" rtl="0">
              <a:lnSpc>
                <a:spcPct val="100000"/>
              </a:lnSpc>
              <a:spcBef>
                <a:spcPts val="360"/>
              </a:spcBef>
              <a:spcAft>
                <a:spcPts val="0"/>
              </a:spcAft>
              <a:buSzPct val="61109"/>
              <a:buNone/>
            </a:pPr>
            <a:r>
              <a:rPr lang="en-US" sz="1800" dirty="0">
                <a:latin typeface="Open Sans"/>
                <a:ea typeface="Open Sans"/>
                <a:cs typeface="Open Sans"/>
                <a:sym typeface="Open Sans"/>
              </a:rPr>
              <a:t>Suen, L. W., Lunn, M. R., </a:t>
            </a:r>
            <a:r>
              <a:rPr lang="en-US" sz="1800" dirty="0" err="1">
                <a:latin typeface="Open Sans"/>
                <a:ea typeface="Open Sans"/>
                <a:cs typeface="Open Sans"/>
                <a:sym typeface="Open Sans"/>
              </a:rPr>
              <a:t>Katuzny</a:t>
            </a:r>
            <a:r>
              <a:rPr lang="en-US" sz="1800" dirty="0">
                <a:latin typeface="Open Sans"/>
                <a:ea typeface="Open Sans"/>
                <a:cs typeface="Open Sans"/>
                <a:sym typeface="Open Sans"/>
              </a:rPr>
              <a:t>, K., Finn, S., Duncan, L., </a:t>
            </a:r>
            <a:r>
              <a:rPr lang="en-US" sz="1800" dirty="0" err="1">
                <a:latin typeface="Open Sans"/>
                <a:ea typeface="Open Sans"/>
                <a:cs typeface="Open Sans"/>
                <a:sym typeface="Open Sans"/>
              </a:rPr>
              <a:t>Sevelius</a:t>
            </a:r>
            <a:r>
              <a:rPr lang="en-US" sz="1800" dirty="0">
                <a:latin typeface="Open Sans"/>
                <a:ea typeface="Open Sans"/>
                <a:cs typeface="Open Sans"/>
                <a:sym typeface="Open Sans"/>
              </a:rPr>
              <a:t>, J., Flentje, A., Capriotti, M. R., </a:t>
            </a:r>
            <a:r>
              <a:rPr lang="en-US" sz="1800" dirty="0" err="1">
                <a:latin typeface="Open Sans"/>
                <a:ea typeface="Open Sans"/>
                <a:cs typeface="Open Sans"/>
                <a:sym typeface="Open Sans"/>
              </a:rPr>
              <a:t>Lubensky</a:t>
            </a:r>
            <a:r>
              <a:rPr lang="en-US" sz="1800" dirty="0">
                <a:latin typeface="Open Sans"/>
                <a:ea typeface="Open Sans"/>
                <a:cs typeface="Open Sans"/>
                <a:sym typeface="Open Sans"/>
              </a:rPr>
              <a:t>, M. E., Hunt, C., Weber, S., Bibbins-Domingo, K., &amp; </a:t>
            </a:r>
            <a:r>
              <a:rPr lang="en-US" sz="1800" dirty="0" err="1">
                <a:latin typeface="Open Sans"/>
                <a:ea typeface="Open Sans"/>
                <a:cs typeface="Open Sans"/>
                <a:sym typeface="Open Sans"/>
              </a:rPr>
              <a:t>Obedin-Maliver</a:t>
            </a:r>
            <a:r>
              <a:rPr lang="en-US" sz="1800" dirty="0">
                <a:latin typeface="Open Sans"/>
                <a:ea typeface="Open Sans"/>
                <a:cs typeface="Open Sans"/>
                <a:sym typeface="Open Sans"/>
              </a:rPr>
              <a:t>, J. (2020). What Sexual and Gender Minority People Want Researchers to Know About Sexual Orientation and Gender Identity Questions: A Qualitative Study. </a:t>
            </a:r>
            <a:r>
              <a:rPr lang="en-US" sz="1800" i="1" dirty="0">
                <a:latin typeface="Open Sans"/>
                <a:ea typeface="Open Sans"/>
                <a:cs typeface="Open Sans"/>
                <a:sym typeface="Open Sans"/>
              </a:rPr>
              <a:t>Archives of sexual behavior</a:t>
            </a:r>
            <a:r>
              <a:rPr lang="en-US" sz="1800" dirty="0">
                <a:latin typeface="Open Sans"/>
                <a:ea typeface="Open Sans"/>
                <a:cs typeface="Open Sans"/>
                <a:sym typeface="Open Sans"/>
              </a:rPr>
              <a:t>, 49(7), 2301–2318. </a:t>
            </a:r>
            <a:r>
              <a:rPr lang="en-US" sz="1800" u="sng" dirty="0">
                <a:solidFill>
                  <a:schemeClr val="hlink"/>
                </a:solidFill>
                <a:latin typeface="Open Sans"/>
                <a:ea typeface="Open Sans"/>
                <a:cs typeface="Open Sans"/>
                <a:sym typeface="Open Sans"/>
                <a:hlinkClick r:id="rId6"/>
              </a:rPr>
              <a:t>https://doi.org/10.1007/s10508-020-01810-y</a:t>
            </a:r>
            <a:endParaRPr sz="1800" dirty="0">
              <a:latin typeface="Open Sans"/>
              <a:ea typeface="Open Sans"/>
              <a:cs typeface="Open Sans"/>
              <a:sym typeface="Open Sans"/>
            </a:endParaRPr>
          </a:p>
          <a:p>
            <a:pPr marL="0" lvl="0" indent="0" algn="l" rtl="0">
              <a:lnSpc>
                <a:spcPct val="100000"/>
              </a:lnSpc>
              <a:spcBef>
                <a:spcPts val="360"/>
              </a:spcBef>
              <a:spcAft>
                <a:spcPts val="0"/>
              </a:spcAft>
              <a:buSzPct val="61109"/>
              <a:buNone/>
            </a:pPr>
            <a:endParaRPr sz="1800" dirty="0">
              <a:latin typeface="Open Sans"/>
              <a:ea typeface="Open Sans"/>
              <a:cs typeface="Open Sans"/>
              <a:sym typeface="Open Sans"/>
            </a:endParaRPr>
          </a:p>
          <a:p>
            <a:pPr marL="0" lvl="0" indent="0" algn="l" rtl="0">
              <a:lnSpc>
                <a:spcPct val="100000"/>
              </a:lnSpc>
              <a:spcBef>
                <a:spcPts val="360"/>
              </a:spcBef>
              <a:spcAft>
                <a:spcPts val="0"/>
              </a:spcAft>
              <a:buSzPct val="61109"/>
              <a:buNone/>
            </a:pPr>
            <a:r>
              <a:rPr lang="en-US" sz="1800" dirty="0">
                <a:latin typeface="Open Sans"/>
                <a:ea typeface="Open Sans"/>
                <a:cs typeface="Open Sans"/>
                <a:sym typeface="Open Sans"/>
              </a:rPr>
              <a:t>Patterson, J. G., </a:t>
            </a:r>
            <a:r>
              <a:rPr lang="en-US" sz="1800" dirty="0" err="1">
                <a:latin typeface="Open Sans"/>
                <a:ea typeface="Open Sans"/>
                <a:cs typeface="Open Sans"/>
                <a:sym typeface="Open Sans"/>
              </a:rPr>
              <a:t>Jabson</a:t>
            </a:r>
            <a:r>
              <a:rPr lang="en-US" sz="1800" dirty="0">
                <a:latin typeface="Open Sans"/>
                <a:ea typeface="Open Sans"/>
                <a:cs typeface="Open Sans"/>
                <a:sym typeface="Open Sans"/>
              </a:rPr>
              <a:t>, J. M., &amp; Bowen, D. J. (2017). Measuring Sexual and Gender Minority Populations in Health Surveillance. </a:t>
            </a:r>
            <a:r>
              <a:rPr lang="en-US" sz="1800" i="1" dirty="0">
                <a:latin typeface="Open Sans"/>
                <a:ea typeface="Open Sans"/>
                <a:cs typeface="Open Sans"/>
                <a:sym typeface="Open Sans"/>
              </a:rPr>
              <a:t>LGBT health</a:t>
            </a:r>
            <a:r>
              <a:rPr lang="en-US" sz="1800" dirty="0">
                <a:latin typeface="Open Sans"/>
                <a:ea typeface="Open Sans"/>
                <a:cs typeface="Open Sans"/>
                <a:sym typeface="Open Sans"/>
              </a:rPr>
              <a:t>, 4(2), 82–105. https://doi.org/10.1089/lgbt.2016.0026</a:t>
            </a:r>
            <a:endParaRPr sz="1800" dirty="0">
              <a:latin typeface="Open Sans"/>
              <a:ea typeface="Open Sans"/>
              <a:cs typeface="Open Sans"/>
              <a:sym typeface="Open Sans"/>
            </a:endParaRPr>
          </a:p>
          <a:p>
            <a:pPr marL="0" lvl="0" indent="0" algn="l" rtl="0">
              <a:lnSpc>
                <a:spcPct val="100000"/>
              </a:lnSpc>
              <a:spcBef>
                <a:spcPts val="360"/>
              </a:spcBef>
              <a:spcAft>
                <a:spcPts val="0"/>
              </a:spcAft>
              <a:buSzPct val="61109"/>
              <a:buNone/>
            </a:pPr>
            <a:endParaRPr sz="1800" dirty="0">
              <a:latin typeface="Open Sans"/>
              <a:ea typeface="Open Sans"/>
              <a:cs typeface="Open Sans"/>
              <a:sym typeface="Open Sans"/>
            </a:endParaRPr>
          </a:p>
          <a:p>
            <a:pPr marL="0" lvl="0" indent="0" algn="l" rtl="0">
              <a:lnSpc>
                <a:spcPct val="100000"/>
              </a:lnSpc>
              <a:spcBef>
                <a:spcPts val="360"/>
              </a:spcBef>
              <a:spcAft>
                <a:spcPts val="0"/>
              </a:spcAft>
              <a:buSzPct val="61109"/>
              <a:buNone/>
            </a:pPr>
            <a:endParaRPr sz="1800" dirty="0">
              <a:latin typeface="Open Sans"/>
              <a:ea typeface="Open Sans"/>
              <a:cs typeface="Open Sans"/>
              <a:sym typeface="Open Sans"/>
            </a:endParaRPr>
          </a:p>
        </p:txBody>
      </p:sp>
      <p:sp>
        <p:nvSpPr>
          <p:cNvPr id="2" name="Slide Number Placeholder 1">
            <a:extLst>
              <a:ext uri="{FF2B5EF4-FFF2-40B4-BE49-F238E27FC236}">
                <a16:creationId xmlns:a16="http://schemas.microsoft.com/office/drawing/2014/main" id="{E3794E4F-18D1-0D8E-0B37-3416A78BEE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263</TotalTime>
  <Words>2437</Words>
  <Application>Microsoft Office PowerPoint</Application>
  <PresentationFormat>Widescreen</PresentationFormat>
  <Paragraphs>223</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Open Sans</vt:lpstr>
      <vt:lpstr>Calibri</vt:lpstr>
      <vt:lpstr>Arial</vt:lpstr>
      <vt:lpstr>Office Theme</vt:lpstr>
      <vt:lpstr>An illustration of  Label Bias  in Homelessness Data Analytics</vt:lpstr>
      <vt:lpstr>PowerPoint Presentation</vt:lpstr>
      <vt:lpstr>PowerPoint Presentation</vt:lpstr>
      <vt:lpstr>PowerPoint Presentation</vt:lpstr>
      <vt:lpstr>Introduction</vt:lpstr>
      <vt:lpstr>What is Label Bias</vt:lpstr>
      <vt:lpstr>What is Label Bias</vt:lpstr>
      <vt:lpstr>What is Label Bias</vt:lpstr>
      <vt:lpstr>What is Label Bias</vt:lpstr>
      <vt:lpstr>Who is missing in the data?</vt:lpstr>
      <vt:lpstr>Label Bias in Homelessness Research: Insights from Data Chat Participants</vt:lpstr>
      <vt:lpstr>Simulated Data Example - I</vt:lpstr>
      <vt:lpstr>Simulated Data Example - I</vt:lpstr>
      <vt:lpstr>Simulated Data Example - I</vt:lpstr>
      <vt:lpstr>Simulated Data Example - II</vt:lpstr>
      <vt:lpstr>Simulated Data Example - II</vt:lpstr>
      <vt:lpstr>What to do about it? </vt:lpstr>
      <vt:lpstr>What to do about it? </vt:lpstr>
      <vt:lpstr>What to do about it?</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Francisca Richter</cp:lastModifiedBy>
  <cp:revision>9</cp:revision>
  <dcterms:created xsi:type="dcterms:W3CDTF">2012-08-24T00:53:15Z</dcterms:created>
  <dcterms:modified xsi:type="dcterms:W3CDTF">2026-02-10T01:35:40Z</dcterms:modified>
</cp:coreProperties>
</file>