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73" r:id="rId2"/>
  </p:sldMasterIdLst>
  <p:notesMasterIdLst>
    <p:notesMasterId r:id="rId16"/>
  </p:notesMasterIdLst>
  <p:sldIdLst>
    <p:sldId id="263" r:id="rId3"/>
    <p:sldId id="267" r:id="rId4"/>
    <p:sldId id="256" r:id="rId5"/>
    <p:sldId id="257" r:id="rId6"/>
    <p:sldId id="266" r:id="rId7"/>
    <p:sldId id="258" r:id="rId8"/>
    <p:sldId id="264" r:id="rId9"/>
    <p:sldId id="260" r:id="rId10"/>
    <p:sldId id="265" r:id="rId11"/>
    <p:sldId id="259" r:id="rId12"/>
    <p:sldId id="261" r:id="rId13"/>
    <p:sldId id="268" r:id="rId14"/>
    <p:sldId id="262" r:id="rId15"/>
  </p:sldIdLst>
  <p:sldSz cx="12192000" cy="6858000"/>
  <p:notesSz cx="6858000" cy="9144000"/>
  <p:embeddedFontLst>
    <p:embeddedFont>
      <p:font typeface="Open Sans" panose="020B0606030504020204" pitchFamily="34" charset="0"/>
      <p:regular r:id="rId17"/>
      <p:bold r:id="rId18"/>
      <p:italic r:id="rId19"/>
      <p:boldItalic r:id="rId20"/>
    </p:embeddedFont>
    <p:embeddedFont>
      <p:font typeface="Play" panose="020B0604020202020204" charset="0"/>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000000"/>
          </p15:clr>
        </p15:guide>
        <p15:guide id="2" pos="3840" userDrawn="1">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jmBLiJfyWlbKpoeJs8bgXznQo3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C84"/>
    <a:srgbClr val="A9A9A9"/>
    <a:srgbClr val="674001"/>
    <a:srgbClr val="FEB137"/>
    <a:srgbClr val="00504E"/>
    <a:srgbClr val="007E7B"/>
    <a:srgbClr val="00BDBA"/>
    <a:srgbClr val="C5FFFE"/>
    <a:srgbClr val="FFE9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C39647-D625-41E1-A746-DD2B00F71F6D}" v="6" dt="2026-01-23T19:22:36.698"/>
  </p1510:revLst>
</p1510:revInfo>
</file>

<file path=ppt/tableStyles.xml><?xml version="1.0" encoding="utf-8"?>
<a:tblStyleLst xmlns:a="http://schemas.openxmlformats.org/drawingml/2006/main" def="{B4D0EB23-BE61-444C-BAE3-8A2D2E021864}">
  <a:tblStyle styleId="{B4D0EB23-BE61-444C-BAE3-8A2D2E021864}" styleName="Table_0">
    <a:wholeTbl>
      <a:tcTxStyle b="off" i="off">
        <a:font>
          <a:latin typeface="Calibri"/>
          <a:ea typeface="Calibri"/>
          <a:cs typeface="Calibri"/>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94660"/>
  </p:normalViewPr>
  <p:slideViewPr>
    <p:cSldViewPr snapToGrid="0">
      <p:cViewPr varScale="1">
        <p:scale>
          <a:sx n="78" d="100"/>
          <a:sy n="78" d="100"/>
        </p:scale>
        <p:origin x="878"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font" Target="fonts/font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customschemas.google.com/relationships/presentationmetadata" Target="metadata"/><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isca Richter" userId="748852301_tp_box_2" providerId="OAuth2" clId="{D7DBE78D-EE8F-4140-B1BE-F9108D0C41A8}"/>
    <pc:docChg chg="custSel addSld modSld">
      <pc:chgData name="Francisca Richter" userId="748852301_tp_box_2" providerId="OAuth2" clId="{D7DBE78D-EE8F-4140-B1BE-F9108D0C41A8}" dt="2026-01-23T20:30:12.829" v="331" actId="1076"/>
      <pc:docMkLst>
        <pc:docMk/>
      </pc:docMkLst>
      <pc:sldChg chg="modSp mod">
        <pc:chgData name="Francisca Richter" userId="748852301_tp_box_2" providerId="OAuth2" clId="{D7DBE78D-EE8F-4140-B1BE-F9108D0C41A8}" dt="2026-01-23T18:45:26.554" v="91" actId="113"/>
        <pc:sldMkLst>
          <pc:docMk/>
          <pc:sldMk cId="0" sldId="256"/>
        </pc:sldMkLst>
        <pc:spChg chg="mod">
          <ac:chgData name="Francisca Richter" userId="748852301_tp_box_2" providerId="OAuth2" clId="{D7DBE78D-EE8F-4140-B1BE-F9108D0C41A8}" dt="2026-01-23T18:45:26.554" v="91" actId="113"/>
          <ac:spMkLst>
            <pc:docMk/>
            <pc:sldMk cId="0" sldId="256"/>
            <ac:spMk id="136" creationId="{00000000-0000-0000-0000-000000000000}"/>
          </ac:spMkLst>
        </pc:spChg>
      </pc:sldChg>
      <pc:sldChg chg="modSp mod">
        <pc:chgData name="Francisca Richter" userId="748852301_tp_box_2" providerId="OAuth2" clId="{D7DBE78D-EE8F-4140-B1BE-F9108D0C41A8}" dt="2026-01-12T20:41:39.276" v="13" actId="20577"/>
        <pc:sldMkLst>
          <pc:docMk/>
          <pc:sldMk cId="0" sldId="259"/>
        </pc:sldMkLst>
        <pc:spChg chg="mod">
          <ac:chgData name="Francisca Richter" userId="748852301_tp_box_2" providerId="OAuth2" clId="{D7DBE78D-EE8F-4140-B1BE-F9108D0C41A8}" dt="2026-01-12T20:41:39.276" v="13" actId="20577"/>
          <ac:spMkLst>
            <pc:docMk/>
            <pc:sldMk cId="0" sldId="259"/>
            <ac:spMk id="8" creationId="{EF0141A4-2BF9-0B0B-E753-AF0376CE526F}"/>
          </ac:spMkLst>
        </pc:spChg>
      </pc:sldChg>
      <pc:sldChg chg="modSp mod">
        <pc:chgData name="Francisca Richter" userId="748852301_tp_box_2" providerId="OAuth2" clId="{D7DBE78D-EE8F-4140-B1BE-F9108D0C41A8}" dt="2026-01-23T20:30:12.829" v="331" actId="1076"/>
        <pc:sldMkLst>
          <pc:docMk/>
          <pc:sldMk cId="0" sldId="262"/>
        </pc:sldMkLst>
        <pc:spChg chg="mod">
          <ac:chgData name="Francisca Richter" userId="748852301_tp_box_2" providerId="OAuth2" clId="{D7DBE78D-EE8F-4140-B1BE-F9108D0C41A8}" dt="2026-01-23T20:30:12.829" v="331" actId="1076"/>
          <ac:spMkLst>
            <pc:docMk/>
            <pc:sldMk cId="0" sldId="262"/>
            <ac:spMk id="191" creationId="{00000000-0000-0000-0000-000000000000}"/>
          </ac:spMkLst>
        </pc:spChg>
        <pc:spChg chg="mod">
          <ac:chgData name="Francisca Richter" userId="748852301_tp_box_2" providerId="OAuth2" clId="{D7DBE78D-EE8F-4140-B1BE-F9108D0C41A8}" dt="2026-01-23T20:30:09.216" v="330" actId="1076"/>
          <ac:spMkLst>
            <pc:docMk/>
            <pc:sldMk cId="0" sldId="262"/>
            <ac:spMk id="192" creationId="{00000000-0000-0000-0000-000000000000}"/>
          </ac:spMkLst>
        </pc:spChg>
      </pc:sldChg>
      <pc:sldChg chg="modSp mod">
        <pc:chgData name="Francisca Richter" userId="748852301_tp_box_2" providerId="OAuth2" clId="{D7DBE78D-EE8F-4140-B1BE-F9108D0C41A8}" dt="2026-01-23T18:44:40.917" v="90" actId="20577"/>
        <pc:sldMkLst>
          <pc:docMk/>
          <pc:sldMk cId="2326667596" sldId="265"/>
        </pc:sldMkLst>
        <pc:spChg chg="mod">
          <ac:chgData name="Francisca Richter" userId="748852301_tp_box_2" providerId="OAuth2" clId="{D7DBE78D-EE8F-4140-B1BE-F9108D0C41A8}" dt="2026-01-23T18:43:03.501" v="16" actId="404"/>
          <ac:spMkLst>
            <pc:docMk/>
            <pc:sldMk cId="2326667596" sldId="265"/>
            <ac:spMk id="178" creationId="{E185B186-6969-AAFD-7A16-E95727E1DCB7}"/>
          </ac:spMkLst>
        </pc:spChg>
        <pc:spChg chg="mod">
          <ac:chgData name="Francisca Richter" userId="748852301_tp_box_2" providerId="OAuth2" clId="{D7DBE78D-EE8F-4140-B1BE-F9108D0C41A8}" dt="2026-01-23T18:44:40.917" v="90" actId="20577"/>
          <ac:spMkLst>
            <pc:docMk/>
            <pc:sldMk cId="2326667596" sldId="265"/>
            <ac:spMk id="180" creationId="{2E69DC33-7B8F-923B-C10B-61CB96844837}"/>
          </ac:spMkLst>
        </pc:spChg>
        <pc:picChg chg="mod">
          <ac:chgData name="Francisca Richter" userId="748852301_tp_box_2" providerId="OAuth2" clId="{D7DBE78D-EE8F-4140-B1BE-F9108D0C41A8}" dt="2026-01-23T18:42:55.999" v="14" actId="1076"/>
          <ac:picMkLst>
            <pc:docMk/>
            <pc:sldMk cId="2326667596" sldId="265"/>
            <ac:picMk id="1026" creationId="{D6C1FD0C-BE16-243A-55E8-E100712B7C0D}"/>
          </ac:picMkLst>
        </pc:picChg>
      </pc:sldChg>
      <pc:sldChg chg="modSp new mod">
        <pc:chgData name="Francisca Richter" userId="748852301_tp_box_2" providerId="OAuth2" clId="{D7DBE78D-EE8F-4140-B1BE-F9108D0C41A8}" dt="2026-01-23T20:07:15.813" v="327" actId="6549"/>
        <pc:sldMkLst>
          <pc:docMk/>
          <pc:sldMk cId="24634624" sldId="266"/>
        </pc:sldMkLst>
        <pc:spChg chg="mod">
          <ac:chgData name="Francisca Richter" userId="748852301_tp_box_2" providerId="OAuth2" clId="{D7DBE78D-EE8F-4140-B1BE-F9108D0C41A8}" dt="2026-01-23T19:20:10.926" v="206" actId="207"/>
          <ac:spMkLst>
            <pc:docMk/>
            <pc:sldMk cId="24634624" sldId="266"/>
            <ac:spMk id="2" creationId="{2BA9B9D3-E45D-C90F-38E3-7C5474A8F803}"/>
          </ac:spMkLst>
        </pc:spChg>
        <pc:spChg chg="mod">
          <ac:chgData name="Francisca Richter" userId="748852301_tp_box_2" providerId="OAuth2" clId="{D7DBE78D-EE8F-4140-B1BE-F9108D0C41A8}" dt="2026-01-23T20:07:15.813" v="327" actId="6549"/>
          <ac:spMkLst>
            <pc:docMk/>
            <pc:sldMk cId="24634624" sldId="266"/>
            <ac:spMk id="3" creationId="{3A282CED-ED94-971E-7691-D97DB3264EA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3F1ADD23-0B19-A662-6A6F-813DE30429F8}"/>
            </a:ext>
          </a:extLst>
        </p:cNvPr>
        <p:cNvGrpSpPr/>
        <p:nvPr/>
      </p:nvGrpSpPr>
      <p:grpSpPr>
        <a:xfrm>
          <a:off x="0" y="0"/>
          <a:ext cx="0" cy="0"/>
          <a:chOff x="0" y="0"/>
          <a:chExt cx="0" cy="0"/>
        </a:xfrm>
      </p:grpSpPr>
      <p:sp>
        <p:nvSpPr>
          <p:cNvPr id="113" name="Google Shape;113;p2:notes">
            <a:extLst>
              <a:ext uri="{FF2B5EF4-FFF2-40B4-BE49-F238E27FC236}">
                <a16:creationId xmlns:a16="http://schemas.microsoft.com/office/drawing/2014/main" id="{74191871-6948-B352-A8D9-E9E587AB34B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
        <p:nvSpPr>
          <p:cNvPr id="114" name="Google Shape;114;p2:notes">
            <a:extLst>
              <a:ext uri="{FF2B5EF4-FFF2-40B4-BE49-F238E27FC236}">
                <a16:creationId xmlns:a16="http://schemas.microsoft.com/office/drawing/2014/main" id="{25AE39E6-7E63-7806-D91F-56379DEAFD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54594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a9d64d8e29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a9d64d8e29_0_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t>“Widely used health care algorithm has racial bias”</a:t>
            </a:r>
            <a:endParaRPr/>
          </a:p>
          <a:p>
            <a:pPr marL="0" lvl="0" indent="0" algn="l" rtl="0">
              <a:spcBef>
                <a:spcPts val="0"/>
              </a:spcBef>
              <a:spcAft>
                <a:spcPts val="0"/>
              </a:spcAft>
              <a:buClr>
                <a:schemeClr val="dk1"/>
              </a:buClr>
              <a:buSzPts val="1100"/>
              <a:buFont typeface="Arial"/>
              <a:buNone/>
            </a:pPr>
            <a:r>
              <a:rPr lang="en-US"/>
              <a:t>Harvard School of Public Health, 2019</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“An AI algorithm designed for child welfare could have the potential for discrimination and now the Justice Department is looking into it.” Fortune 01/31/2023</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 Could Machine Learning Help Reduce Inequities in the Homelessness Response System?”</a:t>
            </a:r>
            <a:endParaRPr/>
          </a:p>
          <a:p>
            <a:pPr marL="0" lvl="0" indent="0" algn="l" rtl="0">
              <a:spcBef>
                <a:spcPts val="0"/>
              </a:spcBef>
              <a:spcAft>
                <a:spcPts val="0"/>
              </a:spcAft>
              <a:buClr>
                <a:schemeClr val="dk1"/>
              </a:buClr>
              <a:buSzPts val="1100"/>
              <a:buFont typeface="Arial"/>
              <a:buNone/>
            </a:pPr>
            <a:r>
              <a:rPr lang="en-US"/>
              <a:t>Urban Institute Report, March 2024</a:t>
            </a:r>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9d64d8e29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a9d64d8e29_0_1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a9d64d8e29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a9d64d8e29_0_1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a9d64d8e29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a9d64d8e29_0_1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a:extLst>
            <a:ext uri="{FF2B5EF4-FFF2-40B4-BE49-F238E27FC236}">
              <a16:creationId xmlns:a16="http://schemas.microsoft.com/office/drawing/2014/main" id="{51997CE9-E452-AC0F-4914-E75C5B6BAA6D}"/>
            </a:ext>
          </a:extLst>
        </p:cNvPr>
        <p:cNvGrpSpPr/>
        <p:nvPr/>
      </p:nvGrpSpPr>
      <p:grpSpPr>
        <a:xfrm>
          <a:off x="0" y="0"/>
          <a:ext cx="0" cy="0"/>
          <a:chOff x="0" y="0"/>
          <a:chExt cx="0" cy="0"/>
        </a:xfrm>
      </p:grpSpPr>
      <p:sp>
        <p:nvSpPr>
          <p:cNvPr id="175" name="Google Shape;175;g3a9d64d8e29_0_142:notes">
            <a:extLst>
              <a:ext uri="{FF2B5EF4-FFF2-40B4-BE49-F238E27FC236}">
                <a16:creationId xmlns:a16="http://schemas.microsoft.com/office/drawing/2014/main" id="{B31BCCBA-2D13-3BC4-E407-9FEE640FDA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a9d64d8e29_0_142:notes">
            <a:extLst>
              <a:ext uri="{FF2B5EF4-FFF2-40B4-BE49-F238E27FC236}">
                <a16:creationId xmlns:a16="http://schemas.microsoft.com/office/drawing/2014/main" id="{830F022E-A5AC-A36B-8886-C05FEFBBE9D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4078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a9d64d8e29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a9d64d8e29_0_2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acb03a8e5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acb03a8e57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E13DD061-4E64-2976-278B-6C47EEE4EE63}"/>
            </a:ext>
          </a:extLst>
        </p:cNvPr>
        <p:cNvGrpSpPr/>
        <p:nvPr/>
      </p:nvGrpSpPr>
      <p:grpSpPr>
        <a:xfrm>
          <a:off x="0" y="0"/>
          <a:ext cx="0" cy="0"/>
          <a:chOff x="0" y="0"/>
          <a:chExt cx="0" cy="0"/>
        </a:xfrm>
      </p:grpSpPr>
      <p:sp>
        <p:nvSpPr>
          <p:cNvPr id="142" name="Google Shape;142;g3a9d64d8e29_0_115:notes">
            <a:extLst>
              <a:ext uri="{FF2B5EF4-FFF2-40B4-BE49-F238E27FC236}">
                <a16:creationId xmlns:a16="http://schemas.microsoft.com/office/drawing/2014/main" id="{51E3455E-37F1-0E29-7A8E-6515AA26A4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a9d64d8e29_0_115:notes">
            <a:extLst>
              <a:ext uri="{FF2B5EF4-FFF2-40B4-BE49-F238E27FC236}">
                <a16:creationId xmlns:a16="http://schemas.microsoft.com/office/drawing/2014/main" id="{95A74FC6-F23D-6250-A455-D755A4062B1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2321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a9d64d8e29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a9d64d8e29_0_2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8"/>
        <p:cNvGrpSpPr/>
        <p:nvPr/>
      </p:nvGrpSpPr>
      <p:grpSpPr>
        <a:xfrm>
          <a:off x="0" y="0"/>
          <a:ext cx="0" cy="0"/>
          <a:chOff x="0" y="0"/>
          <a:chExt cx="0" cy="0"/>
        </a:xfrm>
      </p:grpSpPr>
      <p:sp>
        <p:nvSpPr>
          <p:cNvPr id="89" name="Google Shape;89;g3a9d64d8e29_0_160"/>
          <p:cNvSpPr txBox="1">
            <a:spLocks noGrp="1"/>
          </p:cNvSpPr>
          <p:nvPr>
            <p:ph type="ctrTitle"/>
          </p:nvPr>
        </p:nvSpPr>
        <p:spPr>
          <a:xfrm>
            <a:off x="415611" y="992767"/>
            <a:ext cx="11360800" cy="273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90" name="Google Shape;90;g3a9d64d8e29_0_160"/>
          <p:cNvSpPr txBox="1">
            <a:spLocks noGrp="1"/>
          </p:cNvSpPr>
          <p:nvPr>
            <p:ph type="subTitle" idx="1"/>
          </p:nvPr>
        </p:nvSpPr>
        <p:spPr>
          <a:xfrm>
            <a:off x="415600" y="3778833"/>
            <a:ext cx="11360800" cy="10569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91" name="Google Shape;91;g3a9d64d8e29_0_160"/>
          <p:cNvSpPr txBox="1">
            <a:spLocks noGrp="1"/>
          </p:cNvSpPr>
          <p:nvPr>
            <p:ph type="sldNum" idx="12"/>
          </p:nvPr>
        </p:nvSpPr>
        <p:spPr>
          <a:xfrm>
            <a:off x="11296611" y="6217622"/>
            <a:ext cx="7316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g3a9d64d8e29_0_164"/>
          <p:cNvSpPr txBox="1">
            <a:spLocks noGrp="1"/>
          </p:cNvSpPr>
          <p:nvPr>
            <p:ph type="title"/>
          </p:nvPr>
        </p:nvSpPr>
        <p:spPr>
          <a:xfrm>
            <a:off x="415600" y="2867800"/>
            <a:ext cx="11360800" cy="11223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4" name="Google Shape;94;g3a9d64d8e29_0_164"/>
          <p:cNvSpPr txBox="1">
            <a:spLocks noGrp="1"/>
          </p:cNvSpPr>
          <p:nvPr>
            <p:ph type="sldNum" idx="12"/>
          </p:nvPr>
        </p:nvSpPr>
        <p:spPr>
          <a:xfrm>
            <a:off x="11296611" y="6217622"/>
            <a:ext cx="7316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5"/>
        <p:cNvGrpSpPr/>
        <p:nvPr/>
      </p:nvGrpSpPr>
      <p:grpSpPr>
        <a:xfrm>
          <a:off x="0" y="0"/>
          <a:ext cx="0" cy="0"/>
          <a:chOff x="0" y="0"/>
          <a:chExt cx="0" cy="0"/>
        </a:xfrm>
      </p:grpSpPr>
      <p:sp>
        <p:nvSpPr>
          <p:cNvPr id="96" name="Google Shape;96;g3a9d64d8e29_0_167"/>
          <p:cNvSpPr txBox="1">
            <a:spLocks noGrp="1"/>
          </p:cNvSpPr>
          <p:nvPr>
            <p:ph type="title"/>
          </p:nvPr>
        </p:nvSpPr>
        <p:spPr>
          <a:xfrm>
            <a:off x="415600" y="593367"/>
            <a:ext cx="113608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7" name="Google Shape;97;g3a9d64d8e29_0_167"/>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98" name="Google Shape;98;g3a9d64d8e29_0_167"/>
          <p:cNvSpPr txBox="1">
            <a:spLocks noGrp="1"/>
          </p:cNvSpPr>
          <p:nvPr>
            <p:ph type="sldNum" idx="12"/>
          </p:nvPr>
        </p:nvSpPr>
        <p:spPr>
          <a:xfrm>
            <a:off x="11296611" y="6217622"/>
            <a:ext cx="7316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9"/>
        <p:cNvGrpSpPr/>
        <p:nvPr/>
      </p:nvGrpSpPr>
      <p:grpSpPr>
        <a:xfrm>
          <a:off x="0" y="0"/>
          <a:ext cx="0" cy="0"/>
          <a:chOff x="0" y="0"/>
          <a:chExt cx="0" cy="0"/>
        </a:xfrm>
      </p:grpSpPr>
      <p:sp>
        <p:nvSpPr>
          <p:cNvPr id="100" name="Google Shape;100;g3a9d64d8e29_0_171"/>
          <p:cNvSpPr txBox="1">
            <a:spLocks noGrp="1"/>
          </p:cNvSpPr>
          <p:nvPr>
            <p:ph type="title"/>
          </p:nvPr>
        </p:nvSpPr>
        <p:spPr>
          <a:xfrm>
            <a:off x="415600" y="593367"/>
            <a:ext cx="113608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1" name="Google Shape;101;g3a9d64d8e29_0_171"/>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2" name="Google Shape;102;g3a9d64d8e29_0_171"/>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3" name="Google Shape;103;g3a9d64d8e29_0_171"/>
          <p:cNvSpPr txBox="1">
            <a:spLocks noGrp="1"/>
          </p:cNvSpPr>
          <p:nvPr>
            <p:ph type="sldNum" idx="12"/>
          </p:nvPr>
        </p:nvSpPr>
        <p:spPr>
          <a:xfrm>
            <a:off x="11296611" y="6217622"/>
            <a:ext cx="7316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
        <p:cNvGrpSpPr/>
        <p:nvPr/>
      </p:nvGrpSpPr>
      <p:grpSpPr>
        <a:xfrm>
          <a:off x="0" y="0"/>
          <a:ext cx="0" cy="0"/>
          <a:chOff x="0" y="0"/>
          <a:chExt cx="0" cy="0"/>
        </a:xfrm>
      </p:grpSpPr>
      <p:sp>
        <p:nvSpPr>
          <p:cNvPr id="105" name="Google Shape;105;g3a9d64d8e29_0_176"/>
          <p:cNvSpPr txBox="1">
            <a:spLocks noGrp="1"/>
          </p:cNvSpPr>
          <p:nvPr>
            <p:ph type="title"/>
          </p:nvPr>
        </p:nvSpPr>
        <p:spPr>
          <a:xfrm>
            <a:off x="415600" y="593367"/>
            <a:ext cx="113608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6" name="Google Shape;106;g3a9d64d8e29_0_176"/>
          <p:cNvSpPr txBox="1">
            <a:spLocks noGrp="1"/>
          </p:cNvSpPr>
          <p:nvPr>
            <p:ph type="sldNum" idx="12"/>
          </p:nvPr>
        </p:nvSpPr>
        <p:spPr>
          <a:xfrm>
            <a:off x="11296611" y="6217622"/>
            <a:ext cx="7316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7"/>
        <p:cNvGrpSpPr/>
        <p:nvPr/>
      </p:nvGrpSpPr>
      <p:grpSpPr>
        <a:xfrm>
          <a:off x="0" y="0"/>
          <a:ext cx="0" cy="0"/>
          <a:chOff x="0" y="0"/>
          <a:chExt cx="0" cy="0"/>
        </a:xfrm>
      </p:grpSpPr>
      <p:sp>
        <p:nvSpPr>
          <p:cNvPr id="108" name="Google Shape;108;g3a9d64d8e29_0_179"/>
          <p:cNvSpPr txBox="1">
            <a:spLocks noGrp="1"/>
          </p:cNvSpPr>
          <p:nvPr>
            <p:ph type="title"/>
          </p:nvPr>
        </p:nvSpPr>
        <p:spPr>
          <a:xfrm>
            <a:off x="415600" y="740800"/>
            <a:ext cx="3744000" cy="1007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09" name="Google Shape;109;g3a9d64d8e29_0_179"/>
          <p:cNvSpPr txBox="1">
            <a:spLocks noGrp="1"/>
          </p:cNvSpPr>
          <p:nvPr>
            <p:ph type="body" idx="1"/>
          </p:nvPr>
        </p:nvSpPr>
        <p:spPr>
          <a:xfrm>
            <a:off x="415600" y="1852800"/>
            <a:ext cx="3744000" cy="4239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10" name="Google Shape;110;g3a9d64d8e29_0_179"/>
          <p:cNvSpPr txBox="1">
            <a:spLocks noGrp="1"/>
          </p:cNvSpPr>
          <p:nvPr>
            <p:ph type="sldNum" idx="12"/>
          </p:nvPr>
        </p:nvSpPr>
        <p:spPr>
          <a:xfrm>
            <a:off x="11296611" y="6217622"/>
            <a:ext cx="7316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1"/>
        <p:cNvGrpSpPr/>
        <p:nvPr/>
      </p:nvGrpSpPr>
      <p:grpSpPr>
        <a:xfrm>
          <a:off x="0" y="0"/>
          <a:ext cx="0" cy="0"/>
          <a:chOff x="0" y="0"/>
          <a:chExt cx="0" cy="0"/>
        </a:xfrm>
      </p:grpSpPr>
      <p:sp>
        <p:nvSpPr>
          <p:cNvPr id="112" name="Google Shape;112;g3a9d64d8e29_0_183"/>
          <p:cNvSpPr txBox="1">
            <a:spLocks noGrp="1"/>
          </p:cNvSpPr>
          <p:nvPr>
            <p:ph type="title"/>
          </p:nvPr>
        </p:nvSpPr>
        <p:spPr>
          <a:xfrm>
            <a:off x="653667" y="600200"/>
            <a:ext cx="8490400" cy="54543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13" name="Google Shape;113;g3a9d64d8e29_0_183"/>
          <p:cNvSpPr txBox="1">
            <a:spLocks noGrp="1"/>
          </p:cNvSpPr>
          <p:nvPr>
            <p:ph type="sldNum" idx="12"/>
          </p:nvPr>
        </p:nvSpPr>
        <p:spPr>
          <a:xfrm>
            <a:off x="11296611" y="6217622"/>
            <a:ext cx="7316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4"/>
        <p:cNvGrpSpPr/>
        <p:nvPr/>
      </p:nvGrpSpPr>
      <p:grpSpPr>
        <a:xfrm>
          <a:off x="0" y="0"/>
          <a:ext cx="0" cy="0"/>
          <a:chOff x="0" y="0"/>
          <a:chExt cx="0" cy="0"/>
        </a:xfrm>
      </p:grpSpPr>
      <p:sp>
        <p:nvSpPr>
          <p:cNvPr id="115" name="Google Shape;115;g3a9d64d8e29_0_186"/>
          <p:cNvSpPr/>
          <p:nvPr/>
        </p:nvSpPr>
        <p:spPr>
          <a:xfrm>
            <a:off x="6096000" y="-167"/>
            <a:ext cx="6096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 name="Google Shape;116;g3a9d64d8e29_0_186"/>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17" name="Google Shape;117;g3a9d64d8e29_0_186"/>
          <p:cNvSpPr txBox="1">
            <a:spLocks noGrp="1"/>
          </p:cNvSpPr>
          <p:nvPr>
            <p:ph type="subTitle" idx="1"/>
          </p:nvPr>
        </p:nvSpPr>
        <p:spPr>
          <a:xfrm>
            <a:off x="354000" y="3737433"/>
            <a:ext cx="5393600" cy="1646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18" name="Google Shape;118;g3a9d64d8e29_0_186"/>
          <p:cNvSpPr txBox="1">
            <a:spLocks noGrp="1"/>
          </p:cNvSpPr>
          <p:nvPr>
            <p:ph type="body" idx="2"/>
          </p:nvPr>
        </p:nvSpPr>
        <p:spPr>
          <a:xfrm>
            <a:off x="6586000" y="965433"/>
            <a:ext cx="5116000" cy="49269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19" name="Google Shape;119;g3a9d64d8e29_0_186"/>
          <p:cNvSpPr txBox="1">
            <a:spLocks noGrp="1"/>
          </p:cNvSpPr>
          <p:nvPr>
            <p:ph type="sldNum" idx="12"/>
          </p:nvPr>
        </p:nvSpPr>
        <p:spPr>
          <a:xfrm>
            <a:off x="11296611" y="6217622"/>
            <a:ext cx="7316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0"/>
        <p:cNvGrpSpPr/>
        <p:nvPr/>
      </p:nvGrpSpPr>
      <p:grpSpPr>
        <a:xfrm>
          <a:off x="0" y="0"/>
          <a:ext cx="0" cy="0"/>
          <a:chOff x="0" y="0"/>
          <a:chExt cx="0" cy="0"/>
        </a:xfrm>
      </p:grpSpPr>
      <p:sp>
        <p:nvSpPr>
          <p:cNvPr id="121" name="Google Shape;121;g3a9d64d8e29_0_192"/>
          <p:cNvSpPr txBox="1">
            <a:spLocks noGrp="1"/>
          </p:cNvSpPr>
          <p:nvPr>
            <p:ph type="body" idx="1"/>
          </p:nvPr>
        </p:nvSpPr>
        <p:spPr>
          <a:xfrm>
            <a:off x="415600" y="5640767"/>
            <a:ext cx="7998400" cy="80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22" name="Google Shape;122;g3a9d64d8e29_0_192"/>
          <p:cNvSpPr txBox="1">
            <a:spLocks noGrp="1"/>
          </p:cNvSpPr>
          <p:nvPr>
            <p:ph type="sldNum" idx="12"/>
          </p:nvPr>
        </p:nvSpPr>
        <p:spPr>
          <a:xfrm>
            <a:off x="11296611" y="6217622"/>
            <a:ext cx="7316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3"/>
        <p:cNvGrpSpPr/>
        <p:nvPr/>
      </p:nvGrpSpPr>
      <p:grpSpPr>
        <a:xfrm>
          <a:off x="0" y="0"/>
          <a:ext cx="0" cy="0"/>
          <a:chOff x="0" y="0"/>
          <a:chExt cx="0" cy="0"/>
        </a:xfrm>
      </p:grpSpPr>
      <p:sp>
        <p:nvSpPr>
          <p:cNvPr id="124" name="Google Shape;124;g3a9d64d8e29_0_195"/>
          <p:cNvSpPr txBox="1">
            <a:spLocks noGrp="1"/>
          </p:cNvSpPr>
          <p:nvPr>
            <p:ph type="title" hasCustomPrompt="1"/>
          </p:nvPr>
        </p:nvSpPr>
        <p:spPr>
          <a:xfrm>
            <a:off x="415600" y="1474833"/>
            <a:ext cx="11360800" cy="2618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5" name="Google Shape;125;g3a9d64d8e29_0_195"/>
          <p:cNvSpPr txBox="1">
            <a:spLocks noGrp="1"/>
          </p:cNvSpPr>
          <p:nvPr>
            <p:ph type="body" idx="1"/>
          </p:nvPr>
        </p:nvSpPr>
        <p:spPr>
          <a:xfrm>
            <a:off x="415600" y="4202967"/>
            <a:ext cx="11360800" cy="17343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126" name="Google Shape;126;g3a9d64d8e29_0_195"/>
          <p:cNvSpPr txBox="1">
            <a:spLocks noGrp="1"/>
          </p:cNvSpPr>
          <p:nvPr>
            <p:ph type="sldNum" idx="12"/>
          </p:nvPr>
        </p:nvSpPr>
        <p:spPr>
          <a:xfrm>
            <a:off x="11296611" y="6217622"/>
            <a:ext cx="7316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7"/>
        <p:cNvGrpSpPr/>
        <p:nvPr/>
      </p:nvGrpSpPr>
      <p:grpSpPr>
        <a:xfrm>
          <a:off x="0" y="0"/>
          <a:ext cx="0" cy="0"/>
          <a:chOff x="0" y="0"/>
          <a:chExt cx="0" cy="0"/>
        </a:xfrm>
      </p:grpSpPr>
      <p:sp>
        <p:nvSpPr>
          <p:cNvPr id="128" name="Google Shape;128;g3a9d64d8e29_0_199"/>
          <p:cNvSpPr txBox="1">
            <a:spLocks noGrp="1"/>
          </p:cNvSpPr>
          <p:nvPr>
            <p:ph type="sldNum" idx="12"/>
          </p:nvPr>
        </p:nvSpPr>
        <p:spPr>
          <a:xfrm>
            <a:off x="11296611" y="6217622"/>
            <a:ext cx="7316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9"/>
        <p:cNvGrpSpPr/>
        <p:nvPr/>
      </p:nvGrpSpPr>
      <p:grpSpPr>
        <a:xfrm>
          <a:off x="0" y="0"/>
          <a:ext cx="0" cy="0"/>
          <a:chOff x="0" y="0"/>
          <a:chExt cx="0" cy="0"/>
        </a:xfrm>
      </p:grpSpPr>
      <p:sp>
        <p:nvSpPr>
          <p:cNvPr id="130" name="Google Shape;130;g3a9d64d8e29_0_20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g3a9d64d8e29_0_20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95589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7"/>
        <p:cNvGrpSpPr/>
        <p:nvPr/>
      </p:nvGrpSpPr>
      <p:grpSpPr>
        <a:xfrm>
          <a:off x="0" y="0"/>
          <a:ext cx="0" cy="0"/>
          <a:chOff x="0" y="0"/>
          <a:chExt cx="0" cy="0"/>
        </a:xfrm>
      </p:grpSpPr>
      <p:sp>
        <p:nvSpPr>
          <p:cNvPr id="18" name="Google Shape;18;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164933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3"/>
        <p:cNvGrpSpPr/>
        <p:nvPr/>
      </p:nvGrpSpPr>
      <p:grpSpPr>
        <a:xfrm>
          <a:off x="0" y="0"/>
          <a:ext cx="0" cy="0"/>
          <a:chOff x="0" y="0"/>
          <a:chExt cx="0" cy="0"/>
        </a:xfrm>
      </p:grpSpPr>
      <p:sp>
        <p:nvSpPr>
          <p:cNvPr id="24" name="Google Shape;24;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30398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9"/>
        <p:cNvGrpSpPr/>
        <p:nvPr/>
      </p:nvGrpSpPr>
      <p:grpSpPr>
        <a:xfrm>
          <a:off x="0" y="0"/>
          <a:ext cx="0" cy="0"/>
          <a:chOff x="0" y="0"/>
          <a:chExt cx="0" cy="0"/>
        </a:xfrm>
      </p:grpSpPr>
      <p:sp>
        <p:nvSpPr>
          <p:cNvPr id="30" name="Google Shape;3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15296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36"/>
        <p:cNvGrpSpPr/>
        <p:nvPr/>
      </p:nvGrpSpPr>
      <p:grpSpPr>
        <a:xfrm>
          <a:off x="0" y="0"/>
          <a:ext cx="0" cy="0"/>
          <a:chOff x="0" y="0"/>
          <a:chExt cx="0" cy="0"/>
        </a:xfrm>
      </p:grpSpPr>
      <p:sp>
        <p:nvSpPr>
          <p:cNvPr id="37" name="Google Shape;37;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019532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5"/>
        <p:cNvGrpSpPr/>
        <p:nvPr/>
      </p:nvGrpSpPr>
      <p:grpSpPr>
        <a:xfrm>
          <a:off x="0" y="0"/>
          <a:ext cx="0" cy="0"/>
          <a:chOff x="0" y="0"/>
          <a:chExt cx="0" cy="0"/>
        </a:xfrm>
      </p:grpSpPr>
      <p:sp>
        <p:nvSpPr>
          <p:cNvPr id="46" name="Google Shape;46;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811518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352592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121071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a:spLocks noGrp="1"/>
          </p:cNvSpPr>
          <p:nvPr>
            <p:ph type="pic" idx="2"/>
          </p:nvPr>
        </p:nvSpPr>
        <p:spPr>
          <a:xfrm>
            <a:off x="5183188" y="987425"/>
            <a:ext cx="6172200" cy="4873625"/>
          </a:xfrm>
          <a:prstGeom prst="rect">
            <a:avLst/>
          </a:prstGeom>
          <a:noFill/>
          <a:ln>
            <a:noFill/>
          </a:ln>
        </p:spPr>
      </p:sp>
      <p:sp>
        <p:nvSpPr>
          <p:cNvPr id="64" name="Google Shape;64;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23868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228518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84361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4"/>
        <p:cNvGrpSpPr/>
        <p:nvPr/>
      </p:nvGrpSpPr>
      <p:grpSpPr>
        <a:xfrm>
          <a:off x="0" y="0"/>
          <a:ext cx="0" cy="0"/>
          <a:chOff x="0" y="0"/>
          <a:chExt cx="0" cy="0"/>
        </a:xfrm>
      </p:grpSpPr>
      <p:sp>
        <p:nvSpPr>
          <p:cNvPr id="85" name="Google Shape;85;g3a9d64d8e29_0_156"/>
          <p:cNvSpPr txBox="1">
            <a:spLocks noGrp="1"/>
          </p:cNvSpPr>
          <p:nvPr>
            <p:ph type="title"/>
          </p:nvPr>
        </p:nvSpPr>
        <p:spPr>
          <a:xfrm>
            <a:off x="415600" y="593367"/>
            <a:ext cx="11360800" cy="7635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86" name="Google Shape;86;g3a9d64d8e29_0_156"/>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7" name="Google Shape;87;g3a9d64d8e29_0_156"/>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436312024"/>
      </p:ext>
    </p:extLst>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png"/><Relationship Id="rId7"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hyperlink" Target="https://case0.sharepoint.com/sites/CUPCD/Shared%20Documents/HUD%20Youth%20Homelessness/HUD%20article/Journals_HUD.xlsx?web=1" TargetMode="Externa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fortune.com/2023/01/31/ai-algorithm-child-welfare-pitsburgh-justice-department/"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hyperlink" Target="https://doi.org/10.4995/CARMA2023.2023.16400" TargetMode="External"/><Relationship Id="rId4" Type="http://schemas.openxmlformats.org/officeDocument/2006/relationships/hyperlink" Target="https://doi.org/10.1093/aje/kwac1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49195A-74A4-A551-BBE5-1AC259447085}"/>
              </a:ext>
            </a:extLst>
          </p:cNvPr>
          <p:cNvSpPr>
            <a:spLocks noGrp="1"/>
          </p:cNvSpPr>
          <p:nvPr>
            <p:ph type="ctrTitle"/>
          </p:nvPr>
        </p:nvSpPr>
        <p:spPr>
          <a:xfrm>
            <a:off x="1835708" y="992768"/>
            <a:ext cx="8520600" cy="2436233"/>
          </a:xfrm>
        </p:spPr>
        <p:txBody>
          <a:bodyPr>
            <a:normAutofit fontScale="90000"/>
          </a:bodyPr>
          <a:lstStyle/>
          <a:p>
            <a:r>
              <a:rPr lang="en-US" b="1" dirty="0">
                <a:solidFill>
                  <a:srgbClr val="001C84"/>
                </a:solidFill>
                <a:latin typeface="Open Sans" panose="020B0606030504020204" pitchFamily="34" charset="0"/>
                <a:ea typeface="Open Sans" panose="020B0606030504020204" pitchFamily="34" charset="0"/>
                <a:cs typeface="Open Sans" panose="020B0606030504020204" pitchFamily="34" charset="0"/>
              </a:rPr>
              <a:t>FAIR2: </a:t>
            </a:r>
            <a:r>
              <a:rPr lang="en-US" sz="36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A framework for integrating community knowledge in data analytics and addressing discrimination bias</a:t>
            </a:r>
            <a:endParaRPr lang="en-US" b="1" dirty="0">
              <a:solidFill>
                <a:srgbClr val="001C84"/>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Subtitle 4">
            <a:extLst>
              <a:ext uri="{FF2B5EF4-FFF2-40B4-BE49-F238E27FC236}">
                <a16:creationId xmlns:a16="http://schemas.microsoft.com/office/drawing/2014/main" id="{CCCB97D5-E4A7-381D-CC73-C01471EDC099}"/>
              </a:ext>
            </a:extLst>
          </p:cNvPr>
          <p:cNvSpPr>
            <a:spLocks noGrp="1"/>
          </p:cNvSpPr>
          <p:nvPr>
            <p:ph type="subTitle" idx="1"/>
          </p:nvPr>
        </p:nvSpPr>
        <p:spPr>
          <a:xfrm>
            <a:off x="1835700" y="4098873"/>
            <a:ext cx="8520600" cy="2292783"/>
          </a:xfrm>
        </p:spPr>
        <p:txBody>
          <a:bodyPr>
            <a:normAutofit fontScale="47500" lnSpcReduction="20000"/>
          </a:bodyPr>
          <a:lstStyle/>
          <a:p>
            <a:r>
              <a:rPr lang="en-US" sz="5100" b="1" dirty="0">
                <a:solidFill>
                  <a:srgbClr val="C00000"/>
                </a:solidFill>
                <a:latin typeface="Open Sans" panose="020B0606030504020204" pitchFamily="34" charset="0"/>
                <a:ea typeface="Open Sans" panose="020B0606030504020204" pitchFamily="34" charset="0"/>
                <a:cs typeface="Open Sans" panose="020B0606030504020204" pitchFamily="34" charset="0"/>
              </a:rPr>
              <a:t>Centering the Public Interest in Integrated Administrative Data Analytics</a:t>
            </a:r>
          </a:p>
          <a:p>
            <a:endParaRPr lang="en-US" sz="3800" b="1"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a:p>
            <a:endParaRPr lang="en-US" sz="3800" b="1"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a:p>
            <a:r>
              <a:rPr lang="en-US" sz="3800" b="1" dirty="0">
                <a:solidFill>
                  <a:srgbClr val="C00000"/>
                </a:solidFill>
                <a:latin typeface="Open Sans" panose="020B0606030504020204" pitchFamily="34" charset="0"/>
                <a:ea typeface="Open Sans" panose="020B0606030504020204" pitchFamily="34" charset="0"/>
                <a:cs typeface="Open Sans" panose="020B0606030504020204" pitchFamily="34" charset="0"/>
              </a:rPr>
              <a:t>Module </a:t>
            </a:r>
            <a:r>
              <a:rPr lang="en-US" sz="5800" b="1" dirty="0">
                <a:solidFill>
                  <a:srgbClr val="C00000"/>
                </a:solidFill>
                <a:latin typeface="Open Sans" panose="020B0606030504020204" pitchFamily="34" charset="0"/>
                <a:ea typeface="Open Sans" panose="020B0606030504020204" pitchFamily="34" charset="0"/>
                <a:cs typeface="Open Sans" panose="020B0606030504020204" pitchFamily="34" charset="0"/>
              </a:rPr>
              <a:t>1</a:t>
            </a:r>
            <a:r>
              <a:rPr lang="en-US" sz="3800" b="1" dirty="0">
                <a:solidFill>
                  <a:srgbClr val="C00000"/>
                </a:solidFill>
                <a:latin typeface="Open Sans" panose="020B0606030504020204" pitchFamily="34" charset="0"/>
                <a:ea typeface="Open Sans" panose="020B0606030504020204" pitchFamily="34" charset="0"/>
                <a:cs typeface="Open Sans" panose="020B0606030504020204" pitchFamily="34" charset="0"/>
              </a:rPr>
              <a:t> of 5</a:t>
            </a:r>
          </a:p>
          <a:p>
            <a:endParaRPr lang="en-US" sz="3800" b="1" dirty="0">
              <a:latin typeface="Open Sans" panose="020B0606030504020204" pitchFamily="34" charset="0"/>
              <a:ea typeface="Open Sans" panose="020B0606030504020204" pitchFamily="34" charset="0"/>
              <a:cs typeface="Open Sans" panose="020B0606030504020204" pitchFamily="34" charset="0"/>
            </a:endParaRPr>
          </a:p>
          <a:p>
            <a:pPr lvl="0">
              <a:buClr>
                <a:srgbClr val="595959"/>
              </a:buClr>
            </a:pPr>
            <a:r>
              <a:rPr lang="en-US" sz="4000" b="1" dirty="0">
                <a:solidFill>
                  <a:srgbClr val="001C84"/>
                </a:solidFill>
                <a:latin typeface="Open Sans"/>
                <a:ea typeface="Open Sans"/>
                <a:cs typeface="Open Sans"/>
                <a:sym typeface="Open Sans"/>
              </a:rPr>
              <a:t>Public Interest Technology University Network Year 6 Challenge</a:t>
            </a:r>
            <a:endParaRPr lang="en-US" sz="4000" dirty="0">
              <a:solidFill>
                <a:srgbClr val="001C84"/>
              </a:solidFill>
            </a:endParaRPr>
          </a:p>
          <a:p>
            <a:pPr lvl="0">
              <a:buClr>
                <a:srgbClr val="595959"/>
              </a:buClr>
            </a:pPr>
            <a:r>
              <a:rPr lang="en-US" sz="3200" b="1" dirty="0">
                <a:solidFill>
                  <a:srgbClr val="001C84"/>
                </a:solidFill>
                <a:latin typeface="Open Sans"/>
                <a:ea typeface="Open Sans"/>
                <a:cs typeface="Open Sans"/>
                <a:sym typeface="Open Sans"/>
              </a:rPr>
              <a:t>January 2026</a:t>
            </a:r>
            <a:endParaRPr lang="en-US" b="1" dirty="0">
              <a:solidFill>
                <a:srgbClr val="001C84"/>
              </a:solidFill>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F9EE35BD-627C-CF6C-C96F-E4EE72C303C4}"/>
              </a:ext>
            </a:extLst>
          </p:cNvPr>
          <p:cNvSpPr>
            <a:spLocks noGrp="1"/>
          </p:cNvSpPr>
          <p:nvPr>
            <p:ph type="sldNum" idx="12"/>
          </p:nvPr>
        </p:nvSpPr>
        <p:spPr/>
        <p:txBody>
          <a:bodyPr/>
          <a:lstStyle/>
          <a:p>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pPr/>
              <a:t>1</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87841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0F1FBAF1-870D-F627-F3A4-75FCBA67C24C}"/>
            </a:ext>
          </a:extLst>
        </p:cNvPr>
        <p:cNvGrpSpPr/>
        <p:nvPr/>
      </p:nvGrpSpPr>
      <p:grpSpPr>
        <a:xfrm>
          <a:off x="0" y="0"/>
          <a:ext cx="0" cy="0"/>
          <a:chOff x="0" y="0"/>
          <a:chExt cx="0" cy="0"/>
        </a:xfrm>
      </p:grpSpPr>
      <p:sp>
        <p:nvSpPr>
          <p:cNvPr id="116" name="Google Shape;116;p2">
            <a:extLst>
              <a:ext uri="{FF2B5EF4-FFF2-40B4-BE49-F238E27FC236}">
                <a16:creationId xmlns:a16="http://schemas.microsoft.com/office/drawing/2014/main" id="{475FBDB6-C2B5-E304-4FC4-E26DB02BA927}"/>
              </a:ext>
            </a:extLst>
          </p:cNvPr>
          <p:cNvSpPr/>
          <p:nvPr/>
        </p:nvSpPr>
        <p:spPr>
          <a:xfrm>
            <a:off x="-176979" y="807414"/>
            <a:ext cx="12708570" cy="5275776"/>
          </a:xfrm>
          <a:custGeom>
            <a:avLst/>
            <a:gdLst/>
            <a:ahLst/>
            <a:cxnLst/>
            <a:rect l="l" t="t" r="r" b="b"/>
            <a:pathLst>
              <a:path w="7324824" h="3192603" extrusionOk="0">
                <a:moveTo>
                  <a:pt x="0" y="0"/>
                </a:moveTo>
                <a:cubicBezTo>
                  <a:pt x="1309477" y="14717"/>
                  <a:pt x="1371532" y="1341630"/>
                  <a:pt x="2241982" y="1574153"/>
                </a:cubicBezTo>
                <a:cubicBezTo>
                  <a:pt x="3112432" y="1806676"/>
                  <a:pt x="4375560" y="1125395"/>
                  <a:pt x="5222700" y="1395137"/>
                </a:cubicBezTo>
                <a:cubicBezTo>
                  <a:pt x="6069840" y="1664879"/>
                  <a:pt x="6202905" y="3159140"/>
                  <a:pt x="7324824" y="3192603"/>
                </a:cubicBezTo>
              </a:path>
            </a:pathLst>
          </a:custGeom>
          <a:noFill/>
          <a:ln w="12700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17" name="Google Shape;117;p2">
            <a:extLst>
              <a:ext uri="{FF2B5EF4-FFF2-40B4-BE49-F238E27FC236}">
                <a16:creationId xmlns:a16="http://schemas.microsoft.com/office/drawing/2014/main" id="{B0A09116-68A2-4DA7-89D7-553EB0029801}"/>
              </a:ext>
            </a:extLst>
          </p:cNvPr>
          <p:cNvSpPr/>
          <p:nvPr/>
        </p:nvSpPr>
        <p:spPr>
          <a:xfrm>
            <a:off x="-176979" y="807414"/>
            <a:ext cx="12708570" cy="5275776"/>
          </a:xfrm>
          <a:custGeom>
            <a:avLst/>
            <a:gdLst/>
            <a:ahLst/>
            <a:cxnLst/>
            <a:rect l="l" t="t" r="r" b="b"/>
            <a:pathLst>
              <a:path w="7324824" h="3192603" extrusionOk="0">
                <a:moveTo>
                  <a:pt x="0" y="0"/>
                </a:moveTo>
                <a:cubicBezTo>
                  <a:pt x="1309477" y="14717"/>
                  <a:pt x="1371532" y="1341630"/>
                  <a:pt x="2241982" y="1574153"/>
                </a:cubicBezTo>
                <a:cubicBezTo>
                  <a:pt x="3112432" y="1806676"/>
                  <a:pt x="4375560" y="1125395"/>
                  <a:pt x="5222700" y="1395137"/>
                </a:cubicBezTo>
                <a:cubicBezTo>
                  <a:pt x="6069840" y="1664879"/>
                  <a:pt x="6202905" y="3159140"/>
                  <a:pt x="7324824" y="3192603"/>
                </a:cubicBezTo>
              </a:path>
            </a:pathLst>
          </a:custGeom>
          <a:noFill/>
          <a:ln w="101600" cap="flat" cmpd="sng">
            <a:solidFill>
              <a:schemeClr val="lt1"/>
            </a:solidFill>
            <a:prstDash val="lg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3" name="Group 2">
            <a:extLst>
              <a:ext uri="{FF2B5EF4-FFF2-40B4-BE49-F238E27FC236}">
                <a16:creationId xmlns:a16="http://schemas.microsoft.com/office/drawing/2014/main" id="{AACFF40C-B08E-E4E4-8573-FD13A2CB176E}"/>
              </a:ext>
            </a:extLst>
          </p:cNvPr>
          <p:cNvGrpSpPr/>
          <p:nvPr/>
        </p:nvGrpSpPr>
        <p:grpSpPr>
          <a:xfrm>
            <a:off x="662660" y="2509930"/>
            <a:ext cx="3129378" cy="1235276"/>
            <a:chOff x="860675" y="2439143"/>
            <a:chExt cx="3129378" cy="1235276"/>
          </a:xfrm>
        </p:grpSpPr>
        <p:sp>
          <p:nvSpPr>
            <p:cNvPr id="16" name="Parallelogram 15">
              <a:extLst>
                <a:ext uri="{FF2B5EF4-FFF2-40B4-BE49-F238E27FC236}">
                  <a16:creationId xmlns:a16="http://schemas.microsoft.com/office/drawing/2014/main" id="{83FEDF85-C059-A4AE-6F31-0A0B56944197}"/>
                </a:ext>
              </a:extLst>
            </p:cNvPr>
            <p:cNvSpPr/>
            <p:nvPr/>
          </p:nvSpPr>
          <p:spPr>
            <a:xfrm>
              <a:off x="860675" y="2439143"/>
              <a:ext cx="3129378" cy="1235276"/>
            </a:xfrm>
            <a:prstGeom prst="parallelogram">
              <a:avLst/>
            </a:prstGeom>
            <a:solidFill>
              <a:srgbClr val="EDAA00"/>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2" name="TextBox 1">
              <a:extLst>
                <a:ext uri="{FF2B5EF4-FFF2-40B4-BE49-F238E27FC236}">
                  <a16:creationId xmlns:a16="http://schemas.microsoft.com/office/drawing/2014/main" id="{88AE596F-969A-58B3-CF0C-DDEB81968542}"/>
                </a:ext>
              </a:extLst>
            </p:cNvPr>
            <p:cNvSpPr txBox="1"/>
            <p:nvPr/>
          </p:nvSpPr>
          <p:spPr>
            <a:xfrm>
              <a:off x="2002894" y="2439144"/>
              <a:ext cx="1747582" cy="1235275"/>
            </a:xfrm>
            <a:prstGeom prst="rect">
              <a:avLst/>
            </a:prstGeom>
            <a:noFill/>
          </p:spPr>
          <p:txBody>
            <a:bodyPr wrap="square" rtlCol="0"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Pct val="297213"/>
                <a:buFont typeface="Arial"/>
                <a:buNone/>
                <a:tabLst/>
                <a:defRPr/>
              </a:pPr>
              <a:r>
                <a:rPr kumimoji="0" lang="en-US" sz="160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Module 1</a:t>
              </a:r>
              <a:endParaRPr kumimoji="0" lang="en-US" sz="105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r"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FAIR2: A framework for integrating community knowledge in data analytics and addressing discrimination bias</a:t>
              </a:r>
            </a:p>
          </p:txBody>
        </p:sp>
      </p:grpSp>
      <p:grpSp>
        <p:nvGrpSpPr>
          <p:cNvPr id="4" name="Group 3">
            <a:extLst>
              <a:ext uri="{FF2B5EF4-FFF2-40B4-BE49-F238E27FC236}">
                <a16:creationId xmlns:a16="http://schemas.microsoft.com/office/drawing/2014/main" id="{E0338061-683C-E029-40F2-B7718C5C0FB8}"/>
              </a:ext>
            </a:extLst>
          </p:cNvPr>
          <p:cNvGrpSpPr/>
          <p:nvPr/>
        </p:nvGrpSpPr>
        <p:grpSpPr>
          <a:xfrm>
            <a:off x="155728" y="2213169"/>
            <a:ext cx="1828801" cy="1828800"/>
            <a:chOff x="201777" y="2142382"/>
            <a:chExt cx="1828801" cy="1828800"/>
          </a:xfrm>
        </p:grpSpPr>
        <p:sp>
          <p:nvSpPr>
            <p:cNvPr id="120" name="Google Shape;120;p2">
              <a:extLst>
                <a:ext uri="{FF2B5EF4-FFF2-40B4-BE49-F238E27FC236}">
                  <a16:creationId xmlns:a16="http://schemas.microsoft.com/office/drawing/2014/main" id="{C3187F26-3CD8-0307-D097-14EACD4A1B1E}"/>
                </a:ext>
              </a:extLst>
            </p:cNvPr>
            <p:cNvSpPr/>
            <p:nvPr/>
          </p:nvSpPr>
          <p:spPr>
            <a:xfrm rot="2700000" flipH="1">
              <a:off x="201778" y="2142381"/>
              <a:ext cx="1828800" cy="1828801"/>
            </a:xfrm>
            <a:prstGeom prst="teardrop">
              <a:avLst>
                <a:gd name="adj" fmla="val 131496"/>
              </a:avLst>
            </a:prstGeom>
            <a:solidFill>
              <a:srgbClr val="FFDC5D"/>
            </a:solidFill>
            <a:ln w="57150" cap="flat" cmpd="sng">
              <a:solidFill>
                <a:srgbClr val="EDAA00"/>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cs typeface="Arial"/>
                  <a:sym typeface="Arial"/>
                </a:rPr>
                <a:t>2 2</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latin typeface="Arial"/>
                <a:cs typeface="Arial"/>
                <a:sym typeface="Arial"/>
              </a:endParaRPr>
            </a:p>
          </p:txBody>
        </p:sp>
        <p:pic>
          <p:nvPicPr>
            <p:cNvPr id="121" name="Google Shape;121;p2" title="fair2.png">
              <a:extLst>
                <a:ext uri="{FF2B5EF4-FFF2-40B4-BE49-F238E27FC236}">
                  <a16:creationId xmlns:a16="http://schemas.microsoft.com/office/drawing/2014/main" id="{DF52FF77-D439-89B1-868C-E6ED2AC26446}"/>
                </a:ext>
              </a:extLst>
            </p:cNvPr>
            <p:cNvPicPr preferRelativeResize="0"/>
            <p:nvPr/>
          </p:nvPicPr>
          <p:blipFill rotWithShape="1">
            <a:blip r:embed="rId3">
              <a:alphaModFix/>
            </a:blip>
            <a:srcRect/>
            <a:stretch/>
          </p:blipFill>
          <p:spPr>
            <a:xfrm>
              <a:off x="430646" y="2393607"/>
              <a:ext cx="1368680" cy="1376137"/>
            </a:xfrm>
            <a:prstGeom prst="rect">
              <a:avLst/>
            </a:prstGeom>
            <a:noFill/>
            <a:ln>
              <a:noFill/>
            </a:ln>
          </p:spPr>
        </p:pic>
      </p:grpSp>
      <p:grpSp>
        <p:nvGrpSpPr>
          <p:cNvPr id="18" name="Group 17">
            <a:extLst>
              <a:ext uri="{FF2B5EF4-FFF2-40B4-BE49-F238E27FC236}">
                <a16:creationId xmlns:a16="http://schemas.microsoft.com/office/drawing/2014/main" id="{8893E6A6-149F-35B1-03C4-339D3E130EC0}"/>
              </a:ext>
            </a:extLst>
          </p:cNvPr>
          <p:cNvGrpSpPr/>
          <p:nvPr/>
        </p:nvGrpSpPr>
        <p:grpSpPr>
          <a:xfrm>
            <a:off x="818818" y="4925408"/>
            <a:ext cx="3129378" cy="1235277"/>
            <a:chOff x="860675" y="2439143"/>
            <a:chExt cx="3129378" cy="1235277"/>
          </a:xfrm>
        </p:grpSpPr>
        <p:sp>
          <p:nvSpPr>
            <p:cNvPr id="19" name="Parallelogram 18">
              <a:extLst>
                <a:ext uri="{FF2B5EF4-FFF2-40B4-BE49-F238E27FC236}">
                  <a16:creationId xmlns:a16="http://schemas.microsoft.com/office/drawing/2014/main" id="{70C0C456-590C-6C1C-8805-C41926F57FF5}"/>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20" name="TextBox 19">
              <a:extLst>
                <a:ext uri="{FF2B5EF4-FFF2-40B4-BE49-F238E27FC236}">
                  <a16:creationId xmlns:a16="http://schemas.microsoft.com/office/drawing/2014/main" id="{51678738-E69B-A1A7-8359-6B49C3F9CED8}"/>
                </a:ext>
              </a:extLst>
            </p:cNvPr>
            <p:cNvSpPr txBox="1"/>
            <p:nvPr/>
          </p:nvSpPr>
          <p:spPr>
            <a:xfrm>
              <a:off x="1236834" y="2439143"/>
              <a:ext cx="1747582" cy="1235277"/>
            </a:xfrm>
            <a:prstGeom prst="rect">
              <a:avLst/>
            </a:prstGeom>
            <a:noFill/>
          </p:spPr>
          <p:txBody>
            <a:bodyPr wrap="square" rtlCol="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Pct val="297213"/>
                <a:buFont typeface="Arial"/>
                <a:buNone/>
                <a:tabLst/>
                <a:defRPr/>
              </a:pPr>
              <a:r>
                <a:rPr kumimoji="0" lang="en-US" sz="160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Module 2</a:t>
              </a:r>
              <a:endParaRPr kumimoji="0" lang="en-US" sz="105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Demographic Data in Integrated Data Systems: Seeking Experiential Knowledge to Inform Race and Gender Data</a:t>
              </a:r>
            </a:p>
          </p:txBody>
        </p:sp>
      </p:grpSp>
      <p:grpSp>
        <p:nvGrpSpPr>
          <p:cNvPr id="28" name="Group 27">
            <a:extLst>
              <a:ext uri="{FF2B5EF4-FFF2-40B4-BE49-F238E27FC236}">
                <a16:creationId xmlns:a16="http://schemas.microsoft.com/office/drawing/2014/main" id="{EC6D68CE-B21D-4E66-13E5-3316177DEBDB}"/>
              </a:ext>
            </a:extLst>
          </p:cNvPr>
          <p:cNvGrpSpPr/>
          <p:nvPr/>
        </p:nvGrpSpPr>
        <p:grpSpPr>
          <a:xfrm>
            <a:off x="2919955" y="4613685"/>
            <a:ext cx="1828800" cy="1849086"/>
            <a:chOff x="3057427" y="4589179"/>
            <a:chExt cx="1828800" cy="1849086"/>
          </a:xfrm>
        </p:grpSpPr>
        <p:sp>
          <p:nvSpPr>
            <p:cNvPr id="15" name="Google Shape;120;p2">
              <a:extLst>
                <a:ext uri="{FF2B5EF4-FFF2-40B4-BE49-F238E27FC236}">
                  <a16:creationId xmlns:a16="http://schemas.microsoft.com/office/drawing/2014/main" id="{98CA2A37-E291-DFFA-37A8-EBEAB7381732}"/>
                </a:ext>
              </a:extLst>
            </p:cNvPr>
            <p:cNvSpPr/>
            <p:nvPr/>
          </p:nvSpPr>
          <p:spPr>
            <a:xfrm rot="2700000" flipH="1">
              <a:off x="3057427" y="4609465"/>
              <a:ext cx="1828800" cy="1828800"/>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6" b="0" i="0" u="none" strike="noStrike" kern="0" cap="none" spc="0" normalizeH="0" baseline="0" noProof="0" dirty="0">
                <a:ln>
                  <a:noFill/>
                </a:ln>
                <a:solidFill>
                  <a:srgbClr val="FFFFFF"/>
                </a:solidFill>
                <a:effectLst/>
                <a:uLnTx/>
                <a:uFillTx/>
                <a:latin typeface="Arial"/>
                <a:ea typeface="Arial"/>
                <a:cs typeface="Arial"/>
                <a:sym typeface="Arial"/>
              </a:endParaRPr>
            </a:p>
          </p:txBody>
        </p:sp>
        <p:pic>
          <p:nvPicPr>
            <p:cNvPr id="8" name="Picture 7" descr="A person wearing a white shirt and blue jeans&#10;&#10;AI-generated content may be incorrect.">
              <a:extLst>
                <a:ext uri="{FF2B5EF4-FFF2-40B4-BE49-F238E27FC236}">
                  <a16:creationId xmlns:a16="http://schemas.microsoft.com/office/drawing/2014/main" id="{503D1EBE-1F41-3010-BE5F-B1D21B4D566C}"/>
                </a:ext>
              </a:extLst>
            </p:cNvPr>
            <p:cNvPicPr>
              <a:picLocks noChangeAspect="1"/>
            </p:cNvPicPr>
            <p:nvPr/>
          </p:nvPicPr>
          <p:blipFill>
            <a:blip r:embed="rId4"/>
            <a:srcRect l="4657" t="2322" r="-4831" b="57726"/>
            <a:stretch>
              <a:fillRect/>
            </a:stretch>
          </p:blipFill>
          <p:spPr>
            <a:xfrm>
              <a:off x="3103056" y="4589179"/>
              <a:ext cx="1737542" cy="1736762"/>
            </a:xfrm>
            <a:prstGeom prst="ellipse">
              <a:avLst/>
            </a:prstGeom>
          </p:spPr>
        </p:pic>
      </p:grpSp>
      <p:grpSp>
        <p:nvGrpSpPr>
          <p:cNvPr id="25" name="Group 24">
            <a:extLst>
              <a:ext uri="{FF2B5EF4-FFF2-40B4-BE49-F238E27FC236}">
                <a16:creationId xmlns:a16="http://schemas.microsoft.com/office/drawing/2014/main" id="{03681D1C-4DD3-4290-D898-1B53BC360A30}"/>
              </a:ext>
            </a:extLst>
          </p:cNvPr>
          <p:cNvGrpSpPr/>
          <p:nvPr/>
        </p:nvGrpSpPr>
        <p:grpSpPr>
          <a:xfrm>
            <a:off x="8966445" y="850769"/>
            <a:ext cx="3129378" cy="1235276"/>
            <a:chOff x="860675" y="2439143"/>
            <a:chExt cx="3129378" cy="1235276"/>
          </a:xfrm>
        </p:grpSpPr>
        <p:sp>
          <p:nvSpPr>
            <p:cNvPr id="26" name="Parallelogram 25">
              <a:extLst>
                <a:ext uri="{FF2B5EF4-FFF2-40B4-BE49-F238E27FC236}">
                  <a16:creationId xmlns:a16="http://schemas.microsoft.com/office/drawing/2014/main" id="{FE8CDB53-7D7B-C721-E3AD-57B3F6CE8D1B}"/>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27" name="TextBox 26">
              <a:extLst>
                <a:ext uri="{FF2B5EF4-FFF2-40B4-BE49-F238E27FC236}">
                  <a16:creationId xmlns:a16="http://schemas.microsoft.com/office/drawing/2014/main" id="{A57706DE-97F7-9B0E-085E-CB55523D8765}"/>
                </a:ext>
              </a:extLst>
            </p:cNvPr>
            <p:cNvSpPr txBox="1"/>
            <p:nvPr/>
          </p:nvSpPr>
          <p:spPr>
            <a:xfrm>
              <a:off x="2260542" y="2439144"/>
              <a:ext cx="1489933" cy="1235275"/>
            </a:xfrm>
            <a:prstGeom prst="rect">
              <a:avLst/>
            </a:prstGeom>
            <a:noFill/>
          </p:spPr>
          <p:txBody>
            <a:bodyPr wrap="square" rtlCol="0"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Pct val="297213"/>
                <a:buFont typeface="Arial"/>
                <a:buNone/>
                <a:tabLst/>
                <a:defRPr/>
              </a:pPr>
              <a:r>
                <a:rPr kumimoji="0" lang="en-US" sz="160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Module 5</a:t>
              </a:r>
              <a:endParaRPr kumimoji="0" lang="en-US" sz="105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r"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Recommendations to address constraints and bias in Integrated Data Analytics</a:t>
              </a:r>
            </a:p>
          </p:txBody>
        </p:sp>
      </p:grpSp>
      <p:grpSp>
        <p:nvGrpSpPr>
          <p:cNvPr id="24" name="Group 23">
            <a:extLst>
              <a:ext uri="{FF2B5EF4-FFF2-40B4-BE49-F238E27FC236}">
                <a16:creationId xmlns:a16="http://schemas.microsoft.com/office/drawing/2014/main" id="{4A51F62D-4C43-3760-01D1-C08651B2B5D7}"/>
              </a:ext>
            </a:extLst>
          </p:cNvPr>
          <p:cNvGrpSpPr/>
          <p:nvPr/>
        </p:nvGrpSpPr>
        <p:grpSpPr>
          <a:xfrm>
            <a:off x="8517537" y="460356"/>
            <a:ext cx="1828800" cy="1828800"/>
            <a:chOff x="8969838" y="563282"/>
            <a:chExt cx="1828800" cy="1828800"/>
          </a:xfrm>
        </p:grpSpPr>
        <p:sp>
          <p:nvSpPr>
            <p:cNvPr id="13" name="Google Shape;120;p2">
              <a:extLst>
                <a:ext uri="{FF2B5EF4-FFF2-40B4-BE49-F238E27FC236}">
                  <a16:creationId xmlns:a16="http://schemas.microsoft.com/office/drawing/2014/main" id="{77742B71-8F18-BED2-EBA0-BA06FEF2B85E}"/>
                </a:ext>
              </a:extLst>
            </p:cNvPr>
            <p:cNvSpPr/>
            <p:nvPr/>
          </p:nvSpPr>
          <p:spPr>
            <a:xfrm rot="13500000" flipH="1">
              <a:off x="8969838" y="563282"/>
              <a:ext cx="1828800" cy="1828800"/>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6" b="0" i="0" u="none" strike="noStrike" kern="0" cap="none" spc="0" normalizeH="0" baseline="0" noProof="0" dirty="0">
                <a:ln>
                  <a:noFill/>
                </a:ln>
                <a:solidFill>
                  <a:srgbClr val="FFFFFF"/>
                </a:solidFill>
                <a:effectLst/>
                <a:uLnTx/>
                <a:uFillTx/>
                <a:latin typeface="Arial"/>
                <a:ea typeface="Arial"/>
                <a:cs typeface="Arial"/>
                <a:sym typeface="Arial"/>
              </a:endParaRPr>
            </a:p>
          </p:txBody>
        </p:sp>
        <p:pic>
          <p:nvPicPr>
            <p:cNvPr id="6" name="Picture 5" descr="A diagram of data analysis&#10;&#10;AI-generated content may be incorrect.">
              <a:extLst>
                <a:ext uri="{FF2B5EF4-FFF2-40B4-BE49-F238E27FC236}">
                  <a16:creationId xmlns:a16="http://schemas.microsoft.com/office/drawing/2014/main" id="{9296D394-72E5-17E0-7C11-0C261318B9BB}"/>
                </a:ext>
              </a:extLst>
            </p:cNvPr>
            <p:cNvPicPr>
              <a:picLocks noChangeAspect="1"/>
            </p:cNvPicPr>
            <p:nvPr/>
          </p:nvPicPr>
          <p:blipFill>
            <a:blip r:embed="rId5"/>
            <a:stretch>
              <a:fillRect/>
            </a:stretch>
          </p:blipFill>
          <p:spPr>
            <a:xfrm>
              <a:off x="9138924" y="1048721"/>
              <a:ext cx="1490628" cy="875916"/>
            </a:xfrm>
            <a:prstGeom prst="rect">
              <a:avLst/>
            </a:prstGeom>
          </p:spPr>
        </p:pic>
      </p:grpSp>
      <p:grpSp>
        <p:nvGrpSpPr>
          <p:cNvPr id="10" name="Group 9">
            <a:extLst>
              <a:ext uri="{FF2B5EF4-FFF2-40B4-BE49-F238E27FC236}">
                <a16:creationId xmlns:a16="http://schemas.microsoft.com/office/drawing/2014/main" id="{92C611BA-FB4C-2856-0BCF-8390FC896FAE}"/>
              </a:ext>
            </a:extLst>
          </p:cNvPr>
          <p:cNvGrpSpPr/>
          <p:nvPr/>
        </p:nvGrpSpPr>
        <p:grpSpPr>
          <a:xfrm>
            <a:off x="4619703" y="850769"/>
            <a:ext cx="3129378" cy="1235276"/>
            <a:chOff x="860675" y="2439143"/>
            <a:chExt cx="3129378" cy="1235276"/>
          </a:xfrm>
        </p:grpSpPr>
        <p:sp>
          <p:nvSpPr>
            <p:cNvPr id="21" name="Parallelogram 20">
              <a:extLst>
                <a:ext uri="{FF2B5EF4-FFF2-40B4-BE49-F238E27FC236}">
                  <a16:creationId xmlns:a16="http://schemas.microsoft.com/office/drawing/2014/main" id="{80190BFA-A24A-4106-87C3-B253688F1237}"/>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22" name="TextBox 21">
              <a:extLst>
                <a:ext uri="{FF2B5EF4-FFF2-40B4-BE49-F238E27FC236}">
                  <a16:creationId xmlns:a16="http://schemas.microsoft.com/office/drawing/2014/main" id="{3825AB9D-9DDE-363E-9A42-0BD0932B7BF0}"/>
                </a:ext>
              </a:extLst>
            </p:cNvPr>
            <p:cNvSpPr txBox="1"/>
            <p:nvPr/>
          </p:nvSpPr>
          <p:spPr>
            <a:xfrm>
              <a:off x="2260542" y="2439144"/>
              <a:ext cx="1489933" cy="1235275"/>
            </a:xfrm>
            <a:prstGeom prst="rect">
              <a:avLst/>
            </a:prstGeom>
            <a:noFill/>
          </p:spPr>
          <p:txBody>
            <a:bodyPr wrap="square" rtlCol="0"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Pct val="297213"/>
                <a:buFont typeface="Arial"/>
                <a:buNone/>
                <a:tabLst/>
                <a:defRPr/>
              </a:pPr>
              <a:r>
                <a:rPr kumimoji="0" lang="en-US" sz="160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Module 3</a:t>
              </a:r>
              <a:endParaRPr kumimoji="0" lang="en-US" sz="105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r"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An illustration of Label Bias in Homelessness </a:t>
              </a:r>
            </a:p>
            <a:p>
              <a:pPr marL="0" marR="0" lvl="0" indent="0" algn="r"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Data Analytics</a:t>
              </a:r>
            </a:p>
          </p:txBody>
        </p:sp>
      </p:grpSp>
      <p:grpSp>
        <p:nvGrpSpPr>
          <p:cNvPr id="23" name="Group 22">
            <a:extLst>
              <a:ext uri="{FF2B5EF4-FFF2-40B4-BE49-F238E27FC236}">
                <a16:creationId xmlns:a16="http://schemas.microsoft.com/office/drawing/2014/main" id="{44BD27D5-8C60-D947-CCD4-BFFFB9C7D20B}"/>
              </a:ext>
            </a:extLst>
          </p:cNvPr>
          <p:cNvGrpSpPr/>
          <p:nvPr/>
        </p:nvGrpSpPr>
        <p:grpSpPr>
          <a:xfrm>
            <a:off x="4360937" y="541485"/>
            <a:ext cx="1828799" cy="1872794"/>
            <a:chOff x="4360937" y="541485"/>
            <a:chExt cx="1828799" cy="1872794"/>
          </a:xfrm>
        </p:grpSpPr>
        <p:sp>
          <p:nvSpPr>
            <p:cNvPr id="32" name="Google Shape;120;p2">
              <a:extLst>
                <a:ext uri="{FF2B5EF4-FFF2-40B4-BE49-F238E27FC236}">
                  <a16:creationId xmlns:a16="http://schemas.microsoft.com/office/drawing/2014/main" id="{DA87C821-3CCC-3AB1-3D87-F082566F7C7B}"/>
                </a:ext>
              </a:extLst>
            </p:cNvPr>
            <p:cNvSpPr/>
            <p:nvPr/>
          </p:nvSpPr>
          <p:spPr>
            <a:xfrm rot="13500000" flipH="1">
              <a:off x="4360937" y="541485"/>
              <a:ext cx="1828800" cy="1828799"/>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6"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37" name="Picture 36" descr="A group of people in different colors&#10;&#10;AI-generated content may be incorrect.">
              <a:extLst>
                <a:ext uri="{FF2B5EF4-FFF2-40B4-BE49-F238E27FC236}">
                  <a16:creationId xmlns:a16="http://schemas.microsoft.com/office/drawing/2014/main" id="{078E1EF9-DB2A-4B3F-1FFF-5D7CAE9F011C}"/>
                </a:ext>
              </a:extLst>
            </p:cNvPr>
            <p:cNvPicPr>
              <a:picLocks noChangeAspect="1"/>
            </p:cNvPicPr>
            <p:nvPr/>
          </p:nvPicPr>
          <p:blipFill>
            <a:blip r:embed="rId6"/>
            <a:srcRect l="62973" t="17640" r="8598" b="27183"/>
            <a:stretch>
              <a:fillRect/>
            </a:stretch>
          </p:blipFill>
          <p:spPr>
            <a:xfrm>
              <a:off x="4465200" y="634509"/>
              <a:ext cx="1630800" cy="1779770"/>
            </a:xfrm>
            <a:prstGeom prst="ellipse">
              <a:avLst/>
            </a:prstGeom>
          </p:spPr>
        </p:pic>
      </p:grpSp>
      <p:grpSp>
        <p:nvGrpSpPr>
          <p:cNvPr id="5" name="Group 4">
            <a:extLst>
              <a:ext uri="{FF2B5EF4-FFF2-40B4-BE49-F238E27FC236}">
                <a16:creationId xmlns:a16="http://schemas.microsoft.com/office/drawing/2014/main" id="{81D63086-DDC6-367F-4505-79F929292009}"/>
              </a:ext>
            </a:extLst>
          </p:cNvPr>
          <p:cNvGrpSpPr/>
          <p:nvPr/>
        </p:nvGrpSpPr>
        <p:grpSpPr>
          <a:xfrm>
            <a:off x="5416048" y="4503771"/>
            <a:ext cx="3129378" cy="1235522"/>
            <a:chOff x="860675" y="2438897"/>
            <a:chExt cx="3129378" cy="1235522"/>
          </a:xfrm>
        </p:grpSpPr>
        <p:sp>
          <p:nvSpPr>
            <p:cNvPr id="9" name="Parallelogram 8">
              <a:extLst>
                <a:ext uri="{FF2B5EF4-FFF2-40B4-BE49-F238E27FC236}">
                  <a16:creationId xmlns:a16="http://schemas.microsoft.com/office/drawing/2014/main" id="{17059613-03B5-4D95-0C6D-6A3B2994BCC6}"/>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11" name="TextBox 10">
              <a:extLst>
                <a:ext uri="{FF2B5EF4-FFF2-40B4-BE49-F238E27FC236}">
                  <a16:creationId xmlns:a16="http://schemas.microsoft.com/office/drawing/2014/main" id="{CBD2F009-8A7D-5EB3-7F67-5D3E5E924D10}"/>
                </a:ext>
              </a:extLst>
            </p:cNvPr>
            <p:cNvSpPr txBox="1"/>
            <p:nvPr/>
          </p:nvSpPr>
          <p:spPr>
            <a:xfrm>
              <a:off x="1230969" y="2438897"/>
              <a:ext cx="1747582" cy="1235277"/>
            </a:xfrm>
            <a:prstGeom prst="rect">
              <a:avLst/>
            </a:prstGeom>
            <a:noFill/>
          </p:spPr>
          <p:txBody>
            <a:bodyPr wrap="square" rtlCol="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Pct val="297213"/>
                <a:buFont typeface="Arial"/>
                <a:buNone/>
                <a:tabLst/>
                <a:defRPr/>
              </a:pPr>
              <a:r>
                <a:rPr kumimoji="0" lang="en-US" sz="160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Module 4</a:t>
              </a:r>
              <a:endParaRPr kumimoji="0" lang="en-US" sz="105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An illustration of </a:t>
              </a:r>
            </a:p>
            <a:p>
              <a:pPr marL="0" marR="0" lvl="0" indent="0" algn="l"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Collider Bias in </a:t>
              </a:r>
            </a:p>
            <a:p>
              <a:pPr marL="0" marR="0" lvl="0" indent="0" algn="l"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housing research</a:t>
              </a:r>
            </a:p>
          </p:txBody>
        </p:sp>
      </p:grpSp>
      <p:grpSp>
        <p:nvGrpSpPr>
          <p:cNvPr id="14" name="Group 13">
            <a:extLst>
              <a:ext uri="{FF2B5EF4-FFF2-40B4-BE49-F238E27FC236}">
                <a16:creationId xmlns:a16="http://schemas.microsoft.com/office/drawing/2014/main" id="{628005FD-9C68-8A80-9766-C80E7701FDC3}"/>
              </a:ext>
            </a:extLst>
          </p:cNvPr>
          <p:cNvGrpSpPr/>
          <p:nvPr/>
        </p:nvGrpSpPr>
        <p:grpSpPr>
          <a:xfrm>
            <a:off x="7091011" y="4221659"/>
            <a:ext cx="1828799" cy="1828800"/>
            <a:chOff x="7091011" y="4221659"/>
            <a:chExt cx="1828799" cy="1828800"/>
          </a:xfrm>
        </p:grpSpPr>
        <p:sp>
          <p:nvSpPr>
            <p:cNvPr id="17" name="Google Shape;120;p2">
              <a:extLst>
                <a:ext uri="{FF2B5EF4-FFF2-40B4-BE49-F238E27FC236}">
                  <a16:creationId xmlns:a16="http://schemas.microsoft.com/office/drawing/2014/main" id="{F68283FF-F6BE-FCB4-0823-C6CEEDF664A7}"/>
                </a:ext>
              </a:extLst>
            </p:cNvPr>
            <p:cNvSpPr/>
            <p:nvPr/>
          </p:nvSpPr>
          <p:spPr>
            <a:xfrm rot="2700000" flipH="1">
              <a:off x="7091011" y="4221659"/>
              <a:ext cx="1828800" cy="1828799"/>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6" b="0" i="0" u="none" strike="noStrike" kern="0" cap="none" spc="0" normalizeH="0" baseline="0" noProof="0" dirty="0">
                <a:ln>
                  <a:noFill/>
                </a:ln>
                <a:solidFill>
                  <a:srgbClr val="FFFFFF"/>
                </a:solidFill>
                <a:effectLst/>
                <a:uLnTx/>
                <a:uFillTx/>
                <a:latin typeface="Arial"/>
                <a:ea typeface="Arial"/>
                <a:cs typeface="Arial"/>
                <a:sym typeface="Arial"/>
              </a:endParaRPr>
            </a:p>
          </p:txBody>
        </p:sp>
        <p:grpSp>
          <p:nvGrpSpPr>
            <p:cNvPr id="35" name="Group 34">
              <a:extLst>
                <a:ext uri="{FF2B5EF4-FFF2-40B4-BE49-F238E27FC236}">
                  <a16:creationId xmlns:a16="http://schemas.microsoft.com/office/drawing/2014/main" id="{A5C7D3C4-49CE-E067-D4DF-0CD189CC096B}"/>
                </a:ext>
              </a:extLst>
            </p:cNvPr>
            <p:cNvGrpSpPr/>
            <p:nvPr/>
          </p:nvGrpSpPr>
          <p:grpSpPr>
            <a:xfrm>
              <a:off x="7229347" y="4409020"/>
              <a:ext cx="1564364" cy="1465506"/>
              <a:chOff x="3501616" y="1534157"/>
              <a:chExt cx="2328314" cy="2181179"/>
            </a:xfrm>
          </p:grpSpPr>
          <p:pic>
            <p:nvPicPr>
              <p:cNvPr id="38" name="Picture 37" descr="A group of people in different colors&#10;&#10;AI-generated content may be incorrect.">
                <a:extLst>
                  <a:ext uri="{FF2B5EF4-FFF2-40B4-BE49-F238E27FC236}">
                    <a16:creationId xmlns:a16="http://schemas.microsoft.com/office/drawing/2014/main" id="{A0A184D7-0AE6-A3CF-3133-21D8FA78F7EB}"/>
                  </a:ext>
                </a:extLst>
              </p:cNvPr>
              <p:cNvPicPr>
                <a:picLocks noChangeAspect="1"/>
              </p:cNvPicPr>
              <p:nvPr/>
            </p:nvPicPr>
            <p:blipFill>
              <a:blip r:embed="rId6"/>
              <a:srcRect l="14593" t="14370" r="55902" b="26199"/>
              <a:stretch>
                <a:fillRect/>
              </a:stretch>
            </p:blipFill>
            <p:spPr>
              <a:xfrm>
                <a:off x="3501616" y="1652038"/>
                <a:ext cx="1821602" cy="2063298"/>
              </a:xfrm>
              <a:prstGeom prst="ellipse">
                <a:avLst/>
              </a:prstGeom>
            </p:spPr>
          </p:pic>
          <p:pic>
            <p:nvPicPr>
              <p:cNvPr id="39" name="Picture 38" descr="A group of people in different colors&#10;&#10;AI-generated content may be incorrect.">
                <a:extLst>
                  <a:ext uri="{FF2B5EF4-FFF2-40B4-BE49-F238E27FC236}">
                    <a16:creationId xmlns:a16="http://schemas.microsoft.com/office/drawing/2014/main" id="{BA4A68A0-D35A-28D6-C943-33E97457AA68}"/>
                  </a:ext>
                </a:extLst>
              </p:cNvPr>
              <p:cNvPicPr>
                <a:picLocks noChangeAspect="1"/>
              </p:cNvPicPr>
              <p:nvPr/>
            </p:nvPicPr>
            <p:blipFill>
              <a:blip r:embed="rId6"/>
              <a:srcRect l="33568" t="12909" r="39362" b="27097"/>
              <a:stretch>
                <a:fillRect/>
              </a:stretch>
            </p:blipFill>
            <p:spPr>
              <a:xfrm>
                <a:off x="4079780" y="1534157"/>
                <a:ext cx="1750150" cy="2181179"/>
              </a:xfrm>
              <a:prstGeom prst="ellipse">
                <a:avLst/>
              </a:prstGeom>
            </p:spPr>
          </p:pic>
        </p:grpSp>
      </p:grpSp>
    </p:spTree>
    <p:extLst>
      <p:ext uri="{BB962C8B-B14F-4D97-AF65-F5344CB8AC3E}">
        <p14:creationId xmlns:p14="http://schemas.microsoft.com/office/powerpoint/2010/main" val="1234600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a9d64d8e29_0_104"/>
          <p:cNvSpPr txBox="1">
            <a:spLocks noGrp="1"/>
          </p:cNvSpPr>
          <p:nvPr>
            <p:ph type="body" idx="1"/>
          </p:nvPr>
        </p:nvSpPr>
        <p:spPr>
          <a:xfrm>
            <a:off x="621792" y="1113437"/>
            <a:ext cx="10948416" cy="1695750"/>
          </a:xfrm>
          <a:prstGeom prst="rect">
            <a:avLst/>
          </a:prstGeom>
        </p:spPr>
        <p:txBody>
          <a:bodyPr spcFirstLastPara="1" wrap="square" lIns="91425" tIns="91425" rIns="91425" bIns="91425" anchor="t" anchorCtr="0">
            <a:noAutofit/>
          </a:bodyPr>
          <a:lstStyle/>
          <a:p>
            <a:pPr marL="0" indent="0">
              <a:lnSpc>
                <a:spcPct val="95000"/>
              </a:lnSpc>
              <a:buClr>
                <a:schemeClr val="dk1"/>
              </a:buClr>
              <a:buSzPts val="1100"/>
              <a:buNone/>
            </a:pPr>
            <a:r>
              <a:rPr lang="en-US" dirty="0">
                <a:solidFill>
                  <a:schemeClr val="dk1"/>
                </a:solidFill>
                <a:latin typeface="Open Sans"/>
                <a:ea typeface="Open Sans"/>
                <a:cs typeface="Open Sans"/>
                <a:sym typeface="Open Sans"/>
              </a:rPr>
              <a:t>Decision making in health and human services is </a:t>
            </a:r>
            <a:r>
              <a:rPr lang="en-US" b="1" dirty="0">
                <a:solidFill>
                  <a:srgbClr val="001C84"/>
                </a:solidFill>
                <a:latin typeface="Open Sans"/>
                <a:ea typeface="Open Sans"/>
                <a:cs typeface="Open Sans"/>
                <a:sym typeface="Open Sans"/>
              </a:rPr>
              <a:t>increasingly aided by data technologies. </a:t>
            </a:r>
          </a:p>
          <a:p>
            <a:pPr marL="0" indent="0">
              <a:lnSpc>
                <a:spcPct val="95000"/>
              </a:lnSpc>
              <a:buClr>
                <a:schemeClr val="dk1"/>
              </a:buClr>
              <a:buSzPts val="1100"/>
              <a:buNone/>
            </a:pPr>
            <a:endParaRPr lang="en-US" dirty="0">
              <a:solidFill>
                <a:schemeClr val="dk1"/>
              </a:solidFill>
              <a:latin typeface="Open Sans"/>
              <a:ea typeface="Open Sans"/>
              <a:cs typeface="Open Sans"/>
              <a:sym typeface="Open Sans"/>
            </a:endParaRPr>
          </a:p>
          <a:p>
            <a:pPr marL="0" indent="0">
              <a:lnSpc>
                <a:spcPct val="95000"/>
              </a:lnSpc>
              <a:buClr>
                <a:schemeClr val="dk1"/>
              </a:buClr>
              <a:buSzPts val="1100"/>
              <a:buNone/>
            </a:pPr>
            <a:r>
              <a:rPr lang="en-US" b="1" dirty="0">
                <a:solidFill>
                  <a:srgbClr val="001C84"/>
                </a:solidFill>
                <a:latin typeface="Open Sans"/>
                <a:ea typeface="Open Sans"/>
                <a:cs typeface="Open Sans"/>
                <a:sym typeface="Open Sans"/>
              </a:rPr>
              <a:t>How do we ensure that data analytics and metadata account for the experiences of those represented and avoid perpetuating bias in society?</a:t>
            </a:r>
            <a:endParaRPr b="1" dirty="0">
              <a:solidFill>
                <a:srgbClr val="001C84"/>
              </a:solidFill>
              <a:latin typeface="Open Sans"/>
              <a:ea typeface="Open Sans"/>
              <a:cs typeface="Open Sans"/>
              <a:sym typeface="Open Sans"/>
            </a:endParaRPr>
          </a:p>
        </p:txBody>
      </p:sp>
      <p:sp>
        <p:nvSpPr>
          <p:cNvPr id="137" name="Google Shape;137;g3a9d64d8e29_0_104"/>
          <p:cNvSpPr txBox="1">
            <a:spLocks noGrp="1"/>
          </p:cNvSpPr>
          <p:nvPr>
            <p:ph type="title"/>
          </p:nvPr>
        </p:nvSpPr>
        <p:spPr>
          <a:xfrm>
            <a:off x="621792" y="302875"/>
            <a:ext cx="10799064" cy="1030800"/>
          </a:xfrm>
          <a:prstGeom prst="rect">
            <a:avLst/>
          </a:prstGeom>
        </p:spPr>
        <p:txBody>
          <a:bodyPr spcFirstLastPara="1" wrap="square" lIns="91425" tIns="91425" rIns="91425" bIns="91425" anchor="t" anchorCtr="0">
            <a:noAutofit/>
          </a:bodyPr>
          <a:lstStyle/>
          <a:p>
            <a:pPr>
              <a:buSzPts val="990"/>
            </a:pPr>
            <a:r>
              <a:rPr lang="en-US" sz="3200" b="1" dirty="0">
                <a:solidFill>
                  <a:srgbClr val="001C84"/>
                </a:solidFill>
                <a:latin typeface="Open Sans"/>
                <a:ea typeface="Open Sans"/>
                <a:cs typeface="Open Sans"/>
                <a:sym typeface="Open Sans"/>
              </a:rPr>
              <a:t>Public interest in an Era of Big Data Technologies </a:t>
            </a:r>
            <a:endParaRPr sz="3200" b="1" dirty="0">
              <a:solidFill>
                <a:srgbClr val="001C84"/>
              </a:solidFill>
              <a:latin typeface="Open Sans"/>
              <a:ea typeface="Open Sans"/>
              <a:cs typeface="Open Sans"/>
              <a:sym typeface="Open Sans"/>
            </a:endParaRPr>
          </a:p>
        </p:txBody>
      </p:sp>
      <p:pic>
        <p:nvPicPr>
          <p:cNvPr id="138" name="Google Shape;138;g3a9d64d8e29_0_104"/>
          <p:cNvPicPr preferRelativeResize="0"/>
          <p:nvPr/>
        </p:nvPicPr>
        <p:blipFill rotWithShape="1">
          <a:blip r:embed="rId3">
            <a:alphaModFix/>
          </a:blip>
          <a:srcRect l="6646"/>
          <a:stretch/>
        </p:blipFill>
        <p:spPr>
          <a:xfrm>
            <a:off x="6594227" y="2555140"/>
            <a:ext cx="4137422" cy="2262001"/>
          </a:xfrm>
          <a:prstGeom prst="rect">
            <a:avLst/>
          </a:prstGeom>
          <a:noFill/>
          <a:ln>
            <a:noFill/>
          </a:ln>
          <a:effectLst>
            <a:outerShdw blurRad="57150" dist="19050" dir="5400000" algn="bl" rotWithShape="0">
              <a:srgbClr val="000000">
                <a:alpha val="50000"/>
              </a:srgbClr>
            </a:outerShdw>
          </a:effectLst>
        </p:spPr>
      </p:pic>
      <p:pic>
        <p:nvPicPr>
          <p:cNvPr id="139" name="Google Shape;139;g3a9d64d8e29_0_104"/>
          <p:cNvPicPr preferRelativeResize="0"/>
          <p:nvPr/>
        </p:nvPicPr>
        <p:blipFill rotWithShape="1">
          <a:blip r:embed="rId4">
            <a:alphaModFix/>
          </a:blip>
          <a:srcRect l="6793" r="8917"/>
          <a:stretch/>
        </p:blipFill>
        <p:spPr>
          <a:xfrm>
            <a:off x="1735175" y="2966032"/>
            <a:ext cx="4286149" cy="1694263"/>
          </a:xfrm>
          <a:prstGeom prst="rect">
            <a:avLst/>
          </a:prstGeom>
          <a:noFill/>
          <a:ln>
            <a:noFill/>
          </a:ln>
          <a:effectLst>
            <a:outerShdw blurRad="57150" dist="19050" dir="5400000" algn="bl" rotWithShape="0">
              <a:srgbClr val="000000">
                <a:alpha val="50000"/>
              </a:srgbClr>
            </a:outerShdw>
          </a:effectLst>
        </p:spPr>
      </p:pic>
      <p:pic>
        <p:nvPicPr>
          <p:cNvPr id="140" name="Google Shape;140;g3a9d64d8e29_0_104"/>
          <p:cNvPicPr preferRelativeResize="0"/>
          <p:nvPr/>
        </p:nvPicPr>
        <p:blipFill>
          <a:blip r:embed="rId5">
            <a:alphaModFix/>
          </a:blip>
          <a:stretch>
            <a:fillRect/>
          </a:stretch>
        </p:blipFill>
        <p:spPr>
          <a:xfrm>
            <a:off x="3137538" y="5161653"/>
            <a:ext cx="5447222" cy="1327423"/>
          </a:xfrm>
          <a:prstGeom prst="rect">
            <a:avLst/>
          </a:prstGeom>
          <a:noFill/>
          <a:ln>
            <a:noFill/>
          </a:ln>
          <a:effectLst>
            <a:outerShdw blurRad="57150" dist="19050" dir="5400000" algn="bl" rotWithShape="0">
              <a:srgbClr val="000000">
                <a:alpha val="50000"/>
              </a:srgbClr>
            </a:outerShdw>
          </a:effectLst>
        </p:spPr>
      </p:pic>
      <p:sp>
        <p:nvSpPr>
          <p:cNvPr id="2" name="TextBox 1">
            <a:extLst>
              <a:ext uri="{FF2B5EF4-FFF2-40B4-BE49-F238E27FC236}">
                <a16:creationId xmlns:a16="http://schemas.microsoft.com/office/drawing/2014/main" id="{63C9276B-1523-6A9D-5CA9-8C022B1E49EF}"/>
              </a:ext>
            </a:extLst>
          </p:cNvPr>
          <p:cNvSpPr txBox="1"/>
          <p:nvPr/>
        </p:nvSpPr>
        <p:spPr>
          <a:xfrm>
            <a:off x="1707743" y="4712398"/>
            <a:ext cx="2101577" cy="276999"/>
          </a:xfrm>
          <a:prstGeom prst="rect">
            <a:avLst/>
          </a:prstGeom>
          <a:noFill/>
        </p:spPr>
        <p:txBody>
          <a:bodyPr wrap="square">
            <a:spAutoFit/>
          </a:bodyPr>
          <a:lstStyle/>
          <a:p>
            <a:r>
              <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(Tajo et al., 2024)</a:t>
            </a:r>
            <a:endPar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D8597F9B-2D97-AC3A-6AA8-2FDFA2FC6BC0}"/>
              </a:ext>
            </a:extLst>
          </p:cNvPr>
          <p:cNvSpPr txBox="1"/>
          <p:nvPr/>
        </p:nvSpPr>
        <p:spPr>
          <a:xfrm>
            <a:off x="6533929" y="4828042"/>
            <a:ext cx="2101577" cy="276999"/>
          </a:xfrm>
          <a:prstGeom prst="rect">
            <a:avLst/>
          </a:prstGeom>
          <a:noFill/>
        </p:spPr>
        <p:txBody>
          <a:bodyPr wrap="square">
            <a:spAutoFit/>
          </a:bodyPr>
          <a:lstStyle/>
          <a:p>
            <a:r>
              <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a:t>
            </a: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Goldstein</a:t>
            </a:r>
            <a:r>
              <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 2023)</a:t>
            </a:r>
            <a:endPar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56479CAE-CBFE-1042-8A61-2E2537EB446D}"/>
              </a:ext>
            </a:extLst>
          </p:cNvPr>
          <p:cNvSpPr txBox="1"/>
          <p:nvPr/>
        </p:nvSpPr>
        <p:spPr>
          <a:xfrm>
            <a:off x="3047017" y="6490425"/>
            <a:ext cx="2101577" cy="276999"/>
          </a:xfrm>
          <a:prstGeom prst="rect">
            <a:avLst/>
          </a:prstGeom>
          <a:noFill/>
        </p:spPr>
        <p:txBody>
          <a:bodyPr wrap="square">
            <a:spAutoFit/>
          </a:bodyPr>
          <a:lstStyle/>
          <a:p>
            <a:r>
              <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a:t>
            </a: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Gawronski, 2019</a:t>
            </a:r>
            <a:r>
              <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a:t>
            </a:r>
            <a:endPar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Slide Number Placeholder 4">
            <a:extLst>
              <a:ext uri="{FF2B5EF4-FFF2-40B4-BE49-F238E27FC236}">
                <a16:creationId xmlns:a16="http://schemas.microsoft.com/office/drawing/2014/main" id="{6E6BB74E-34FB-11F8-1FBC-2EB3A7F72480}"/>
              </a:ext>
            </a:extLst>
          </p:cNvPr>
          <p:cNvSpPr>
            <a:spLocks noGrp="1"/>
          </p:cNvSpPr>
          <p:nvPr>
            <p:ph type="sldNum" idx="12"/>
          </p:nvPr>
        </p:nvSpPr>
        <p:spPr/>
        <p:txBody>
          <a:bodyPr/>
          <a:lstStyle/>
          <a:p>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pPr/>
              <a:t>3</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3a9d64d8e29_0_115"/>
          <p:cNvSpPr txBox="1">
            <a:spLocks noGrp="1"/>
          </p:cNvSpPr>
          <p:nvPr>
            <p:ph type="body" idx="1"/>
          </p:nvPr>
        </p:nvSpPr>
        <p:spPr>
          <a:xfrm>
            <a:off x="640080" y="1222836"/>
            <a:ext cx="10945368" cy="4997100"/>
          </a:xfrm>
          <a:prstGeom prst="rect">
            <a:avLst/>
          </a:prstGeom>
        </p:spPr>
        <p:txBody>
          <a:bodyPr spcFirstLastPara="1" wrap="square" lIns="91425" tIns="91425" rIns="91425" bIns="91425" anchor="t" anchorCtr="0">
            <a:normAutofit/>
          </a:bodyPr>
          <a:lstStyle/>
          <a:p>
            <a:pPr marL="0" indent="0">
              <a:buNone/>
            </a:pPr>
            <a:r>
              <a:rPr lang="en-US" b="1" dirty="0">
                <a:solidFill>
                  <a:srgbClr val="001C84"/>
                </a:solidFill>
                <a:latin typeface="Open Sans"/>
                <a:ea typeface="Open Sans"/>
                <a:cs typeface="Open Sans"/>
                <a:sym typeface="Open Sans"/>
              </a:rPr>
              <a:t>Ethical standards of metadata</a:t>
            </a:r>
            <a:r>
              <a:rPr lang="en-US" dirty="0">
                <a:solidFill>
                  <a:srgbClr val="001C84"/>
                </a:solidFill>
                <a:latin typeface="Open Sans"/>
                <a:ea typeface="Open Sans"/>
                <a:cs typeface="Open Sans"/>
                <a:sym typeface="Open Sans"/>
              </a:rPr>
              <a:t> </a:t>
            </a:r>
            <a:r>
              <a:rPr lang="en-US" dirty="0" err="1">
                <a:solidFill>
                  <a:schemeClr val="dk1"/>
                </a:solidFill>
                <a:latin typeface="Open Sans"/>
                <a:ea typeface="Open Sans"/>
                <a:cs typeface="Open Sans"/>
                <a:sym typeface="Open Sans"/>
              </a:rPr>
              <a:t>FAIRification</a:t>
            </a:r>
            <a:r>
              <a:rPr lang="en-US" dirty="0">
                <a:solidFill>
                  <a:schemeClr val="dk1"/>
                </a:solidFill>
                <a:latin typeface="Open Sans"/>
                <a:ea typeface="Open Sans"/>
                <a:cs typeface="Open Sans"/>
                <a:sym typeface="Open Sans"/>
              </a:rPr>
              <a:t>: </a:t>
            </a:r>
            <a:r>
              <a:rPr lang="en-US" b="1" dirty="0">
                <a:solidFill>
                  <a:srgbClr val="001C84"/>
                </a:solidFill>
                <a:latin typeface="Open Sans"/>
                <a:ea typeface="Open Sans"/>
                <a:cs typeface="Open Sans"/>
                <a:sym typeface="Open Sans"/>
              </a:rPr>
              <a:t>F</a:t>
            </a:r>
            <a:r>
              <a:rPr lang="en-US" dirty="0">
                <a:solidFill>
                  <a:schemeClr val="dk1"/>
                </a:solidFill>
                <a:latin typeface="Open Sans"/>
                <a:ea typeface="Open Sans"/>
                <a:cs typeface="Open Sans"/>
                <a:sym typeface="Open Sans"/>
              </a:rPr>
              <a:t>indable, </a:t>
            </a:r>
            <a:r>
              <a:rPr lang="en-US" b="1" dirty="0">
                <a:solidFill>
                  <a:srgbClr val="001C84"/>
                </a:solidFill>
                <a:latin typeface="Open Sans"/>
                <a:ea typeface="Open Sans"/>
                <a:cs typeface="Open Sans"/>
                <a:sym typeface="Open Sans"/>
              </a:rPr>
              <a:t>A</a:t>
            </a:r>
            <a:r>
              <a:rPr lang="en-US" dirty="0">
                <a:solidFill>
                  <a:schemeClr val="dk1"/>
                </a:solidFill>
                <a:latin typeface="Open Sans"/>
                <a:ea typeface="Open Sans"/>
                <a:cs typeface="Open Sans"/>
                <a:sym typeface="Open Sans"/>
              </a:rPr>
              <a:t>ccessible, </a:t>
            </a:r>
            <a:r>
              <a:rPr lang="en-US" b="1" dirty="0">
                <a:solidFill>
                  <a:srgbClr val="001C84"/>
                </a:solidFill>
                <a:latin typeface="Open Sans"/>
                <a:ea typeface="Open Sans"/>
                <a:cs typeface="Open Sans"/>
                <a:sym typeface="Open Sans"/>
              </a:rPr>
              <a:t>I</a:t>
            </a:r>
            <a:r>
              <a:rPr lang="en-US" dirty="0">
                <a:solidFill>
                  <a:schemeClr val="dk1"/>
                </a:solidFill>
                <a:latin typeface="Open Sans"/>
                <a:ea typeface="Open Sans"/>
                <a:cs typeface="Open Sans"/>
                <a:sym typeface="Open Sans"/>
              </a:rPr>
              <a:t>nteroperable </a:t>
            </a:r>
          </a:p>
          <a:p>
            <a:pPr marL="0" indent="0">
              <a:buNone/>
            </a:pPr>
            <a:r>
              <a:rPr lang="en-US" dirty="0">
                <a:solidFill>
                  <a:schemeClr val="dk1"/>
                </a:solidFill>
                <a:latin typeface="Open Sans"/>
                <a:ea typeface="Open Sans"/>
                <a:cs typeface="Open Sans"/>
                <a:sym typeface="Open Sans"/>
              </a:rPr>
              <a:t>and </a:t>
            </a:r>
            <a:r>
              <a:rPr lang="en-US" b="1" dirty="0">
                <a:solidFill>
                  <a:srgbClr val="001C84"/>
                </a:solidFill>
                <a:latin typeface="Open Sans"/>
                <a:ea typeface="Open Sans"/>
                <a:cs typeface="Open Sans"/>
                <a:sym typeface="Open Sans"/>
              </a:rPr>
              <a:t>R</a:t>
            </a:r>
            <a:r>
              <a:rPr lang="en-US" dirty="0">
                <a:solidFill>
                  <a:schemeClr val="dk1"/>
                </a:solidFill>
                <a:latin typeface="Open Sans"/>
                <a:ea typeface="Open Sans"/>
                <a:cs typeface="Open Sans"/>
                <a:sym typeface="Open Sans"/>
              </a:rPr>
              <a:t>eusable principles (</a:t>
            </a:r>
            <a:r>
              <a:rPr lang="en-US" sz="1600" dirty="0">
                <a:solidFill>
                  <a:schemeClr val="dk1"/>
                </a:solidFill>
                <a:latin typeface="Open Sans"/>
                <a:ea typeface="Open Sans"/>
                <a:cs typeface="Open Sans"/>
                <a:sym typeface="Open Sans"/>
              </a:rPr>
              <a:t>Wilkinson et al., 2016</a:t>
            </a:r>
            <a:r>
              <a:rPr lang="en-US" dirty="0">
                <a:solidFill>
                  <a:schemeClr val="dk1"/>
                </a:solidFill>
                <a:latin typeface="Open Sans"/>
                <a:ea typeface="Open Sans"/>
                <a:cs typeface="Open Sans"/>
                <a:sym typeface="Open Sans"/>
              </a:rPr>
              <a:t>)</a:t>
            </a:r>
            <a:endParaRPr dirty="0">
              <a:solidFill>
                <a:schemeClr val="dk1"/>
              </a:solidFill>
              <a:latin typeface="Open Sans"/>
              <a:ea typeface="Open Sans"/>
              <a:cs typeface="Open Sans"/>
              <a:sym typeface="Open Sans"/>
            </a:endParaRPr>
          </a:p>
          <a:p>
            <a:pPr marL="0" indent="0">
              <a:spcBef>
                <a:spcPts val="1200"/>
              </a:spcBef>
              <a:buNone/>
            </a:pPr>
            <a:r>
              <a:rPr lang="en-US" sz="2000" dirty="0">
                <a:solidFill>
                  <a:schemeClr val="dk1"/>
                </a:solidFill>
                <a:latin typeface="Open Sans"/>
                <a:ea typeface="Open Sans"/>
                <a:cs typeface="Open Sans"/>
                <a:sym typeface="Open Sans"/>
              </a:rPr>
              <a:t>When using social </a:t>
            </a:r>
            <a:r>
              <a:rPr lang="en-US" sz="2000" b="1" dirty="0">
                <a:solidFill>
                  <a:srgbClr val="001C84"/>
                </a:solidFill>
                <a:latin typeface="Open Sans"/>
                <a:ea typeface="Open Sans"/>
                <a:cs typeface="Open Sans"/>
                <a:sym typeface="Open Sans"/>
              </a:rPr>
              <a:t>data for the public interest</a:t>
            </a:r>
            <a:r>
              <a:rPr lang="en-US" sz="2000" dirty="0">
                <a:solidFill>
                  <a:schemeClr val="dk1"/>
                </a:solidFill>
                <a:latin typeface="Open Sans"/>
                <a:ea typeface="Open Sans"/>
                <a:cs typeface="Open Sans"/>
                <a:sym typeface="Open Sans"/>
              </a:rPr>
              <a:t>, </a:t>
            </a:r>
            <a:r>
              <a:rPr lang="en-US" sz="2000" b="1" i="1" dirty="0">
                <a:solidFill>
                  <a:srgbClr val="001C84"/>
                </a:solidFill>
                <a:latin typeface="Open Sans"/>
                <a:ea typeface="Open Sans"/>
                <a:cs typeface="Open Sans"/>
                <a:sym typeface="Open Sans"/>
              </a:rPr>
              <a:t>add</a:t>
            </a:r>
            <a:r>
              <a:rPr lang="en-US" sz="2000" dirty="0">
                <a:solidFill>
                  <a:schemeClr val="dk1"/>
                </a:solidFill>
                <a:latin typeface="Open Sans"/>
                <a:ea typeface="Open Sans"/>
                <a:cs typeface="Open Sans"/>
                <a:sym typeface="Open Sans"/>
              </a:rPr>
              <a:t> FAIR2 principles (Richter et al., 2023): </a:t>
            </a:r>
            <a:endParaRPr sz="2000" dirty="0">
              <a:solidFill>
                <a:schemeClr val="dk1"/>
              </a:solidFill>
              <a:latin typeface="Open Sans"/>
              <a:ea typeface="Open Sans"/>
              <a:cs typeface="Open Sans"/>
              <a:sym typeface="Open Sans"/>
            </a:endParaRPr>
          </a:p>
          <a:p>
            <a:pPr>
              <a:spcBef>
                <a:spcPts val="1200"/>
              </a:spcBef>
              <a:buClr>
                <a:schemeClr val="dk1"/>
              </a:buClr>
              <a:buFont typeface="Open Sans"/>
              <a:buChar char="●"/>
            </a:pPr>
            <a:r>
              <a:rPr lang="en-US" sz="2000" b="1" dirty="0">
                <a:solidFill>
                  <a:srgbClr val="001C84"/>
                </a:solidFill>
                <a:latin typeface="Open Sans"/>
                <a:ea typeface="Open Sans"/>
                <a:cs typeface="Open Sans"/>
                <a:sym typeface="Open Sans"/>
              </a:rPr>
              <a:t>F</a:t>
            </a:r>
            <a:r>
              <a:rPr lang="en-US" sz="2000" dirty="0">
                <a:solidFill>
                  <a:schemeClr val="dk1"/>
                </a:solidFill>
                <a:latin typeface="Open Sans"/>
                <a:ea typeface="Open Sans"/>
                <a:cs typeface="Open Sans"/>
                <a:sym typeface="Open Sans"/>
              </a:rPr>
              <a:t>rame meta(data) with contextual, experiential knowledge </a:t>
            </a:r>
            <a:endParaRPr sz="2000" b="1" dirty="0">
              <a:solidFill>
                <a:schemeClr val="dk1"/>
              </a:solidFill>
              <a:latin typeface="Open Sans"/>
              <a:ea typeface="Open Sans"/>
              <a:cs typeface="Open Sans"/>
              <a:sym typeface="Open Sans"/>
            </a:endParaRPr>
          </a:p>
          <a:p>
            <a:pPr>
              <a:buClr>
                <a:schemeClr val="dk1"/>
              </a:buClr>
              <a:buFont typeface="Open Sans"/>
              <a:buChar char="●"/>
            </a:pPr>
            <a:r>
              <a:rPr lang="en-US" sz="2000" b="1" dirty="0">
                <a:solidFill>
                  <a:srgbClr val="001C84"/>
                </a:solidFill>
                <a:latin typeface="Open Sans"/>
                <a:ea typeface="Open Sans"/>
                <a:cs typeface="Open Sans"/>
                <a:sym typeface="Open Sans"/>
              </a:rPr>
              <a:t>A</a:t>
            </a:r>
            <a:r>
              <a:rPr lang="en-US" sz="2000" dirty="0">
                <a:solidFill>
                  <a:schemeClr val="dk1"/>
                </a:solidFill>
                <a:latin typeface="Open Sans"/>
                <a:ea typeface="Open Sans"/>
                <a:cs typeface="Open Sans"/>
                <a:sym typeface="Open Sans"/>
              </a:rPr>
              <a:t>rticulate assumptions into system (causal) graphs</a:t>
            </a:r>
            <a:endParaRPr sz="2000" dirty="0">
              <a:solidFill>
                <a:schemeClr val="dk1"/>
              </a:solidFill>
              <a:latin typeface="Open Sans"/>
              <a:ea typeface="Open Sans"/>
              <a:cs typeface="Open Sans"/>
              <a:sym typeface="Open Sans"/>
            </a:endParaRPr>
          </a:p>
          <a:p>
            <a:pPr>
              <a:buClr>
                <a:schemeClr val="dk1"/>
              </a:buClr>
              <a:buFont typeface="Open Sans"/>
              <a:buChar char="●"/>
            </a:pPr>
            <a:r>
              <a:rPr lang="en-US" sz="2000" b="1" dirty="0">
                <a:solidFill>
                  <a:srgbClr val="001C84"/>
                </a:solidFill>
                <a:latin typeface="Open Sans"/>
                <a:ea typeface="Open Sans"/>
                <a:cs typeface="Open Sans"/>
                <a:sym typeface="Open Sans"/>
              </a:rPr>
              <a:t>I</a:t>
            </a:r>
            <a:r>
              <a:rPr lang="en-US" sz="2000" dirty="0">
                <a:solidFill>
                  <a:schemeClr val="dk1"/>
                </a:solidFill>
                <a:latin typeface="Open Sans"/>
                <a:ea typeface="Open Sans"/>
                <a:cs typeface="Open Sans"/>
                <a:sym typeface="Open Sans"/>
              </a:rPr>
              <a:t>dentify and address bias in data analytics</a:t>
            </a:r>
            <a:endParaRPr sz="2000" dirty="0">
              <a:solidFill>
                <a:schemeClr val="dk1"/>
              </a:solidFill>
              <a:latin typeface="Open Sans"/>
              <a:ea typeface="Open Sans"/>
              <a:cs typeface="Open Sans"/>
              <a:sym typeface="Open Sans"/>
            </a:endParaRPr>
          </a:p>
          <a:p>
            <a:pPr>
              <a:buClr>
                <a:schemeClr val="dk1"/>
              </a:buClr>
              <a:buFont typeface="Open Sans"/>
              <a:buChar char="●"/>
            </a:pPr>
            <a:r>
              <a:rPr lang="en-US" sz="2000" b="1" dirty="0">
                <a:solidFill>
                  <a:srgbClr val="001C84"/>
                </a:solidFill>
                <a:latin typeface="Open Sans"/>
                <a:ea typeface="Open Sans"/>
                <a:cs typeface="Open Sans"/>
                <a:sym typeface="Open Sans"/>
              </a:rPr>
              <a:t>R</a:t>
            </a:r>
            <a:r>
              <a:rPr lang="en-US" sz="2000" dirty="0">
                <a:solidFill>
                  <a:schemeClr val="dk1"/>
                </a:solidFill>
                <a:latin typeface="Open Sans"/>
                <a:ea typeface="Open Sans"/>
                <a:cs typeface="Open Sans"/>
                <a:sym typeface="Open Sans"/>
              </a:rPr>
              <a:t>eport findings to community stakeholders and seek feedback.</a:t>
            </a:r>
            <a:endParaRPr sz="2000" dirty="0">
              <a:solidFill>
                <a:schemeClr val="dk1"/>
              </a:solidFill>
              <a:latin typeface="Open Sans"/>
              <a:ea typeface="Open Sans"/>
              <a:cs typeface="Open Sans"/>
              <a:sym typeface="Open Sans"/>
            </a:endParaRPr>
          </a:p>
          <a:p>
            <a:pPr marL="0" indent="0">
              <a:spcBef>
                <a:spcPts val="1200"/>
              </a:spcBef>
              <a:buNone/>
            </a:pPr>
            <a:r>
              <a:rPr lang="en-US" sz="2000" b="1" i="1" dirty="0">
                <a:solidFill>
                  <a:srgbClr val="001C84"/>
                </a:solidFill>
                <a:latin typeface="Open Sans"/>
                <a:ea typeface="Open Sans"/>
                <a:cs typeface="Open Sans"/>
                <a:sym typeface="Open Sans"/>
              </a:rPr>
              <a:t>FAIR2 is a framework for Public Interest Technology (PIT) in Data Analytics </a:t>
            </a:r>
          </a:p>
          <a:p>
            <a:pPr marL="0" indent="0">
              <a:spcBef>
                <a:spcPts val="1200"/>
              </a:spcBef>
              <a:buNone/>
            </a:pPr>
            <a:endParaRPr lang="en-US" sz="2000" b="1" dirty="0">
              <a:solidFill>
                <a:srgbClr val="C00000"/>
              </a:solidFill>
              <a:latin typeface="Open Sans"/>
              <a:ea typeface="Open Sans"/>
              <a:cs typeface="Open Sans"/>
              <a:sym typeface="Open Sans"/>
            </a:endParaRPr>
          </a:p>
          <a:p>
            <a:pPr marL="0" indent="0">
              <a:spcBef>
                <a:spcPts val="1200"/>
              </a:spcBef>
              <a:spcAft>
                <a:spcPts val="1200"/>
              </a:spcAft>
              <a:buNone/>
            </a:pPr>
            <a:r>
              <a:rPr lang="en-US" sz="2000" b="1" dirty="0">
                <a:solidFill>
                  <a:srgbClr val="001C84"/>
                </a:solidFill>
                <a:latin typeface="Open Sans"/>
                <a:ea typeface="Open Sans"/>
                <a:cs typeface="Open Sans"/>
                <a:sym typeface="Open Sans"/>
              </a:rPr>
              <a:t>PIT: </a:t>
            </a:r>
            <a:r>
              <a:rPr lang="en-US" sz="2000" dirty="0">
                <a:solidFill>
                  <a:schemeClr val="tx1"/>
                </a:solidFill>
                <a:latin typeface="Open Sans"/>
                <a:ea typeface="Open Sans"/>
                <a:cs typeface="Open Sans"/>
                <a:sym typeface="Open Sans"/>
              </a:rPr>
              <a:t>study and application of tech expertise to advance the public interest - generate public benefits - promote the public good.  https://cwru-dsci.org/</a:t>
            </a:r>
            <a:endParaRPr sz="2000" dirty="0">
              <a:solidFill>
                <a:schemeClr val="tx1"/>
              </a:solidFill>
              <a:latin typeface="Open Sans"/>
              <a:ea typeface="Open Sans"/>
              <a:cs typeface="Open Sans"/>
              <a:sym typeface="Open Sans"/>
            </a:endParaRPr>
          </a:p>
        </p:txBody>
      </p:sp>
      <p:sp>
        <p:nvSpPr>
          <p:cNvPr id="146" name="Google Shape;146;g3a9d64d8e29_0_115"/>
          <p:cNvSpPr txBox="1">
            <a:spLocks noGrp="1"/>
          </p:cNvSpPr>
          <p:nvPr>
            <p:ph type="title"/>
          </p:nvPr>
        </p:nvSpPr>
        <p:spPr>
          <a:xfrm>
            <a:off x="640080" y="302865"/>
            <a:ext cx="5856120" cy="763500"/>
          </a:xfrm>
          <a:prstGeom prst="rect">
            <a:avLst/>
          </a:prstGeom>
        </p:spPr>
        <p:txBody>
          <a:bodyPr spcFirstLastPara="1" wrap="square" lIns="91425" tIns="91425" rIns="91425" bIns="91425" anchor="t" anchorCtr="0">
            <a:noAutofit/>
          </a:bodyPr>
          <a:lstStyle/>
          <a:p>
            <a:pPr>
              <a:buSzPts val="990"/>
            </a:pPr>
            <a:r>
              <a:rPr lang="en-US" sz="3200" b="1" dirty="0">
                <a:solidFill>
                  <a:srgbClr val="001C84"/>
                </a:solidFill>
                <a:latin typeface="Open Sans"/>
                <a:ea typeface="Open Sans"/>
                <a:cs typeface="Open Sans"/>
                <a:sym typeface="Open Sans"/>
              </a:rPr>
              <a:t>What is FAIR2?</a:t>
            </a:r>
            <a:endParaRPr sz="3200" b="1" dirty="0">
              <a:solidFill>
                <a:srgbClr val="001C84"/>
              </a:solidFill>
              <a:latin typeface="Open Sans"/>
              <a:ea typeface="Open Sans"/>
              <a:cs typeface="Open Sans"/>
              <a:sym typeface="Open Sans"/>
            </a:endParaRPr>
          </a:p>
        </p:txBody>
      </p:sp>
      <p:pic>
        <p:nvPicPr>
          <p:cNvPr id="147" name="Google Shape;147;g3a9d64d8e29_0_115" title="fair2.png"/>
          <p:cNvPicPr preferRelativeResize="0"/>
          <p:nvPr/>
        </p:nvPicPr>
        <p:blipFill>
          <a:blip r:embed="rId3">
            <a:alphaModFix/>
          </a:blip>
          <a:stretch>
            <a:fillRect/>
          </a:stretch>
        </p:blipFill>
        <p:spPr>
          <a:xfrm>
            <a:off x="9976104" y="232826"/>
            <a:ext cx="1865235" cy="1797141"/>
          </a:xfrm>
          <a:prstGeom prst="rect">
            <a:avLst/>
          </a:prstGeom>
          <a:noFill/>
          <a:ln>
            <a:noFill/>
          </a:ln>
        </p:spPr>
      </p:pic>
      <p:sp>
        <p:nvSpPr>
          <p:cNvPr id="2" name="Slide Number Placeholder 1">
            <a:extLst>
              <a:ext uri="{FF2B5EF4-FFF2-40B4-BE49-F238E27FC236}">
                <a16:creationId xmlns:a16="http://schemas.microsoft.com/office/drawing/2014/main" id="{EFCCE0D8-54D2-3BBD-4E35-86DF3891458E}"/>
              </a:ext>
            </a:extLst>
          </p:cNvPr>
          <p:cNvSpPr>
            <a:spLocks noGrp="1"/>
          </p:cNvSpPr>
          <p:nvPr>
            <p:ph type="sldNum" idx="12"/>
          </p:nvPr>
        </p:nvSpPr>
        <p:spPr/>
        <p:txBody>
          <a:bodyPr/>
          <a:lstStyle/>
          <a:p>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pPr/>
              <a:t>4</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9B9D3-E45D-C90F-38E3-7C5474A8F803}"/>
              </a:ext>
            </a:extLst>
          </p:cNvPr>
          <p:cNvSpPr>
            <a:spLocks noGrp="1"/>
          </p:cNvSpPr>
          <p:nvPr>
            <p:ph type="title"/>
          </p:nvPr>
        </p:nvSpPr>
        <p:spPr/>
        <p:txBody>
          <a:bodyPr>
            <a:normAutofit fontScale="90000"/>
          </a:bodyPr>
          <a:lstStyle/>
          <a:p>
            <a:r>
              <a:rPr lang="en-US" b="1" dirty="0">
                <a:solidFill>
                  <a:srgbClr val="001C84"/>
                </a:solidFill>
              </a:rPr>
              <a:t>Why FAIR2? </a:t>
            </a:r>
            <a:r>
              <a:rPr lang="en-US" sz="22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Predicting High-Risk Patients to Increase Health Care Support</a:t>
            </a:r>
            <a:br>
              <a:rPr lang="en-US" sz="2200" b="1" dirty="0">
                <a:solidFill>
                  <a:srgbClr val="001C84"/>
                </a:solidFill>
                <a:latin typeface="Open Sans" panose="020B0606030504020204" pitchFamily="34" charset="0"/>
                <a:ea typeface="Open Sans" panose="020B0606030504020204" pitchFamily="34" charset="0"/>
                <a:cs typeface="Open Sans" panose="020B0606030504020204" pitchFamily="34" charset="0"/>
              </a:rPr>
            </a:br>
            <a:endParaRPr lang="en-US" b="1" dirty="0">
              <a:solidFill>
                <a:srgbClr val="001C84"/>
              </a:solidFill>
            </a:endParaRPr>
          </a:p>
        </p:txBody>
      </p:sp>
      <p:sp>
        <p:nvSpPr>
          <p:cNvPr id="3" name="Text Placeholder 2">
            <a:extLst>
              <a:ext uri="{FF2B5EF4-FFF2-40B4-BE49-F238E27FC236}">
                <a16:creationId xmlns:a16="http://schemas.microsoft.com/office/drawing/2014/main" id="{3A282CED-ED94-971E-7691-D97DB3264EA0}"/>
              </a:ext>
            </a:extLst>
          </p:cNvPr>
          <p:cNvSpPr>
            <a:spLocks noGrp="1"/>
          </p:cNvSpPr>
          <p:nvPr>
            <p:ph type="body" idx="1"/>
          </p:nvPr>
        </p:nvSpPr>
        <p:spPr>
          <a:xfrm>
            <a:off x="415600" y="1536632"/>
            <a:ext cx="11360800" cy="4929482"/>
          </a:xfrm>
        </p:spPr>
        <p:txBody>
          <a:bodyPr>
            <a:noAutofit/>
          </a:bodyPr>
          <a:lstStyle/>
          <a:p>
            <a:pPr lvl="0">
              <a:buClr>
                <a:schemeClr val="tx1"/>
              </a:buClr>
            </a:pPr>
            <a:r>
              <a:rPr lang="en-US" b="1" dirty="0">
                <a:solidFill>
                  <a:srgbClr val="001C84"/>
                </a:solidFill>
                <a:latin typeface="Open Sans" panose="020B0606030504020204" pitchFamily="34" charset="0"/>
                <a:ea typeface="Open Sans" panose="020B0606030504020204" pitchFamily="34" charset="0"/>
                <a:cs typeface="Open Sans" panose="020B0606030504020204" pitchFamily="34" charset="0"/>
              </a:rPr>
              <a:t>Analytics</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A major health system used an algorithm to flag patients with the most complex needs to enroll them in a specialized care management program. Analysts used </a:t>
            </a:r>
            <a:r>
              <a:rPr lang="en-US" b="1" dirty="0">
                <a:solidFill>
                  <a:srgbClr val="001C84"/>
                </a:solidFill>
                <a:latin typeface="Open Sans" panose="020B0606030504020204" pitchFamily="34" charset="0"/>
                <a:ea typeface="Open Sans" panose="020B0606030504020204" pitchFamily="34" charset="0"/>
                <a:cs typeface="Open Sans" panose="020B0606030504020204" pitchFamily="34" charset="0"/>
              </a:rPr>
              <a:t>Total Health Care Costs</a:t>
            </a:r>
            <a:r>
              <a:rPr lang="en-US" dirty="0">
                <a:solidFill>
                  <a:srgbClr val="001C84"/>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as a proxy for </a:t>
            </a:r>
            <a:r>
              <a:rPr lang="en-US" b="1" dirty="0">
                <a:solidFill>
                  <a:srgbClr val="001C84"/>
                </a:solidFill>
                <a:latin typeface="Open Sans" panose="020B0606030504020204" pitchFamily="34" charset="0"/>
                <a:ea typeface="Open Sans" panose="020B0606030504020204" pitchFamily="34" charset="0"/>
                <a:cs typeface="Open Sans" panose="020B0606030504020204" pitchFamily="34" charset="0"/>
              </a:rPr>
              <a:t>Medical Need. They</a:t>
            </a:r>
            <a:r>
              <a:rPr lang="en-US" b="1" i="1" dirty="0">
                <a:solidFill>
                  <a:srgbClr val="001C84"/>
                </a:solidFill>
                <a:latin typeface="Open Sans" panose="020B0606030504020204" pitchFamily="34" charset="0"/>
                <a:ea typeface="Open Sans" panose="020B0606030504020204" pitchFamily="34" charset="0"/>
                <a:cs typeface="Open Sans" panose="020B0606030504020204" pitchFamily="34" charset="0"/>
              </a:rPr>
              <a:t> assumed</a:t>
            </a:r>
            <a:r>
              <a:rPr lang="en-US" i="1" dirty="0">
                <a:solidFill>
                  <a:srgbClr val="001C84"/>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that the more a person spends on healthcare, the worse their health condition</a:t>
            </a:r>
          </a:p>
          <a:p>
            <a:pPr lvl="0">
              <a:buClr>
                <a:schemeClr val="tx1"/>
              </a:buClr>
            </a:pPr>
            <a:endPar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lvl="0">
              <a:buClr>
                <a:schemeClr val="tx1"/>
              </a:buClr>
            </a:pPr>
            <a:r>
              <a:rPr lang="en-US" b="1" dirty="0">
                <a:solidFill>
                  <a:srgbClr val="001C84"/>
                </a:solidFill>
                <a:latin typeface="Open Sans" panose="020B0606030504020204" pitchFamily="34" charset="0"/>
                <a:ea typeface="Open Sans" panose="020B0606030504020204" pitchFamily="34" charset="0"/>
                <a:cs typeface="Open Sans" panose="020B0606030504020204" pitchFamily="34" charset="0"/>
              </a:rPr>
              <a:t>Result</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at </a:t>
            </a:r>
            <a:r>
              <a:rPr lang="en-US" b="1" dirty="0">
                <a:solidFill>
                  <a:srgbClr val="001C84"/>
                </a:solidFill>
                <a:latin typeface="Open Sans" panose="020B0606030504020204" pitchFamily="34" charset="0"/>
                <a:ea typeface="Open Sans" panose="020B0606030504020204" pitchFamily="34" charset="0"/>
                <a:cs typeface="Open Sans" panose="020B0606030504020204" pitchFamily="34" charset="0"/>
              </a:rPr>
              <a:t>the same data-derived risk score</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African American patients had more severe diabetes, kidney failure, etc., than white patients</a:t>
            </a:r>
          </a:p>
          <a:p>
            <a:pPr lvl="0">
              <a:buClr>
                <a:schemeClr val="tx1"/>
              </a:buClr>
            </a:pPr>
            <a:endPar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a:buClr>
                <a:schemeClr val="tx1"/>
              </a:buClr>
            </a:pPr>
            <a:r>
              <a:rPr lang="en-US" b="1" dirty="0">
                <a:solidFill>
                  <a:srgbClr val="001C84"/>
                </a:solidFill>
                <a:latin typeface="Open Sans" panose="020B0606030504020204" pitchFamily="34" charset="0"/>
                <a:ea typeface="Open Sans" panose="020B0606030504020204" pitchFamily="34" charset="0"/>
                <a:cs typeface="Open Sans" panose="020B0606030504020204" pitchFamily="34" charset="0"/>
              </a:rPr>
              <a:t>Data</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most likely agreed with </a:t>
            </a:r>
            <a:r>
              <a:rPr lang="en-US" b="1" dirty="0">
                <a:solidFill>
                  <a:srgbClr val="001C84"/>
                </a:solidFill>
                <a:latin typeface="Open Sans" panose="020B0606030504020204" pitchFamily="34" charset="0"/>
                <a:ea typeface="Open Sans" panose="020B0606030504020204" pitchFamily="34" charset="0"/>
                <a:cs typeface="Open Sans" panose="020B0606030504020204" pitchFamily="34" charset="0"/>
              </a:rPr>
              <a:t>Standard FAIR principles</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it was </a:t>
            </a:r>
            <a:r>
              <a:rPr lang="en-US" i="1" dirty="0">
                <a:solidFill>
                  <a:schemeClr val="tx1"/>
                </a:solidFill>
                <a:latin typeface="Open Sans" panose="020B0606030504020204" pitchFamily="34" charset="0"/>
                <a:ea typeface="Open Sans" panose="020B0606030504020204" pitchFamily="34" charset="0"/>
                <a:cs typeface="Open Sans" panose="020B0606030504020204" pitchFamily="34" charset="0"/>
              </a:rPr>
              <a:t>Findable, Accessible, Interoperable,</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and </a:t>
            </a:r>
            <a:r>
              <a:rPr lang="en-US" i="1" dirty="0">
                <a:solidFill>
                  <a:schemeClr val="tx1"/>
                </a:solidFill>
                <a:latin typeface="Open Sans" panose="020B0606030504020204" pitchFamily="34" charset="0"/>
                <a:ea typeface="Open Sans" panose="020B0606030504020204" pitchFamily="34" charset="0"/>
                <a:cs typeface="Open Sans" panose="020B0606030504020204" pitchFamily="34" charset="0"/>
              </a:rPr>
              <a:t>Reusable</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b="1" dirty="0">
                <a:solidFill>
                  <a:srgbClr val="001C84"/>
                </a:solidFill>
                <a:latin typeface="Open Sans" panose="020B0606030504020204" pitchFamily="34" charset="0"/>
                <a:ea typeface="Open Sans" panose="020B0606030504020204" pitchFamily="34" charset="0"/>
                <a:cs typeface="Open Sans" panose="020B0606030504020204" pitchFamily="34" charset="0"/>
              </a:rPr>
              <a:t>So, how did bias arise?</a:t>
            </a:r>
            <a:r>
              <a:rPr lang="en-US" dirty="0">
                <a:solidFill>
                  <a:srgbClr val="001C84"/>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Structural inequities (lower access to care, bias in treatment), meant the system historically </a:t>
            </a:r>
            <a:r>
              <a:rPr lang="en-US" b="1" dirty="0">
                <a:solidFill>
                  <a:srgbClr val="001C84"/>
                </a:solidFill>
                <a:latin typeface="Open Sans" panose="020B0606030504020204" pitchFamily="34" charset="0"/>
                <a:ea typeface="Open Sans" panose="020B0606030504020204" pitchFamily="34" charset="0"/>
                <a:cs typeface="Open Sans" panose="020B0606030504020204" pitchFamily="34" charset="0"/>
              </a:rPr>
              <a:t>spent less</a:t>
            </a:r>
            <a:r>
              <a:rPr lang="en-US" dirty="0">
                <a:solidFill>
                  <a:srgbClr val="001C84"/>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on Black patients</a:t>
            </a:r>
          </a:p>
          <a:p>
            <a:pPr lvl="0">
              <a:buClr>
                <a:schemeClr val="tx1"/>
              </a:buClr>
            </a:pPr>
            <a:endParaRPr lang="en-US" dirty="0">
              <a:latin typeface="Open Sans" panose="020B0606030504020204" pitchFamily="34" charset="0"/>
              <a:ea typeface="Open Sans" panose="020B0606030504020204" pitchFamily="34" charset="0"/>
              <a:cs typeface="Open Sans" panose="020B0606030504020204" pitchFamily="34" charset="0"/>
            </a:endParaRPr>
          </a:p>
          <a:p>
            <a:pPr>
              <a:buClr>
                <a:schemeClr val="tx1"/>
              </a:buClr>
            </a:pPr>
            <a:r>
              <a:rPr lang="en-US" b="1" dirty="0">
                <a:solidFill>
                  <a:srgbClr val="001C84"/>
                </a:solidFill>
                <a:latin typeface="Open Sans" panose="020B0606030504020204" pitchFamily="34" charset="0"/>
                <a:ea typeface="Open Sans" panose="020B0606030504020204" pitchFamily="34" charset="0"/>
                <a:cs typeface="Open Sans" panose="020B0606030504020204" pitchFamily="34" charset="0"/>
              </a:rPr>
              <a:t>Under the FAIR2 Framework</a:t>
            </a:r>
            <a:r>
              <a:rPr lang="en-US" b="1" dirty="0">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experiential knowledge of patients would have clarified that cost data are not a good reflection of health status for patients historically marginalized</a:t>
            </a:r>
          </a:p>
        </p:txBody>
      </p:sp>
      <p:sp>
        <p:nvSpPr>
          <p:cNvPr id="4" name="Slide Number Placeholder 3">
            <a:extLst>
              <a:ext uri="{FF2B5EF4-FFF2-40B4-BE49-F238E27FC236}">
                <a16:creationId xmlns:a16="http://schemas.microsoft.com/office/drawing/2014/main" id="{37EB237D-02D8-B461-BD2E-C5949707FB6F}"/>
              </a:ext>
            </a:extLst>
          </p:cNvPr>
          <p:cNvSpPr>
            <a:spLocks noGrp="1"/>
          </p:cNvSpPr>
          <p:nvPr>
            <p:ph type="sldNum" idx="12"/>
          </p:nvPr>
        </p:nvSpPr>
        <p:spPr/>
        <p:txBody>
          <a:bodyPr/>
          <a:lstStyle/>
          <a:p>
            <a:fld id="{00000000-1234-1234-1234-123412341234}" type="slidenum">
              <a:rPr lang="en-US" smtClean="0"/>
              <a:pPr/>
              <a:t>5</a:t>
            </a:fld>
            <a:endParaRPr lang="en-US"/>
          </a:p>
        </p:txBody>
      </p:sp>
      <p:sp>
        <p:nvSpPr>
          <p:cNvPr id="6" name="TextBox 5">
            <a:extLst>
              <a:ext uri="{FF2B5EF4-FFF2-40B4-BE49-F238E27FC236}">
                <a16:creationId xmlns:a16="http://schemas.microsoft.com/office/drawing/2014/main" id="{05B7EB51-A4FB-B511-D7CA-FE93DB385E30}"/>
              </a:ext>
            </a:extLst>
          </p:cNvPr>
          <p:cNvSpPr txBox="1"/>
          <p:nvPr/>
        </p:nvSpPr>
        <p:spPr>
          <a:xfrm>
            <a:off x="415600" y="1104822"/>
            <a:ext cx="2389239" cy="311204"/>
          </a:xfrm>
          <a:prstGeom prst="rect">
            <a:avLst/>
          </a:prstGeom>
          <a:noFill/>
        </p:spPr>
        <p:txBody>
          <a:bodyPr wrap="square">
            <a:spAutoFit/>
          </a:bodyPr>
          <a:lstStyle/>
          <a:p>
            <a:r>
              <a:rPr lang="en-US" sz="1400" dirty="0">
                <a:solidFill>
                  <a:srgbClr val="001C84"/>
                </a:solidFill>
                <a:latin typeface="Open Sans" panose="020B0606030504020204" pitchFamily="34" charset="0"/>
                <a:ea typeface="Open Sans" panose="020B0606030504020204" pitchFamily="34" charset="0"/>
                <a:cs typeface="Open Sans" panose="020B0606030504020204" pitchFamily="34" charset="0"/>
              </a:rPr>
              <a:t>(Obermeyer et al., 2019)</a:t>
            </a:r>
            <a:endParaRPr lang="en-US" dirty="0"/>
          </a:p>
        </p:txBody>
      </p:sp>
    </p:spTree>
    <p:extLst>
      <p:ext uri="{BB962C8B-B14F-4D97-AF65-F5344CB8AC3E}">
        <p14:creationId xmlns:p14="http://schemas.microsoft.com/office/powerpoint/2010/main" val="24634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3a9d64d8e29_0_123"/>
          <p:cNvSpPr txBox="1">
            <a:spLocks noGrp="1"/>
          </p:cNvSpPr>
          <p:nvPr>
            <p:ph type="body" idx="1"/>
          </p:nvPr>
        </p:nvSpPr>
        <p:spPr>
          <a:xfrm>
            <a:off x="612648" y="168400"/>
            <a:ext cx="9573768" cy="950400"/>
          </a:xfrm>
          <a:prstGeom prst="rect">
            <a:avLst/>
          </a:prstGeom>
        </p:spPr>
        <p:txBody>
          <a:bodyPr spcFirstLastPara="1" wrap="square" lIns="91425" tIns="91425" rIns="91425" bIns="91425" anchor="t" anchorCtr="0">
            <a:noAutofit/>
          </a:bodyPr>
          <a:lstStyle/>
          <a:p>
            <a:pPr marL="0" indent="0">
              <a:lnSpc>
                <a:spcPct val="100000"/>
              </a:lnSpc>
              <a:buNone/>
            </a:pPr>
            <a:r>
              <a:rPr lang="en-US" sz="2800" b="1" u="sng" dirty="0">
                <a:solidFill>
                  <a:srgbClr val="001B83"/>
                </a:solidFill>
                <a:latin typeface="Open Sans"/>
                <a:ea typeface="Open Sans"/>
                <a:cs typeface="Open Sans"/>
                <a:sym typeface="Open Sans"/>
              </a:rPr>
              <a:t>FA</a:t>
            </a:r>
            <a:r>
              <a:rPr lang="en-US" sz="2800" b="1" dirty="0">
                <a:solidFill>
                  <a:srgbClr val="001B83"/>
                </a:solidFill>
                <a:latin typeface="Open Sans"/>
                <a:ea typeface="Open Sans"/>
                <a:cs typeface="Open Sans"/>
                <a:sym typeface="Open Sans"/>
              </a:rPr>
              <a:t>IR2 draws from work by scholars and activists calling for better data science now and then</a:t>
            </a:r>
            <a:endParaRPr sz="2800" b="1" dirty="0">
              <a:solidFill>
                <a:srgbClr val="001B83"/>
              </a:solidFill>
              <a:latin typeface="Open Sans"/>
              <a:ea typeface="Open Sans"/>
              <a:cs typeface="Open Sans"/>
              <a:sym typeface="Open Sans"/>
            </a:endParaRPr>
          </a:p>
        </p:txBody>
      </p:sp>
      <p:pic>
        <p:nvPicPr>
          <p:cNvPr id="153" name="Google Shape;153;g3a9d64d8e29_0_123"/>
          <p:cNvPicPr preferRelativeResize="0"/>
          <p:nvPr/>
        </p:nvPicPr>
        <p:blipFill rotWithShape="1">
          <a:blip r:embed="rId3">
            <a:alphaModFix/>
          </a:blip>
          <a:srcRect l="45875" b="75659"/>
          <a:stretch/>
        </p:blipFill>
        <p:spPr>
          <a:xfrm>
            <a:off x="9848088" y="338284"/>
            <a:ext cx="1894984" cy="1250380"/>
          </a:xfrm>
          <a:prstGeom prst="rect">
            <a:avLst/>
          </a:prstGeom>
          <a:noFill/>
          <a:ln>
            <a:noFill/>
          </a:ln>
        </p:spPr>
      </p:pic>
      <p:pic>
        <p:nvPicPr>
          <p:cNvPr id="154" name="Google Shape;154;g3a9d64d8e29_0_123"/>
          <p:cNvPicPr preferRelativeResize="0"/>
          <p:nvPr/>
        </p:nvPicPr>
        <p:blipFill>
          <a:blip r:embed="rId4">
            <a:alphaModFix/>
          </a:blip>
          <a:stretch>
            <a:fillRect/>
          </a:stretch>
        </p:blipFill>
        <p:spPr>
          <a:xfrm>
            <a:off x="2112540" y="3291789"/>
            <a:ext cx="7966920" cy="3320711"/>
          </a:xfrm>
          <a:prstGeom prst="rect">
            <a:avLst/>
          </a:prstGeom>
          <a:noFill/>
          <a:ln>
            <a:noFill/>
          </a:ln>
        </p:spPr>
      </p:pic>
      <p:grpSp>
        <p:nvGrpSpPr>
          <p:cNvPr id="155" name="Google Shape;155;g3a9d64d8e29_0_123"/>
          <p:cNvGrpSpPr/>
          <p:nvPr/>
        </p:nvGrpSpPr>
        <p:grpSpPr>
          <a:xfrm>
            <a:off x="3105912" y="1299610"/>
            <a:ext cx="5980176" cy="1463040"/>
            <a:chOff x="862049" y="1385888"/>
            <a:chExt cx="7283012" cy="1815313"/>
          </a:xfrm>
        </p:grpSpPr>
        <p:grpSp>
          <p:nvGrpSpPr>
            <p:cNvPr id="156" name="Google Shape;156;g3a9d64d8e29_0_123"/>
            <p:cNvGrpSpPr/>
            <p:nvPr/>
          </p:nvGrpSpPr>
          <p:grpSpPr>
            <a:xfrm>
              <a:off x="4858969" y="1394375"/>
              <a:ext cx="1463100" cy="1798350"/>
              <a:chOff x="4656412" y="1394375"/>
              <a:chExt cx="1463100" cy="1798350"/>
            </a:xfrm>
          </p:grpSpPr>
          <p:pic>
            <p:nvPicPr>
              <p:cNvPr id="157" name="Google Shape;157;g3a9d64d8e29_0_123" title="kellymiller.jpg"/>
              <p:cNvPicPr preferRelativeResize="0"/>
              <p:nvPr/>
            </p:nvPicPr>
            <p:blipFill rotWithShape="1">
              <a:blip r:embed="rId5">
                <a:alphaModFix/>
              </a:blip>
              <a:srcRect l="11754" r="14640" b="35860"/>
              <a:stretch/>
            </p:blipFill>
            <p:spPr>
              <a:xfrm>
                <a:off x="4656412" y="1394375"/>
                <a:ext cx="1463100" cy="1691700"/>
              </a:xfrm>
              <a:prstGeom prst="ellipse">
                <a:avLst/>
              </a:prstGeom>
              <a:noFill/>
              <a:ln w="38100" cap="flat" cmpd="sng">
                <a:solidFill>
                  <a:srgbClr val="001B83"/>
                </a:solidFill>
                <a:prstDash val="solid"/>
                <a:round/>
                <a:headEnd type="none" w="sm" len="sm"/>
                <a:tailEnd type="none" w="sm" len="sm"/>
              </a:ln>
            </p:spPr>
          </p:pic>
          <p:sp>
            <p:nvSpPr>
              <p:cNvPr id="158" name="Google Shape;158;g3a9d64d8e29_0_123"/>
              <p:cNvSpPr/>
              <p:nvPr/>
            </p:nvSpPr>
            <p:spPr>
              <a:xfrm>
                <a:off x="4818425" y="2884025"/>
                <a:ext cx="1139100" cy="308700"/>
              </a:xfrm>
              <a:prstGeom prst="roundRect">
                <a:avLst>
                  <a:gd name="adj" fmla="val 16667"/>
                </a:avLst>
              </a:prstGeom>
              <a:solidFill>
                <a:srgbClr val="001B83"/>
              </a:solidFill>
              <a:ln w="9525" cap="flat" cmpd="sng">
                <a:solidFill>
                  <a:srgbClr val="001B83"/>
                </a:solidFill>
                <a:prstDash val="solid"/>
                <a:round/>
                <a:headEnd type="none" w="sm" len="sm"/>
                <a:tailEnd type="none" w="sm" len="sm"/>
              </a:ln>
            </p:spPr>
            <p:txBody>
              <a:bodyPr spcFirstLastPara="1" wrap="square" lIns="91425" tIns="91425" rIns="91425" bIns="91425" anchor="ctr" anchorCtr="0">
                <a:noAutofit/>
              </a:bodyPr>
              <a:lstStyle/>
              <a:p>
                <a:pPr algn="ctr"/>
                <a:r>
                  <a:rPr lang="en-US" sz="1000" b="1">
                    <a:solidFill>
                      <a:srgbClr val="FFDC5D"/>
                    </a:solidFill>
                    <a:latin typeface="Open Sans"/>
                    <a:ea typeface="Open Sans"/>
                    <a:cs typeface="Open Sans"/>
                    <a:sym typeface="Open Sans"/>
                  </a:rPr>
                  <a:t>Kelly Miller</a:t>
                </a:r>
                <a:endParaRPr sz="900">
                  <a:solidFill>
                    <a:srgbClr val="FFDC5D"/>
                  </a:solidFill>
                </a:endParaRPr>
              </a:p>
            </p:txBody>
          </p:sp>
        </p:grpSp>
        <p:grpSp>
          <p:nvGrpSpPr>
            <p:cNvPr id="159" name="Google Shape;159;g3a9d64d8e29_0_123"/>
            <p:cNvGrpSpPr/>
            <p:nvPr/>
          </p:nvGrpSpPr>
          <p:grpSpPr>
            <a:xfrm>
              <a:off x="6681960" y="1394375"/>
              <a:ext cx="1463100" cy="1798350"/>
              <a:chOff x="6296138" y="1394375"/>
              <a:chExt cx="1463100" cy="1798350"/>
            </a:xfrm>
          </p:grpSpPr>
          <p:pic>
            <p:nvPicPr>
              <p:cNvPr id="160" name="Google Shape;160;g3a9d64d8e29_0_123" title="idabwells.jpg"/>
              <p:cNvPicPr preferRelativeResize="0"/>
              <p:nvPr/>
            </p:nvPicPr>
            <p:blipFill rotWithShape="1">
              <a:blip r:embed="rId6">
                <a:alphaModFix/>
              </a:blip>
              <a:srcRect l="14127" t="6745" r="14120" b="31196"/>
              <a:stretch/>
            </p:blipFill>
            <p:spPr>
              <a:xfrm>
                <a:off x="6296138" y="1394375"/>
                <a:ext cx="1463100" cy="1691700"/>
              </a:xfrm>
              <a:prstGeom prst="ellipse">
                <a:avLst/>
              </a:prstGeom>
              <a:noFill/>
              <a:ln w="38100" cap="flat" cmpd="sng">
                <a:solidFill>
                  <a:srgbClr val="001B83"/>
                </a:solidFill>
                <a:prstDash val="solid"/>
                <a:round/>
                <a:headEnd type="none" w="sm" len="sm"/>
                <a:tailEnd type="none" w="sm" len="sm"/>
              </a:ln>
            </p:spPr>
          </p:pic>
          <p:sp>
            <p:nvSpPr>
              <p:cNvPr id="161" name="Google Shape;161;g3a9d64d8e29_0_123"/>
              <p:cNvSpPr/>
              <p:nvPr/>
            </p:nvSpPr>
            <p:spPr>
              <a:xfrm>
                <a:off x="6434000" y="2884025"/>
                <a:ext cx="1187400" cy="308700"/>
              </a:xfrm>
              <a:prstGeom prst="roundRect">
                <a:avLst>
                  <a:gd name="adj" fmla="val 16667"/>
                </a:avLst>
              </a:prstGeom>
              <a:solidFill>
                <a:srgbClr val="001B83"/>
              </a:solidFill>
              <a:ln w="9525" cap="flat" cmpd="sng">
                <a:solidFill>
                  <a:srgbClr val="001B83"/>
                </a:solidFill>
                <a:prstDash val="solid"/>
                <a:round/>
                <a:headEnd type="none" w="sm" len="sm"/>
                <a:tailEnd type="none" w="sm" len="sm"/>
              </a:ln>
            </p:spPr>
            <p:txBody>
              <a:bodyPr spcFirstLastPara="1" wrap="square" lIns="91425" tIns="91425" rIns="91425" bIns="91425" anchor="ctr" anchorCtr="0">
                <a:noAutofit/>
              </a:bodyPr>
              <a:lstStyle/>
              <a:p>
                <a:pPr algn="ctr"/>
                <a:r>
                  <a:rPr lang="en-US" sz="1000" b="1">
                    <a:solidFill>
                      <a:srgbClr val="FFDC5D"/>
                    </a:solidFill>
                    <a:latin typeface="Open Sans"/>
                    <a:ea typeface="Open Sans"/>
                    <a:cs typeface="Open Sans"/>
                    <a:sym typeface="Open Sans"/>
                  </a:rPr>
                  <a:t>Ida B. Wells</a:t>
                </a:r>
                <a:endParaRPr sz="900">
                  <a:solidFill>
                    <a:srgbClr val="FFDC5D"/>
                  </a:solidFill>
                </a:endParaRPr>
              </a:p>
            </p:txBody>
          </p:sp>
        </p:grpSp>
        <p:grpSp>
          <p:nvGrpSpPr>
            <p:cNvPr id="162" name="Google Shape;162;g3a9d64d8e29_0_123"/>
            <p:cNvGrpSpPr/>
            <p:nvPr/>
          </p:nvGrpSpPr>
          <p:grpSpPr>
            <a:xfrm>
              <a:off x="2914048" y="1385888"/>
              <a:ext cx="1565700" cy="1815313"/>
              <a:chOff x="2282498" y="1155563"/>
              <a:chExt cx="1565700" cy="1815313"/>
            </a:xfrm>
          </p:grpSpPr>
          <p:pic>
            <p:nvPicPr>
              <p:cNvPr id="163" name="Google Shape;163;g3a9d64d8e29_0_123" title="webdubois.jpg"/>
              <p:cNvPicPr preferRelativeResize="0"/>
              <p:nvPr/>
            </p:nvPicPr>
            <p:blipFill rotWithShape="1">
              <a:blip r:embed="rId7">
                <a:alphaModFix/>
              </a:blip>
              <a:srcRect l="27678" r="21647"/>
              <a:stretch/>
            </p:blipFill>
            <p:spPr>
              <a:xfrm>
                <a:off x="2335738" y="1155563"/>
                <a:ext cx="1459200" cy="1691700"/>
              </a:xfrm>
              <a:prstGeom prst="ellipse">
                <a:avLst/>
              </a:prstGeom>
              <a:noFill/>
              <a:ln w="38100" cap="flat" cmpd="sng">
                <a:solidFill>
                  <a:srgbClr val="001B83"/>
                </a:solidFill>
                <a:prstDash val="solid"/>
                <a:round/>
                <a:headEnd type="none" w="sm" len="sm"/>
                <a:tailEnd type="none" w="sm" len="sm"/>
              </a:ln>
            </p:spPr>
          </p:pic>
          <p:sp>
            <p:nvSpPr>
              <p:cNvPr id="164" name="Google Shape;164;g3a9d64d8e29_0_123"/>
              <p:cNvSpPr/>
              <p:nvPr/>
            </p:nvSpPr>
            <p:spPr>
              <a:xfrm>
                <a:off x="2282498" y="2662175"/>
                <a:ext cx="1565700" cy="308700"/>
              </a:xfrm>
              <a:prstGeom prst="roundRect">
                <a:avLst>
                  <a:gd name="adj" fmla="val 16667"/>
                </a:avLst>
              </a:prstGeom>
              <a:solidFill>
                <a:srgbClr val="001B83"/>
              </a:solidFill>
              <a:ln w="9525" cap="flat" cmpd="sng">
                <a:solidFill>
                  <a:srgbClr val="001B83"/>
                </a:solidFill>
                <a:prstDash val="solid"/>
                <a:round/>
                <a:headEnd type="none" w="sm" len="sm"/>
                <a:tailEnd type="none" w="sm" len="sm"/>
              </a:ln>
            </p:spPr>
            <p:txBody>
              <a:bodyPr spcFirstLastPara="1" wrap="square" lIns="91425" tIns="91425" rIns="91425" bIns="91425" anchor="ctr" anchorCtr="0">
                <a:noAutofit/>
              </a:bodyPr>
              <a:lstStyle/>
              <a:p>
                <a:pPr algn="ctr"/>
                <a:r>
                  <a:rPr lang="en-US" sz="1000" b="1" dirty="0">
                    <a:solidFill>
                      <a:srgbClr val="FFDC5D"/>
                    </a:solidFill>
                    <a:latin typeface="Open Sans"/>
                    <a:ea typeface="Open Sans"/>
                    <a:cs typeface="Open Sans"/>
                    <a:sym typeface="Open Sans"/>
                  </a:rPr>
                  <a:t>W. E. B. Du Bois</a:t>
                </a:r>
                <a:endParaRPr sz="900" dirty="0">
                  <a:solidFill>
                    <a:srgbClr val="FFDC5D"/>
                  </a:solidFill>
                </a:endParaRPr>
              </a:p>
            </p:txBody>
          </p:sp>
        </p:grpSp>
        <p:grpSp>
          <p:nvGrpSpPr>
            <p:cNvPr id="165" name="Google Shape;165;g3a9d64d8e29_0_123"/>
            <p:cNvGrpSpPr/>
            <p:nvPr/>
          </p:nvGrpSpPr>
          <p:grpSpPr>
            <a:xfrm>
              <a:off x="862049" y="1399750"/>
              <a:ext cx="1771500" cy="1787575"/>
              <a:chOff x="1228588" y="1405150"/>
              <a:chExt cx="1771500" cy="1787575"/>
            </a:xfrm>
          </p:grpSpPr>
          <p:pic>
            <p:nvPicPr>
              <p:cNvPr id="166" name="Google Shape;166;g3a9d64d8e29_0_123" title="fanniebwilliams.jpg"/>
              <p:cNvPicPr preferRelativeResize="0"/>
              <p:nvPr/>
            </p:nvPicPr>
            <p:blipFill rotWithShape="1">
              <a:blip r:embed="rId8">
                <a:alphaModFix/>
              </a:blip>
              <a:srcRect l="5645" r="8028" b="22922"/>
              <a:stretch/>
            </p:blipFill>
            <p:spPr>
              <a:xfrm>
                <a:off x="1384762" y="1405150"/>
                <a:ext cx="1459200" cy="1690500"/>
              </a:xfrm>
              <a:prstGeom prst="ellipse">
                <a:avLst/>
              </a:prstGeom>
              <a:noFill/>
              <a:ln w="38100" cap="flat" cmpd="sng">
                <a:solidFill>
                  <a:srgbClr val="001B83"/>
                </a:solidFill>
                <a:prstDash val="solid"/>
                <a:round/>
                <a:headEnd type="none" w="sm" len="sm"/>
                <a:tailEnd type="none" w="sm" len="sm"/>
              </a:ln>
            </p:spPr>
          </p:pic>
          <p:sp>
            <p:nvSpPr>
              <p:cNvPr id="167" name="Google Shape;167;g3a9d64d8e29_0_123"/>
              <p:cNvSpPr/>
              <p:nvPr/>
            </p:nvSpPr>
            <p:spPr>
              <a:xfrm>
                <a:off x="1228588" y="2884025"/>
                <a:ext cx="1771500" cy="308700"/>
              </a:xfrm>
              <a:prstGeom prst="roundRect">
                <a:avLst>
                  <a:gd name="adj" fmla="val 16667"/>
                </a:avLst>
              </a:prstGeom>
              <a:solidFill>
                <a:srgbClr val="001B83"/>
              </a:solidFill>
              <a:ln w="9525" cap="flat" cmpd="sng">
                <a:solidFill>
                  <a:srgbClr val="001B83"/>
                </a:solidFill>
                <a:prstDash val="solid"/>
                <a:round/>
                <a:headEnd type="none" w="sm" len="sm"/>
                <a:tailEnd type="none" w="sm" len="sm"/>
              </a:ln>
            </p:spPr>
            <p:txBody>
              <a:bodyPr spcFirstLastPara="1" wrap="square" lIns="91425" tIns="91425" rIns="91425" bIns="91425" anchor="ctr" anchorCtr="0">
                <a:noAutofit/>
              </a:bodyPr>
              <a:lstStyle/>
              <a:p>
                <a:pPr algn="ctr"/>
                <a:r>
                  <a:rPr lang="en-US" sz="1000" b="1" dirty="0">
                    <a:solidFill>
                      <a:srgbClr val="FFDC5D"/>
                    </a:solidFill>
                    <a:latin typeface="Open Sans"/>
                    <a:ea typeface="Open Sans"/>
                    <a:cs typeface="Open Sans"/>
                    <a:sym typeface="Open Sans"/>
                  </a:rPr>
                  <a:t>Fannie B. Williams</a:t>
                </a:r>
                <a:endParaRPr sz="900" dirty="0">
                  <a:solidFill>
                    <a:srgbClr val="FFDC5D"/>
                  </a:solidFill>
                </a:endParaRPr>
              </a:p>
            </p:txBody>
          </p:sp>
        </p:grpSp>
      </p:grpSp>
      <p:sp>
        <p:nvSpPr>
          <p:cNvPr id="4" name="TextBox 3">
            <a:extLst>
              <a:ext uri="{FF2B5EF4-FFF2-40B4-BE49-F238E27FC236}">
                <a16:creationId xmlns:a16="http://schemas.microsoft.com/office/drawing/2014/main" id="{355B92C6-B37F-7A41-F776-43DE5C0BAD72}"/>
              </a:ext>
            </a:extLst>
          </p:cNvPr>
          <p:cNvSpPr txBox="1"/>
          <p:nvPr/>
        </p:nvSpPr>
        <p:spPr>
          <a:xfrm>
            <a:off x="1848631" y="2780937"/>
            <a:ext cx="8513465" cy="307777"/>
          </a:xfrm>
          <a:prstGeom prst="rect">
            <a:avLst/>
          </a:prstGeom>
          <a:noFill/>
        </p:spPr>
        <p:txBody>
          <a:bodyPr wrap="square">
            <a:spAutoFit/>
          </a:bodyPr>
          <a:lstStyle/>
          <a:p>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Muhammad, K. G. (2019), Pearl, J., &amp; Mackenzie, D. (2018). Kleinberg et al,  (2018), Howe et al., 2022.  </a:t>
            </a:r>
            <a:endPar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7B62AEA1-8916-CD00-13B4-C9B00FF2FA13}"/>
              </a:ext>
            </a:extLst>
          </p:cNvPr>
          <p:cNvSpPr txBox="1"/>
          <p:nvPr/>
        </p:nvSpPr>
        <p:spPr>
          <a:xfrm>
            <a:off x="2121960" y="6538576"/>
            <a:ext cx="2101577" cy="276999"/>
          </a:xfrm>
          <a:prstGeom prst="rect">
            <a:avLst/>
          </a:prstGeom>
          <a:noFill/>
        </p:spPr>
        <p:txBody>
          <a:bodyPr wrap="square">
            <a:spAutoFit/>
          </a:bodyPr>
          <a:lstStyle/>
          <a:p>
            <a:r>
              <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(Howe et al., 2022)</a:t>
            </a:r>
            <a:endPar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Slide Number Placeholder 1">
            <a:extLst>
              <a:ext uri="{FF2B5EF4-FFF2-40B4-BE49-F238E27FC236}">
                <a16:creationId xmlns:a16="http://schemas.microsoft.com/office/drawing/2014/main" id="{F0C7D828-A57D-6EF9-5313-828DB3C1A70B}"/>
              </a:ext>
            </a:extLst>
          </p:cNvPr>
          <p:cNvSpPr>
            <a:spLocks noGrp="1"/>
          </p:cNvSpPr>
          <p:nvPr>
            <p:ph type="sldNum" idx="12"/>
          </p:nvPr>
        </p:nvSpPr>
        <p:spPr/>
        <p:txBody>
          <a:bodyPr/>
          <a:lstStyle/>
          <a:p>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pPr/>
              <a:t>6</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EA9B881-E4A5-4E2F-E64A-E6FD48BAAAA5}"/>
              </a:ext>
            </a:extLst>
          </p:cNvPr>
          <p:cNvSpPr>
            <a:spLocks noGrp="1"/>
          </p:cNvSpPr>
          <p:nvPr>
            <p:ph type="body" idx="1"/>
          </p:nvPr>
        </p:nvSpPr>
        <p:spPr>
          <a:xfrm>
            <a:off x="579120" y="1936861"/>
            <a:ext cx="4989576" cy="2984275"/>
          </a:xfrm>
        </p:spPr>
        <p:txBody>
          <a:bodyPr>
            <a:noAutofit/>
          </a:bodyPr>
          <a:lstStyle/>
          <a:p>
            <a:pPr marL="114300" indent="0">
              <a:buNone/>
            </a:pPr>
            <a:r>
              <a:rPr lang="en-US" sz="20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FAIR2 recognizes that data do not speak for themselves, that observational data reflect discrimination in society, and that an explicit framework to identify and address discrimination biases will further data science’s potential to advance social justice.</a:t>
            </a:r>
          </a:p>
        </p:txBody>
      </p:sp>
      <p:pic>
        <p:nvPicPr>
          <p:cNvPr id="5" name="Picture 4" descr="A diagram of the FAIR2 framework">
            <a:extLst>
              <a:ext uri="{FF2B5EF4-FFF2-40B4-BE49-F238E27FC236}">
                <a16:creationId xmlns:a16="http://schemas.microsoft.com/office/drawing/2014/main" id="{4B356CD2-9730-D0D2-0B8A-C412B5AE3661}"/>
              </a:ext>
            </a:extLst>
          </p:cNvPr>
          <p:cNvPicPr>
            <a:picLocks noChangeAspect="1"/>
          </p:cNvPicPr>
          <p:nvPr/>
        </p:nvPicPr>
        <p:blipFill>
          <a:blip r:embed="rId2"/>
          <a:stretch>
            <a:fillRect/>
          </a:stretch>
        </p:blipFill>
        <p:spPr>
          <a:xfrm>
            <a:off x="5931408" y="1075661"/>
            <a:ext cx="5681472" cy="4706677"/>
          </a:xfrm>
          <a:prstGeom prst="rect">
            <a:avLst/>
          </a:prstGeom>
        </p:spPr>
      </p:pic>
      <p:sp>
        <p:nvSpPr>
          <p:cNvPr id="2" name="Slide Number Placeholder 1">
            <a:extLst>
              <a:ext uri="{FF2B5EF4-FFF2-40B4-BE49-F238E27FC236}">
                <a16:creationId xmlns:a16="http://schemas.microsoft.com/office/drawing/2014/main" id="{FEC9CF80-0933-741E-BD90-6DEAD7785B62}"/>
              </a:ext>
            </a:extLst>
          </p:cNvPr>
          <p:cNvSpPr>
            <a:spLocks noGrp="1"/>
          </p:cNvSpPr>
          <p:nvPr>
            <p:ph type="sldNum" idx="12"/>
          </p:nvPr>
        </p:nvSpPr>
        <p:spPr/>
        <p:txBody>
          <a:bodyPr/>
          <a:lstStyle/>
          <a:p>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pPr/>
              <a:t>7</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813794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a9d64d8e29_0_142"/>
          <p:cNvSpPr txBox="1">
            <a:spLocks noGrp="1"/>
          </p:cNvSpPr>
          <p:nvPr>
            <p:ph type="title"/>
          </p:nvPr>
        </p:nvSpPr>
        <p:spPr>
          <a:xfrm>
            <a:off x="630936" y="385875"/>
            <a:ext cx="9670464" cy="763500"/>
          </a:xfrm>
          <a:prstGeom prst="rect">
            <a:avLst/>
          </a:prstGeom>
        </p:spPr>
        <p:txBody>
          <a:bodyPr spcFirstLastPara="1" wrap="square" lIns="91425" tIns="91425" rIns="91425" bIns="91425" anchor="t" anchorCtr="0">
            <a:noAutofit/>
          </a:bodyPr>
          <a:lstStyle/>
          <a:p>
            <a:pPr lvl="0">
              <a:buSzPts val="990"/>
            </a:pPr>
            <a:r>
              <a:rPr lang="en-US" sz="4200" b="1" dirty="0">
                <a:solidFill>
                  <a:srgbClr val="001C84"/>
                </a:solidFill>
                <a:latin typeface="Open Sans"/>
                <a:ea typeface="Open Sans"/>
                <a:cs typeface="Open Sans"/>
                <a:sym typeface="Open Sans"/>
              </a:rPr>
              <a:t>Frame</a:t>
            </a:r>
            <a:r>
              <a:rPr lang="en-US" sz="4000" b="1" dirty="0">
                <a:solidFill>
                  <a:srgbClr val="001C84"/>
                </a:solidFill>
                <a:latin typeface="Open Sans"/>
                <a:ea typeface="Open Sans"/>
                <a:cs typeface="Open Sans"/>
                <a:sym typeface="Open Sans"/>
              </a:rPr>
              <a:t> </a:t>
            </a:r>
            <a:r>
              <a:rPr lang="en-US" sz="3000" b="1" dirty="0">
                <a:solidFill>
                  <a:srgbClr val="001C84"/>
                </a:solidFill>
                <a:latin typeface="Open Sans"/>
                <a:ea typeface="Open Sans"/>
                <a:cs typeface="Open Sans"/>
                <a:sym typeface="Open Sans"/>
              </a:rPr>
              <a:t>metadata and data with historical context and experiential knowledge of those represented in the data: </a:t>
            </a:r>
            <a:r>
              <a:rPr lang="en-US" sz="3000" b="1" dirty="0">
                <a:solidFill>
                  <a:schemeClr val="accent4">
                    <a:lumMod val="75000"/>
                  </a:schemeClr>
                </a:solidFill>
                <a:latin typeface="Open Sans"/>
                <a:ea typeface="Open Sans"/>
                <a:cs typeface="Open Sans"/>
                <a:sym typeface="Open Sans"/>
              </a:rPr>
              <a:t>Data Chats</a:t>
            </a:r>
            <a:endParaRPr sz="3000" b="1" dirty="0">
              <a:solidFill>
                <a:schemeClr val="accent4">
                  <a:lumMod val="75000"/>
                </a:schemeClr>
              </a:solidFill>
              <a:latin typeface="Open Sans"/>
              <a:ea typeface="Open Sans"/>
              <a:cs typeface="Open Sans"/>
              <a:sym typeface="Open Sans"/>
            </a:endParaRPr>
          </a:p>
        </p:txBody>
      </p:sp>
      <p:pic>
        <p:nvPicPr>
          <p:cNvPr id="179" name="Google Shape;179;g3a9d64d8e29_0_142"/>
          <p:cNvPicPr preferRelativeResize="0"/>
          <p:nvPr/>
        </p:nvPicPr>
        <p:blipFill>
          <a:blip r:embed="rId3">
            <a:alphaModFix/>
          </a:blip>
          <a:stretch>
            <a:fillRect/>
          </a:stretch>
        </p:blipFill>
        <p:spPr>
          <a:xfrm>
            <a:off x="5802090" y="2398192"/>
            <a:ext cx="4355472" cy="1730936"/>
          </a:xfrm>
          <a:prstGeom prst="rect">
            <a:avLst/>
          </a:prstGeom>
          <a:noFill/>
          <a:ln>
            <a:noFill/>
          </a:ln>
        </p:spPr>
      </p:pic>
      <p:sp>
        <p:nvSpPr>
          <p:cNvPr id="180" name="Google Shape;180;g3a9d64d8e29_0_142"/>
          <p:cNvSpPr txBox="1"/>
          <p:nvPr/>
        </p:nvSpPr>
        <p:spPr>
          <a:xfrm>
            <a:off x="630936" y="5154873"/>
            <a:ext cx="10954512" cy="1034099"/>
          </a:xfrm>
          <a:prstGeom prst="rect">
            <a:avLst/>
          </a:prstGeom>
          <a:noFill/>
          <a:ln>
            <a:noFill/>
          </a:ln>
        </p:spPr>
        <p:txBody>
          <a:bodyPr spcFirstLastPara="1" wrap="square" lIns="91425" tIns="91425" rIns="91425" bIns="91425" anchor="t" anchorCtr="0">
            <a:spAutoFit/>
          </a:bodyPr>
          <a:lstStyle/>
          <a:p>
            <a:pPr marL="412750" indent="-285750">
              <a:lnSpc>
                <a:spcPct val="115000"/>
              </a:lnSpc>
              <a:buClr>
                <a:schemeClr val="dk1"/>
              </a:buClr>
              <a:buSzPts val="1600"/>
              <a:buFont typeface="Arial" panose="020B0604020202020204" pitchFamily="34" charset="0"/>
              <a:buChar char="•"/>
            </a:pPr>
            <a:r>
              <a:rPr lang="en-US" sz="1600" dirty="0">
                <a:solidFill>
                  <a:schemeClr val="tx1"/>
                </a:solidFill>
                <a:latin typeface="Open Sans"/>
                <a:ea typeface="Open Sans"/>
                <a:cs typeface="Open Sans"/>
                <a:sym typeface="Open Sans"/>
              </a:rPr>
              <a:t>Data Chats are guided conversations between practitioners and people whose experiences are represented in the data</a:t>
            </a:r>
          </a:p>
          <a:p>
            <a:pPr marL="412750" indent="-285750">
              <a:lnSpc>
                <a:spcPct val="115000"/>
              </a:lnSpc>
              <a:buClr>
                <a:schemeClr val="dk1"/>
              </a:buClr>
              <a:buSzPts val="1600"/>
              <a:buFont typeface="Arial" panose="020B0604020202020204" pitchFamily="34" charset="0"/>
              <a:buChar char="•"/>
            </a:pPr>
            <a:r>
              <a:rPr lang="en-US" sz="1600" dirty="0">
                <a:solidFill>
                  <a:schemeClr val="tx1"/>
                </a:solidFill>
                <a:latin typeface="Open Sans"/>
                <a:ea typeface="Open Sans"/>
                <a:cs typeface="Open Sans"/>
                <a:sym typeface="Open Sans"/>
              </a:rPr>
              <a:t>Aim is to leverage experiential knowledge to inform the inputs of the data analytic process or research activity</a:t>
            </a:r>
          </a:p>
        </p:txBody>
      </p:sp>
      <p:pic>
        <p:nvPicPr>
          <p:cNvPr id="2050" name="Picture 2">
            <a:extLst>
              <a:ext uri="{FF2B5EF4-FFF2-40B4-BE49-F238E27FC236}">
                <a16:creationId xmlns:a16="http://schemas.microsoft.com/office/drawing/2014/main" id="{7DBB89D2-7596-0194-9837-AC7FA79FF5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7284" y="2635192"/>
            <a:ext cx="4078226" cy="2199127"/>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382EBD24-18A4-0E76-8D0F-BF625986F54B}"/>
              </a:ext>
            </a:extLst>
          </p:cNvPr>
          <p:cNvGrpSpPr/>
          <p:nvPr/>
        </p:nvGrpSpPr>
        <p:grpSpPr>
          <a:xfrm>
            <a:off x="9976104" y="324266"/>
            <a:ext cx="1865235" cy="1797141"/>
            <a:chOff x="9976104" y="324266"/>
            <a:chExt cx="1865235" cy="1797141"/>
          </a:xfrm>
        </p:grpSpPr>
        <p:grpSp>
          <p:nvGrpSpPr>
            <p:cNvPr id="5" name="Group 4">
              <a:extLst>
                <a:ext uri="{FF2B5EF4-FFF2-40B4-BE49-F238E27FC236}">
                  <a16:creationId xmlns:a16="http://schemas.microsoft.com/office/drawing/2014/main" id="{644A3903-6C80-D24F-EABE-46E0D7B2B485}"/>
                </a:ext>
              </a:extLst>
            </p:cNvPr>
            <p:cNvGrpSpPr/>
            <p:nvPr/>
          </p:nvGrpSpPr>
          <p:grpSpPr>
            <a:xfrm>
              <a:off x="9978169" y="324473"/>
              <a:ext cx="1213225" cy="1113321"/>
              <a:chOff x="9978169" y="324473"/>
              <a:chExt cx="1213225" cy="1113321"/>
            </a:xfrm>
          </p:grpSpPr>
          <p:pic>
            <p:nvPicPr>
              <p:cNvPr id="3" name="Google Shape;147;g3a9d64d8e29_0_115" title="fair2.png">
                <a:extLst>
                  <a:ext uri="{FF2B5EF4-FFF2-40B4-BE49-F238E27FC236}">
                    <a16:creationId xmlns:a16="http://schemas.microsoft.com/office/drawing/2014/main" id="{0AF47EB5-FCB0-307C-E4A0-EE875B790464}"/>
                  </a:ext>
                </a:extLst>
              </p:cNvPr>
              <p:cNvPicPr preferRelativeResize="0"/>
              <p:nvPr/>
            </p:nvPicPr>
            <p:blipFill>
              <a:blip r:embed="rId5">
                <a:alphaModFix/>
              </a:blip>
              <a:srcRect l="1" t="2" r="49911" b="49613"/>
              <a:stretch>
                <a:fillRect/>
              </a:stretch>
            </p:blipFill>
            <p:spPr>
              <a:xfrm>
                <a:off x="9978169" y="324473"/>
                <a:ext cx="934272" cy="905504"/>
              </a:xfrm>
              <a:prstGeom prst="rect">
                <a:avLst/>
              </a:prstGeom>
              <a:noFill/>
              <a:ln>
                <a:noFill/>
              </a:ln>
            </p:spPr>
          </p:pic>
          <p:sp>
            <p:nvSpPr>
              <p:cNvPr id="4" name="Oval 3">
                <a:extLst>
                  <a:ext uri="{FF2B5EF4-FFF2-40B4-BE49-F238E27FC236}">
                    <a16:creationId xmlns:a16="http://schemas.microsoft.com/office/drawing/2014/main" id="{28F3F3C2-BE2F-A840-768F-E2014F2970BC}"/>
                  </a:ext>
                </a:extLst>
              </p:cNvPr>
              <p:cNvSpPr/>
              <p:nvPr/>
            </p:nvSpPr>
            <p:spPr>
              <a:xfrm>
                <a:off x="10606920" y="1003685"/>
                <a:ext cx="584474" cy="43410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Google Shape;147;g3a9d64d8e29_0_115" title="fair2.png">
              <a:extLst>
                <a:ext uri="{FF2B5EF4-FFF2-40B4-BE49-F238E27FC236}">
                  <a16:creationId xmlns:a16="http://schemas.microsoft.com/office/drawing/2014/main" id="{BE7E5730-512E-9520-6605-BEC15B62DCA2}"/>
                </a:ext>
              </a:extLst>
            </p:cNvPr>
            <p:cNvPicPr preferRelativeResize="0"/>
            <p:nvPr/>
          </p:nvPicPr>
          <p:blipFill>
            <a:blip r:embed="rId5">
              <a:alphaModFix amt="20000"/>
            </a:blip>
            <a:stretch>
              <a:fillRect/>
            </a:stretch>
          </p:blipFill>
          <p:spPr>
            <a:xfrm>
              <a:off x="9976104" y="324266"/>
              <a:ext cx="1865235" cy="1797141"/>
            </a:xfrm>
            <a:prstGeom prst="rect">
              <a:avLst/>
            </a:prstGeom>
            <a:noFill/>
            <a:ln>
              <a:noFill/>
            </a:ln>
          </p:spPr>
        </p:pic>
      </p:grpSp>
      <p:sp>
        <p:nvSpPr>
          <p:cNvPr id="6" name="Slide Number Placeholder 5">
            <a:extLst>
              <a:ext uri="{FF2B5EF4-FFF2-40B4-BE49-F238E27FC236}">
                <a16:creationId xmlns:a16="http://schemas.microsoft.com/office/drawing/2014/main" id="{40F27893-7A3A-2D43-B951-F0ACE1F7A548}"/>
              </a:ext>
            </a:extLst>
          </p:cNvPr>
          <p:cNvSpPr>
            <a:spLocks noGrp="1"/>
          </p:cNvSpPr>
          <p:nvPr>
            <p:ph type="sldNum" idx="12"/>
          </p:nvPr>
        </p:nvSpPr>
        <p:spPr/>
        <p:txBody>
          <a:bodyPr/>
          <a:lstStyle/>
          <a:p>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pPr/>
              <a:t>8</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a:extLst>
            <a:ext uri="{FF2B5EF4-FFF2-40B4-BE49-F238E27FC236}">
              <a16:creationId xmlns:a16="http://schemas.microsoft.com/office/drawing/2014/main" id="{5DF04743-5526-923C-332D-15A3F48F3AD7}"/>
            </a:ext>
          </a:extLst>
        </p:cNvPr>
        <p:cNvGrpSpPr/>
        <p:nvPr/>
      </p:nvGrpSpPr>
      <p:grpSpPr>
        <a:xfrm>
          <a:off x="0" y="0"/>
          <a:ext cx="0" cy="0"/>
          <a:chOff x="0" y="0"/>
          <a:chExt cx="0" cy="0"/>
        </a:xfrm>
      </p:grpSpPr>
      <p:sp>
        <p:nvSpPr>
          <p:cNvPr id="178" name="Google Shape;178;g3a9d64d8e29_0_142">
            <a:extLst>
              <a:ext uri="{FF2B5EF4-FFF2-40B4-BE49-F238E27FC236}">
                <a16:creationId xmlns:a16="http://schemas.microsoft.com/office/drawing/2014/main" id="{E185B186-6969-AAFD-7A16-E95727E1DCB7}"/>
              </a:ext>
            </a:extLst>
          </p:cNvPr>
          <p:cNvSpPr txBox="1">
            <a:spLocks noGrp="1"/>
          </p:cNvSpPr>
          <p:nvPr>
            <p:ph type="title"/>
          </p:nvPr>
        </p:nvSpPr>
        <p:spPr>
          <a:xfrm>
            <a:off x="640080" y="385875"/>
            <a:ext cx="9131808" cy="763500"/>
          </a:xfrm>
          <a:prstGeom prst="rect">
            <a:avLst/>
          </a:prstGeom>
        </p:spPr>
        <p:txBody>
          <a:bodyPr spcFirstLastPara="1" wrap="square" lIns="91425" tIns="91425" rIns="91425" bIns="91425" anchor="t" anchorCtr="0">
            <a:noAutofit/>
          </a:bodyPr>
          <a:lstStyle/>
          <a:p>
            <a:pPr lvl="0">
              <a:buSzPts val="990"/>
            </a:pPr>
            <a:r>
              <a:rPr lang="en-US" sz="4200" b="1" dirty="0">
                <a:solidFill>
                  <a:srgbClr val="001C84"/>
                </a:solidFill>
                <a:latin typeface="Open Sans"/>
                <a:ea typeface="Open Sans"/>
                <a:cs typeface="Open Sans"/>
                <a:sym typeface="Open Sans"/>
              </a:rPr>
              <a:t>Articulate</a:t>
            </a:r>
            <a:r>
              <a:rPr lang="en-US" sz="4400" b="1" dirty="0">
                <a:solidFill>
                  <a:srgbClr val="001C84"/>
                </a:solidFill>
                <a:latin typeface="Open Sans"/>
                <a:ea typeface="Open Sans"/>
                <a:cs typeface="Open Sans"/>
                <a:sym typeface="Open Sans"/>
              </a:rPr>
              <a:t> </a:t>
            </a:r>
            <a:r>
              <a:rPr lang="en-US" sz="2400" b="1" dirty="0">
                <a:solidFill>
                  <a:srgbClr val="001C84"/>
                </a:solidFill>
                <a:latin typeface="Open Sans"/>
                <a:ea typeface="Open Sans"/>
                <a:cs typeface="Open Sans"/>
                <a:sym typeface="Open Sans"/>
              </a:rPr>
              <a:t>the general model as a causal graph</a:t>
            </a:r>
            <a:endParaRPr sz="3000" b="1" dirty="0">
              <a:solidFill>
                <a:schemeClr val="accent4">
                  <a:lumMod val="75000"/>
                </a:schemeClr>
              </a:solidFill>
              <a:latin typeface="Open Sans"/>
              <a:ea typeface="Open Sans"/>
              <a:cs typeface="Open Sans"/>
              <a:sym typeface="Open Sans"/>
            </a:endParaRPr>
          </a:p>
        </p:txBody>
      </p:sp>
      <p:sp>
        <p:nvSpPr>
          <p:cNvPr id="180" name="Google Shape;180;g3a9d64d8e29_0_142">
            <a:extLst>
              <a:ext uri="{FF2B5EF4-FFF2-40B4-BE49-F238E27FC236}">
                <a16:creationId xmlns:a16="http://schemas.microsoft.com/office/drawing/2014/main" id="{2E69DC33-7B8F-923B-C10B-61CB96844837}"/>
              </a:ext>
            </a:extLst>
          </p:cNvPr>
          <p:cNvSpPr txBox="1"/>
          <p:nvPr/>
        </p:nvSpPr>
        <p:spPr>
          <a:xfrm>
            <a:off x="717043" y="5255899"/>
            <a:ext cx="10945368" cy="1317253"/>
          </a:xfrm>
          <a:prstGeom prst="rect">
            <a:avLst/>
          </a:prstGeom>
          <a:noFill/>
          <a:ln>
            <a:noFill/>
          </a:ln>
        </p:spPr>
        <p:txBody>
          <a:bodyPr spcFirstLastPara="1" wrap="square" lIns="91425" tIns="91425" rIns="91425" bIns="91425" anchor="t" anchorCtr="0">
            <a:spAutoFit/>
          </a:bodyPr>
          <a:lstStyle/>
          <a:p>
            <a:pPr marL="412750" indent="-285750">
              <a:lnSpc>
                <a:spcPct val="115000"/>
              </a:lnSpc>
              <a:buClr>
                <a:schemeClr val="dk1"/>
              </a:buClr>
              <a:buSzPts val="1600"/>
              <a:buFont typeface="Arial" panose="020B0604020202020204" pitchFamily="34" charset="0"/>
              <a:buChar char="•"/>
            </a:pPr>
            <a:r>
              <a:rPr lang="en-US" sz="1600" dirty="0">
                <a:solidFill>
                  <a:schemeClr val="dk1"/>
                </a:solidFill>
                <a:latin typeface="Open Sans"/>
                <a:ea typeface="Open Sans"/>
                <a:cs typeface="Open Sans"/>
                <a:sym typeface="Open Sans"/>
              </a:rPr>
              <a:t>Use insights from </a:t>
            </a:r>
            <a:r>
              <a:rPr lang="en-US" sz="1600" b="1" dirty="0">
                <a:solidFill>
                  <a:srgbClr val="001C84"/>
                </a:solidFill>
                <a:latin typeface="Open Sans"/>
                <a:ea typeface="Open Sans"/>
                <a:cs typeface="Open Sans"/>
                <a:sym typeface="Open Sans"/>
              </a:rPr>
              <a:t>Data Chats </a:t>
            </a:r>
            <a:r>
              <a:rPr lang="en-US" sz="1600" dirty="0">
                <a:solidFill>
                  <a:schemeClr val="dk1"/>
                </a:solidFill>
                <a:latin typeface="Open Sans"/>
                <a:ea typeface="Open Sans"/>
                <a:cs typeface="Open Sans"/>
                <a:sym typeface="Open Sans"/>
              </a:rPr>
              <a:t>and the literature to build a causal model</a:t>
            </a:r>
          </a:p>
          <a:p>
            <a:pPr marL="412750" indent="-285750">
              <a:lnSpc>
                <a:spcPct val="115000"/>
              </a:lnSpc>
              <a:buClr>
                <a:schemeClr val="dk1"/>
              </a:buClr>
              <a:buSzPts val="1600"/>
              <a:buFont typeface="Arial" panose="020B0604020202020204" pitchFamily="34" charset="0"/>
              <a:buChar char="•"/>
            </a:pPr>
            <a:r>
              <a:rPr lang="en-US" sz="1600" dirty="0">
                <a:solidFill>
                  <a:schemeClr val="dk1"/>
                </a:solidFill>
                <a:latin typeface="Open Sans"/>
                <a:ea typeface="Open Sans"/>
                <a:cs typeface="Open Sans"/>
                <a:sym typeface="Open Sans"/>
              </a:rPr>
              <a:t>A Causal Graph maps assumptions about how the process that generated the data we want to analyze</a:t>
            </a:r>
          </a:p>
          <a:p>
            <a:pPr marL="412750" indent="-285750">
              <a:lnSpc>
                <a:spcPct val="115000"/>
              </a:lnSpc>
              <a:buClr>
                <a:schemeClr val="dk1"/>
              </a:buClr>
              <a:buSzPts val="1600"/>
              <a:buFont typeface="Arial" panose="020B0604020202020204" pitchFamily="34" charset="0"/>
              <a:buChar char="•"/>
            </a:pPr>
            <a:r>
              <a:rPr lang="en-US" sz="1600" dirty="0">
                <a:solidFill>
                  <a:schemeClr val="dk1"/>
                </a:solidFill>
                <a:latin typeface="Open Sans"/>
                <a:ea typeface="Open Sans"/>
                <a:cs typeface="Open Sans"/>
                <a:sym typeface="Open Sans"/>
              </a:rPr>
              <a:t>Aim is to </a:t>
            </a:r>
            <a:r>
              <a:rPr lang="en-US" sz="1600" b="1" dirty="0">
                <a:solidFill>
                  <a:srgbClr val="001C84"/>
                </a:solidFill>
                <a:latin typeface="Open Sans"/>
                <a:ea typeface="Open Sans"/>
                <a:cs typeface="Open Sans"/>
                <a:sym typeface="Open Sans"/>
              </a:rPr>
              <a:t>explicitly state model assumptions (background knowledge) and hypotheses about the role of discrimination in the social phenomenon studied</a:t>
            </a:r>
            <a:endParaRPr lang="en-US" sz="1600" dirty="0">
              <a:solidFill>
                <a:schemeClr val="dk1"/>
              </a:solidFill>
              <a:latin typeface="Open Sans"/>
              <a:ea typeface="Open Sans"/>
              <a:cs typeface="Open Sans"/>
              <a:sym typeface="Open Sans"/>
            </a:endParaRPr>
          </a:p>
        </p:txBody>
      </p:sp>
      <p:pic>
        <p:nvPicPr>
          <p:cNvPr id="1026" name="Picture 2">
            <a:extLst>
              <a:ext uri="{FF2B5EF4-FFF2-40B4-BE49-F238E27FC236}">
                <a16:creationId xmlns:a16="http://schemas.microsoft.com/office/drawing/2014/main" id="{D6C1FD0C-BE16-243A-55E8-E100712B7C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4905" y="1212527"/>
            <a:ext cx="6915672" cy="3774804"/>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BD01A0B8-C9D2-DC6B-A59D-30FAC36C23DC}"/>
              </a:ext>
            </a:extLst>
          </p:cNvPr>
          <p:cNvGrpSpPr/>
          <p:nvPr/>
        </p:nvGrpSpPr>
        <p:grpSpPr>
          <a:xfrm>
            <a:off x="9974033" y="313957"/>
            <a:ext cx="1901417" cy="1797141"/>
            <a:chOff x="9771888" y="2908117"/>
            <a:chExt cx="1901417" cy="1797141"/>
          </a:xfrm>
        </p:grpSpPr>
        <p:grpSp>
          <p:nvGrpSpPr>
            <p:cNvPr id="2" name="Group 1">
              <a:extLst>
                <a:ext uri="{FF2B5EF4-FFF2-40B4-BE49-F238E27FC236}">
                  <a16:creationId xmlns:a16="http://schemas.microsoft.com/office/drawing/2014/main" id="{668458FE-AB2C-10FE-F660-D4F396504A9F}"/>
                </a:ext>
              </a:extLst>
            </p:cNvPr>
            <p:cNvGrpSpPr/>
            <p:nvPr/>
          </p:nvGrpSpPr>
          <p:grpSpPr>
            <a:xfrm>
              <a:off x="10399184" y="2913499"/>
              <a:ext cx="1274121" cy="1113321"/>
              <a:chOff x="10606920" y="324473"/>
              <a:chExt cx="1274121" cy="1113321"/>
            </a:xfrm>
          </p:grpSpPr>
          <p:pic>
            <p:nvPicPr>
              <p:cNvPr id="3" name="Google Shape;147;g3a9d64d8e29_0_115" title="fair2.png">
                <a:extLst>
                  <a:ext uri="{FF2B5EF4-FFF2-40B4-BE49-F238E27FC236}">
                    <a16:creationId xmlns:a16="http://schemas.microsoft.com/office/drawing/2014/main" id="{E93513BD-D48B-73D0-FA75-62DFE2CC03DE}"/>
                  </a:ext>
                </a:extLst>
              </p:cNvPr>
              <p:cNvPicPr preferRelativeResize="0"/>
              <p:nvPr/>
            </p:nvPicPr>
            <p:blipFill>
              <a:blip r:embed="rId4">
                <a:alphaModFix/>
              </a:blip>
              <a:srcRect l="49772" t="2" r="-2017" b="49857"/>
              <a:stretch>
                <a:fillRect/>
              </a:stretch>
            </p:blipFill>
            <p:spPr>
              <a:xfrm>
                <a:off x="10906536" y="324473"/>
                <a:ext cx="974505" cy="901118"/>
              </a:xfrm>
              <a:prstGeom prst="rect">
                <a:avLst/>
              </a:prstGeom>
              <a:noFill/>
              <a:ln>
                <a:noFill/>
              </a:ln>
            </p:spPr>
          </p:pic>
          <p:sp>
            <p:nvSpPr>
              <p:cNvPr id="4" name="Oval 3">
                <a:extLst>
                  <a:ext uri="{FF2B5EF4-FFF2-40B4-BE49-F238E27FC236}">
                    <a16:creationId xmlns:a16="http://schemas.microsoft.com/office/drawing/2014/main" id="{5D4ADDA5-5BE5-21D3-94B8-432B90A6F29A}"/>
                  </a:ext>
                </a:extLst>
              </p:cNvPr>
              <p:cNvSpPr/>
              <p:nvPr/>
            </p:nvSpPr>
            <p:spPr>
              <a:xfrm>
                <a:off x="10606920" y="1003685"/>
                <a:ext cx="584474" cy="43410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Google Shape;147;g3a9d64d8e29_0_115" title="fair2.png">
              <a:extLst>
                <a:ext uri="{FF2B5EF4-FFF2-40B4-BE49-F238E27FC236}">
                  <a16:creationId xmlns:a16="http://schemas.microsoft.com/office/drawing/2014/main" id="{7E012BA3-6532-34D8-036D-19B50EF33866}"/>
                </a:ext>
              </a:extLst>
            </p:cNvPr>
            <p:cNvPicPr preferRelativeResize="0"/>
            <p:nvPr/>
          </p:nvPicPr>
          <p:blipFill>
            <a:blip r:embed="rId4">
              <a:alphaModFix amt="20000"/>
            </a:blip>
            <a:stretch>
              <a:fillRect/>
            </a:stretch>
          </p:blipFill>
          <p:spPr>
            <a:xfrm>
              <a:off x="9771888" y="2908117"/>
              <a:ext cx="1865235" cy="1797141"/>
            </a:xfrm>
            <a:prstGeom prst="rect">
              <a:avLst/>
            </a:prstGeom>
            <a:noFill/>
            <a:ln>
              <a:noFill/>
            </a:ln>
          </p:spPr>
        </p:pic>
      </p:grpSp>
      <p:sp>
        <p:nvSpPr>
          <p:cNvPr id="7" name="Slide Number Placeholder 6">
            <a:extLst>
              <a:ext uri="{FF2B5EF4-FFF2-40B4-BE49-F238E27FC236}">
                <a16:creationId xmlns:a16="http://schemas.microsoft.com/office/drawing/2014/main" id="{A09C3DA2-DB75-5A0A-C9CB-6D166219A381}"/>
              </a:ext>
            </a:extLst>
          </p:cNvPr>
          <p:cNvSpPr>
            <a:spLocks noGrp="1"/>
          </p:cNvSpPr>
          <p:nvPr>
            <p:ph type="sldNum" idx="12"/>
          </p:nvPr>
        </p:nvSpPr>
        <p:spPr/>
        <p:txBody>
          <a:bodyPr/>
          <a:lstStyle/>
          <a:p>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pPr/>
              <a:t>9</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326667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3a9d64d8e29_0_242"/>
          <p:cNvSpPr txBox="1"/>
          <p:nvPr/>
        </p:nvSpPr>
        <p:spPr>
          <a:xfrm>
            <a:off x="658369" y="267226"/>
            <a:ext cx="9297778" cy="1292631"/>
          </a:xfrm>
          <a:prstGeom prst="rect">
            <a:avLst/>
          </a:prstGeom>
          <a:noFill/>
          <a:ln>
            <a:noFill/>
          </a:ln>
        </p:spPr>
        <p:txBody>
          <a:bodyPr spcFirstLastPara="1" wrap="square" lIns="91425" tIns="91425" rIns="91425" bIns="91425" anchor="t" anchorCtr="0">
            <a:spAutoFit/>
          </a:bodyPr>
          <a:lstStyle/>
          <a:p>
            <a:pPr marL="76200">
              <a:buClr>
                <a:srgbClr val="001B83"/>
              </a:buClr>
              <a:buSzPts val="2400"/>
            </a:pPr>
            <a:r>
              <a:rPr lang="en-US" sz="4200" b="1" dirty="0">
                <a:solidFill>
                  <a:srgbClr val="001B83"/>
                </a:solidFill>
                <a:latin typeface="Open Sans"/>
                <a:ea typeface="Open Sans"/>
                <a:cs typeface="Open Sans"/>
                <a:sym typeface="Open Sans"/>
              </a:rPr>
              <a:t>Identify biases </a:t>
            </a:r>
            <a:r>
              <a:rPr lang="en-US" sz="3000" b="1" dirty="0">
                <a:solidFill>
                  <a:srgbClr val="001B83"/>
                </a:solidFill>
                <a:latin typeface="Open Sans"/>
                <a:ea typeface="Open Sans"/>
                <a:cs typeface="Open Sans"/>
                <a:sym typeface="Open Sans"/>
              </a:rPr>
              <a:t>embedded in the data and variables of interest</a:t>
            </a:r>
            <a:endParaRPr sz="3000" b="1" dirty="0">
              <a:solidFill>
                <a:srgbClr val="001B83"/>
              </a:solidFill>
              <a:latin typeface="Open Sans"/>
              <a:ea typeface="Open Sans"/>
              <a:cs typeface="Open Sans"/>
              <a:sym typeface="Open Sans"/>
            </a:endParaRPr>
          </a:p>
        </p:txBody>
      </p:sp>
      <p:graphicFrame>
        <p:nvGraphicFramePr>
          <p:cNvPr id="173" name="Google Shape;173;g3a9d64d8e29_0_242"/>
          <p:cNvGraphicFramePr/>
          <p:nvPr>
            <p:extLst>
              <p:ext uri="{D42A27DB-BD31-4B8C-83A1-F6EECF244321}">
                <p14:modId xmlns:p14="http://schemas.microsoft.com/office/powerpoint/2010/main" val="2919905240"/>
              </p:ext>
            </p:extLst>
          </p:nvPr>
        </p:nvGraphicFramePr>
        <p:xfrm>
          <a:off x="791110" y="1557612"/>
          <a:ext cx="9010436" cy="4527707"/>
        </p:xfrm>
        <a:graphic>
          <a:graphicData uri="http://schemas.openxmlformats.org/drawingml/2006/table">
            <a:tbl>
              <a:tblPr firstRow="1" bandRow="1">
                <a:noFill/>
                <a:tableStyleId>{B4D0EB23-BE61-444C-BAE3-8A2D2E021864}</a:tableStyleId>
              </a:tblPr>
              <a:tblGrid>
                <a:gridCol w="1646439">
                  <a:extLst>
                    <a:ext uri="{9D8B030D-6E8A-4147-A177-3AD203B41FA5}">
                      <a16:colId xmlns:a16="http://schemas.microsoft.com/office/drawing/2014/main" val="20000"/>
                    </a:ext>
                  </a:extLst>
                </a:gridCol>
                <a:gridCol w="7363997">
                  <a:extLst>
                    <a:ext uri="{9D8B030D-6E8A-4147-A177-3AD203B41FA5}">
                      <a16:colId xmlns:a16="http://schemas.microsoft.com/office/drawing/2014/main" val="20001"/>
                    </a:ext>
                  </a:extLst>
                </a:gridCol>
              </a:tblGrid>
              <a:tr h="766446">
                <a:tc>
                  <a:txBody>
                    <a:bodyPr/>
                    <a:lstStyle/>
                    <a:p>
                      <a:pPr marL="0" marR="0" lvl="0" indent="0" algn="ctr" rtl="0">
                        <a:spcBef>
                          <a:spcPts val="0"/>
                        </a:spcBef>
                        <a:spcAft>
                          <a:spcPts val="0"/>
                        </a:spcAft>
                        <a:buNone/>
                      </a:pPr>
                      <a:r>
                        <a:rPr lang="en-US" sz="1600" b="1" dirty="0">
                          <a:solidFill>
                            <a:srgbClr val="FFFFFF"/>
                          </a:solidFill>
                          <a:latin typeface="Open Sans"/>
                          <a:ea typeface="Open Sans"/>
                          <a:cs typeface="Open Sans"/>
                          <a:sym typeface="Open Sans"/>
                        </a:rPr>
                        <a:t>What is the social goal?</a:t>
                      </a:r>
                      <a:endParaRPr sz="1200" dirty="0">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38100"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38100" cap="flat" cmpd="sng">
                      <a:solidFill>
                        <a:srgbClr val="FFFFFF"/>
                      </a:solidFill>
                      <a:prstDash val="solid"/>
                      <a:round/>
                      <a:headEnd type="none" w="sm" len="sm"/>
                      <a:tailEnd type="none" w="sm" len="sm"/>
                    </a:lnB>
                    <a:solidFill>
                      <a:schemeClr val="accent5"/>
                    </a:solidFill>
                  </a:tcPr>
                </a:tc>
                <a:tc>
                  <a:txBody>
                    <a:bodyPr/>
                    <a:lstStyle/>
                    <a:p>
                      <a:pPr marL="0" lvl="0" indent="0" algn="l" rtl="0">
                        <a:spcBef>
                          <a:spcPts val="0"/>
                        </a:spcBef>
                        <a:spcAft>
                          <a:spcPts val="0"/>
                        </a:spcAft>
                        <a:buNone/>
                      </a:pPr>
                      <a:r>
                        <a:rPr lang="en-US" sz="1800" b="0" dirty="0">
                          <a:solidFill>
                            <a:schemeClr val="bg1"/>
                          </a:solidFill>
                        </a:rPr>
                        <a:t>Prioritize housing for those </a:t>
                      </a:r>
                      <a:r>
                        <a:rPr lang="en-US" sz="1800" b="1" dirty="0">
                          <a:solidFill>
                            <a:schemeClr val="bg1"/>
                          </a:solidFill>
                        </a:rPr>
                        <a:t>at highest risk of homelessness.</a:t>
                      </a:r>
                    </a:p>
                    <a:p>
                      <a:pPr marL="0" lvl="0" indent="0" algn="l" rtl="0">
                        <a:spcBef>
                          <a:spcPts val="0"/>
                        </a:spcBef>
                        <a:spcAft>
                          <a:spcPts val="0"/>
                        </a:spcAft>
                        <a:buNone/>
                      </a:pPr>
                      <a:r>
                        <a:rPr lang="en-US" sz="1800" b="1" dirty="0">
                          <a:solidFill>
                            <a:schemeClr val="bg1"/>
                          </a:solidFill>
                        </a:rPr>
                        <a:t>Data analytics aim is to predict homelessness risk.</a:t>
                      </a:r>
                      <a:endParaRPr sz="1800" b="1" dirty="0">
                        <a:solidFill>
                          <a:schemeClr val="bg1"/>
                        </a:solidFill>
                      </a:endParaRPr>
                    </a:p>
                  </a:txBody>
                  <a:tcPr marL="91450" marR="91450" marT="45725" marB="45725" anchor="ctr">
                    <a:lnL w="38100"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38100" cap="flat" cmpd="sng">
                      <a:solidFill>
                        <a:srgbClr val="FFFFFF"/>
                      </a:solidFill>
                      <a:prstDash val="solid"/>
                      <a:round/>
                      <a:headEnd type="none" w="sm" len="sm"/>
                      <a:tailEnd type="none" w="sm" len="sm"/>
                    </a:lnB>
                    <a:solidFill>
                      <a:schemeClr val="accent5"/>
                    </a:solidFill>
                  </a:tcPr>
                </a:tc>
                <a:extLst>
                  <a:ext uri="{0D108BD9-81ED-4DB2-BD59-A6C34878D82A}">
                    <a16:rowId xmlns:a16="http://schemas.microsoft.com/office/drawing/2014/main" val="10000"/>
                  </a:ext>
                </a:extLst>
              </a:tr>
              <a:tr h="482581">
                <a:tc rowSpan="2">
                  <a:txBody>
                    <a:bodyPr/>
                    <a:lstStyle/>
                    <a:p>
                      <a:pPr marL="0" lvl="0" indent="0" algn="ctr" rtl="0">
                        <a:spcBef>
                          <a:spcPts val="0"/>
                        </a:spcBef>
                        <a:spcAft>
                          <a:spcPts val="0"/>
                        </a:spcAft>
                        <a:buNone/>
                      </a:pPr>
                      <a:r>
                        <a:rPr lang="en-US" sz="1600" b="1" dirty="0">
                          <a:solidFill>
                            <a:srgbClr val="171616"/>
                          </a:solidFill>
                          <a:latin typeface="Open Sans"/>
                          <a:ea typeface="Open Sans"/>
                          <a:cs typeface="Open Sans"/>
                          <a:sym typeface="Open Sans"/>
                        </a:rPr>
                        <a:t>Choice of the Outcome</a:t>
                      </a:r>
                      <a:endParaRPr dirty="0">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FDC5D"/>
                    </a:solidFill>
                  </a:tcPr>
                </a:tc>
                <a:tc>
                  <a:txBody>
                    <a:bodyPr/>
                    <a:lstStyle/>
                    <a:p>
                      <a:pPr marL="0" lvl="0" indent="0" algn="l" rtl="0">
                        <a:spcBef>
                          <a:spcPts val="0"/>
                        </a:spcBef>
                        <a:spcAft>
                          <a:spcPts val="0"/>
                        </a:spcAft>
                        <a:buNone/>
                      </a:pPr>
                      <a:r>
                        <a:rPr lang="en-US" sz="1400" b="1" dirty="0">
                          <a:latin typeface="Open Sans"/>
                          <a:ea typeface="Open Sans"/>
                          <a:cs typeface="Open Sans"/>
                          <a:sym typeface="Open Sans"/>
                        </a:rPr>
                        <a:t>Desired Y: </a:t>
                      </a:r>
                      <a:r>
                        <a:rPr lang="en-US" sz="1400" dirty="0">
                          <a:latin typeface="Open Sans"/>
                          <a:ea typeface="Open Sans"/>
                          <a:cs typeface="Open Sans"/>
                          <a:sym typeface="Open Sans"/>
                        </a:rPr>
                        <a:t>unsheltered at 6 months. </a:t>
                      </a:r>
                    </a:p>
                    <a:p>
                      <a:pPr marL="0" lvl="0" indent="0" algn="l" rtl="0">
                        <a:spcBef>
                          <a:spcPts val="0"/>
                        </a:spcBef>
                        <a:spcAft>
                          <a:spcPts val="0"/>
                        </a:spcAft>
                        <a:buNone/>
                      </a:pPr>
                      <a:r>
                        <a:rPr lang="en-US" sz="1400" b="1" dirty="0">
                          <a:latin typeface="Open Sans"/>
                          <a:ea typeface="Open Sans"/>
                          <a:cs typeface="Open Sans"/>
                          <a:sym typeface="Open Sans"/>
                        </a:rPr>
                        <a:t>Measured Y</a:t>
                      </a:r>
                      <a:r>
                        <a:rPr lang="en-US" sz="1400" dirty="0">
                          <a:latin typeface="Open Sans"/>
                          <a:ea typeface="Open Sans"/>
                          <a:cs typeface="Open Sans"/>
                          <a:sym typeface="Open Sans"/>
                        </a:rPr>
                        <a:t>: </a:t>
                      </a:r>
                      <a:r>
                        <a:rPr lang="en-US" sz="1400" b="1" dirty="0">
                          <a:latin typeface="Open Sans"/>
                          <a:ea typeface="Open Sans"/>
                          <a:cs typeface="Open Sans"/>
                          <a:sym typeface="Open Sans"/>
                        </a:rPr>
                        <a:t>seen in administrative homeless service (HMIS) records </a:t>
                      </a:r>
                      <a:r>
                        <a:rPr lang="en-US" sz="1400" dirty="0">
                          <a:latin typeface="Open Sans"/>
                          <a:ea typeface="Open Sans"/>
                          <a:cs typeface="Open Sans"/>
                          <a:sym typeface="Open Sans"/>
                        </a:rPr>
                        <a:t>at 6 months.</a:t>
                      </a:r>
                      <a:endParaRPr sz="1400" dirty="0">
                        <a:latin typeface="Calibri"/>
                        <a:ea typeface="Calibri"/>
                        <a:cs typeface="Calibri"/>
                        <a:sym typeface="Calibri"/>
                      </a:endParaRPr>
                    </a:p>
                  </a:txBody>
                  <a:tcPr marL="91450" marR="91450" marT="45725" marB="45725"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FDC5D">
                        <a:alpha val="57650"/>
                      </a:srgbClr>
                    </a:solidFill>
                  </a:tcPr>
                </a:tc>
                <a:extLst>
                  <a:ext uri="{0D108BD9-81ED-4DB2-BD59-A6C34878D82A}">
                    <a16:rowId xmlns:a16="http://schemas.microsoft.com/office/drawing/2014/main" val="10001"/>
                  </a:ext>
                </a:extLst>
              </a:tr>
              <a:tr h="681286">
                <a:tc vMerge="1">
                  <a:txBody>
                    <a:bodyPr/>
                    <a:lstStyle/>
                    <a:p>
                      <a:endParaRPr lang="en-US"/>
                    </a:p>
                  </a:txBody>
                  <a:tcPr/>
                </a:tc>
                <a:tc>
                  <a:txBody>
                    <a:bodyPr/>
                    <a:lstStyle/>
                    <a:p>
                      <a:pPr marL="0" lvl="0" indent="0" algn="l" rtl="0">
                        <a:spcBef>
                          <a:spcPts val="0"/>
                        </a:spcBef>
                        <a:spcAft>
                          <a:spcPts val="0"/>
                        </a:spcAft>
                        <a:buNone/>
                      </a:pPr>
                      <a:r>
                        <a:rPr lang="en-US" sz="1400" b="1" dirty="0">
                          <a:latin typeface="Open Sans"/>
                          <a:ea typeface="Open Sans"/>
                          <a:cs typeface="Open Sans"/>
                          <a:sym typeface="Open Sans"/>
                        </a:rPr>
                        <a:t>Bias when using measured versus desired Y: </a:t>
                      </a:r>
                      <a:r>
                        <a:rPr lang="en-US" sz="1400" dirty="0">
                          <a:latin typeface="Open Sans"/>
                          <a:ea typeface="Open Sans"/>
                          <a:cs typeface="Open Sans"/>
                          <a:sym typeface="Open Sans"/>
                        </a:rPr>
                        <a:t>if previous shelter experience was negative, folks will experience homelessness outside of the system and not appear in administrative records.</a:t>
                      </a:r>
                      <a:endParaRPr sz="1400" dirty="0">
                        <a:latin typeface="Calibri"/>
                        <a:ea typeface="Calibri"/>
                        <a:cs typeface="Calibri"/>
                        <a:sym typeface="Calibri"/>
                      </a:endParaRPr>
                    </a:p>
                  </a:txBody>
                  <a:tcPr marL="91450" marR="91450" marT="45725" marB="45725"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FDC5D">
                        <a:alpha val="57650"/>
                      </a:srgbClr>
                    </a:solidFill>
                  </a:tcPr>
                </a:tc>
                <a:extLst>
                  <a:ext uri="{0D108BD9-81ED-4DB2-BD59-A6C34878D82A}">
                    <a16:rowId xmlns:a16="http://schemas.microsoft.com/office/drawing/2014/main" val="10002"/>
                  </a:ext>
                </a:extLst>
              </a:tr>
              <a:tr h="482581">
                <a:tc rowSpan="3">
                  <a:txBody>
                    <a:bodyPr/>
                    <a:lstStyle/>
                    <a:p>
                      <a:pPr marL="0" lvl="0" indent="0" algn="ctr" rtl="0">
                        <a:spcBef>
                          <a:spcPts val="0"/>
                        </a:spcBef>
                        <a:spcAft>
                          <a:spcPts val="0"/>
                        </a:spcAft>
                        <a:buNone/>
                      </a:pPr>
                      <a:r>
                        <a:rPr lang="en-US" sz="1600" b="1" dirty="0">
                          <a:solidFill>
                            <a:srgbClr val="171616"/>
                          </a:solidFill>
                          <a:latin typeface="Open Sans"/>
                          <a:ea typeface="Open Sans"/>
                          <a:cs typeface="Open Sans"/>
                          <a:sym typeface="Open Sans"/>
                        </a:rPr>
                        <a:t>Choice of the Inputs</a:t>
                      </a:r>
                      <a:endParaRPr dirty="0">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FB72A"/>
                    </a:solidFill>
                  </a:tcPr>
                </a:tc>
                <a:tc>
                  <a:txBody>
                    <a:bodyPr/>
                    <a:lstStyle/>
                    <a:p>
                      <a:pPr marL="0" lvl="0" indent="0" algn="l" rtl="0">
                        <a:spcBef>
                          <a:spcPts val="0"/>
                        </a:spcBef>
                        <a:spcAft>
                          <a:spcPts val="0"/>
                        </a:spcAft>
                        <a:buNone/>
                      </a:pPr>
                      <a:r>
                        <a:rPr lang="en-US" sz="1400" b="1" dirty="0">
                          <a:latin typeface="Open Sans"/>
                          <a:ea typeface="Open Sans"/>
                          <a:cs typeface="Open Sans"/>
                          <a:sym typeface="Open Sans"/>
                        </a:rPr>
                        <a:t>Desired X</a:t>
                      </a:r>
                      <a:r>
                        <a:rPr lang="en-US" sz="1400" dirty="0">
                          <a:latin typeface="Open Sans"/>
                          <a:ea typeface="Open Sans"/>
                          <a:cs typeface="Open Sans"/>
                          <a:sym typeface="Open Sans"/>
                        </a:rPr>
                        <a:t>: experienced food insecurity in past year</a:t>
                      </a:r>
                    </a:p>
                    <a:p>
                      <a:pPr marL="0" lvl="0" indent="0" algn="l" rtl="0">
                        <a:spcBef>
                          <a:spcPts val="0"/>
                        </a:spcBef>
                        <a:spcAft>
                          <a:spcPts val="0"/>
                        </a:spcAft>
                        <a:buNone/>
                      </a:pPr>
                      <a:r>
                        <a:rPr lang="en-US" sz="1400" b="1" dirty="0">
                          <a:latin typeface="Open Sans"/>
                          <a:ea typeface="Open Sans"/>
                          <a:cs typeface="Open Sans"/>
                          <a:sym typeface="Open Sans"/>
                        </a:rPr>
                        <a:t>Measured X: </a:t>
                      </a:r>
                      <a:r>
                        <a:rPr lang="en-US" sz="1400" dirty="0">
                          <a:latin typeface="Open Sans"/>
                          <a:ea typeface="Open Sans"/>
                          <a:cs typeface="Open Sans"/>
                          <a:sym typeface="Open Sans"/>
                        </a:rPr>
                        <a:t>enrolled in </a:t>
                      </a:r>
                      <a:r>
                        <a:rPr lang="en-US" sz="1400" b="1" dirty="0">
                          <a:latin typeface="Open Sans"/>
                          <a:ea typeface="Open Sans"/>
                          <a:cs typeface="Open Sans"/>
                          <a:sym typeface="Open Sans"/>
                        </a:rPr>
                        <a:t>SNAP program as seen in administrative records</a:t>
                      </a:r>
                      <a:endParaRPr sz="1400" b="1" dirty="0">
                        <a:latin typeface="Calibri"/>
                        <a:ea typeface="Calibri"/>
                        <a:cs typeface="Calibri"/>
                        <a:sym typeface="Calibri"/>
                      </a:endParaRPr>
                    </a:p>
                  </a:txBody>
                  <a:tcPr marL="91450" marR="91450" marT="45725" marB="45725"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chemeClr val="lt1"/>
                      </a:solidFill>
                      <a:prstDash val="solid"/>
                      <a:round/>
                      <a:headEnd type="none" w="sm" len="sm"/>
                      <a:tailEnd type="none" w="sm" len="sm"/>
                    </a:lnB>
                    <a:solidFill>
                      <a:srgbClr val="FFB72A">
                        <a:alpha val="57650"/>
                      </a:srgbClr>
                    </a:solidFill>
                  </a:tcPr>
                </a:tc>
                <a:extLst>
                  <a:ext uri="{0D108BD9-81ED-4DB2-BD59-A6C34878D82A}">
                    <a16:rowId xmlns:a16="http://schemas.microsoft.com/office/drawing/2014/main" val="10003"/>
                  </a:ext>
                </a:extLst>
              </a:tr>
              <a:tr h="482581">
                <a:tc vMerge="1">
                  <a:txBody>
                    <a:bodyPr/>
                    <a:lstStyle/>
                    <a:p>
                      <a:endParaRPr lang="en-US"/>
                    </a:p>
                  </a:txBody>
                  <a:tcPr/>
                </a:tc>
                <a:tc>
                  <a:txBody>
                    <a:bodyPr/>
                    <a:lstStyle/>
                    <a:p>
                      <a:pPr marL="0" lvl="0" indent="0" algn="l" rtl="0">
                        <a:spcBef>
                          <a:spcPts val="0"/>
                        </a:spcBef>
                        <a:spcAft>
                          <a:spcPts val="0"/>
                        </a:spcAft>
                        <a:buNone/>
                      </a:pPr>
                      <a:r>
                        <a:rPr lang="en-US" sz="1400" b="1" dirty="0">
                          <a:latin typeface="Open Sans"/>
                          <a:ea typeface="Open Sans"/>
                          <a:cs typeface="Open Sans"/>
                          <a:sym typeface="Open Sans"/>
                        </a:rPr>
                        <a:t>Bias when using measured versus desired X: </a:t>
                      </a:r>
                      <a:r>
                        <a:rPr lang="en-US" sz="1400" b="0" dirty="0">
                          <a:latin typeface="Open Sans"/>
                          <a:ea typeface="Open Sans"/>
                          <a:cs typeface="Open Sans"/>
                          <a:sym typeface="Open Sans"/>
                        </a:rPr>
                        <a:t>food insecure folks that do not meet work requirements will not be in SNAP and assumed food secure.</a:t>
                      </a:r>
                      <a:endParaRPr sz="1400" b="0" dirty="0">
                        <a:latin typeface="Open Sans"/>
                        <a:ea typeface="Open Sans"/>
                        <a:cs typeface="Open Sans"/>
                        <a:sym typeface="Open Sans"/>
                      </a:endParaRPr>
                    </a:p>
                  </a:txBody>
                  <a:tcPr marL="91450" marR="91450" marT="45725" marB="45725"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FFB72A">
                        <a:alpha val="57650"/>
                      </a:srgbClr>
                    </a:solidFill>
                  </a:tcPr>
                </a:tc>
                <a:extLst>
                  <a:ext uri="{0D108BD9-81ED-4DB2-BD59-A6C34878D82A}">
                    <a16:rowId xmlns:a16="http://schemas.microsoft.com/office/drawing/2014/main" val="10004"/>
                  </a:ext>
                </a:extLst>
              </a:tr>
              <a:tr h="438881">
                <a:tc vMerge="1">
                  <a:txBody>
                    <a:bodyPr/>
                    <a:lstStyle/>
                    <a:p>
                      <a:endParaRPr lang="en-US"/>
                    </a:p>
                  </a:txBody>
                  <a:tcPr/>
                </a:tc>
                <a:tc>
                  <a:txBody>
                    <a:bodyPr/>
                    <a:lstStyle/>
                    <a:p>
                      <a:pPr marL="0" lvl="0" indent="0" algn="l" rtl="0">
                        <a:spcBef>
                          <a:spcPts val="0"/>
                        </a:spcBef>
                        <a:spcAft>
                          <a:spcPts val="0"/>
                        </a:spcAft>
                        <a:buNone/>
                      </a:pPr>
                      <a:r>
                        <a:rPr lang="en-US" sz="1400" b="1" dirty="0">
                          <a:latin typeface="Open Sans"/>
                          <a:ea typeface="Open Sans"/>
                          <a:cs typeface="Open Sans"/>
                          <a:sym typeface="Open Sans"/>
                        </a:rPr>
                        <a:t>Role of variable reflecting discrimination status (</a:t>
                      </a:r>
                      <a:r>
                        <a:rPr lang="en-US" sz="1400" dirty="0">
                          <a:latin typeface="Open Sans"/>
                          <a:ea typeface="Open Sans"/>
                          <a:cs typeface="Open Sans"/>
                          <a:sym typeface="Open Sans"/>
                        </a:rPr>
                        <a:t>sex, gender, race, ethnicity)</a:t>
                      </a:r>
                      <a:endParaRPr sz="1400" dirty="0">
                        <a:latin typeface="Calibri"/>
                        <a:ea typeface="Calibri"/>
                        <a:cs typeface="Calibri"/>
                        <a:sym typeface="Calibri"/>
                      </a:endParaRPr>
                    </a:p>
                  </a:txBody>
                  <a:tcPr marL="91450" marR="91450" marT="45725" marB="45725"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rgbClr val="FFFFFF"/>
                      </a:solidFill>
                      <a:prstDash val="solid"/>
                      <a:round/>
                      <a:headEnd type="none" w="sm" len="sm"/>
                      <a:tailEnd type="none" w="sm" len="sm"/>
                    </a:lnB>
                    <a:solidFill>
                      <a:srgbClr val="FFB72A">
                        <a:alpha val="57650"/>
                      </a:srgbClr>
                    </a:solidFill>
                  </a:tcPr>
                </a:tc>
                <a:extLst>
                  <a:ext uri="{0D108BD9-81ED-4DB2-BD59-A6C34878D82A}">
                    <a16:rowId xmlns:a16="http://schemas.microsoft.com/office/drawing/2014/main" val="10005"/>
                  </a:ext>
                </a:extLst>
              </a:tr>
              <a:tr h="482581">
                <a:tc rowSpan="2">
                  <a:txBody>
                    <a:bodyPr/>
                    <a:lstStyle/>
                    <a:p>
                      <a:pPr marL="0" lvl="0" indent="0" algn="ctr" rtl="0">
                        <a:spcBef>
                          <a:spcPts val="0"/>
                        </a:spcBef>
                        <a:spcAft>
                          <a:spcPts val="0"/>
                        </a:spcAft>
                        <a:buNone/>
                      </a:pPr>
                      <a:r>
                        <a:rPr lang="en-US" sz="1600" b="1" dirty="0">
                          <a:solidFill>
                            <a:srgbClr val="171616"/>
                          </a:solidFill>
                          <a:latin typeface="Open Sans"/>
                          <a:ea typeface="Open Sans"/>
                          <a:cs typeface="Open Sans"/>
                          <a:sym typeface="Open Sans"/>
                        </a:rPr>
                        <a:t>Data</a:t>
                      </a:r>
                      <a:endParaRPr dirty="0">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9CC2E5"/>
                    </a:solidFill>
                  </a:tcPr>
                </a:tc>
                <a:tc>
                  <a:txBody>
                    <a:bodyPr/>
                    <a:lstStyle/>
                    <a:p>
                      <a:pPr marL="0" lvl="0" indent="0" algn="l" rtl="0">
                        <a:spcBef>
                          <a:spcPts val="0"/>
                        </a:spcBef>
                        <a:spcAft>
                          <a:spcPts val="0"/>
                        </a:spcAft>
                        <a:buNone/>
                      </a:pPr>
                      <a:r>
                        <a:rPr lang="en-US" sz="1400" b="1" dirty="0">
                          <a:latin typeface="Open Sans"/>
                          <a:ea typeface="Open Sans"/>
                          <a:cs typeface="Open Sans"/>
                          <a:sym typeface="Open Sans"/>
                        </a:rPr>
                        <a:t>Selective Labels</a:t>
                      </a:r>
                      <a:r>
                        <a:rPr lang="en-US" sz="1400" dirty="0">
                          <a:latin typeface="Open Sans"/>
                          <a:ea typeface="Open Sans"/>
                          <a:cs typeface="Open Sans"/>
                          <a:sym typeface="Open Sans"/>
                        </a:rPr>
                        <a:t>: if we only use HMIS records, we will fail to predict homelessness for vulnerable groups that feel unsafe in shelter.</a:t>
                      </a:r>
                      <a:endParaRPr sz="1400" dirty="0">
                        <a:latin typeface="Calibri"/>
                        <a:ea typeface="Calibri"/>
                        <a:cs typeface="Calibri"/>
                        <a:sym typeface="Calibri"/>
                      </a:endParaRPr>
                    </a:p>
                  </a:txBody>
                  <a:tcPr marL="91450" marR="91450" marT="45725" marB="45725"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chemeClr val="lt1"/>
                      </a:solidFill>
                      <a:prstDash val="solid"/>
                      <a:round/>
                      <a:headEnd type="none" w="sm" len="sm"/>
                      <a:tailEnd type="none" w="sm" len="sm"/>
                    </a:lnB>
                    <a:solidFill>
                      <a:srgbClr val="BBD6EE"/>
                    </a:solidFill>
                  </a:tcPr>
                </a:tc>
                <a:extLst>
                  <a:ext uri="{0D108BD9-81ED-4DB2-BD59-A6C34878D82A}">
                    <a16:rowId xmlns:a16="http://schemas.microsoft.com/office/drawing/2014/main" val="10006"/>
                  </a:ext>
                </a:extLst>
              </a:tr>
              <a:tr h="482581">
                <a:tc vMerge="1">
                  <a:txBody>
                    <a:bodyPr/>
                    <a:lstStyle/>
                    <a:p>
                      <a:endParaRPr lang="en-US"/>
                    </a:p>
                  </a:txBody>
                  <a:tcPr/>
                </a:tc>
                <a:tc>
                  <a:txBody>
                    <a:bodyPr/>
                    <a:lstStyle/>
                    <a:p>
                      <a:pPr marL="0" lvl="0" indent="0" algn="l" rtl="0">
                        <a:spcBef>
                          <a:spcPts val="0"/>
                        </a:spcBef>
                        <a:spcAft>
                          <a:spcPts val="0"/>
                        </a:spcAft>
                        <a:buNone/>
                      </a:pPr>
                      <a:r>
                        <a:rPr lang="en-US" sz="1400" b="1" dirty="0">
                          <a:latin typeface="Open Sans"/>
                          <a:ea typeface="Open Sans"/>
                          <a:cs typeface="Open Sans"/>
                          <a:sym typeface="Open Sans"/>
                        </a:rPr>
                        <a:t>Race and gender </a:t>
                      </a:r>
                      <a:r>
                        <a:rPr lang="en-US" sz="1400" dirty="0">
                          <a:latin typeface="Open Sans"/>
                          <a:ea typeface="Open Sans"/>
                          <a:cs typeface="Open Sans"/>
                          <a:sym typeface="Open Sans"/>
                        </a:rPr>
                        <a:t>are captured in diverse ways in administrative data; how do we aggregate and report along these categories?</a:t>
                      </a:r>
                      <a:endParaRPr sz="1400" dirty="0">
                        <a:latin typeface="Calibri"/>
                        <a:ea typeface="Calibri"/>
                        <a:cs typeface="Calibri"/>
                        <a:sym typeface="Calibri"/>
                      </a:endParaRPr>
                    </a:p>
                  </a:txBody>
                  <a:tcPr marL="91450" marR="91450" marT="45725" marB="45725" anchor="ctr">
                    <a:lnL w="381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BBD6EE"/>
                    </a:solidFill>
                  </a:tcPr>
                </a:tc>
                <a:extLst>
                  <a:ext uri="{0D108BD9-81ED-4DB2-BD59-A6C34878D82A}">
                    <a16:rowId xmlns:a16="http://schemas.microsoft.com/office/drawing/2014/main" val="10007"/>
                  </a:ext>
                </a:extLst>
              </a:tr>
            </a:tbl>
          </a:graphicData>
        </a:graphic>
      </p:graphicFrame>
      <p:sp>
        <p:nvSpPr>
          <p:cNvPr id="3" name="TextBox 2">
            <a:extLst>
              <a:ext uri="{FF2B5EF4-FFF2-40B4-BE49-F238E27FC236}">
                <a16:creationId xmlns:a16="http://schemas.microsoft.com/office/drawing/2014/main" id="{023A6B35-CB2B-9E88-E275-BE9048207A9B}"/>
              </a:ext>
            </a:extLst>
          </p:cNvPr>
          <p:cNvSpPr txBox="1"/>
          <p:nvPr/>
        </p:nvSpPr>
        <p:spPr>
          <a:xfrm>
            <a:off x="658368" y="6139597"/>
            <a:ext cx="10875263" cy="58477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Systematically scan data inputs for mismatches in desired versus measured constructs and target population </a:t>
            </a:r>
          </a:p>
          <a:p>
            <a:pPr marL="285750" indent="-28575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Aim is to minimize bias and report on limitations due to bias</a:t>
            </a:r>
          </a:p>
        </p:txBody>
      </p:sp>
      <p:grpSp>
        <p:nvGrpSpPr>
          <p:cNvPr id="7" name="Group 6">
            <a:extLst>
              <a:ext uri="{FF2B5EF4-FFF2-40B4-BE49-F238E27FC236}">
                <a16:creationId xmlns:a16="http://schemas.microsoft.com/office/drawing/2014/main" id="{CB86E58E-61A4-0766-993B-6C753C89AF56}"/>
              </a:ext>
            </a:extLst>
          </p:cNvPr>
          <p:cNvGrpSpPr/>
          <p:nvPr/>
        </p:nvGrpSpPr>
        <p:grpSpPr>
          <a:xfrm>
            <a:off x="9995826" y="307322"/>
            <a:ext cx="1904915" cy="1829686"/>
            <a:chOff x="10093982" y="2884584"/>
            <a:chExt cx="1904915" cy="1829686"/>
          </a:xfrm>
        </p:grpSpPr>
        <p:grpSp>
          <p:nvGrpSpPr>
            <p:cNvPr id="2" name="Group 1">
              <a:extLst>
                <a:ext uri="{FF2B5EF4-FFF2-40B4-BE49-F238E27FC236}">
                  <a16:creationId xmlns:a16="http://schemas.microsoft.com/office/drawing/2014/main" id="{BDE60723-1DBC-027C-A725-681B1247473A}"/>
                </a:ext>
              </a:extLst>
            </p:cNvPr>
            <p:cNvGrpSpPr/>
            <p:nvPr/>
          </p:nvGrpSpPr>
          <p:grpSpPr>
            <a:xfrm>
              <a:off x="10724776" y="3563672"/>
              <a:ext cx="1274121" cy="1150598"/>
              <a:chOff x="10606920" y="1003685"/>
              <a:chExt cx="1274121" cy="1150598"/>
            </a:xfrm>
          </p:grpSpPr>
          <p:pic>
            <p:nvPicPr>
              <p:cNvPr id="4" name="Google Shape;147;g3a9d64d8e29_0_115" title="fair2.png">
                <a:extLst>
                  <a:ext uri="{FF2B5EF4-FFF2-40B4-BE49-F238E27FC236}">
                    <a16:creationId xmlns:a16="http://schemas.microsoft.com/office/drawing/2014/main" id="{84CE1D83-43A4-7FC0-C534-61F787B7CDD4}"/>
                  </a:ext>
                </a:extLst>
              </p:cNvPr>
              <p:cNvPicPr preferRelativeResize="0"/>
              <p:nvPr/>
            </p:nvPicPr>
            <p:blipFill>
              <a:blip r:embed="rId3">
                <a:alphaModFix/>
              </a:blip>
              <a:srcRect l="49758" t="49633" r="-2017" b="-1819"/>
              <a:stretch>
                <a:fillRect/>
              </a:stretch>
            </p:blipFill>
            <p:spPr>
              <a:xfrm>
                <a:off x="10906276" y="1216429"/>
                <a:ext cx="974765" cy="937854"/>
              </a:xfrm>
              <a:prstGeom prst="rect">
                <a:avLst/>
              </a:prstGeom>
              <a:noFill/>
              <a:ln>
                <a:noFill/>
              </a:ln>
            </p:spPr>
          </p:pic>
          <p:sp>
            <p:nvSpPr>
              <p:cNvPr id="5" name="Oval 4">
                <a:extLst>
                  <a:ext uri="{FF2B5EF4-FFF2-40B4-BE49-F238E27FC236}">
                    <a16:creationId xmlns:a16="http://schemas.microsoft.com/office/drawing/2014/main" id="{69AC4319-86C7-033D-4218-AC6D90ADBFB4}"/>
                  </a:ext>
                </a:extLst>
              </p:cNvPr>
              <p:cNvSpPr/>
              <p:nvPr/>
            </p:nvSpPr>
            <p:spPr>
              <a:xfrm>
                <a:off x="10606920" y="1003685"/>
                <a:ext cx="584474" cy="43410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Google Shape;147;g3a9d64d8e29_0_115" title="fair2.png">
              <a:extLst>
                <a:ext uri="{FF2B5EF4-FFF2-40B4-BE49-F238E27FC236}">
                  <a16:creationId xmlns:a16="http://schemas.microsoft.com/office/drawing/2014/main" id="{FB0D7997-78AE-FB86-0B4C-009B61AB6247}"/>
                </a:ext>
              </a:extLst>
            </p:cNvPr>
            <p:cNvPicPr preferRelativeResize="0"/>
            <p:nvPr/>
          </p:nvPicPr>
          <p:blipFill>
            <a:blip r:embed="rId3">
              <a:alphaModFix amt="20000"/>
            </a:blip>
            <a:stretch>
              <a:fillRect/>
            </a:stretch>
          </p:blipFill>
          <p:spPr>
            <a:xfrm>
              <a:off x="10093982" y="2884584"/>
              <a:ext cx="1865235" cy="1797141"/>
            </a:xfrm>
            <a:prstGeom prst="rect">
              <a:avLst/>
            </a:prstGeom>
            <a:noFill/>
            <a:ln>
              <a:noFill/>
            </a:ln>
          </p:spPr>
        </p:pic>
      </p:grpSp>
      <p:sp>
        <p:nvSpPr>
          <p:cNvPr id="8" name="TextBox 7">
            <a:extLst>
              <a:ext uri="{FF2B5EF4-FFF2-40B4-BE49-F238E27FC236}">
                <a16:creationId xmlns:a16="http://schemas.microsoft.com/office/drawing/2014/main" id="{EF0141A4-2BF9-0B0B-E753-AF0376CE526F}"/>
              </a:ext>
            </a:extLst>
          </p:cNvPr>
          <p:cNvSpPr txBox="1"/>
          <p:nvPr/>
        </p:nvSpPr>
        <p:spPr>
          <a:xfrm>
            <a:off x="9799164" y="5585518"/>
            <a:ext cx="2101577" cy="461665"/>
          </a:xfrm>
          <a:prstGeom prst="rect">
            <a:avLst/>
          </a:prstGeom>
          <a:noFill/>
        </p:spPr>
        <p:txBody>
          <a:bodyPr wrap="square">
            <a:spAutoFit/>
          </a:bodyPr>
          <a:lstStyle/>
          <a:p>
            <a:r>
              <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Approach adapted from Kleinberg et al. (2018)</a:t>
            </a:r>
            <a:endPar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Slide Number Placeholder 8">
            <a:extLst>
              <a:ext uri="{FF2B5EF4-FFF2-40B4-BE49-F238E27FC236}">
                <a16:creationId xmlns:a16="http://schemas.microsoft.com/office/drawing/2014/main" id="{926F593A-BC43-FF54-8F44-EBAFF400C46B}"/>
              </a:ext>
            </a:extLst>
          </p:cNvPr>
          <p:cNvSpPr>
            <a:spLocks noGrp="1"/>
          </p:cNvSpPr>
          <p:nvPr>
            <p:ph type="sldNum" idx="12"/>
          </p:nvPr>
        </p:nvSpPr>
        <p:spPr/>
        <p:txBody>
          <a:bodyPr/>
          <a:lstStyle/>
          <a:p>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pPr/>
              <a:t>10</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acb03a8e57_0_0"/>
          <p:cNvSpPr txBox="1">
            <a:spLocks noGrp="1"/>
          </p:cNvSpPr>
          <p:nvPr>
            <p:ph type="title"/>
          </p:nvPr>
        </p:nvSpPr>
        <p:spPr>
          <a:xfrm>
            <a:off x="621792" y="385875"/>
            <a:ext cx="10881360" cy="1013157"/>
          </a:xfrm>
          <a:prstGeom prst="rect">
            <a:avLst/>
          </a:prstGeom>
        </p:spPr>
        <p:txBody>
          <a:bodyPr spcFirstLastPara="1" wrap="square" lIns="91425" tIns="91425" rIns="91425" bIns="91425" anchor="t" anchorCtr="0">
            <a:noAutofit/>
          </a:bodyPr>
          <a:lstStyle/>
          <a:p>
            <a:pPr lvl="0">
              <a:buSzPts val="990"/>
            </a:pPr>
            <a:r>
              <a:rPr lang="en-US" sz="4200" b="1" dirty="0">
                <a:solidFill>
                  <a:srgbClr val="001C84"/>
                </a:solidFill>
                <a:latin typeface="Open Sans"/>
                <a:ea typeface="Open Sans"/>
                <a:cs typeface="Open Sans"/>
                <a:sym typeface="Open Sans"/>
              </a:rPr>
              <a:t>Report</a:t>
            </a:r>
            <a:r>
              <a:rPr lang="en-US" sz="2420" b="1" dirty="0">
                <a:solidFill>
                  <a:srgbClr val="001C84"/>
                </a:solidFill>
                <a:latin typeface="Open Sans"/>
                <a:ea typeface="Open Sans"/>
                <a:cs typeface="Open Sans"/>
                <a:sym typeface="Open Sans"/>
              </a:rPr>
              <a:t> </a:t>
            </a:r>
            <a:r>
              <a:rPr lang="en-US" sz="3000" b="1" dirty="0">
                <a:solidFill>
                  <a:srgbClr val="001C84"/>
                </a:solidFill>
                <a:latin typeface="Open Sans"/>
                <a:ea typeface="Open Sans"/>
                <a:cs typeface="Open Sans"/>
                <a:sym typeface="Open Sans"/>
              </a:rPr>
              <a:t>findings to and seek feedback from community stakeholders</a:t>
            </a:r>
            <a:endParaRPr sz="3000" b="1" dirty="0">
              <a:solidFill>
                <a:srgbClr val="001C84"/>
              </a:solidFill>
              <a:latin typeface="Open Sans"/>
              <a:ea typeface="Open Sans"/>
              <a:cs typeface="Open Sans"/>
              <a:sym typeface="Open Sans"/>
            </a:endParaRPr>
          </a:p>
        </p:txBody>
      </p:sp>
      <p:sp>
        <p:nvSpPr>
          <p:cNvPr id="186" name="Google Shape;186;g3acb03a8e57_0_0"/>
          <p:cNvSpPr txBox="1"/>
          <p:nvPr/>
        </p:nvSpPr>
        <p:spPr>
          <a:xfrm>
            <a:off x="621792" y="1618486"/>
            <a:ext cx="9442308" cy="467790"/>
          </a:xfrm>
          <a:prstGeom prst="rect">
            <a:avLst/>
          </a:prstGeom>
          <a:noFill/>
          <a:ln>
            <a:noFill/>
          </a:ln>
        </p:spPr>
        <p:txBody>
          <a:bodyPr spcFirstLastPara="1" wrap="square" lIns="91425" tIns="91425" rIns="91425" bIns="91425" anchor="t" anchorCtr="0">
            <a:spAutoFit/>
          </a:bodyPr>
          <a:lstStyle/>
          <a:p>
            <a:pPr marL="457200" indent="-330200">
              <a:lnSpc>
                <a:spcPct val="115000"/>
              </a:lnSpc>
              <a:buClr>
                <a:schemeClr val="dk1"/>
              </a:buClr>
              <a:buSzPts val="1600"/>
              <a:buFont typeface="Arial" panose="020B0604020202020204" pitchFamily="34" charset="0"/>
              <a:buChar char="•"/>
            </a:pPr>
            <a:r>
              <a:rPr lang="en-US" sz="1600" dirty="0">
                <a:solidFill>
                  <a:schemeClr val="tx1"/>
                </a:solidFill>
                <a:latin typeface="Open Sans"/>
                <a:ea typeface="Open Sans"/>
                <a:cs typeface="Open Sans"/>
                <a:sym typeface="Open Sans"/>
              </a:rPr>
              <a:t>Feedback from various Data Chat participants after receiving report:</a:t>
            </a:r>
            <a:endParaRPr sz="1600" dirty="0">
              <a:solidFill>
                <a:schemeClr val="tx1"/>
              </a:solidFill>
              <a:latin typeface="Open Sans"/>
              <a:ea typeface="Open Sans"/>
              <a:cs typeface="Open Sans"/>
              <a:sym typeface="Open Sans"/>
            </a:endParaRPr>
          </a:p>
        </p:txBody>
      </p:sp>
      <p:sp>
        <p:nvSpPr>
          <p:cNvPr id="5" name="TextBox 4">
            <a:extLst>
              <a:ext uri="{FF2B5EF4-FFF2-40B4-BE49-F238E27FC236}">
                <a16:creationId xmlns:a16="http://schemas.microsoft.com/office/drawing/2014/main" id="{1C628DFE-3B90-A08B-87D6-82AEE7CC7A11}"/>
              </a:ext>
            </a:extLst>
          </p:cNvPr>
          <p:cNvSpPr txBox="1"/>
          <p:nvPr/>
        </p:nvSpPr>
        <p:spPr>
          <a:xfrm>
            <a:off x="621792" y="5627266"/>
            <a:ext cx="10881360" cy="830997"/>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Report back to Data Chat participants and stakeholders</a:t>
            </a:r>
          </a:p>
          <a:p>
            <a:pPr marL="285750"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Aim is to democratize the data analytic process, seeking feedback from community members whose well-being is at stake and from agencies who work to address the social issue analyzed</a:t>
            </a:r>
          </a:p>
        </p:txBody>
      </p:sp>
      <p:pic>
        <p:nvPicPr>
          <p:cNvPr id="6" name="Picture 5">
            <a:extLst>
              <a:ext uri="{FF2B5EF4-FFF2-40B4-BE49-F238E27FC236}">
                <a16:creationId xmlns:a16="http://schemas.microsoft.com/office/drawing/2014/main" id="{FBCB3D30-FFEF-AE39-5AE6-F28C3F57E313}"/>
              </a:ext>
            </a:extLst>
          </p:cNvPr>
          <p:cNvPicPr>
            <a:picLocks noChangeAspect="1"/>
          </p:cNvPicPr>
          <p:nvPr/>
        </p:nvPicPr>
        <p:blipFill>
          <a:blip r:embed="rId3"/>
          <a:stretch>
            <a:fillRect/>
          </a:stretch>
        </p:blipFill>
        <p:spPr>
          <a:xfrm>
            <a:off x="1725767" y="3994666"/>
            <a:ext cx="2939240" cy="1152251"/>
          </a:xfrm>
          <a:prstGeom prst="rect">
            <a:avLst/>
          </a:prstGeom>
        </p:spPr>
      </p:pic>
      <p:pic>
        <p:nvPicPr>
          <p:cNvPr id="7" name="Picture 6">
            <a:extLst>
              <a:ext uri="{FF2B5EF4-FFF2-40B4-BE49-F238E27FC236}">
                <a16:creationId xmlns:a16="http://schemas.microsoft.com/office/drawing/2014/main" id="{BDFF0D3D-7246-22C6-ED28-4AA5A91E0062}"/>
              </a:ext>
            </a:extLst>
          </p:cNvPr>
          <p:cNvPicPr>
            <a:picLocks noChangeAspect="1"/>
          </p:cNvPicPr>
          <p:nvPr/>
        </p:nvPicPr>
        <p:blipFill>
          <a:blip r:embed="rId4"/>
          <a:stretch>
            <a:fillRect/>
          </a:stretch>
        </p:blipFill>
        <p:spPr>
          <a:xfrm>
            <a:off x="5337845" y="3811926"/>
            <a:ext cx="1516309" cy="1678193"/>
          </a:xfrm>
          <a:prstGeom prst="rect">
            <a:avLst/>
          </a:prstGeom>
        </p:spPr>
      </p:pic>
      <p:sp>
        <p:nvSpPr>
          <p:cNvPr id="12" name="Speech Bubble: Rectangle with Corners Rounded 11">
            <a:hlinkClick r:id="rId5"/>
            <a:extLst>
              <a:ext uri="{FF2B5EF4-FFF2-40B4-BE49-F238E27FC236}">
                <a16:creationId xmlns:a16="http://schemas.microsoft.com/office/drawing/2014/main" id="{5F0664B3-E5C2-D9A8-9ED5-DC309684C50F}"/>
              </a:ext>
            </a:extLst>
          </p:cNvPr>
          <p:cNvSpPr/>
          <p:nvPr/>
        </p:nvSpPr>
        <p:spPr>
          <a:xfrm>
            <a:off x="3387402" y="2102364"/>
            <a:ext cx="4756854" cy="1377185"/>
          </a:xfrm>
          <a:prstGeom prst="wedgeRoundRectCallout">
            <a:avLst>
              <a:gd name="adj1" fmla="val -3917"/>
              <a:gd name="adj2" fmla="val 67147"/>
              <a:gd name="adj3" fmla="val 16667"/>
            </a:avLst>
          </a:prstGeom>
          <a:solidFill>
            <a:srgbClr val="FFE9C5"/>
          </a:solidFill>
          <a:ln>
            <a:solidFill>
              <a:srgbClr val="FEB137"/>
            </a:solidFill>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b="1" dirty="0">
                <a:solidFill>
                  <a:srgbClr val="674001"/>
                </a:solidFill>
                <a:latin typeface="Open Sans" panose="020B0606030504020204" pitchFamily="34" charset="0"/>
                <a:ea typeface="Open Sans" panose="020B0606030504020204" pitchFamily="34" charset="0"/>
                <a:cs typeface="Open Sans" panose="020B0606030504020204" pitchFamily="34" charset="0"/>
              </a:rPr>
              <a:t>I’m just so glad you all are taking your time to hear our thoughts and experiences. I feel like students using this for research should not be the final destination … We need to show this to people in charge … </a:t>
            </a:r>
          </a:p>
        </p:txBody>
      </p:sp>
      <p:sp>
        <p:nvSpPr>
          <p:cNvPr id="2" name="Speech Bubble: Oval 1">
            <a:hlinkClick r:id="rId5"/>
            <a:extLst>
              <a:ext uri="{FF2B5EF4-FFF2-40B4-BE49-F238E27FC236}">
                <a16:creationId xmlns:a16="http://schemas.microsoft.com/office/drawing/2014/main" id="{07FF2DED-F312-11B9-4AAD-BD8727991217}"/>
              </a:ext>
            </a:extLst>
          </p:cNvPr>
          <p:cNvSpPr/>
          <p:nvPr/>
        </p:nvSpPr>
        <p:spPr>
          <a:xfrm>
            <a:off x="7375362" y="3469355"/>
            <a:ext cx="3527334" cy="1678193"/>
          </a:xfrm>
          <a:prstGeom prst="wedgeEllipseCallout">
            <a:avLst/>
          </a:prstGeom>
          <a:solidFill>
            <a:srgbClr val="C5FFFE"/>
          </a:solidFill>
          <a:ln>
            <a:solidFill>
              <a:srgbClr val="00BDBA"/>
            </a:solidFill>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b="1" dirty="0">
                <a:solidFill>
                  <a:srgbClr val="00504E"/>
                </a:solidFill>
                <a:latin typeface="Open Sans" panose="020B0606030504020204" pitchFamily="34" charset="0"/>
                <a:ea typeface="Open Sans" panose="020B0606030504020204" pitchFamily="34" charset="0"/>
                <a:cs typeface="Open Sans" panose="020B0606030504020204" pitchFamily="34" charset="0"/>
              </a:rPr>
              <a:t>“Statistics are important, but I think we should spend more time emphasizing the </a:t>
            </a:r>
            <a:r>
              <a:rPr lang="en-US" sz="1600" b="1" i="1" dirty="0">
                <a:solidFill>
                  <a:srgbClr val="00504E"/>
                </a:solidFill>
                <a:latin typeface="Open Sans" panose="020B0606030504020204" pitchFamily="34" charset="0"/>
                <a:ea typeface="Open Sans" panose="020B0606030504020204" pitchFamily="34" charset="0"/>
                <a:cs typeface="Open Sans" panose="020B0606030504020204" pitchFamily="34" charset="0"/>
              </a:rPr>
              <a:t>why</a:t>
            </a:r>
            <a:r>
              <a:rPr lang="en-US" sz="1600" b="1" dirty="0">
                <a:solidFill>
                  <a:srgbClr val="00504E"/>
                </a:solidFill>
                <a:latin typeface="Open Sans" panose="020B0606030504020204" pitchFamily="34" charset="0"/>
                <a:ea typeface="Open Sans" panose="020B0606030504020204" pitchFamily="34" charset="0"/>
                <a:cs typeface="Open Sans" panose="020B0606030504020204" pitchFamily="34" charset="0"/>
              </a:rPr>
              <a:t> versus the </a:t>
            </a:r>
            <a:r>
              <a:rPr lang="en-US" sz="1600" b="1" i="1" dirty="0">
                <a:solidFill>
                  <a:srgbClr val="00504E"/>
                </a:solidFill>
                <a:latin typeface="Open Sans" panose="020B0606030504020204" pitchFamily="34" charset="0"/>
                <a:ea typeface="Open Sans" panose="020B0606030504020204" pitchFamily="34" charset="0"/>
                <a:cs typeface="Open Sans" panose="020B0606030504020204" pitchFamily="34" charset="0"/>
              </a:rPr>
              <a:t>who</a:t>
            </a:r>
            <a:r>
              <a:rPr lang="en-US" sz="1600" b="1" dirty="0">
                <a:solidFill>
                  <a:srgbClr val="00504E"/>
                </a:solidFill>
                <a:latin typeface="Open Sans" panose="020B0606030504020204" pitchFamily="34" charset="0"/>
                <a:ea typeface="Open Sans" panose="020B0606030504020204" pitchFamily="34" charset="0"/>
                <a:cs typeface="Open Sans" panose="020B0606030504020204" pitchFamily="34" charset="0"/>
              </a:rPr>
              <a:t>.”</a:t>
            </a:r>
          </a:p>
        </p:txBody>
      </p:sp>
      <p:grpSp>
        <p:nvGrpSpPr>
          <p:cNvPr id="13" name="Group 12">
            <a:extLst>
              <a:ext uri="{FF2B5EF4-FFF2-40B4-BE49-F238E27FC236}">
                <a16:creationId xmlns:a16="http://schemas.microsoft.com/office/drawing/2014/main" id="{29C2614B-C175-E30B-0736-E152AEAD70B5}"/>
              </a:ext>
            </a:extLst>
          </p:cNvPr>
          <p:cNvGrpSpPr/>
          <p:nvPr/>
        </p:nvGrpSpPr>
        <p:grpSpPr>
          <a:xfrm>
            <a:off x="9980352" y="328641"/>
            <a:ext cx="1865235" cy="1830538"/>
            <a:chOff x="10209300" y="1393316"/>
            <a:chExt cx="1865235" cy="1830538"/>
          </a:xfrm>
        </p:grpSpPr>
        <p:grpSp>
          <p:nvGrpSpPr>
            <p:cNvPr id="4" name="Group 3">
              <a:extLst>
                <a:ext uri="{FF2B5EF4-FFF2-40B4-BE49-F238E27FC236}">
                  <a16:creationId xmlns:a16="http://schemas.microsoft.com/office/drawing/2014/main" id="{E7AC14DD-0349-7538-95BB-0589DF4894A8}"/>
                </a:ext>
              </a:extLst>
            </p:cNvPr>
            <p:cNvGrpSpPr/>
            <p:nvPr/>
          </p:nvGrpSpPr>
          <p:grpSpPr>
            <a:xfrm>
              <a:off x="10209497" y="2073256"/>
              <a:ext cx="1213226" cy="1150598"/>
              <a:chOff x="9978168" y="1003685"/>
              <a:chExt cx="1213226" cy="1150598"/>
            </a:xfrm>
          </p:grpSpPr>
          <p:pic>
            <p:nvPicPr>
              <p:cNvPr id="8" name="Google Shape;147;g3a9d64d8e29_0_115" title="fair2.png">
                <a:extLst>
                  <a:ext uri="{FF2B5EF4-FFF2-40B4-BE49-F238E27FC236}">
                    <a16:creationId xmlns:a16="http://schemas.microsoft.com/office/drawing/2014/main" id="{313C2BD9-B6D9-1038-048F-9B938A6F94EB}"/>
                  </a:ext>
                </a:extLst>
              </p:cNvPr>
              <p:cNvPicPr preferRelativeResize="0"/>
              <p:nvPr/>
            </p:nvPicPr>
            <p:blipFill>
              <a:blip r:embed="rId6">
                <a:alphaModFix/>
              </a:blip>
              <a:srcRect l="1" t="49691" r="50345" b="-1819"/>
              <a:stretch>
                <a:fillRect/>
              </a:stretch>
            </p:blipFill>
            <p:spPr>
              <a:xfrm>
                <a:off x="9978168" y="1217474"/>
                <a:ext cx="926181" cy="936809"/>
              </a:xfrm>
              <a:prstGeom prst="rect">
                <a:avLst/>
              </a:prstGeom>
              <a:noFill/>
              <a:ln>
                <a:noFill/>
              </a:ln>
            </p:spPr>
          </p:pic>
          <p:sp>
            <p:nvSpPr>
              <p:cNvPr id="9" name="Oval 8">
                <a:extLst>
                  <a:ext uri="{FF2B5EF4-FFF2-40B4-BE49-F238E27FC236}">
                    <a16:creationId xmlns:a16="http://schemas.microsoft.com/office/drawing/2014/main" id="{781B1C4D-F871-A517-52CF-5BB0F9FF2C60}"/>
                  </a:ext>
                </a:extLst>
              </p:cNvPr>
              <p:cNvSpPr/>
              <p:nvPr/>
            </p:nvSpPr>
            <p:spPr>
              <a:xfrm>
                <a:off x="10606920" y="1003685"/>
                <a:ext cx="584474" cy="43410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Google Shape;147;g3a9d64d8e29_0_115" title="fair2.png">
              <a:extLst>
                <a:ext uri="{FF2B5EF4-FFF2-40B4-BE49-F238E27FC236}">
                  <a16:creationId xmlns:a16="http://schemas.microsoft.com/office/drawing/2014/main" id="{449828BC-1BCE-BE49-8630-E636FEF26A2A}"/>
                </a:ext>
              </a:extLst>
            </p:cNvPr>
            <p:cNvPicPr preferRelativeResize="0"/>
            <p:nvPr/>
          </p:nvPicPr>
          <p:blipFill>
            <a:blip r:embed="rId6">
              <a:alphaModFix amt="20000"/>
            </a:blip>
            <a:stretch>
              <a:fillRect/>
            </a:stretch>
          </p:blipFill>
          <p:spPr>
            <a:xfrm>
              <a:off x="10209300" y="1393316"/>
              <a:ext cx="1865235" cy="1797141"/>
            </a:xfrm>
            <a:prstGeom prst="rect">
              <a:avLst/>
            </a:prstGeom>
            <a:noFill/>
            <a:ln>
              <a:noFill/>
            </a:ln>
          </p:spPr>
        </p:pic>
      </p:grpSp>
      <p:sp>
        <p:nvSpPr>
          <p:cNvPr id="3" name="Slide Number Placeholder 2">
            <a:extLst>
              <a:ext uri="{FF2B5EF4-FFF2-40B4-BE49-F238E27FC236}">
                <a16:creationId xmlns:a16="http://schemas.microsoft.com/office/drawing/2014/main" id="{9368234F-2C59-A102-4643-A3ED82F27E7C}"/>
              </a:ext>
            </a:extLst>
          </p:cNvPr>
          <p:cNvSpPr>
            <a:spLocks noGrp="1"/>
          </p:cNvSpPr>
          <p:nvPr>
            <p:ph type="sldNum" idx="12"/>
          </p:nvPr>
        </p:nvSpPr>
        <p:spPr/>
        <p:txBody>
          <a:bodyPr/>
          <a:lstStyle/>
          <a:p>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pPr/>
              <a:t>11</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D192180D-2AF4-90AA-C45C-FD8AB7C04E2E}"/>
            </a:ext>
          </a:extLst>
        </p:cNvPr>
        <p:cNvGrpSpPr/>
        <p:nvPr/>
      </p:nvGrpSpPr>
      <p:grpSpPr>
        <a:xfrm>
          <a:off x="0" y="0"/>
          <a:ext cx="0" cy="0"/>
          <a:chOff x="0" y="0"/>
          <a:chExt cx="0" cy="0"/>
        </a:xfrm>
      </p:grpSpPr>
      <p:sp>
        <p:nvSpPr>
          <p:cNvPr id="145" name="Google Shape;145;g3a9d64d8e29_0_115">
            <a:extLst>
              <a:ext uri="{FF2B5EF4-FFF2-40B4-BE49-F238E27FC236}">
                <a16:creationId xmlns:a16="http://schemas.microsoft.com/office/drawing/2014/main" id="{CB6827B0-4C6C-6B2C-0156-E8E7090BC43F}"/>
              </a:ext>
            </a:extLst>
          </p:cNvPr>
          <p:cNvSpPr txBox="1">
            <a:spLocks noGrp="1"/>
          </p:cNvSpPr>
          <p:nvPr>
            <p:ph type="body" idx="1"/>
          </p:nvPr>
        </p:nvSpPr>
        <p:spPr>
          <a:xfrm>
            <a:off x="640080" y="1743746"/>
            <a:ext cx="6455664" cy="4473876"/>
          </a:xfrm>
          <a:prstGeom prst="rect">
            <a:avLst/>
          </a:prstGeom>
        </p:spPr>
        <p:txBody>
          <a:bodyPr spcFirstLastPara="1" wrap="square" lIns="91425" tIns="91425" rIns="91425" bIns="91425" anchor="t" anchorCtr="0">
            <a:normAutofit/>
          </a:bodyPr>
          <a:lstStyle/>
          <a:p>
            <a:pPr marL="0" indent="0">
              <a:spcBef>
                <a:spcPts val="1200"/>
              </a:spcBef>
              <a:buNone/>
            </a:pPr>
            <a:r>
              <a:rPr lang="en-US" sz="2400" b="1" dirty="0">
                <a:solidFill>
                  <a:srgbClr val="001C84"/>
                </a:solidFill>
                <a:latin typeface="Open Sans"/>
                <a:ea typeface="Open Sans"/>
                <a:cs typeface="Open Sans"/>
                <a:sym typeface="Open Sans"/>
              </a:rPr>
              <a:t>FAIR2 Principles</a:t>
            </a:r>
            <a:r>
              <a:rPr lang="en-US" sz="2400" dirty="0">
                <a:solidFill>
                  <a:schemeClr val="dk1"/>
                </a:solidFill>
                <a:latin typeface="Open Sans"/>
                <a:ea typeface="Open Sans"/>
                <a:cs typeface="Open Sans"/>
                <a:sym typeface="Open Sans"/>
              </a:rPr>
              <a:t>: </a:t>
            </a:r>
            <a:endParaRPr sz="2400" dirty="0">
              <a:solidFill>
                <a:schemeClr val="dk1"/>
              </a:solidFill>
              <a:latin typeface="Open Sans"/>
              <a:ea typeface="Open Sans"/>
              <a:cs typeface="Open Sans"/>
              <a:sym typeface="Open Sans"/>
            </a:endParaRPr>
          </a:p>
          <a:p>
            <a:pPr>
              <a:spcBef>
                <a:spcPts val="1200"/>
              </a:spcBef>
              <a:buClr>
                <a:schemeClr val="dk1"/>
              </a:buClr>
              <a:buFont typeface="Open Sans"/>
              <a:buChar char="●"/>
            </a:pPr>
            <a:r>
              <a:rPr lang="en-US" sz="2400" b="1" dirty="0">
                <a:solidFill>
                  <a:srgbClr val="001C84"/>
                </a:solidFill>
                <a:latin typeface="Open Sans"/>
                <a:ea typeface="Open Sans"/>
                <a:cs typeface="Open Sans"/>
                <a:sym typeface="Open Sans"/>
              </a:rPr>
              <a:t>F</a:t>
            </a:r>
            <a:r>
              <a:rPr lang="en-US" sz="2400" dirty="0">
                <a:solidFill>
                  <a:schemeClr val="dk1"/>
                </a:solidFill>
                <a:latin typeface="Open Sans"/>
                <a:ea typeface="Open Sans"/>
                <a:cs typeface="Open Sans"/>
                <a:sym typeface="Open Sans"/>
              </a:rPr>
              <a:t>rame meta(data) with contextual, experiential knowledge </a:t>
            </a:r>
            <a:endParaRPr sz="2400" b="1" dirty="0">
              <a:solidFill>
                <a:schemeClr val="dk1"/>
              </a:solidFill>
              <a:latin typeface="Open Sans"/>
              <a:ea typeface="Open Sans"/>
              <a:cs typeface="Open Sans"/>
              <a:sym typeface="Open Sans"/>
            </a:endParaRPr>
          </a:p>
          <a:p>
            <a:pPr>
              <a:buClr>
                <a:schemeClr val="dk1"/>
              </a:buClr>
              <a:buFont typeface="Open Sans"/>
              <a:buChar char="●"/>
            </a:pPr>
            <a:r>
              <a:rPr lang="en-US" sz="2400" b="1" dirty="0">
                <a:solidFill>
                  <a:srgbClr val="001C84"/>
                </a:solidFill>
                <a:latin typeface="Open Sans"/>
                <a:ea typeface="Open Sans"/>
                <a:cs typeface="Open Sans"/>
                <a:sym typeface="Open Sans"/>
              </a:rPr>
              <a:t>A</a:t>
            </a:r>
            <a:r>
              <a:rPr lang="en-US" sz="2400" dirty="0">
                <a:solidFill>
                  <a:schemeClr val="dk1"/>
                </a:solidFill>
                <a:latin typeface="Open Sans"/>
                <a:ea typeface="Open Sans"/>
                <a:cs typeface="Open Sans"/>
                <a:sym typeface="Open Sans"/>
              </a:rPr>
              <a:t>rticulate assumptions into system (causal) graphs</a:t>
            </a:r>
            <a:endParaRPr sz="2400" dirty="0">
              <a:solidFill>
                <a:schemeClr val="dk1"/>
              </a:solidFill>
              <a:latin typeface="Open Sans"/>
              <a:ea typeface="Open Sans"/>
              <a:cs typeface="Open Sans"/>
              <a:sym typeface="Open Sans"/>
            </a:endParaRPr>
          </a:p>
          <a:p>
            <a:pPr>
              <a:buClr>
                <a:schemeClr val="dk1"/>
              </a:buClr>
              <a:buFont typeface="Open Sans"/>
              <a:buChar char="●"/>
            </a:pPr>
            <a:r>
              <a:rPr lang="en-US" sz="2400" b="1" dirty="0">
                <a:solidFill>
                  <a:srgbClr val="001C84"/>
                </a:solidFill>
                <a:latin typeface="Open Sans"/>
                <a:ea typeface="Open Sans"/>
                <a:cs typeface="Open Sans"/>
                <a:sym typeface="Open Sans"/>
              </a:rPr>
              <a:t>I</a:t>
            </a:r>
            <a:r>
              <a:rPr lang="en-US" sz="2400" dirty="0">
                <a:solidFill>
                  <a:schemeClr val="dk1"/>
                </a:solidFill>
                <a:latin typeface="Open Sans"/>
                <a:ea typeface="Open Sans"/>
                <a:cs typeface="Open Sans"/>
                <a:sym typeface="Open Sans"/>
              </a:rPr>
              <a:t>dentify and address bias in data analytics</a:t>
            </a:r>
            <a:endParaRPr sz="2400" dirty="0">
              <a:solidFill>
                <a:schemeClr val="dk1"/>
              </a:solidFill>
              <a:latin typeface="Open Sans"/>
              <a:ea typeface="Open Sans"/>
              <a:cs typeface="Open Sans"/>
              <a:sym typeface="Open Sans"/>
            </a:endParaRPr>
          </a:p>
          <a:p>
            <a:pPr>
              <a:buClr>
                <a:schemeClr val="dk1"/>
              </a:buClr>
              <a:buFont typeface="Open Sans"/>
              <a:buChar char="●"/>
            </a:pPr>
            <a:r>
              <a:rPr lang="en-US" sz="2400" b="1" dirty="0">
                <a:solidFill>
                  <a:srgbClr val="001C84"/>
                </a:solidFill>
                <a:latin typeface="Open Sans"/>
                <a:ea typeface="Open Sans"/>
                <a:cs typeface="Open Sans"/>
                <a:sym typeface="Open Sans"/>
              </a:rPr>
              <a:t>R</a:t>
            </a:r>
            <a:r>
              <a:rPr lang="en-US" sz="2400" dirty="0">
                <a:solidFill>
                  <a:schemeClr val="dk1"/>
                </a:solidFill>
                <a:latin typeface="Open Sans"/>
                <a:ea typeface="Open Sans"/>
                <a:cs typeface="Open Sans"/>
                <a:sym typeface="Open Sans"/>
              </a:rPr>
              <a:t>eport findings to community stakeholders and seek feedback</a:t>
            </a:r>
            <a:endParaRPr sz="2400" dirty="0">
              <a:solidFill>
                <a:schemeClr val="dk1"/>
              </a:solidFill>
              <a:latin typeface="Open Sans"/>
              <a:ea typeface="Open Sans"/>
              <a:cs typeface="Open Sans"/>
              <a:sym typeface="Open Sans"/>
            </a:endParaRPr>
          </a:p>
        </p:txBody>
      </p:sp>
      <p:sp>
        <p:nvSpPr>
          <p:cNvPr id="146" name="Google Shape;146;g3a9d64d8e29_0_115">
            <a:extLst>
              <a:ext uri="{FF2B5EF4-FFF2-40B4-BE49-F238E27FC236}">
                <a16:creationId xmlns:a16="http://schemas.microsoft.com/office/drawing/2014/main" id="{E1A6176B-5AAA-9400-C17F-094CDBC2DF81}"/>
              </a:ext>
            </a:extLst>
          </p:cNvPr>
          <p:cNvSpPr txBox="1">
            <a:spLocks noGrp="1"/>
          </p:cNvSpPr>
          <p:nvPr>
            <p:ph type="title"/>
          </p:nvPr>
        </p:nvSpPr>
        <p:spPr>
          <a:xfrm>
            <a:off x="640080" y="302865"/>
            <a:ext cx="11091672" cy="763500"/>
          </a:xfrm>
          <a:prstGeom prst="rect">
            <a:avLst/>
          </a:prstGeom>
        </p:spPr>
        <p:txBody>
          <a:bodyPr spcFirstLastPara="1" wrap="square" lIns="91425" tIns="91425" rIns="91425" bIns="91425" anchor="t" anchorCtr="0">
            <a:noAutofit/>
          </a:bodyPr>
          <a:lstStyle/>
          <a:p>
            <a:pPr>
              <a:buSzPts val="990"/>
            </a:pPr>
            <a:r>
              <a:rPr lang="en-US" b="1" dirty="0">
                <a:solidFill>
                  <a:srgbClr val="001C84"/>
                </a:solidFill>
                <a:latin typeface="Open Sans"/>
                <a:ea typeface="Open Sans"/>
                <a:cs typeface="Open Sans"/>
                <a:sym typeface="Open Sans"/>
              </a:rPr>
              <a:t>FAIR2 is a framework for Public Interest Technology (PIT) in Data Analytics</a:t>
            </a:r>
            <a:endParaRPr b="1" dirty="0">
              <a:solidFill>
                <a:srgbClr val="001C84"/>
              </a:solidFill>
              <a:latin typeface="Open Sans"/>
              <a:ea typeface="Open Sans"/>
              <a:cs typeface="Open Sans"/>
              <a:sym typeface="Open Sans"/>
            </a:endParaRPr>
          </a:p>
        </p:txBody>
      </p:sp>
      <p:pic>
        <p:nvPicPr>
          <p:cNvPr id="147" name="Google Shape;147;g3a9d64d8e29_0_115" title="fair2.png">
            <a:extLst>
              <a:ext uri="{FF2B5EF4-FFF2-40B4-BE49-F238E27FC236}">
                <a16:creationId xmlns:a16="http://schemas.microsoft.com/office/drawing/2014/main" id="{BE0F4C22-2540-5359-0F70-A1EEA14A6AD5}"/>
              </a:ext>
            </a:extLst>
          </p:cNvPr>
          <p:cNvPicPr preferRelativeResize="0"/>
          <p:nvPr/>
        </p:nvPicPr>
        <p:blipFill>
          <a:blip r:embed="rId3">
            <a:alphaModFix/>
          </a:blip>
          <a:stretch>
            <a:fillRect/>
          </a:stretch>
        </p:blipFill>
        <p:spPr>
          <a:xfrm>
            <a:off x="7095744" y="2106624"/>
            <a:ext cx="3694176" cy="3559313"/>
          </a:xfrm>
          <a:prstGeom prst="rect">
            <a:avLst/>
          </a:prstGeom>
          <a:noFill/>
          <a:ln>
            <a:noFill/>
          </a:ln>
        </p:spPr>
      </p:pic>
      <p:sp>
        <p:nvSpPr>
          <p:cNvPr id="2" name="Slide Number Placeholder 1">
            <a:extLst>
              <a:ext uri="{FF2B5EF4-FFF2-40B4-BE49-F238E27FC236}">
                <a16:creationId xmlns:a16="http://schemas.microsoft.com/office/drawing/2014/main" id="{205037E3-D967-2B4B-5583-2D3C1AB5C9D6}"/>
              </a:ext>
            </a:extLst>
          </p:cNvPr>
          <p:cNvSpPr>
            <a:spLocks noGrp="1"/>
          </p:cNvSpPr>
          <p:nvPr>
            <p:ph type="sldNum" idx="12"/>
          </p:nvPr>
        </p:nvSpPr>
        <p:spPr/>
        <p:txBody>
          <a:bodyPr/>
          <a:lstStyle/>
          <a:p>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pPr/>
              <a:t>12</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72038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a9d64d8e29_0_216"/>
          <p:cNvSpPr txBox="1">
            <a:spLocks noGrp="1"/>
          </p:cNvSpPr>
          <p:nvPr>
            <p:ph type="body" idx="1"/>
          </p:nvPr>
        </p:nvSpPr>
        <p:spPr>
          <a:xfrm>
            <a:off x="630936" y="829320"/>
            <a:ext cx="10930128" cy="5527800"/>
          </a:xfrm>
          <a:prstGeom prst="rect">
            <a:avLst/>
          </a:prstGeom>
        </p:spPr>
        <p:txBody>
          <a:bodyPr spcFirstLastPara="1" wrap="square" lIns="91425" tIns="91425" rIns="91425" bIns="91425" anchor="t" anchorCtr="0">
            <a:noAutofit/>
          </a:bodyPr>
          <a:lstStyle/>
          <a:p>
            <a:pPr marL="0" indent="0">
              <a:buClr>
                <a:schemeClr val="dk1"/>
              </a:buClr>
              <a:buSzPct val="47826"/>
              <a:buNone/>
            </a:pP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Gawronski, Q. (2019). Racial bias found in widely used health care algorithm. NBC News. https://www.nbcnews.com/news/nbcblk/racial-bias-found-widely-used-health-care-algorithm-n1076436</a:t>
            </a:r>
            <a:endParaRPr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0" indent="0">
              <a:spcBef>
                <a:spcPts val="1200"/>
              </a:spcBef>
              <a:buClr>
                <a:schemeClr val="dk1"/>
              </a:buClr>
              <a:buSzPct val="47826"/>
              <a:buNone/>
            </a:pP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Goldstein, M. (2023). An AI algorithm designed for child welfare could have the potential for discrimination — and now the Justice Department is looking into it. Fortune. </a:t>
            </a: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hlinkClick r:id="rId3"/>
              </a:rPr>
              <a:t>https://fortune.com/2023/01/31/ai-algorithm-child-welfare-pitsburgh-justice-department/</a:t>
            </a:r>
            <a:endPar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0" indent="0">
              <a:spcBef>
                <a:spcPts val="1200"/>
              </a:spcBef>
              <a:buClr>
                <a:schemeClr val="dk1"/>
              </a:buClr>
              <a:buSzPct val="47826"/>
              <a:buNone/>
            </a:pP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Howe, C. J., Bailey, Z. D., </a:t>
            </a:r>
            <a:r>
              <a:rPr lang="en-US" sz="1200"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Raifman</a:t>
            </a: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 J. R., &amp; Jackson, J. W. (2022). Recommendations for Using Causal Diagrams to Study Racial Health Disparities. American journal of epidemiology, 191(12), 1981–1989. </a:t>
            </a: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hlinkClick r:id="rId4"/>
              </a:rPr>
              <a:t>https://doi.org/10.1093/aje/kwac140</a:t>
            </a:r>
            <a:endPar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0" indent="0">
              <a:spcBef>
                <a:spcPts val="1200"/>
              </a:spcBef>
              <a:buClr>
                <a:schemeClr val="dk1"/>
              </a:buClr>
              <a:buSzPct val="47826"/>
              <a:buNone/>
            </a:pP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Kleinberg, J., Ludwig, J., Mullainathan, S., &amp; Sunstein, C. R. (2018). Discrimination in the Age of Algorithms. Journal of Legal Analysis, 10, 113–174.</a:t>
            </a:r>
          </a:p>
          <a:p>
            <a:pPr marL="0" indent="0">
              <a:spcBef>
                <a:spcPts val="1200"/>
              </a:spcBef>
              <a:buClr>
                <a:schemeClr val="dk1"/>
              </a:buClr>
              <a:buSzPct val="47826"/>
              <a:buNone/>
            </a:pP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Muhammad, K. G. (2019). The Condemnation of Blackness: Race, Crime, and the Making of Modern Urban America, With a New Preface. Cambridge, MA: Harvard University Press.</a:t>
            </a:r>
          </a:p>
          <a:p>
            <a:pPr marL="0" indent="0">
              <a:spcBef>
                <a:spcPts val="1200"/>
              </a:spcBef>
              <a:buClr>
                <a:schemeClr val="dk1"/>
              </a:buClr>
              <a:buSzPct val="47826"/>
              <a:buNone/>
            </a:pP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Obermeyer, Z., Powers, B., Vogeli, C., &amp; Mullainathan, S. (2019). Dissecting racial bias in an algorithm used to manage the health of populations. Science (New York, N.Y.), 366(6464), 447–453. https://doi.org/10.1126/science.aax2342</a:t>
            </a:r>
          </a:p>
          <a:p>
            <a:pPr marL="0" indent="0">
              <a:spcBef>
                <a:spcPts val="1200"/>
              </a:spcBef>
              <a:buClr>
                <a:schemeClr val="dk1"/>
              </a:buClr>
              <a:buSzPct val="47826"/>
              <a:buNone/>
            </a:pP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Pearl, J., &amp; Mackenzie, D. (2018). The Book of Why: The New Science of Cause and Effect (1st ed.). USA: Basic Books, Inc.</a:t>
            </a:r>
            <a:endParaRPr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0" indent="0">
              <a:spcBef>
                <a:spcPts val="1200"/>
              </a:spcBef>
              <a:buNone/>
            </a:pP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Wilkinson, M., et al. (2016). The FAIR Guiding Principles for scientific data management and stewardship. </a:t>
            </a:r>
            <a:r>
              <a:rPr lang="en-US" sz="1200" i="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Scientific data, 3</a:t>
            </a: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 160018. https://doi.org/10.1038/sdata.2016.18</a:t>
            </a:r>
            <a:endParaRPr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0" indent="0">
              <a:spcBef>
                <a:spcPts val="1200"/>
              </a:spcBef>
              <a:buNone/>
            </a:pP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Richter, F. et al. (2023). FAIR2: A framework for addressing discrimination bias in social data science. </a:t>
            </a:r>
            <a:r>
              <a:rPr lang="en-US" sz="1200" i="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Editorial </a:t>
            </a:r>
            <a:r>
              <a:rPr lang="en-US" sz="1200" i="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Universitat</a:t>
            </a:r>
            <a:r>
              <a:rPr lang="en-US" sz="1200" i="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 </a:t>
            </a:r>
            <a:r>
              <a:rPr lang="en-US" sz="1200" i="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Politècnica</a:t>
            </a:r>
            <a:r>
              <a:rPr lang="en-US" sz="1200" i="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 de València</a:t>
            </a: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 327-335. </a:t>
            </a: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hlinkClick r:id="rId5"/>
              </a:rPr>
              <a:t>https://doi.org/10.4995/CARMA2023.2023.16400</a:t>
            </a:r>
            <a:endPar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0" indent="0">
              <a:spcBef>
                <a:spcPts val="1200"/>
              </a:spcBef>
              <a:buNone/>
            </a:pP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Robinson, W. R., Renson, A., &amp; Naimi, A. I. (2020). Teaching yourself about structural racism will improve your machine learning. Biostatistics, 21(2), 339–344.</a:t>
            </a:r>
          </a:p>
          <a:p>
            <a:pPr marL="0" indent="0">
              <a:spcBef>
                <a:spcPts val="1200"/>
              </a:spcBef>
              <a:buNone/>
            </a:pPr>
            <a:r>
              <a:rPr lang="en-US"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rPr>
              <a:t>Tajo, M., et al. (2024). Could machine learning help reduce inequities in the homelessness response system? Urban Institute. https://www.urban.org/urban-wire/could-machine-learning-help-reduce-inequities-homelessness-response-system</a:t>
            </a:r>
            <a:endParaRPr sz="12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92" name="Google Shape;192;g3a9d64d8e29_0_216"/>
          <p:cNvSpPr txBox="1">
            <a:spLocks noGrp="1"/>
          </p:cNvSpPr>
          <p:nvPr>
            <p:ph type="title"/>
          </p:nvPr>
        </p:nvSpPr>
        <p:spPr>
          <a:xfrm>
            <a:off x="630936" y="65820"/>
            <a:ext cx="6681007" cy="763500"/>
          </a:xfrm>
          <a:prstGeom prst="rect">
            <a:avLst/>
          </a:prstGeom>
        </p:spPr>
        <p:txBody>
          <a:bodyPr spcFirstLastPara="1" wrap="square" lIns="91425" tIns="91425" rIns="91425" bIns="91425" anchor="t" anchorCtr="0">
            <a:noAutofit/>
          </a:bodyPr>
          <a:lstStyle/>
          <a:p>
            <a:pPr>
              <a:buSzPts val="990"/>
            </a:pPr>
            <a:r>
              <a:rPr lang="en-US" sz="3200" b="1" dirty="0">
                <a:solidFill>
                  <a:srgbClr val="001C84"/>
                </a:solidFill>
                <a:latin typeface="Open Sans"/>
                <a:ea typeface="Open Sans"/>
                <a:cs typeface="Open Sans"/>
                <a:sym typeface="Open Sans"/>
              </a:rPr>
              <a:t>References</a:t>
            </a:r>
            <a:endParaRPr sz="3200" b="1" dirty="0">
              <a:solidFill>
                <a:srgbClr val="001C84"/>
              </a:solidFill>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8A558E8B-0B7F-02CD-C776-D5007DF28E22}"/>
              </a:ext>
            </a:extLst>
          </p:cNvPr>
          <p:cNvSpPr>
            <a:spLocks noGrp="1"/>
          </p:cNvSpPr>
          <p:nvPr>
            <p:ph type="sldNum" idx="12"/>
          </p:nvPr>
        </p:nvSpPr>
        <p:spPr/>
        <p:txBody>
          <a:bodyPr/>
          <a:lstStyle/>
          <a:p>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pPr/>
              <a:t>13</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299</TotalTime>
  <Words>1640</Words>
  <Application>Microsoft Office PowerPoint</Application>
  <PresentationFormat>Widescreen</PresentationFormat>
  <Paragraphs>126</Paragraphs>
  <Slides>13</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Open Sans</vt:lpstr>
      <vt:lpstr>Play</vt:lpstr>
      <vt:lpstr>Calibri</vt:lpstr>
      <vt:lpstr>Arial</vt:lpstr>
      <vt:lpstr>Simple Light</vt:lpstr>
      <vt:lpstr>Office Theme</vt:lpstr>
      <vt:lpstr>FAIR2: A framework for integrating community knowledge in data analytics and addressing discrimination bias</vt:lpstr>
      <vt:lpstr>PowerPoint Presentation</vt:lpstr>
      <vt:lpstr>Public interest in an Era of Big Data Technologies </vt:lpstr>
      <vt:lpstr>What is FAIR2?</vt:lpstr>
      <vt:lpstr>Why FAIR2? Predicting High-Risk Patients to Increase Health Care Support </vt:lpstr>
      <vt:lpstr>PowerPoint Presentation</vt:lpstr>
      <vt:lpstr>PowerPoint Presentation</vt:lpstr>
      <vt:lpstr>Frame metadata and data with historical context and experiential knowledge of those represented in the data: Data Chats</vt:lpstr>
      <vt:lpstr>Articulate the general model as a causal graph</vt:lpstr>
      <vt:lpstr>PowerPoint Presentation</vt:lpstr>
      <vt:lpstr>Report findings to and seek feedback from community stakeholders</vt:lpstr>
      <vt:lpstr>FAIR2 is a framework for Public Interest Technology (PIT) in Data Analytics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Christine Marlow</cp:lastModifiedBy>
  <cp:revision>15</cp:revision>
  <dcterms:created xsi:type="dcterms:W3CDTF">2012-08-24T00:53:15Z</dcterms:created>
  <dcterms:modified xsi:type="dcterms:W3CDTF">2026-01-30T20:51:00Z</dcterms:modified>
</cp:coreProperties>
</file>